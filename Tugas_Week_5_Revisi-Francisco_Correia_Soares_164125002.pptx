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7" r:id="rId18"/>
    <p:sldId id="259" r:id="rId5"/>
    <p:sldId id="260" r:id="rId6"/>
    <p:sldId id="268" r:id="rId19"/>
    <p:sldId id="261" r:id="rId7"/>
    <p:sldId id="265" r:id="rId16"/>
    <p:sldId id="266" r:id="rId1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6" d="100"/>
          <a:sy n="76" d="100"/>
        </p:scale>
        <p:origin x="27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  <Relationship Id="rId16" Type="http://schemas.openxmlformats.org/officeDocument/2006/relationships/slide" Target="slides/slide10.xml"/>
  <Relationship Id="rId17" Type="http://schemas.openxmlformats.org/officeDocument/2006/relationships/slide" Target="slides/slide11.xml"/>
  <Relationship Id="rId18" Type="http://schemas.openxmlformats.org/officeDocument/2006/relationships/slide" Target="slides/slide12.xml"/>
  <Relationship Id="rId19" Type="http://schemas.openxmlformats.org/officeDocument/2006/relationships/slide" Target="slides/slide13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kg CO2e</c:v>
                </c:pt>
              </c:strCache>
            </c:strRef>
          </c:tx>
          <c:spPr>
            <a:solidFill>
              <a:srgbClr val="1F6F5C"/>
            </a:solidFill>
            <a:effectLst/>
          </c:spPr>
          <c:invertIfNegative val="0"/>
          <c:dLbls>
            <c:dLbl>
              <c:idx val="0"/>
              <c:layout>
                <c:manualLayout>
                  <c:x val="1.827485380116959E-2"/>
                  <c:y val="1.7360959220375231E-2"/>
                </c:manualLayout>
              </c:layout>
              <c:tx>
                <c:rich>
                  <a:bodyPr/>
                  <a:lstStyle/>
                  <a:p>
                    <a:fld id="{C0612605-73C7-4508-87F9-90C4BFFC565A}" type="VALUE">
                      <a:rPr lang="en-US" smtClean="0"/>
                      <a:pPr/>
                      <a:t>[VALUE]</a:t>
                    </a:fld>
                    <a:r>
                      <a:rPr lang="en-US" dirty="0"/>
                      <a:t>,2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252436647173489"/>
                      <c:h val="0.14610339506172837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A530-4390-B55A-0AF3E5411A41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1B2B2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2 th</c:v>
                </c:pt>
                <c:pt idx="1">
                  <c:v>3 th</c:v>
                </c:pt>
                <c:pt idx="2">
                  <c:v>4 th</c:v>
                </c:pt>
                <c:pt idx="3">
                  <c:v>5 th</c:v>
                </c:pt>
                <c:pt idx="4">
                  <c:v>6 th</c:v>
                </c:pt>
                <c:pt idx="5">
                  <c:v>7 th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28.2</c:v>
                </c:pt>
                <c:pt idx="1">
                  <c:v>20</c:v>
                </c:pt>
                <c:pt idx="2">
                  <c:v>15.9</c:v>
                </c:pt>
                <c:pt idx="3">
                  <c:v>13.4</c:v>
                </c:pt>
                <c:pt idx="4">
                  <c:v>11.8</c:v>
                </c:pt>
                <c:pt idx="5">
                  <c:v>10.6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63E-4E69-B3C8-F99B2D56A8E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B2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1416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tugas Week 5, bahan Week 4. Produk iPhone dianalisis lebih mendalam karena produknya global.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Jelaskan objek, masalah desain, dan alasan batas sistem sampai pemulihan: bila hanya pemakaian, hanya 18% dampak terlihat. Sumber: Apple PER 2024; porsi dibulatkan Apple.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Kaitkan tiga strategi Bocken dengan indikator Apple. Aluminium dan kobalt: menutup aliran. Baterai 75% lebih cepat: memperlambat aliran.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Skala: Tinggi bila kemampuan desain terdokumentasi tanpa hambatan besar; Sedang bila ada kemajuan tetapi masih ada hambatan; Rendah bila desain menghambat. Skor penilaian penulis. Sumber: Apple PER 2024; European Commission 2025; Fortune 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Perhitungan: bagian tetap 49,2 kg (produksi, transportasi, akhir masa pakai), pemakaian 3,6 kg per tahun (18% dari 60 kg selama 3 tahun). Ini hitungan penulis, bukan rumus Apple. Uji ketahanan: dengan pemakaian 10% atau 25%, penurunan 3 ke 5 tahun tetap 30-36%.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 usulan memperluas kemajuan pelepasan baterai 75% lebih cepat. Konflik kepentingan: umur layanan lebih panjang dapat menurunkan penjualan unit baru (uji rebound).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Hasil akhir: perangkat lebih mudah diperbaiki dan dibongkar dengan syarat ketahanan air tidak menurun.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594360"/>
            <a:ext cx="5669280" cy="5669280"/>
          </a:xfrm>
          <a:prstGeom prst="ellipse">
            <a:avLst/>
          </a:prstGeom>
          <a:solidFill>
            <a:srgbClr val="1A4A40">
              <a:alpha val="45000"/>
            </a:srgbClr>
          </a:solidFill>
          <a:ln w="12700">
            <a:solidFill>
              <a:srgbClr val="6FB8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1325880"/>
            <a:ext cx="4206240" cy="4206240"/>
          </a:xfrm>
          <a:prstGeom prst="ellipse">
            <a:avLst/>
          </a:prstGeom>
          <a:solidFill>
            <a:srgbClr val="1F6F5C">
              <a:alpha val="45000"/>
            </a:srgbClr>
          </a:solidFill>
          <a:ln w="12700">
            <a:solidFill>
              <a:srgbClr val="6FB8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2057400"/>
            <a:ext cx="2743200" cy="2743200"/>
          </a:xfrm>
          <a:prstGeom prst="ellipse">
            <a:avLst/>
          </a:prstGeom>
          <a:solidFill>
            <a:srgbClr val="2B8A73">
              <a:alpha val="45000"/>
            </a:srgbClr>
          </a:solidFill>
          <a:ln w="12700">
            <a:solidFill>
              <a:srgbClr val="6FB8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2880360"/>
            <a:ext cx="1097280" cy="109728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9DD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 · Desain Produk Berkelanjutan dan Sirkular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463040"/>
            <a:ext cx="7680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DESAIN DAN REDESAIN SIRKULAR PADA APPLE iPHONE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657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CFE5DD"/>
                </a:solidFill>
                <a:latin typeface="+mj-lt"/>
                <a:ea typeface="Calibri" pitchFamily="34" charset="-122"/>
                <a:cs typeface="Calibri" pitchFamily="34" charset="-120"/>
              </a:rPr>
              <a:t>Fokus: kemudahan perbaikan, pembongkaran, dan pemulihan pada akhir masa pakai; analisis global di Uni Eropa, Amerika Serikat, dan Indonesia</a:t>
            </a:r>
            <a:endParaRPr lang="en-US" sz="1600" dirty="0">
              <a:latin typeface="+mj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Objek, masalah, dan batas sistem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76809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iPhone sebagai sistem produk dan jasa (product-service system)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6576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1417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6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2880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16 Plus (128 GB)</a:t>
            </a:r>
            <a:endParaRPr lang="en-US" sz="16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Perangkat keras ditambah pembaruan iOS, Self Service Repair, AppleCare, dan Trade In.</a:t>
            </a:r>
            <a:endParaRPr lang="en-US" sz="16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6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fungsional (functional unit): 1 tahun layanan telepon pintar per pengguna.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1280160"/>
            <a:ext cx="37490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2628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B34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Masalah utama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182880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Pertukaran (trade-off) antara ketahanan dan kemudahan perbaikan: perekat penyegel layar dan baterai menjaga ketahanan air, tetapi mempersulit pembongkaran. Perangkat tidak modular dan suku cadang dapat disandingkan secara digital.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0" y="1280160"/>
            <a:ext cx="3502152" cy="3200400"/>
          </a:xfrm>
          <a:prstGeom prst="roundRect">
            <a:avLst>
              <a:gd name="adj" fmla="val 2857"/>
            </a:avLst>
          </a:prstGeom>
          <a:solidFill>
            <a:srgbClr val="12302B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45820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9DD1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Jejak karbon 60 kg CO2e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1828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79%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27432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berasal dari produksi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3291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FE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Pemakaian 18% · Transportasi 4% · Akhir masa pakai &lt;1%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Batas sistem (system boundary): seluruh siklus hidup hingga pemulihan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57200" y="5120640"/>
            <a:ext cx="2240280" cy="1005840"/>
          </a:xfrm>
          <a:prstGeom prst="chevron">
            <a:avLst/>
          </a:prstGeom>
          <a:solidFill>
            <a:srgbClr val="1F6F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5120640"/>
            <a:ext cx="1508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Bahan baku dan komponen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43200" y="5120640"/>
            <a:ext cx="2240280" cy="1005840"/>
          </a:xfrm>
          <a:prstGeom prst="chevron">
            <a:avLst/>
          </a:prstGeom>
          <a:solidFill>
            <a:srgbClr val="1F6F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154680" y="5120640"/>
            <a:ext cx="1508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Produksi dan perakitan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29200" y="5120640"/>
            <a:ext cx="2240280" cy="1005840"/>
          </a:xfrm>
          <a:prstGeom prst="chevron">
            <a:avLst/>
          </a:prstGeom>
          <a:solidFill>
            <a:srgbClr val="1F6F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40680" y="5120640"/>
            <a:ext cx="1508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Distribusi global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15200" y="5120640"/>
            <a:ext cx="2240280" cy="1005840"/>
          </a:xfrm>
          <a:prstGeom prst="chevron">
            <a:avLst/>
          </a:prstGeom>
          <a:solidFill>
            <a:srgbClr val="1F6F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26680" y="5120640"/>
            <a:ext cx="1508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pakai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601200" y="5120640"/>
            <a:ext cx="2240280" cy="1005840"/>
          </a:xfrm>
          <a:prstGeom prst="chevron">
            <a:avLst/>
          </a:prstGeom>
          <a:solidFill>
            <a:srgbClr val="B565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12680" y="5120640"/>
            <a:ext cx="1508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Pemulihan (Trade In, daur ulang)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12471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Konsep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76809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Dari paradigma linear ke desain sirkular: memperlambat, menutup, mempersempit aliran</a:t>
            </a:r>
            <a:endParaRPr lang="en-US" sz="1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840480" cy="493776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1417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6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Definisi konsep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28800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sirkular memandang desain sebagai keputusan sistem yang menentukan aliran nilai dari produksi sampai pemulihan, berbeda dari paradigma linear </a:t>
            </a:r>
            <a:r>
              <a:rPr lang="en-US" sz="1400" dirty="0" err="1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ambil</a:t>
            </a:r>
            <a:r>
              <a:rPr lang="en-US" sz="14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buat, buang; </a:t>
            </a:r>
            <a:r>
              <a:rPr lang="id-ID" sz="14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4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take-make-dispose).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3749040"/>
            <a:ext cx="3383280" cy="658368"/>
          </a:xfrm>
          <a:prstGeom prst="roundRect">
            <a:avLst>
              <a:gd name="adj" fmla="val 11111"/>
            </a:avLst>
          </a:prstGeom>
          <a:solidFill>
            <a:srgbClr val="DCEBE5"/>
          </a:solidFill>
          <a:ln w="12700">
            <a:solidFill>
              <a:srgbClr val="DCEB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9476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Memperlambat (slowing)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ketahanan, reparasi, modularitas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4526280"/>
            <a:ext cx="3383280" cy="658368"/>
          </a:xfrm>
          <a:prstGeom prst="roundRect">
            <a:avLst>
              <a:gd name="adj" fmla="val 11111"/>
            </a:avLst>
          </a:prstGeom>
          <a:solidFill>
            <a:srgbClr val="DCEBE5"/>
          </a:solidFill>
          <a:ln w="12700">
            <a:solidFill>
              <a:srgbClr val="DCEB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5720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Menutup (closing)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take-back, perbaikan ulang, daur ulang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303520"/>
            <a:ext cx="3383280" cy="658368"/>
          </a:xfrm>
          <a:prstGeom prst="roundRect">
            <a:avLst>
              <a:gd name="adj" fmla="val 11111"/>
            </a:avLst>
          </a:prstGeom>
          <a:solidFill>
            <a:srgbClr val="DCEBE5"/>
          </a:solidFill>
          <a:ln w="12700">
            <a:solidFill>
              <a:srgbClr val="DCEB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534924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Mempersempit (narrowing)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efisiensi bahan dan energi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11629" y="3172137"/>
            <a:ext cx="31117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Bocken</a:t>
            </a:r>
            <a:r>
              <a:rPr lang="en-US" sz="12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 dkk. (2016); </a:t>
            </a:r>
            <a:r>
              <a:rPr lang="en-US" sz="1200" i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Geissdoerfer</a:t>
            </a:r>
            <a:r>
              <a:rPr lang="en-US" sz="12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 dkk. (2017); den Hollander </a:t>
            </a:r>
            <a:r>
              <a:rPr lang="en-US" sz="1200" i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dkk</a:t>
            </a:r>
            <a:r>
              <a:rPr lang="en-US" sz="12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. (2017); Tukker (2004); Zink dan Geyer (2017)</a:t>
            </a:r>
            <a:endParaRPr lang="en-US" sz="1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4526280" y="178308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Indikator implementasi Apple saat ini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26280" y="2286000"/>
            <a:ext cx="35204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754880" y="24231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1F6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85%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3154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Aluminium daur ulang pada casing (Apple, 2024)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83880" y="2286000"/>
            <a:ext cx="35204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412480" y="24231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1F6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3154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Kobalt daur ulang pada baterai rancangan Apple (Apple, 2026)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26280" y="4069080"/>
            <a:ext cx="35204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4754880" y="42062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B565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±90 dtk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4754880" y="49377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Pelepasan perekat baterai dengan arus listrik (iPhone 16; panduan reparasi Apple)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183880" y="4069080"/>
            <a:ext cx="35204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412480" y="42062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1F6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40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49377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Siklus baterai pada kapasitas 80% (klaim Apple; minimum UE 800, </a:t>
            </a:r>
            <a:r>
              <a:rPr lang="en-US" sz="1400" dirty="0" err="1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Reg. 2023/1670</a:t>
            </a:r>
            <a:r>
              <a:rPr lang="en-US" sz="14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UE)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26280" y="589788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Catatan: klaim berbasis massa, dilaporkan sendiri oleh Apple (PER 2024; Environmental Progress Report 2026), belum diverifikasi pihak ketiga.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12471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Bukti implementasi: Design Audit Matrix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5842783"/>
              </p:ext>
            </p:extLst>
          </p:nvPr>
        </p:nvGraphicFramePr>
        <p:xfrm>
          <a:off x="457200" y="1280160"/>
          <a:ext cx="7406640" cy="3594664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93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Evaluasi kondisi eksisting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3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2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Aluminium 85% dan kobalt 100% daur ulang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Tinggi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3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2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Modularitas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Tidak modular; fungsi terpadu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Rendah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40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93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2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Durabilitas (durability)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 siklus @80% (klaim Apple); umur aktual tidak dipublikasikan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Tinggi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93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2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Reparasi (repairability)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 Service Repair; penyandingan dan kalibrasi; iFixit 7/10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A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93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2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Pembongkaran (disassembly)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Baterai lepas-listrik ±90 dtk; layar tetap disegel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A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93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2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Dukungan perangkat lunak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Min. 5 tahun pembaruan keamanan (PSTI); UE wajib OS 5 tahun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A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9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>
                          <a:solidFill>
                            <a:srgbClr val="12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Akhir masa </a:t>
                      </a:r>
                      <a:r>
                        <a:rPr lang="en-US" sz="1300" b="1" dirty="0" err="1">
                          <a:solidFill>
                            <a:srgbClr val="12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pakai</a:t>
                      </a:r>
                      <a:r>
                        <a:rPr lang="en-US" sz="1300" b="1" dirty="0">
                          <a:solidFill>
                            <a:srgbClr val="12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</a:t>
                      </a:r>
                      <a:r>
                        <a:rPr lang="en-US" sz="1300" b="1" dirty="0" err="1">
                          <a:solidFill>
                            <a:srgbClr val="12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EoL</a:t>
                      </a:r>
                      <a:r>
                        <a:rPr lang="en-US" sz="1300" b="1" dirty="0">
                          <a:solidFill>
                            <a:srgbClr val="12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 In </a:t>
                      </a:r>
                      <a:r>
                        <a:rPr lang="en-US" sz="1300" dirty="0" err="1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</a:t>
                      </a:r>
                      <a:r>
                        <a:rPr lang="en-US" sz="1300" dirty="0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data </a:t>
                      </a:r>
                      <a:r>
                        <a:rPr lang="en-US" sz="1300" dirty="0" err="1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pengumpulan</a:t>
                      </a:r>
                      <a:r>
                        <a:rPr lang="en-US" sz="1300" dirty="0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300" dirty="0" err="1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tidak</a:t>
                      </a:r>
                      <a:r>
                        <a:rPr lang="en-US" sz="1300" dirty="0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300" dirty="0" err="1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terbuka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A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6921107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502920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Kekuatan: material dan ketahanan. Hambatan: modularitas dan pembongkaran.</a:t>
            </a:r>
          </a:p>
          <a:p>
            <a:pPr marL="0" indent="0">
              <a:buNone/>
            </a:pPr>
            <a:r>
              <a:rPr lang="id-ID" sz="1000" i="1" dirty="0">
                <a:solidFill>
                  <a:srgbClr val="5B6B68"/>
                </a:solidFill>
              </a:rPr>
              <a:t>Sumber: Apple (2024a, 2024b); European Commission (2025); iFixit (2024). Skor: penilaian penulis.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Bukti per pasar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138160" y="1737360"/>
            <a:ext cx="359359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321040" y="1901952"/>
            <a:ext cx="256032" cy="256032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0" y="186537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 Eropa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22402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Wajib sejak 20 Juni 2025: suku cadang 7 tahun, pembaruan 5 tahun, label reparasi A-E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138160" y="3246120"/>
            <a:ext cx="359359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321040" y="3410712"/>
            <a:ext cx="256032" cy="256032"/>
          </a:xfrm>
          <a:prstGeom prst="ellipse">
            <a:avLst/>
          </a:prstGeom>
          <a:solidFill>
            <a:srgbClr val="C98A12"/>
          </a:solidFill>
          <a:ln w="12700">
            <a:solidFill>
              <a:srgbClr val="C98A1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0" y="337413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Amerika Serikat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32104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 memperbaiki per negara bagian (Oregon SB 1596); Self Service Repair sejak 2022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138160" y="4754880"/>
            <a:ext cx="359359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21040" y="4919472"/>
            <a:ext cx="256032" cy="256032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86800" y="48828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Indonesia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52578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TKDN 40% dan komitmen investasi; tidak ada syarat umur pakai atau pengambilan kembali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112471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Analisis</a:t>
            </a:r>
            <a:endParaRPr lang="en-US" sz="3000" dirty="0"/>
          </a:p>
        </p:txBody>
      </p:sp>
      <p:sp>
        <p:nvSpPr>
          <p:cNvPr id="90" name="Text 3"/>
          <p:cNvSpPr txBox="1"/>
          <p:nvPr/>
        </p:nvSpPr>
        <p:spPr>
          <a:xfrm>
            <a:off x="1188720" y="76809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ketahanan klaim: umur layanan, kinerja aktual, dan risiko sistemik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539496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Dampak per pengguna-tahun (kg CO2e)</a:t>
            </a:r>
            <a:endParaRPr lang="en-US" sz="1700" dirty="0"/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2170433596"/>
              </p:ext>
            </p:extLst>
          </p:nvPr>
        </p:nvGraphicFramePr>
        <p:xfrm>
          <a:off x="548640" y="1737360"/>
          <a:ext cx="5212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2501616"/>
              </p:ext>
            </p:extLst>
          </p:nvPr>
        </p:nvGraphicFramePr>
        <p:xfrm>
          <a:off x="6035040" y="1280160"/>
          <a:ext cx="5696712" cy="469087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Temuan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id-ID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Kesimpulan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2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Sensitivitas umur layanan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33% lebih rendah pada 5 tahun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Lolos bersyarat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A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2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Desain vs kinerja aktual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Rasio reparasi tidak dipublikasikan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Belum lolos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40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2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Substitusi dan lokasi dampak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 err="1"/>
                        <a:t>Produksi</a:t>
                      </a:r>
                      <a:r>
                        <a:rPr lang="en-US" sz="1400" dirty="0"/>
                        <a:t> 79%; </a:t>
                      </a:r>
                      <a:r>
                        <a:rPr lang="en-US" sz="1400" dirty="0" err="1"/>
                        <a:t>listrik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 err="1"/>
                        <a:t>pemasok</a:t>
                      </a:r>
                      <a:r>
                        <a:rPr lang="en-US" sz="1400" dirty="0"/>
                        <a:t> </a:t>
                      </a:r>
                      <a:r>
                        <a:rPr lang="en-US" sz="1400" b="0" dirty="0" err="1"/>
                        <a:t>merupakan</a:t>
                      </a:r>
                      <a:r>
                        <a:rPr lang="en-US" sz="1400" b="0" dirty="0"/>
                        <a:t> </a:t>
                      </a:r>
                      <a:r>
                        <a:rPr lang="en-US" sz="1400" b="0" dirty="0" err="1"/>
                        <a:t>faktor</a:t>
                      </a:r>
                      <a:r>
                        <a:rPr lang="en-US" sz="1400" b="0" dirty="0"/>
                        <a:t> </a:t>
                      </a:r>
                      <a:r>
                        <a:rPr lang="en-US" sz="1400" b="0" dirty="0" err="1"/>
                        <a:t>penentu</a:t>
                      </a:r>
                      <a:r>
                        <a:rPr lang="en-US" sz="1400" b="0" dirty="0"/>
                        <a:t> </a:t>
                      </a:r>
                      <a:r>
                        <a:rPr lang="en-US" sz="1400" b="0" dirty="0" err="1"/>
                        <a:t>utama</a:t>
                      </a:r>
                      <a:endParaRPr lang="en-US" sz="13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Lolos sebagian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A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2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Pergeseran beban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Hanya 22,3% e-waste global terdokumentasi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Berisiko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40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2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Efek rebound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Tukar tambah dapat mempercepat ganti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Berisiko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40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2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 sosial produksi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jam kerja terbaru tidak ada (98% pada 2016)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Belum terbukti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40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112471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id-ID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Analisis</a:t>
            </a:r>
            <a:r>
              <a:rPr lang="en-US" sz="3000" b="1" dirty="0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dua usulan redesain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76809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dua usulan (detail sebelum–sesudah di slide 9 dan 10); konsep penulis, belum diuji teknis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1280160"/>
            <a:ext cx="55473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1435608"/>
            <a:ext cx="457200" cy="457200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1389888"/>
            <a:ext cx="4587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Baterai modul tanpa penyandingan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baterai berdimensi tetap lintas generasi; hapus penyandingan serial untuk baterai, port, dan layar. Syarat: IP68 diuji ulang.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2331720"/>
            <a:ext cx="458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Memperlambat aliran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87440" y="1280160"/>
            <a:ext cx="55473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70320" y="1435608"/>
            <a:ext cx="457200" cy="45720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7032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964680" y="1389888"/>
            <a:ext cx="4587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Paspor komposisi dan jalur pembongkaran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QR komposisi material dan titik pembongkaran, selaras arah paspor produk digital UE.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964680" y="2331720"/>
            <a:ext cx="458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Menutup aliran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297180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Konsekuensi multi-pemangku kepentingan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57200" y="3383280"/>
            <a:ext cx="2176272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594360" y="347472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Pemasok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dan data komposisi standar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2743200" y="3383280"/>
            <a:ext cx="2176272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2880360" y="347472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Produksi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modul baru; uji air ulang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029200" y="3383280"/>
            <a:ext cx="2176272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166360" y="347472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Logistik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suku cadang; aturan angkut baterai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7315200" y="3383280"/>
            <a:ext cx="2176272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52360" y="347472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servis turun; umur memanjang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9601200" y="3383280"/>
            <a:ext cx="2176272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9738360" y="347472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 pemulihan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Bongkar lebih cepat; material lebih murni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12471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101" name="Catatan rebound"/>
          <p:cNvSpPr txBox="1"/>
          <p:nvPr/>
        </p:nvSpPr>
        <p:spPr>
          <a:xfrm>
            <a:off x="457200" y="5029200"/>
            <a:ext cx="1127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id-ID" sz="12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Konflik kepentingan: </a:t>
            </a:r>
            <a:r>
              <a:rPr lang="id-ID" sz="1200" i="1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umur layanan yang lebih panjang dapat menurunkan penjualan unit baru; karena itu efek rebound tukar tambah tetap diawasi (lihat slide 6 dan 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Rekomendasi dan KPI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76809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Menuju iPhone yang lebih mudah dibongkar, lebih bernilai, dan lebih sirkular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93776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14173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6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Arah perbaikan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74520"/>
            <a:ext cx="4526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Samakan dukungan suku cadang dan perangkat lunak di semua pasar setara standar UE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 dan umumkan umur layanan aktual serta rasio reparasi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Hapus hambatan penyandingan suku cadang pada model baru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Bangun pengambilan kembali di pasar berkembang, termasuk Indonesia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Awasi rebound tukar tambah dan publikasikan kepatuhan jam kerja pemasok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1280160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keberhasilan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669280" y="1737360"/>
            <a:ext cx="6062472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852160" y="18288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penggantian baterai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240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total belum dipublikasikan</a:t>
            </a:r>
            <a:r>
              <a:rPr lang="en-US" sz="14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r>
              <a:rPr lang="en-US" sz="14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≤ 5 menit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0" y="2834640"/>
            <a:ext cx="6062472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852160" y="29260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 per pengguna-tahun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33375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20 kg CO2e (3 tahun)</a:t>
            </a:r>
            <a:r>
              <a:rPr lang="en-US" sz="14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r>
              <a:rPr lang="en-US" sz="14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13 kg atau lebih rendah (5 tahun)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0" y="3931920"/>
            <a:ext cx="6062472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852160" y="40233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Tingkat pengumpulan per negara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44348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22,3% (e-waste global)</a:t>
            </a:r>
            <a:r>
              <a:rPr lang="en-US" sz="14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r>
              <a:rPr lang="en-US" sz="14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dilaporkan per negara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0" y="5029200"/>
            <a:ext cx="6062472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D5E2D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852160" y="51206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Ketahanan air setelah redesain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852160" y="5532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rating eksisting</a:t>
            </a:r>
            <a:r>
              <a:rPr lang="en-US" sz="14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r>
              <a:rPr lang="en-US" sz="14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tidak menurun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12471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Daftar Pustaka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199" y="1097280"/>
            <a:ext cx="11646131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Inc. (2017). Raising the bar: 11th annual Supplier Responsibility Progress Report. Apple Newsroom.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Inc. (2024a). Product Environmental Report: iPhone 16 and iPhone 16 Plus. Cupertino: Apple.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Inc. (2024b). iPhone defined support period statement under the UK PSTI regulations. Apple.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Inc. (2026). Environmental Progress Report (covering fiscal year 2025). Cupertino: Apple.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Bocken, N. M. P., de Pauw, I., Bakker, C., &amp; van der Grinten, B. (2016). Product design and business model strategies for a circular economy. J. Ind. Prod. Eng., 33(5), 308-320.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Cordella, M., Alfieri, F., Clemm, C., &amp; Berwald, A. (2021). Durability of smartphones: A technical analysis of reliability and repairability aspects. J. Clean. Prod., 286, 125388.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Hollander, M. C., Bakker, C. A., &amp; Hultink, E. J. (2017). Product design in a circular economy. J. Ind. Ecol., 21(3), 517-525.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Commission. (2023). Commission Regulation (EU) 2023/1670 laying down ecodesign requirements for smartphones and tablets. OJ L 214.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Commission. (2025). New EU rules for durable, energy-efficient and repairable smartphones and tablets start applying.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Fortune. (2025). Indonesia iPhone ban, Apple deal and investment in AirTag plant.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Geissdoerfer, M., Savaget, P., Bocken, N. M. P., &amp; Hultink, E. J. (2017). The circular economy: A new sustainability paradigm? J. Clean. Prod., 143, 757-768.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iFixit. (2024). iPhone 16 teardown and repairability score. iFixit News.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ITU &amp; UNITAR. (2024). The Global E-waste Monitor 2024. Geneva/Bonn: ITU &amp; UNITAR.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Makov, T., &amp; Fitzpatrick, C. (2021). Is repairability enough? Big data insights into smartphone obsolescence and consumer interest in repair. J. Clean. Prod., 313, 127561.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Oregon Legislative Assembly. (2024). Senate Bill 1596 (right to repair).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Proske, M., &amp; Jaeger-Erben, M. (2019). Decreasing obsolescence with modular smartphones? An interdisciplinary perspective on lifecycles. J. Clean. Prod. https://doi.org/10.1016/j.jclepro.2019.03.116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Tukker, A. (2004). Eight types of product-service system. Bus. Strategy Environ., 13(4), 246-260.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Zink, T., &amp; Geyer, R. (2017). Circular economy rebound. J. Ind. Ecol., 21(3), 593-602.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30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097280"/>
            <a:ext cx="4572000" cy="4572000"/>
          </a:xfrm>
          <a:prstGeom prst="ellipse">
            <a:avLst/>
          </a:prstGeom>
          <a:solidFill>
            <a:srgbClr val="1A4A40"/>
          </a:solidFill>
          <a:ln w="12700">
            <a:solidFill>
              <a:srgbClr val="6FB8A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0972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Terima kasih</a:t>
            </a:r>
            <a:endParaRPr lang="en-US" sz="5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Usulan #1: Modul baterai standar tanpa penyandingan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76809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Menjawab skor audit terendah: modularitas (Rendah) dan reparasi/pembongkaran (Sedang)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12471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201" name="Kartu Gap dari audit"/>
          <p:cNvSpPr/>
          <p:nvPr/>
        </p:nvSpPr>
        <p:spPr>
          <a:xfrm>
            <a:off x="457200" y="1188720"/>
            <a:ext cx="5547360" cy="86868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E2DD"/>
            </a:solidFill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2" name="Isi Gap dari audit"/>
          <p:cNvSpPr txBox="1"/>
          <p:nvPr/>
        </p:nvSpPr>
        <p:spPr>
          <a:xfrm>
            <a:off x="640080" y="1280160"/>
            <a:ext cx="518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b="1" dirty="0">
                <a:solidFill>
                  <a:srgbClr val="B3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dari audit: </a:t>
            </a: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perekat baterai sudah dapat dilepas arus listrik, tetapi perangkat tetap tidak modular dan suku cadang baru wajib dikalibrasi/disandingkan.</a:t>
            </a:r>
          </a:p>
        </p:txBody>
      </p:sp>
      <p:sp>
        <p:nvSpPr>
          <p:cNvPr id="203" name="Kartu Usulan"/>
          <p:cNvSpPr/>
          <p:nvPr/>
        </p:nvSpPr>
        <p:spPr>
          <a:xfrm>
            <a:off x="6187440" y="1188720"/>
            <a:ext cx="5547360" cy="86868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E2DD"/>
            </a:solidFill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4" name="Isi Usulan"/>
          <p:cNvSpPr txBox="1"/>
          <p:nvPr/>
        </p:nvSpPr>
        <p:spPr>
          <a:xfrm>
            <a:off x="6370320" y="1280160"/>
            <a:ext cx="518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Usulan: </a:t>
            </a: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standarkan dimensi dan konektor modul baterai lintas generasi; hapus penyandingan serial untuk baterai, port, dan layar.</a:t>
            </a:r>
          </a:p>
        </p:txBody>
      </p:sp>
      <p:sp>
        <p:nvSpPr>
          <p:cNvPr id="205" name="Kartu Sebelum"/>
          <p:cNvSpPr/>
          <p:nvPr/>
        </p:nvSpPr>
        <p:spPr>
          <a:xfrm>
            <a:off x="457200" y="2194560"/>
            <a:ext cx="5341620" cy="41148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E2DD"/>
            </a:solidFill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6" name="Diagram latar Sebelum"/>
          <p:cNvSpPr/>
          <p:nvPr/>
        </p:nvSpPr>
        <p:spPr>
          <a:xfrm>
            <a:off x="594360" y="2331720"/>
            <a:ext cx="5067300" cy="1600200"/>
          </a:xfrm>
          <a:prstGeom prst="roundRect">
            <a:avLst>
              <a:gd name="adj" fmla="val 6452"/>
            </a:avLst>
          </a:prstGeom>
          <a:solidFill>
            <a:srgbClr val="F4F8F6"/>
          </a:solidFill>
          <a:ln w="9525">
            <a:solidFill>
              <a:srgbClr val="D5E2DD"/>
            </a:solidFill>
          </a:ln>
        </p:spPr>
      </p:sp>
      <p:sp>
        <p:nvSpPr>
          <p:cNvPr id="207" name="Lapisan Kaca dan panel layar"/>
          <p:cNvSpPr/>
          <p:nvPr/>
        </p:nvSpPr>
        <p:spPr>
          <a:xfrm>
            <a:off x="999744" y="2491740"/>
            <a:ext cx="2128266" cy="208026"/>
          </a:xfrm>
          <a:prstGeom prst="parallelogram">
            <a:avLst/>
          </a:prstGeom>
          <a:solidFill>
            <a:srgbClr val="9FC3B6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id-ID" sz="10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Kaca dan panel layar</a:t>
            </a:r>
          </a:p>
        </p:txBody>
      </p:sp>
      <p:sp>
        <p:nvSpPr>
          <p:cNvPr id="208" name="Ket Kaca dan panel layar"/>
          <p:cNvSpPr txBox="1"/>
          <p:nvPr/>
        </p:nvSpPr>
        <p:spPr>
          <a:xfrm>
            <a:off x="3432048" y="2485753"/>
            <a:ext cx="222961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0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disegel perekat (tahan air IP68)</a:t>
            </a:r>
          </a:p>
        </p:txBody>
      </p:sp>
      <p:sp>
        <p:nvSpPr>
          <p:cNvPr id="209" name="Lapisan Baterai"/>
          <p:cNvSpPr/>
          <p:nvPr/>
        </p:nvSpPr>
        <p:spPr>
          <a:xfrm>
            <a:off x="999744" y="2811780"/>
            <a:ext cx="2128266" cy="208026"/>
          </a:xfrm>
          <a:prstGeom prst="parallelogram">
            <a:avLst/>
          </a:prstGeom>
          <a:solidFill>
            <a:srgbClr val="E8B04B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id-ID" sz="10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Baterai</a:t>
            </a:r>
          </a:p>
        </p:txBody>
      </p:sp>
      <p:sp>
        <p:nvSpPr>
          <p:cNvPr id="210" name="Ket Baterai"/>
          <p:cNvSpPr txBox="1"/>
          <p:nvPr/>
        </p:nvSpPr>
        <p:spPr>
          <a:xfrm>
            <a:off x="3432048" y="2805793"/>
            <a:ext cx="222961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0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perekat lepas-listrik ±90 detik</a:t>
            </a:r>
          </a:p>
        </p:txBody>
      </p:sp>
      <p:sp>
        <p:nvSpPr>
          <p:cNvPr id="211" name="Lapisan Papan logika"/>
          <p:cNvSpPr/>
          <p:nvPr/>
        </p:nvSpPr>
        <p:spPr>
          <a:xfrm>
            <a:off x="999744" y="3131820"/>
            <a:ext cx="2128266" cy="208026"/>
          </a:xfrm>
          <a:prstGeom prst="parallelogram">
            <a:avLst/>
          </a:prstGeom>
          <a:solidFill>
            <a:srgbClr val="1F6F5C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id-ID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Papan logika</a:t>
            </a:r>
          </a:p>
        </p:txBody>
      </p:sp>
      <p:sp>
        <p:nvSpPr>
          <p:cNvPr id="212" name="Ket Papan logika"/>
          <p:cNvSpPr txBox="1"/>
          <p:nvPr/>
        </p:nvSpPr>
        <p:spPr>
          <a:xfrm>
            <a:off x="3432048" y="3125833"/>
            <a:ext cx="222961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0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 cadang disandingkan serial</a:t>
            </a:r>
          </a:p>
        </p:txBody>
      </p:sp>
      <p:sp>
        <p:nvSpPr>
          <p:cNvPr id="213" name="Lapisan Rangka aluminium"/>
          <p:cNvSpPr/>
          <p:nvPr/>
        </p:nvSpPr>
        <p:spPr>
          <a:xfrm>
            <a:off x="999744" y="3451860"/>
            <a:ext cx="2128266" cy="208026"/>
          </a:xfrm>
          <a:prstGeom prst="parallelogram">
            <a:avLst/>
          </a:prstGeom>
          <a:solidFill>
            <a:srgbClr val="12302B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id-ID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Rangka aluminium</a:t>
            </a:r>
          </a:p>
        </p:txBody>
      </p:sp>
      <p:sp>
        <p:nvSpPr>
          <p:cNvPr id="214" name="Ket Rangka aluminium"/>
          <p:cNvSpPr txBox="1"/>
          <p:nvPr/>
        </p:nvSpPr>
        <p:spPr>
          <a:xfrm>
            <a:off x="3432048" y="3445873"/>
            <a:ext cx="222961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0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aluminium daur ulang</a:t>
            </a:r>
          </a:p>
        </p:txBody>
      </p:sp>
      <p:sp>
        <p:nvSpPr>
          <p:cNvPr id="215" name="Judul Sebelum"/>
          <p:cNvSpPr txBox="1"/>
          <p:nvPr/>
        </p:nvSpPr>
        <p:spPr>
          <a:xfrm>
            <a:off x="640080" y="4023360"/>
            <a:ext cx="49758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id-ID" sz="1600" b="1" dirty="0">
                <a:solidFill>
                  <a:srgbClr val="5B6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Sebelum</a:t>
            </a:r>
          </a:p>
        </p:txBody>
      </p:sp>
      <p:sp>
        <p:nvSpPr>
          <p:cNvPr id="216" name="Poin Sebelum"/>
          <p:cNvSpPr txBox="1"/>
          <p:nvPr/>
        </p:nvSpPr>
        <p:spPr>
          <a:xfrm>
            <a:off x="640080" y="4389120"/>
            <a:ext cx="49758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Baterai iPhone 16 dilepas dengan arus listrik ±90 detik (panduan reparasi Apple; iFixit, 2024).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 cadang dicocokkan ke nomor seri dan dikalibrasi lewat Repair Assistant; Oregon SB 1596 melarang praktik ini untuk perangkat produksi 2025 ke atas.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baterai berubah tiap generasi, sehingga stok suku cadang lama cepat usang.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total penggantian dan rasio reparasi tidak dipublikasikan.</a:t>
            </a:r>
          </a:p>
        </p:txBody>
      </p:sp>
      <p:sp>
        <p:nvSpPr>
          <p:cNvPr id="217" name="Kartu Sesudah — usulan"/>
          <p:cNvSpPr/>
          <p:nvPr/>
        </p:nvSpPr>
        <p:spPr>
          <a:xfrm>
            <a:off x="6393180" y="2194560"/>
            <a:ext cx="5341620" cy="4114800"/>
          </a:xfrm>
          <a:prstGeom prst="roundRect">
            <a:avLst>
              <a:gd name="adj" fmla="val 6452"/>
            </a:avLst>
          </a:prstGeom>
          <a:solidFill>
            <a:srgbClr val="E3EFEA"/>
          </a:solidFill>
          <a:ln w="9525">
            <a:solidFill>
              <a:srgbClr val="1F6F5C"/>
            </a:solidFill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8" name="Diagram latar Sesudah — usulan"/>
          <p:cNvSpPr/>
          <p:nvPr/>
        </p:nvSpPr>
        <p:spPr>
          <a:xfrm>
            <a:off x="6530340" y="2331720"/>
            <a:ext cx="5067300" cy="16002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E2DD"/>
            </a:solidFill>
          </a:ln>
        </p:spPr>
      </p:sp>
      <p:sp>
        <p:nvSpPr>
          <p:cNvPr id="219" name="Lapisan Kaca dan panel layar"/>
          <p:cNvSpPr/>
          <p:nvPr/>
        </p:nvSpPr>
        <p:spPr>
          <a:xfrm>
            <a:off x="6935724" y="2491740"/>
            <a:ext cx="2128266" cy="208026"/>
          </a:xfrm>
          <a:prstGeom prst="parallelogram">
            <a:avLst/>
          </a:prstGeom>
          <a:solidFill>
            <a:srgbClr val="9FC3B6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id-ID" sz="10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Kaca dan panel layar</a:t>
            </a:r>
          </a:p>
        </p:txBody>
      </p:sp>
      <p:sp>
        <p:nvSpPr>
          <p:cNvPr id="220" name="Ket Kaca dan panel layar"/>
          <p:cNvSpPr txBox="1"/>
          <p:nvPr/>
        </p:nvSpPr>
        <p:spPr>
          <a:xfrm>
            <a:off x="9368028" y="2485753"/>
            <a:ext cx="222961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0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segel tetap; uji IP diulang</a:t>
            </a:r>
          </a:p>
        </p:txBody>
      </p:sp>
      <p:sp>
        <p:nvSpPr>
          <p:cNvPr id="221" name="Lapisan Baterai"/>
          <p:cNvSpPr/>
          <p:nvPr/>
        </p:nvSpPr>
        <p:spPr>
          <a:xfrm>
            <a:off x="6935724" y="2811780"/>
            <a:ext cx="2128266" cy="208026"/>
          </a:xfrm>
          <a:prstGeom prst="parallelogram">
            <a:avLst/>
          </a:prstGeom>
          <a:solidFill>
            <a:srgbClr val="F2C66B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id-ID" sz="10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baterai</a:t>
            </a:r>
          </a:p>
        </p:txBody>
      </p:sp>
      <p:sp>
        <p:nvSpPr>
          <p:cNvPr id="223" name="Ket Baterai"/>
          <p:cNvSpPr txBox="1"/>
          <p:nvPr/>
        </p:nvSpPr>
        <p:spPr>
          <a:xfrm>
            <a:off x="9368028" y="2805793"/>
            <a:ext cx="222961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0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 dan konektor tetap lintas generasi</a:t>
            </a:r>
          </a:p>
        </p:txBody>
      </p:sp>
      <p:sp>
        <p:nvSpPr>
          <p:cNvPr id="224" name="Lapisan Papan logika"/>
          <p:cNvSpPr/>
          <p:nvPr/>
        </p:nvSpPr>
        <p:spPr>
          <a:xfrm>
            <a:off x="6935724" y="3131820"/>
            <a:ext cx="2128266" cy="208026"/>
          </a:xfrm>
          <a:prstGeom prst="parallelogram">
            <a:avLst/>
          </a:prstGeom>
          <a:solidFill>
            <a:srgbClr val="1F6F5C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id-ID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Papan logika</a:t>
            </a:r>
          </a:p>
        </p:txBody>
      </p:sp>
      <p:sp>
        <p:nvSpPr>
          <p:cNvPr id="225" name="Ket Papan logika"/>
          <p:cNvSpPr txBox="1"/>
          <p:nvPr/>
        </p:nvSpPr>
        <p:spPr>
          <a:xfrm>
            <a:off x="9368028" y="3125833"/>
            <a:ext cx="222961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0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penyandingan dihapus</a:t>
            </a:r>
          </a:p>
        </p:txBody>
      </p:sp>
      <p:sp>
        <p:nvSpPr>
          <p:cNvPr id="226" name="Lapisan Rangka aluminium"/>
          <p:cNvSpPr/>
          <p:nvPr/>
        </p:nvSpPr>
        <p:spPr>
          <a:xfrm>
            <a:off x="6935724" y="3451860"/>
            <a:ext cx="2128266" cy="208026"/>
          </a:xfrm>
          <a:prstGeom prst="parallelogram">
            <a:avLst/>
          </a:prstGeom>
          <a:solidFill>
            <a:srgbClr val="12302B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id-ID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Rangka aluminium</a:t>
            </a:r>
          </a:p>
        </p:txBody>
      </p:sp>
      <p:sp>
        <p:nvSpPr>
          <p:cNvPr id="227" name="Ket Rangka aluminium"/>
          <p:cNvSpPr txBox="1"/>
          <p:nvPr/>
        </p:nvSpPr>
        <p:spPr>
          <a:xfrm>
            <a:off x="9368028" y="3445873"/>
            <a:ext cx="222961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0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tetap</a:t>
            </a:r>
          </a:p>
        </p:txBody>
      </p:sp>
      <p:sp>
        <p:nvSpPr>
          <p:cNvPr id="228" name="Judul Sesudah — usulan"/>
          <p:cNvSpPr txBox="1"/>
          <p:nvPr/>
        </p:nvSpPr>
        <p:spPr>
          <a:xfrm>
            <a:off x="6576060" y="4023360"/>
            <a:ext cx="49758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id-ID" sz="1600" b="1" dirty="0">
                <a:solidFill>
                  <a:srgbClr val="1F6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Sesudah — usulan</a:t>
            </a:r>
          </a:p>
        </p:txBody>
      </p:sp>
      <p:sp>
        <p:nvSpPr>
          <p:cNvPr id="229" name="Poin Sesudah — usulan"/>
          <p:cNvSpPr txBox="1"/>
          <p:nvPr/>
        </p:nvSpPr>
        <p:spPr>
          <a:xfrm>
            <a:off x="6576060" y="4389120"/>
            <a:ext cx="49758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lang="id-ID" sz="1200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baterai dengan dimensi dan konektor tetap, tetap memakai perekat lepas-listrik.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lang="id-ID" sz="1200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 cadang asli dan bekas dapat dipasang tanpa penyandingan; kalibrasi tetap tersedia.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lang="id-ID" sz="1200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Syarat: rating IP68 diuji ulang dan tidak boleh menurun (Cordella dkk., 2021: keandalan dan reparabilitas dapat dicapai bersamaan).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lang="id-ID" sz="1200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Dievaluasi dengan KPI waktu penggantian ≤ 5 menit dan rasio reparasi yang dilaporkan.</a:t>
            </a:r>
          </a:p>
        </p:txBody>
      </p:sp>
      <p:sp>
        <p:nvSpPr>
          <p:cNvPr id="230" name="Panah"/>
          <p:cNvSpPr/>
          <p:nvPr/>
        </p:nvSpPr>
        <p:spPr>
          <a:xfrm>
            <a:off x="5890260" y="4069080"/>
            <a:ext cx="411480" cy="365760"/>
          </a:xfrm>
          <a:prstGeom prst="rightArrow">
            <a:avLst/>
          </a:prstGeom>
          <a:solidFill>
            <a:srgbClr val="1F6F5C"/>
          </a:solidFill>
          <a:ln>
            <a:noFill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Usulan #2: Paspor komposisi dan jalur pembongkaran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76809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Menjawab hambatan akhir masa pakai: data pengumpulan dan pemulihan tidak terbuka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12471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31" name="Kartu Gap dari audit"/>
          <p:cNvSpPr/>
          <p:nvPr/>
        </p:nvSpPr>
        <p:spPr>
          <a:xfrm>
            <a:off x="457200" y="1188720"/>
            <a:ext cx="5547360" cy="86868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E2DD"/>
            </a:solidFill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2" name="Isi Gap dari audit"/>
          <p:cNvSpPr txBox="1"/>
          <p:nvPr/>
        </p:nvSpPr>
        <p:spPr>
          <a:xfrm>
            <a:off x="640080" y="1280160"/>
            <a:ext cx="518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b="1" dirty="0">
                <a:solidFill>
                  <a:srgbClr val="B3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dari audit: </a:t>
            </a: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In dan robot Daisy tersedia, tetapi data pengumpulan per negara tidak dibuka; Indonesia belum punya syarat pengambilan kembali.</a:t>
            </a:r>
          </a:p>
        </p:txBody>
      </p:sp>
      <p:sp>
        <p:nvSpPr>
          <p:cNvPr id="233" name="Kartu Usulan"/>
          <p:cNvSpPr/>
          <p:nvPr/>
        </p:nvSpPr>
        <p:spPr>
          <a:xfrm>
            <a:off x="6187440" y="1188720"/>
            <a:ext cx="5547360" cy="86868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E2DD"/>
            </a:solidFill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4" name="Isi Usulan"/>
          <p:cNvSpPr txBox="1"/>
          <p:nvPr/>
        </p:nvSpPr>
        <p:spPr>
          <a:xfrm>
            <a:off x="6370320" y="1280160"/>
            <a:ext cx="518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Usulan: </a:t>
            </a: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QR berisi komposisi material dan urutan pembongkaran, terbuka bagi mitra daur ulang, selaras paspor produk digital UE.</a:t>
            </a:r>
          </a:p>
        </p:txBody>
      </p:sp>
      <p:sp>
        <p:nvSpPr>
          <p:cNvPr id="235" name="Kartu Sebelum"/>
          <p:cNvSpPr/>
          <p:nvPr/>
        </p:nvSpPr>
        <p:spPr>
          <a:xfrm>
            <a:off x="457200" y="2194560"/>
            <a:ext cx="5341620" cy="41148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E2DD"/>
            </a:solidFill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6" name="Diagram latar Sebelum"/>
          <p:cNvSpPr/>
          <p:nvPr/>
        </p:nvSpPr>
        <p:spPr>
          <a:xfrm>
            <a:off x="594360" y="2331720"/>
            <a:ext cx="5067300" cy="1600200"/>
          </a:xfrm>
          <a:prstGeom prst="roundRect">
            <a:avLst>
              <a:gd name="adj" fmla="val 6452"/>
            </a:avLst>
          </a:prstGeom>
          <a:solidFill>
            <a:srgbClr val="F4F8F6"/>
          </a:solidFill>
          <a:ln w="9525">
            <a:solidFill>
              <a:srgbClr val="D5E2DD"/>
            </a:solidFill>
          </a:ln>
        </p:spPr>
      </p:sp>
      <p:sp>
        <p:nvSpPr>
          <p:cNvPr id="237" name="Ponsel"/>
          <p:cNvSpPr/>
          <p:nvPr/>
        </p:nvSpPr>
        <p:spPr>
          <a:xfrm>
            <a:off x="898398" y="2491740"/>
            <a:ext cx="1114806" cy="1248156"/>
          </a:xfrm>
          <a:prstGeom prst="roundRect">
            <a:avLst>
              <a:gd name="adj" fmla="val 6452"/>
            </a:avLst>
          </a:prstGeom>
          <a:solidFill>
            <a:srgbClr val="2B3A38"/>
          </a:solidFill>
          <a:ln w="9525">
            <a:solidFill>
              <a:srgbClr val="12302B"/>
            </a:solidFill>
          </a:ln>
        </p:spPr>
      </p:sp>
      <p:sp>
        <p:nvSpPr>
          <p:cNvPr id="238" name="Layar"/>
          <p:cNvSpPr/>
          <p:nvPr/>
        </p:nvSpPr>
        <p:spPr>
          <a:xfrm>
            <a:off x="958398" y="2551740"/>
            <a:ext cx="994806" cy="1128156"/>
          </a:xfrm>
          <a:prstGeom prst="roundRect">
            <a:avLst>
              <a:gd name="adj" fmla="val 6452"/>
            </a:avLst>
          </a:prstGeom>
          <a:solidFill>
            <a:srgbClr val="6F7F7C"/>
          </a:solidFill>
          <a:ln>
            <a:noFill/>
          </a:ln>
        </p:spPr>
      </p:sp>
      <p:sp>
        <p:nvSpPr>
          <p:cNvPr id="239" name="Tanya"/>
          <p:cNvSpPr txBox="1"/>
          <p:nvPr/>
        </p:nvSpPr>
        <p:spPr>
          <a:xfrm>
            <a:off x="898398" y="2815818"/>
            <a:ext cx="1114806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d-ID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</a:p>
        </p:txBody>
      </p:sp>
      <p:sp>
        <p:nvSpPr>
          <p:cNvPr id="240" name="Campur"/>
          <p:cNvSpPr/>
          <p:nvPr/>
        </p:nvSpPr>
        <p:spPr>
          <a:xfrm>
            <a:off x="3128010" y="2731770"/>
            <a:ext cx="2229612" cy="8001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B8B8B8"/>
            </a:solidFill>
            <a:prstDash val="dash"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id-ID" sz="1000" b="1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tercampur, urutan bongkar ditebak</a:t>
            </a:r>
          </a:p>
        </p:txBody>
      </p:sp>
      <p:cxnSp>
        <p:nvCxnSpPr>
          <p:cNvPr id="241" name="ke campur"/>
          <p:cNvCxnSpPr/>
          <p:nvPr/>
        </p:nvCxnSpPr>
        <p:spPr>
          <a:xfrm>
            <a:off x="2053204" y="3115818"/>
            <a:ext cx="1034806" cy="0"/>
          </a:xfrm>
          <a:prstGeom prst="straightConnector1">
            <a:avLst/>
          </a:prstGeom>
          <a:ln w="12700">
            <a:solidFill>
              <a:srgbClr val="5B6B68"/>
            </a:solidFill>
            <a:prstDash val="dash"/>
            <a:tailEnd type="triangle"/>
          </a:ln>
        </p:spPr>
      </p:cxnSp>
      <p:sp>
        <p:nvSpPr>
          <p:cNvPr id="242" name="Judul Sebelum"/>
          <p:cNvSpPr txBox="1"/>
          <p:nvPr/>
        </p:nvSpPr>
        <p:spPr>
          <a:xfrm>
            <a:off x="640080" y="4023360"/>
            <a:ext cx="49758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id-ID" sz="1600" b="1" dirty="0">
                <a:solidFill>
                  <a:srgbClr val="5B6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Sebelum</a:t>
            </a:r>
          </a:p>
        </p:txBody>
      </p:sp>
      <p:sp>
        <p:nvSpPr>
          <p:cNvPr id="243" name="Poin Sebelum"/>
          <p:cNvSpPr txBox="1"/>
          <p:nvPr/>
        </p:nvSpPr>
        <p:spPr>
          <a:xfrm>
            <a:off x="640080" y="4389120"/>
            <a:ext cx="49758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Daisy membongkar 36 model iPhone, tetapi hanya di fasilitas Apple (Apple, 2026).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 daur ulang lain tidak punya data komposisi dan urutan bongkar.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Global: hanya 22,3% e-waste terdokumentasi dikumpulkan dan didaur ulang; Indonesia menghasilkan ±1,9 miliar kg (ITU dan UNITAR, 2024).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ada bukti terbuka bahwa Trade In menaikkan tingkat pengumpulan.</a:t>
            </a:r>
          </a:p>
        </p:txBody>
      </p:sp>
      <p:sp>
        <p:nvSpPr>
          <p:cNvPr id="244" name="Kartu Sesudah — usulan"/>
          <p:cNvSpPr/>
          <p:nvPr/>
        </p:nvSpPr>
        <p:spPr>
          <a:xfrm>
            <a:off x="6393180" y="2194560"/>
            <a:ext cx="5341620" cy="4114800"/>
          </a:xfrm>
          <a:prstGeom prst="roundRect">
            <a:avLst>
              <a:gd name="adj" fmla="val 6452"/>
            </a:avLst>
          </a:prstGeom>
          <a:solidFill>
            <a:srgbClr val="E3EFEA"/>
          </a:solidFill>
          <a:ln w="9525">
            <a:solidFill>
              <a:srgbClr val="1F6F5C"/>
            </a:solidFill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5" name="Diagram latar Sesudah — usulan"/>
          <p:cNvSpPr/>
          <p:nvPr/>
        </p:nvSpPr>
        <p:spPr>
          <a:xfrm>
            <a:off x="6530340" y="2331720"/>
            <a:ext cx="5067300" cy="16002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E2DD"/>
            </a:solidFill>
          </a:ln>
        </p:spPr>
      </p:sp>
      <p:sp>
        <p:nvSpPr>
          <p:cNvPr id="246" name="Ponsel"/>
          <p:cNvSpPr/>
          <p:nvPr/>
        </p:nvSpPr>
        <p:spPr>
          <a:xfrm>
            <a:off x="6834378" y="2491740"/>
            <a:ext cx="1114806" cy="1248156"/>
          </a:xfrm>
          <a:prstGeom prst="roundRect">
            <a:avLst>
              <a:gd name="adj" fmla="val 6452"/>
            </a:avLst>
          </a:prstGeom>
          <a:solidFill>
            <a:srgbClr val="2B3A38"/>
          </a:solidFill>
          <a:ln w="9525">
            <a:solidFill>
              <a:srgbClr val="12302B"/>
            </a:solidFill>
          </a:ln>
        </p:spPr>
      </p:sp>
      <p:sp>
        <p:nvSpPr>
          <p:cNvPr id="247" name="Layar"/>
          <p:cNvSpPr/>
          <p:nvPr/>
        </p:nvSpPr>
        <p:spPr>
          <a:xfrm>
            <a:off x="6894378" y="2551740"/>
            <a:ext cx="994806" cy="1128156"/>
          </a:xfrm>
          <a:prstGeom prst="roundRect">
            <a:avLst>
              <a:gd name="adj" fmla="val 6452"/>
            </a:avLst>
          </a:prstGeom>
          <a:solidFill>
            <a:srgbClr val="9FC3B6"/>
          </a:solidFill>
          <a:ln>
            <a:noFill/>
          </a:ln>
        </p:spPr>
      </p:sp>
      <p:sp>
        <p:nvSpPr>
          <p:cNvPr id="248" name="QR latar"/>
          <p:cNvSpPr/>
          <p:nvPr/>
        </p:nvSpPr>
        <p:spPr>
          <a:xfrm>
            <a:off x="7191781" y="2855818"/>
            <a:ext cx="400000" cy="4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2302B"/>
            </a:solidFill>
          </a:ln>
        </p:spPr>
      </p:sp>
      <p:sp>
        <p:nvSpPr>
          <p:cNvPr id="249" name="QR"/>
          <p:cNvSpPr/>
          <p:nvPr/>
        </p:nvSpPr>
        <p:spPr>
          <a:xfrm>
            <a:off x="7191781" y="2855818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50" name="QR"/>
          <p:cNvSpPr/>
          <p:nvPr/>
        </p:nvSpPr>
        <p:spPr>
          <a:xfrm>
            <a:off x="7248923" y="2855818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51" name="QR"/>
          <p:cNvSpPr/>
          <p:nvPr/>
        </p:nvSpPr>
        <p:spPr>
          <a:xfrm>
            <a:off x="7306065" y="2855818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52" name="QR"/>
          <p:cNvSpPr/>
          <p:nvPr/>
        </p:nvSpPr>
        <p:spPr>
          <a:xfrm>
            <a:off x="7363207" y="2855818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53" name="QR"/>
          <p:cNvSpPr/>
          <p:nvPr/>
        </p:nvSpPr>
        <p:spPr>
          <a:xfrm>
            <a:off x="7477491" y="2855818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54" name="QR"/>
          <p:cNvSpPr/>
          <p:nvPr/>
        </p:nvSpPr>
        <p:spPr>
          <a:xfrm>
            <a:off x="7534633" y="2855818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55" name="QR"/>
          <p:cNvSpPr/>
          <p:nvPr/>
        </p:nvSpPr>
        <p:spPr>
          <a:xfrm>
            <a:off x="7191781" y="2912960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56" name="QR"/>
          <p:cNvSpPr/>
          <p:nvPr/>
        </p:nvSpPr>
        <p:spPr>
          <a:xfrm>
            <a:off x="7248923" y="2912960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57" name="QR"/>
          <p:cNvSpPr/>
          <p:nvPr/>
        </p:nvSpPr>
        <p:spPr>
          <a:xfrm>
            <a:off x="7306065" y="2912960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58" name="QR"/>
          <p:cNvSpPr/>
          <p:nvPr/>
        </p:nvSpPr>
        <p:spPr>
          <a:xfrm>
            <a:off x="7420349" y="2912960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59" name="QR"/>
          <p:cNvSpPr/>
          <p:nvPr/>
        </p:nvSpPr>
        <p:spPr>
          <a:xfrm>
            <a:off x="7477491" y="2912960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60" name="QR"/>
          <p:cNvSpPr/>
          <p:nvPr/>
        </p:nvSpPr>
        <p:spPr>
          <a:xfrm>
            <a:off x="7534633" y="2912960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61" name="QR"/>
          <p:cNvSpPr/>
          <p:nvPr/>
        </p:nvSpPr>
        <p:spPr>
          <a:xfrm>
            <a:off x="7191781" y="2970102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62" name="QR"/>
          <p:cNvSpPr/>
          <p:nvPr/>
        </p:nvSpPr>
        <p:spPr>
          <a:xfrm>
            <a:off x="7306065" y="2970102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63" name="QR"/>
          <p:cNvSpPr/>
          <p:nvPr/>
        </p:nvSpPr>
        <p:spPr>
          <a:xfrm>
            <a:off x="7363207" y="2970102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64" name="QR"/>
          <p:cNvSpPr/>
          <p:nvPr/>
        </p:nvSpPr>
        <p:spPr>
          <a:xfrm>
            <a:off x="7420349" y="2970102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65" name="QR"/>
          <p:cNvSpPr/>
          <p:nvPr/>
        </p:nvSpPr>
        <p:spPr>
          <a:xfrm>
            <a:off x="7477491" y="2970102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66" name="QR"/>
          <p:cNvSpPr/>
          <p:nvPr/>
        </p:nvSpPr>
        <p:spPr>
          <a:xfrm>
            <a:off x="7534633" y="2970102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67" name="QR"/>
          <p:cNvSpPr/>
          <p:nvPr/>
        </p:nvSpPr>
        <p:spPr>
          <a:xfrm>
            <a:off x="7248923" y="3027244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68" name="QR"/>
          <p:cNvSpPr/>
          <p:nvPr/>
        </p:nvSpPr>
        <p:spPr>
          <a:xfrm>
            <a:off x="7306065" y="3027244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69" name="QR"/>
          <p:cNvSpPr/>
          <p:nvPr/>
        </p:nvSpPr>
        <p:spPr>
          <a:xfrm>
            <a:off x="7534633" y="3027244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70" name="QR"/>
          <p:cNvSpPr/>
          <p:nvPr/>
        </p:nvSpPr>
        <p:spPr>
          <a:xfrm>
            <a:off x="7248923" y="3084386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71" name="QR"/>
          <p:cNvSpPr/>
          <p:nvPr/>
        </p:nvSpPr>
        <p:spPr>
          <a:xfrm>
            <a:off x="7363207" y="3084386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72" name="QR"/>
          <p:cNvSpPr/>
          <p:nvPr/>
        </p:nvSpPr>
        <p:spPr>
          <a:xfrm>
            <a:off x="7420349" y="3084386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73" name="QR"/>
          <p:cNvSpPr/>
          <p:nvPr/>
        </p:nvSpPr>
        <p:spPr>
          <a:xfrm>
            <a:off x="7477491" y="3084386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74" name="QR"/>
          <p:cNvSpPr/>
          <p:nvPr/>
        </p:nvSpPr>
        <p:spPr>
          <a:xfrm>
            <a:off x="7534633" y="3084386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75" name="QR"/>
          <p:cNvSpPr/>
          <p:nvPr/>
        </p:nvSpPr>
        <p:spPr>
          <a:xfrm>
            <a:off x="7191781" y="3141528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76" name="QR"/>
          <p:cNvSpPr/>
          <p:nvPr/>
        </p:nvSpPr>
        <p:spPr>
          <a:xfrm>
            <a:off x="7248923" y="3141528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77" name="QR"/>
          <p:cNvSpPr/>
          <p:nvPr/>
        </p:nvSpPr>
        <p:spPr>
          <a:xfrm>
            <a:off x="7363207" y="3141528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78" name="QR"/>
          <p:cNvSpPr/>
          <p:nvPr/>
        </p:nvSpPr>
        <p:spPr>
          <a:xfrm>
            <a:off x="7534633" y="3141528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79" name="QR"/>
          <p:cNvSpPr/>
          <p:nvPr/>
        </p:nvSpPr>
        <p:spPr>
          <a:xfrm>
            <a:off x="7191781" y="3198670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80" name="QR"/>
          <p:cNvSpPr/>
          <p:nvPr/>
        </p:nvSpPr>
        <p:spPr>
          <a:xfrm>
            <a:off x="7248923" y="3198670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81" name="QR"/>
          <p:cNvSpPr/>
          <p:nvPr/>
        </p:nvSpPr>
        <p:spPr>
          <a:xfrm>
            <a:off x="7363207" y="3198670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82" name="QR"/>
          <p:cNvSpPr/>
          <p:nvPr/>
        </p:nvSpPr>
        <p:spPr>
          <a:xfrm>
            <a:off x="7420349" y="3198670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83" name="QR"/>
          <p:cNvSpPr/>
          <p:nvPr/>
        </p:nvSpPr>
        <p:spPr>
          <a:xfrm>
            <a:off x="7477491" y="3198670"/>
            <a:ext cx="57142" cy="57142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284" name="QR teks"/>
          <p:cNvSpPr txBox="1"/>
          <p:nvPr/>
        </p:nvSpPr>
        <p:spPr>
          <a:xfrm>
            <a:off x="6834378" y="3305818"/>
            <a:ext cx="1114806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id-ID" sz="9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paspor digital</a:t>
            </a:r>
          </a:p>
        </p:txBody>
      </p:sp>
      <p:sp>
        <p:nvSpPr>
          <p:cNvPr id="285" name="Bin Aluminium"/>
          <p:cNvSpPr/>
          <p:nvPr/>
        </p:nvSpPr>
        <p:spPr>
          <a:xfrm>
            <a:off x="9063990" y="2571750"/>
            <a:ext cx="2229612" cy="304038"/>
          </a:xfrm>
          <a:prstGeom prst="roundRect">
            <a:avLst/>
          </a:prstGeom>
          <a:solidFill>
            <a:srgbClr val="E3EFEA"/>
          </a:solidFill>
          <a:ln w="12700">
            <a:solidFill>
              <a:srgbClr val="1F6F5C"/>
            </a:solidFill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id-ID" sz="10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Aluminium</a:t>
            </a:r>
          </a:p>
        </p:txBody>
      </p:sp>
      <p:cxnSp>
        <p:nvCxnSpPr>
          <p:cNvPr id="286" name="ke Aluminium"/>
          <p:cNvCxnSpPr/>
          <p:nvPr/>
        </p:nvCxnSpPr>
        <p:spPr>
          <a:xfrm flipV="1">
            <a:off x="7989184" y="2723769"/>
            <a:ext cx="1034806" cy="392049"/>
          </a:xfrm>
          <a:prstGeom prst="straightConnector1">
            <a:avLst/>
          </a:prstGeom>
          <a:ln w="12700">
            <a:solidFill>
              <a:srgbClr val="1F6F5C"/>
            </a:solidFill>
            <a:tailEnd type="triangle"/>
          </a:ln>
        </p:spPr>
      </p:cxnSp>
      <p:sp>
        <p:nvSpPr>
          <p:cNvPr id="287" name="Bin Baterai (kobalt, litium)"/>
          <p:cNvSpPr/>
          <p:nvPr/>
        </p:nvSpPr>
        <p:spPr>
          <a:xfrm>
            <a:off x="9063990" y="2987802"/>
            <a:ext cx="2229612" cy="304038"/>
          </a:xfrm>
          <a:prstGeom prst="roundRect">
            <a:avLst/>
          </a:prstGeom>
          <a:solidFill>
            <a:srgbClr val="E3EFEA"/>
          </a:solidFill>
          <a:ln w="12700">
            <a:solidFill>
              <a:srgbClr val="C98A12"/>
            </a:solidFill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id-ID" sz="10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Baterai (kobalt, litium)</a:t>
            </a:r>
          </a:p>
        </p:txBody>
      </p:sp>
      <p:cxnSp>
        <p:nvCxnSpPr>
          <p:cNvPr id="288" name="ke Baterai (kobalt, litium)"/>
          <p:cNvCxnSpPr/>
          <p:nvPr/>
        </p:nvCxnSpPr>
        <p:spPr>
          <a:xfrm>
            <a:off x="7989184" y="3115818"/>
            <a:ext cx="1034806" cy="24003"/>
          </a:xfrm>
          <a:prstGeom prst="straightConnector1">
            <a:avLst/>
          </a:prstGeom>
          <a:ln w="12700">
            <a:solidFill>
              <a:srgbClr val="1F6F5C"/>
            </a:solidFill>
            <a:tailEnd type="triangle"/>
          </a:ln>
        </p:spPr>
      </p:cxnSp>
      <p:sp>
        <p:nvSpPr>
          <p:cNvPr id="289" name="Bin Papan logika (emas, timah)"/>
          <p:cNvSpPr/>
          <p:nvPr/>
        </p:nvSpPr>
        <p:spPr>
          <a:xfrm>
            <a:off x="9063990" y="3403854"/>
            <a:ext cx="2229612" cy="304038"/>
          </a:xfrm>
          <a:prstGeom prst="roundRect">
            <a:avLst/>
          </a:prstGeom>
          <a:solidFill>
            <a:srgbClr val="E3EFEA"/>
          </a:solidFill>
          <a:ln w="12700">
            <a:solidFill>
              <a:srgbClr val="1F6F5C"/>
            </a:solidFill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id-ID" sz="10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Papan logika (emas, timah)</a:t>
            </a:r>
          </a:p>
        </p:txBody>
      </p:sp>
      <p:cxnSp>
        <p:nvCxnSpPr>
          <p:cNvPr id="290" name="ke Papan logika (emas, timah)"/>
          <p:cNvCxnSpPr/>
          <p:nvPr/>
        </p:nvCxnSpPr>
        <p:spPr>
          <a:xfrm>
            <a:off x="7989184" y="3115818"/>
            <a:ext cx="1034806" cy="440055"/>
          </a:xfrm>
          <a:prstGeom prst="straightConnector1">
            <a:avLst/>
          </a:prstGeom>
          <a:ln w="12700">
            <a:solidFill>
              <a:srgbClr val="1F6F5C"/>
            </a:solidFill>
            <a:tailEnd type="triangle"/>
          </a:ln>
        </p:spPr>
      </p:cxnSp>
      <p:sp>
        <p:nvSpPr>
          <p:cNvPr id="291" name="Judul Sesudah — usulan"/>
          <p:cNvSpPr txBox="1"/>
          <p:nvPr/>
        </p:nvSpPr>
        <p:spPr>
          <a:xfrm>
            <a:off x="6576060" y="4023360"/>
            <a:ext cx="49758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id-ID" sz="1600" b="1" dirty="0">
                <a:solidFill>
                  <a:srgbClr val="1F6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Sesudah — usulan</a:t>
            </a:r>
          </a:p>
        </p:txBody>
      </p:sp>
      <p:sp>
        <p:nvSpPr>
          <p:cNvPr id="292" name="Poin Sesudah — usulan"/>
          <p:cNvSpPr txBox="1"/>
          <p:nvPr/>
        </p:nvSpPr>
        <p:spPr>
          <a:xfrm>
            <a:off x="6576060" y="4389120"/>
            <a:ext cx="49758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lang="id-ID" sz="1200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unit membawa paspor digital (QR) berisi komposisi dan urutan bongkar.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lang="id-ID" sz="1200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 pemulihan memilah modul untuk pakai ulang, perbaikan, atau daur ulang.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lang="id-ID" sz="1200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Dihubungkan dengan program pengembalian di pasar berkembang, termasuk Indonesia.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lang="id-ID" sz="1200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Dievaluasi dengan KPI yang ditetapkan sebelum uji coba: tingkat pengumpulan per negara dan kemurnian material.</a:t>
            </a:r>
          </a:p>
        </p:txBody>
      </p:sp>
      <p:sp>
        <p:nvSpPr>
          <p:cNvPr id="293" name="Panah"/>
          <p:cNvSpPr/>
          <p:nvPr/>
        </p:nvSpPr>
        <p:spPr>
          <a:xfrm>
            <a:off x="5890260" y="4069080"/>
            <a:ext cx="411480" cy="365760"/>
          </a:xfrm>
          <a:prstGeom prst="rightArrow">
            <a:avLst/>
          </a:prstGeom>
          <a:solidFill>
            <a:srgbClr val="1F6F5C"/>
          </a:solidFill>
          <a:ln>
            <a:noFill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Landasan bukti: laporan Apple, jurnal, regulasi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76809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klaim di audit merujuk ke salah satu sumber berikut; angka dibaca apa adanya, tidak diolah ulang kecuali disebut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12471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94" name="Kolom Laporan resmi Apple"/>
          <p:cNvSpPr/>
          <p:nvPr/>
        </p:nvSpPr>
        <p:spPr>
          <a:xfrm>
            <a:off x="457200" y="1188720"/>
            <a:ext cx="3637280" cy="50292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E2DD"/>
            </a:solidFill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5" name="Tag Laporan resmi Apple"/>
          <p:cNvSpPr/>
          <p:nvPr/>
        </p:nvSpPr>
        <p:spPr>
          <a:xfrm>
            <a:off x="594360" y="1325880"/>
            <a:ext cx="3362960" cy="320040"/>
          </a:xfrm>
          <a:prstGeom prst="roundRect">
            <a:avLst/>
          </a:prstGeom>
          <a:solidFill>
            <a:srgbClr val="1F6F5C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id-ID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resmi Apple</a:t>
            </a:r>
          </a:p>
        </p:txBody>
      </p:sp>
      <p:sp>
        <p:nvSpPr>
          <p:cNvPr id="296" name="Isi Laporan resmi Apple"/>
          <p:cNvSpPr txBox="1"/>
          <p:nvPr/>
        </p:nvSpPr>
        <p:spPr>
          <a:xfrm>
            <a:off x="640080" y="1783080"/>
            <a:ext cx="327152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900"/>
              </a:spcAft>
              <a:buNone/>
            </a:pPr>
            <a:r>
              <a:rPr lang="id-ID" sz="125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(2024a), PER iPhone 16 dan 16 Plus. </a:t>
            </a:r>
            <a:r>
              <a:rPr lang="id-ID" sz="125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Jejak karbon 60 kg CO2e (16 Plus 128 GB): produksi 79%, pemakaian 18%, transportasi 4%, akhir masa pakai &lt;1%. Emisi turun 30% dari skenario business-as-usual: listrik rendah karbon pemasok 20%, aluminium daur ulang ±8%.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id-ID" sz="125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(2026), Environmental Progress Report. </a:t>
            </a:r>
            <a:r>
              <a:rPr lang="id-ID" sz="125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material daur ulang lintas produk (2025); 100% kobalt daur ulang di baterai rancangan Apple; robot Daisy membongkar 36 model iPhone.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id-ID" sz="125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(2024b), pernyataan PSTI Inggris. </a:t>
            </a:r>
            <a:r>
              <a:rPr lang="id-ID" sz="125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Pembaruan keamanan minimal 5 tahun sejak tanggal penjualan pertama.</a:t>
            </a:r>
          </a:p>
        </p:txBody>
      </p:sp>
      <p:sp>
        <p:nvSpPr>
          <p:cNvPr id="297" name="Kolom Jurnal ilmiah"/>
          <p:cNvSpPr/>
          <p:nvPr/>
        </p:nvSpPr>
        <p:spPr>
          <a:xfrm>
            <a:off x="4277360" y="1188720"/>
            <a:ext cx="3637280" cy="50292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E2DD"/>
            </a:solidFill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8" name="Tag Jurnal ilmiah"/>
          <p:cNvSpPr/>
          <p:nvPr/>
        </p:nvSpPr>
        <p:spPr>
          <a:xfrm>
            <a:off x="4414520" y="1325880"/>
            <a:ext cx="3362960" cy="320040"/>
          </a:xfrm>
          <a:prstGeom prst="roundRect">
            <a:avLst/>
          </a:prstGeom>
          <a:solidFill>
            <a:srgbClr val="B5651D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id-ID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Jurnal ilmiah</a:t>
            </a:r>
          </a:p>
        </p:txBody>
      </p:sp>
      <p:sp>
        <p:nvSpPr>
          <p:cNvPr id="299" name="Isi Jurnal ilmiah"/>
          <p:cNvSpPr txBox="1"/>
          <p:nvPr/>
        </p:nvSpPr>
        <p:spPr>
          <a:xfrm>
            <a:off x="4460240" y="1783080"/>
            <a:ext cx="327152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900"/>
              </a:spcAft>
              <a:buNone/>
            </a:pPr>
            <a:r>
              <a:rPr lang="id-ID" sz="125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Cordella dkk. (2021), J. Clean. Prod. </a:t>
            </a:r>
            <a:r>
              <a:rPr lang="id-ID" sz="125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Layar, baterai, penutup belakang, dan perangkat lunak adalah titik kritis daya tahan; keandalan dan reparabilitas dapat dicapai bersamaan.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id-ID" sz="125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Makov dan Fitzpatrick (2021), J. Clean. Prod. </a:t>
            </a:r>
            <a:r>
              <a:rPr lang="id-ID" sz="125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Kinerja 3,5 juta iPhone stabil dari waktu ke waktu, tetapi minat reparasi turun eksponensial: reparabilitas saja tidak cukup.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id-ID" sz="125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Proske dan Jaeger-Erben (2019), J. Clean. Prod. </a:t>
            </a:r>
            <a:r>
              <a:rPr lang="id-ID" sz="125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Modularitas tidak otomatis memperpanjang umur pakai; umur pakai terkait fungsi dan makna simbolik.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id-ID" sz="125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Zink dan Geyer (2017), J. Ind. Ecol. </a:t>
            </a:r>
            <a:r>
              <a:rPr lang="id-ID" sz="125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Ekonomi sirkular dapat memicu rebound produksi.</a:t>
            </a:r>
          </a:p>
        </p:txBody>
      </p:sp>
      <p:sp>
        <p:nvSpPr>
          <p:cNvPr id="300" name="Kolom Regulasi dan data independen"/>
          <p:cNvSpPr/>
          <p:nvPr/>
        </p:nvSpPr>
        <p:spPr>
          <a:xfrm>
            <a:off x="8097520" y="1188720"/>
            <a:ext cx="3637280" cy="50292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E2DD"/>
            </a:solidFill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1" name="Tag Regulasi dan data independen"/>
          <p:cNvSpPr/>
          <p:nvPr/>
        </p:nvSpPr>
        <p:spPr>
          <a:xfrm>
            <a:off x="8234680" y="1325880"/>
            <a:ext cx="3362960" cy="320040"/>
          </a:xfrm>
          <a:prstGeom prst="roundRect">
            <a:avLst/>
          </a:prstGeom>
          <a:solidFill>
            <a:srgbClr val="12302B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id-ID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Regulasi dan data independen</a:t>
            </a:r>
          </a:p>
        </p:txBody>
      </p:sp>
      <p:sp>
        <p:nvSpPr>
          <p:cNvPr id="302" name="Isi Regulasi dan data independen"/>
          <p:cNvSpPr txBox="1"/>
          <p:nvPr/>
        </p:nvSpPr>
        <p:spPr>
          <a:xfrm>
            <a:off x="8280400" y="1783080"/>
            <a:ext cx="327152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900"/>
              </a:spcAft>
              <a:buNone/>
            </a:pPr>
            <a:r>
              <a:rPr lang="id-ID" sz="125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Regulasi (UE) 2023/1670. </a:t>
            </a:r>
            <a:r>
              <a:rPr lang="id-ID" sz="125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Mulai 20 Juni 2025: baterai ≥800 siklus pada 80%, suku cadang 7 tahun, pembaruan OS 5 tahun, label reparasi.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id-ID" sz="125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ITU dan UNITAR (2024). </a:t>
            </a:r>
            <a:r>
              <a:rPr lang="id-ID" sz="125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miliar kg e-waste (2022); 22,3% terdokumentasi didaur ulang; Indonesia ±1,9 miliar kg.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id-ID" sz="125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iFixit (2024). </a:t>
            </a:r>
            <a:r>
              <a:rPr lang="id-ID" sz="125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 reparabilitas iPhone 16 7/10 (sementara), naik dari 4/10 pada iPhone 15.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2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Analisis mendalam: jurnal vs bukti iPhone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76809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Triangulasi temuan jurnal dengan laporan resmi Apple menghasilkan implikasi desain yang menjadi dasar usulan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124712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03" name="Header tabel"/>
          <p:cNvSpPr/>
          <p:nvPr/>
        </p:nvSpPr>
        <p:spPr>
          <a:xfrm>
            <a:off x="457200" y="1188720"/>
            <a:ext cx="11277600" cy="365760"/>
          </a:xfrm>
          <a:prstGeom prst="rect">
            <a:avLst/>
          </a:prstGeom>
          <a:solidFill>
            <a:srgbClr val="12302B"/>
          </a:solidFill>
          <a:ln>
            <a:noFill/>
          </a:ln>
        </p:spPr>
      </p:sp>
      <p:sp>
        <p:nvSpPr>
          <p:cNvPr id="304" name="H Sumber"/>
          <p:cNvSpPr txBox="1"/>
          <p:nvPr/>
        </p:nvSpPr>
        <p:spPr>
          <a:xfrm>
            <a:off x="548640" y="1188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</a:t>
            </a:r>
          </a:p>
        </p:txBody>
      </p:sp>
      <p:sp>
        <p:nvSpPr>
          <p:cNvPr id="305" name="H Temuan jurnal"/>
          <p:cNvSpPr txBox="1"/>
          <p:nvPr/>
        </p:nvSpPr>
        <p:spPr>
          <a:xfrm>
            <a:off x="2834640" y="11887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jurnal</a:t>
            </a:r>
          </a:p>
        </p:txBody>
      </p:sp>
      <p:sp>
        <p:nvSpPr>
          <p:cNvPr id="306" name="H Bukti iPhone (laporan resmi)"/>
          <p:cNvSpPr txBox="1"/>
          <p:nvPr/>
        </p:nvSpPr>
        <p:spPr>
          <a:xfrm>
            <a:off x="5806440" y="11887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iPhone (laporan resmi)</a:t>
            </a:r>
          </a:p>
        </p:txBody>
      </p:sp>
      <p:sp>
        <p:nvSpPr>
          <p:cNvPr id="307" name="H Implikasi desain"/>
          <p:cNvSpPr txBox="1"/>
          <p:nvPr/>
        </p:nvSpPr>
        <p:spPr>
          <a:xfrm>
            <a:off x="8778240" y="118872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Implikasi desain</a:t>
            </a:r>
          </a:p>
        </p:txBody>
      </p:sp>
      <p:sp>
        <p:nvSpPr>
          <p:cNvPr id="308" name="Baris 0"/>
          <p:cNvSpPr/>
          <p:nvPr/>
        </p:nvSpPr>
        <p:spPr>
          <a:xfrm>
            <a:off x="457200" y="1554480"/>
            <a:ext cx="112776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E2DD"/>
            </a:solidFill>
          </a:ln>
        </p:spPr>
      </p:sp>
      <p:sp>
        <p:nvSpPr>
          <p:cNvPr id="309" name="Sel implikasi 0"/>
          <p:cNvSpPr/>
          <p:nvPr/>
        </p:nvSpPr>
        <p:spPr>
          <a:xfrm>
            <a:off x="8686800" y="1554480"/>
            <a:ext cx="3048000" cy="1143000"/>
          </a:xfrm>
          <a:prstGeom prst="rect">
            <a:avLst/>
          </a:prstGeom>
          <a:solidFill>
            <a:srgbClr val="E3EFEA"/>
          </a:solidFill>
          <a:ln w="9525">
            <a:solidFill>
              <a:srgbClr val="D5E2DD"/>
            </a:solidFill>
          </a:ln>
        </p:spPr>
      </p:sp>
      <p:sp>
        <p:nvSpPr>
          <p:cNvPr id="310" name="C00"/>
          <p:cNvSpPr txBox="1"/>
          <p:nvPr/>
        </p:nvSpPr>
        <p:spPr>
          <a:xfrm>
            <a:off x="548640" y="16002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Cordella dkk. (2021)</a:t>
            </a:r>
          </a:p>
        </p:txBody>
      </p:sp>
      <p:sp>
        <p:nvSpPr>
          <p:cNvPr id="311" name="C01"/>
          <p:cNvSpPr txBox="1"/>
          <p:nvPr/>
        </p:nvSpPr>
        <p:spPr>
          <a:xfrm>
            <a:off x="2834640" y="160020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Ketahanan dan reparabilitas tidak harus dipertukarkan; baterai dan layar titik kritis.</a:t>
            </a:r>
          </a:p>
        </p:txBody>
      </p:sp>
      <p:sp>
        <p:nvSpPr>
          <p:cNvPr id="312" name="C02"/>
          <p:cNvSpPr txBox="1"/>
          <p:nvPr/>
        </p:nvSpPr>
        <p:spPr>
          <a:xfrm>
            <a:off x="5806440" y="160020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16 tetap IP68, tetapi baterai kini dilepas arus listrik ±90 detik; skor iFixit naik 4 → 7/10.</a:t>
            </a:r>
          </a:p>
        </p:txBody>
      </p:sp>
      <p:sp>
        <p:nvSpPr>
          <p:cNvPr id="313" name="C03"/>
          <p:cNvSpPr txBox="1"/>
          <p:nvPr/>
        </p:nvSpPr>
        <p:spPr>
          <a:xfrm>
            <a:off x="8778240" y="1600200"/>
            <a:ext cx="286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di slide 2 menyempit. Hambatan tersisa: penyandingan suku cadang dan dimensi baterai yang berubah → Usulan #1.</a:t>
            </a:r>
          </a:p>
        </p:txBody>
      </p:sp>
      <p:sp>
        <p:nvSpPr>
          <p:cNvPr id="314" name="Baris 1"/>
          <p:cNvSpPr/>
          <p:nvPr/>
        </p:nvSpPr>
        <p:spPr>
          <a:xfrm>
            <a:off x="457200" y="2697480"/>
            <a:ext cx="11277600" cy="1143000"/>
          </a:xfrm>
          <a:prstGeom prst="rect">
            <a:avLst/>
          </a:prstGeom>
          <a:solidFill>
            <a:srgbClr val="F4F8F6"/>
          </a:solidFill>
          <a:ln w="9525">
            <a:solidFill>
              <a:srgbClr val="D5E2DD"/>
            </a:solidFill>
          </a:ln>
        </p:spPr>
      </p:sp>
      <p:sp>
        <p:nvSpPr>
          <p:cNvPr id="315" name="Sel implikasi 1"/>
          <p:cNvSpPr/>
          <p:nvPr/>
        </p:nvSpPr>
        <p:spPr>
          <a:xfrm>
            <a:off x="8686800" y="2697480"/>
            <a:ext cx="3048000" cy="1143000"/>
          </a:xfrm>
          <a:prstGeom prst="rect">
            <a:avLst/>
          </a:prstGeom>
          <a:solidFill>
            <a:srgbClr val="E3EFEA"/>
          </a:solidFill>
          <a:ln w="9525">
            <a:solidFill>
              <a:srgbClr val="D5E2DD"/>
            </a:solidFill>
          </a:ln>
        </p:spPr>
      </p:sp>
      <p:sp>
        <p:nvSpPr>
          <p:cNvPr id="316" name="C10"/>
          <p:cNvSpPr txBox="1"/>
          <p:nvPr/>
        </p:nvSpPr>
        <p:spPr>
          <a:xfrm>
            <a:off x="548640" y="27432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Makov dan Fitzpatrick (2021)</a:t>
            </a:r>
          </a:p>
        </p:txBody>
      </p:sp>
      <p:sp>
        <p:nvSpPr>
          <p:cNvPr id="317" name="C11"/>
          <p:cNvSpPr txBox="1"/>
          <p:nvPr/>
        </p:nvSpPr>
        <p:spPr>
          <a:xfrm>
            <a:off x="2834640" y="274320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Kinerja iPhone stabil; minat reparasi turun cepat seiring umur.</a:t>
            </a:r>
          </a:p>
        </p:txBody>
      </p:sp>
      <p:sp>
        <p:nvSpPr>
          <p:cNvPr id="318" name="C12"/>
          <p:cNvSpPr txBox="1"/>
          <p:nvPr/>
        </p:nvSpPr>
        <p:spPr>
          <a:xfrm>
            <a:off x="5806440" y="274320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Klaim Apple: pembaruan keamanan ≥5 tahun; umur layanan aktual dan rasio reparasi tidak dipublikasikan.</a:t>
            </a:r>
          </a:p>
        </p:txBody>
      </p:sp>
      <p:sp>
        <p:nvSpPr>
          <p:cNvPr id="319" name="C13"/>
          <p:cNvSpPr txBox="1"/>
          <p:nvPr/>
        </p:nvSpPr>
        <p:spPr>
          <a:xfrm>
            <a:off x="8778240" y="2743200"/>
            <a:ext cx="286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Umur pakai lebih dibatasi persepsi dan biaya reparasi daripada teknis → KPI umur layanan aktual dan reparasi murah.</a:t>
            </a:r>
          </a:p>
        </p:txBody>
      </p:sp>
      <p:sp>
        <p:nvSpPr>
          <p:cNvPr id="320" name="Baris 2"/>
          <p:cNvSpPr/>
          <p:nvPr/>
        </p:nvSpPr>
        <p:spPr>
          <a:xfrm>
            <a:off x="457200" y="3840480"/>
            <a:ext cx="112776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E2DD"/>
            </a:solidFill>
          </a:ln>
        </p:spPr>
      </p:sp>
      <p:sp>
        <p:nvSpPr>
          <p:cNvPr id="321" name="Sel implikasi 2"/>
          <p:cNvSpPr/>
          <p:nvPr/>
        </p:nvSpPr>
        <p:spPr>
          <a:xfrm>
            <a:off x="8686800" y="3840480"/>
            <a:ext cx="3048000" cy="1143000"/>
          </a:xfrm>
          <a:prstGeom prst="rect">
            <a:avLst/>
          </a:prstGeom>
          <a:solidFill>
            <a:srgbClr val="E3EFEA"/>
          </a:solidFill>
          <a:ln w="9525">
            <a:solidFill>
              <a:srgbClr val="D5E2DD"/>
            </a:solidFill>
          </a:ln>
        </p:spPr>
      </p:sp>
      <p:sp>
        <p:nvSpPr>
          <p:cNvPr id="322" name="C20"/>
          <p:cNvSpPr txBox="1"/>
          <p:nvPr/>
        </p:nvSpPr>
        <p:spPr>
          <a:xfrm>
            <a:off x="548640" y="38862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Proske dan Jaeger-Erben (2019)</a:t>
            </a:r>
          </a:p>
        </p:txBody>
      </p:sp>
      <p:sp>
        <p:nvSpPr>
          <p:cNvPr id="323" name="C21"/>
          <p:cNvSpPr txBox="1"/>
          <p:nvPr/>
        </p:nvSpPr>
        <p:spPr>
          <a:xfrm>
            <a:off x="2834640" y="388620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Modularitas penuh membawa risiko (lebih banyak material, konektor) dan tidak menjamin umur lebih panjang.</a:t>
            </a:r>
          </a:p>
        </p:txBody>
      </p:sp>
      <p:sp>
        <p:nvSpPr>
          <p:cNvPr id="324" name="C22"/>
          <p:cNvSpPr txBox="1"/>
          <p:nvPr/>
        </p:nvSpPr>
        <p:spPr>
          <a:xfrm>
            <a:off x="5806440" y="388620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tidak modular; desain terpadu menjaga ketahanan air dan bentuk tipis.</a:t>
            </a:r>
          </a:p>
        </p:txBody>
      </p:sp>
      <p:sp>
        <p:nvSpPr>
          <p:cNvPr id="325" name="C23"/>
          <p:cNvSpPr txBox="1"/>
          <p:nvPr/>
        </p:nvSpPr>
        <p:spPr>
          <a:xfrm>
            <a:off x="8778240" y="3886200"/>
            <a:ext cx="286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Usulan dibatasi pada modul baterai (komponen kritis), bukan ponsel modular penuh.</a:t>
            </a:r>
          </a:p>
        </p:txBody>
      </p:sp>
      <p:sp>
        <p:nvSpPr>
          <p:cNvPr id="326" name="Baris 3"/>
          <p:cNvSpPr/>
          <p:nvPr/>
        </p:nvSpPr>
        <p:spPr>
          <a:xfrm>
            <a:off x="457200" y="4983480"/>
            <a:ext cx="11277600" cy="1143000"/>
          </a:xfrm>
          <a:prstGeom prst="rect">
            <a:avLst/>
          </a:prstGeom>
          <a:solidFill>
            <a:srgbClr val="F4F8F6"/>
          </a:solidFill>
          <a:ln w="9525">
            <a:solidFill>
              <a:srgbClr val="D5E2DD"/>
            </a:solidFill>
          </a:ln>
        </p:spPr>
      </p:sp>
      <p:sp>
        <p:nvSpPr>
          <p:cNvPr id="327" name="Sel implikasi 3"/>
          <p:cNvSpPr/>
          <p:nvPr/>
        </p:nvSpPr>
        <p:spPr>
          <a:xfrm>
            <a:off x="8686800" y="4983480"/>
            <a:ext cx="3048000" cy="1143000"/>
          </a:xfrm>
          <a:prstGeom prst="rect">
            <a:avLst/>
          </a:prstGeom>
          <a:solidFill>
            <a:srgbClr val="E3EFEA"/>
          </a:solidFill>
          <a:ln w="9525">
            <a:solidFill>
              <a:srgbClr val="D5E2DD"/>
            </a:solidFill>
          </a:ln>
        </p:spPr>
      </p:sp>
      <p:sp>
        <p:nvSpPr>
          <p:cNvPr id="328" name="C30"/>
          <p:cNvSpPr txBox="1"/>
          <p:nvPr/>
        </p:nvSpPr>
        <p:spPr>
          <a:xfrm>
            <a:off x="548640" y="50292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b="1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(2024a) dan Zink dan Geyer (2017)</a:t>
            </a:r>
          </a:p>
        </p:txBody>
      </p:sp>
      <p:sp>
        <p:nvSpPr>
          <p:cNvPr id="329" name="C31"/>
          <p:cNvSpPr txBox="1"/>
          <p:nvPr/>
        </p:nvSpPr>
        <p:spPr>
          <a:xfrm>
            <a:off x="2834640" y="502920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Rebound: pemulihan dapat mendorong produksi baru.</a:t>
            </a:r>
          </a:p>
        </p:txBody>
      </p:sp>
      <p:sp>
        <p:nvSpPr>
          <p:cNvPr id="330" name="C32"/>
          <p:cNvSpPr txBox="1"/>
          <p:nvPr/>
        </p:nvSpPr>
        <p:spPr>
          <a:xfrm>
            <a:off x="5806440" y="502920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dirty="0">
                <a:solidFill>
                  <a:srgbClr val="1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Produksi 79% jejak karbon; penurunan 30% terutama dari listrik pemasok (20%), bukan material (±8%).</a:t>
            </a:r>
          </a:p>
        </p:txBody>
      </p:sp>
      <p:sp>
        <p:nvSpPr>
          <p:cNvPr id="331" name="C33"/>
          <p:cNvSpPr txBox="1"/>
          <p:nvPr/>
        </p:nvSpPr>
        <p:spPr>
          <a:xfrm>
            <a:off x="8778240" y="5029200"/>
            <a:ext cx="286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d-ID" sz="1200" dirty="0">
                <a:solidFill>
                  <a:srgbClr val="12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Memperpanjang umur 3 → 5 tahun memangkas ±33% dampak per tahun (slide 6) → lebih kuat daripada mengganti material; Trade In perlu dipantau.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</TotalTime>
  <Words>1375</Words>
  <Application>Microsoft Office PowerPoint</Application>
  <PresentationFormat>Widescreen</PresentationFormat>
  <Paragraphs>180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 Desain dan Redesain Sirkular pada Apple iPhone</dc:title>
  <dc:subject>PptxGenJS Presentation</dc:subject>
  <dc:creator>Millah Karimah Maulidah</dc:creator>
  <cp:lastModifiedBy>Frans Correia Soares</cp:lastModifiedBy>
  <cp:revision>14</cp:revision>
  <dcterms:created xsi:type="dcterms:W3CDTF">2026-10-07T17:27:57Z</dcterms:created>
  <dcterms:modified xsi:type="dcterms:W3CDTF">2026-10-08T14:47:51Z</dcterms:modified>
</cp:coreProperties>
</file>