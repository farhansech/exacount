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16"/>
    <p:sldId id="266" r:id="rId1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2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6" Type="http://schemas.openxmlformats.org/officeDocument/2006/relationships/slide" Target="slides/slide10.xml"/>
  <Relationship Id="rId17" Type="http://schemas.openxmlformats.org/officeDocument/2006/relationships/slide" Target="slides/slide11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 CO2e</c:v>
                </c:pt>
              </c:strCache>
            </c:strRef>
          </c:tx>
          <c:spPr>
            <a:solidFill>
              <a:srgbClr val="1F6F5C"/>
            </a:solidFill>
            <a:effectLst/>
          </c:spPr>
          <c:invertIfNegative val="0"/>
          <c:dLbls>
            <c:dLbl>
              <c:idx val="0"/>
              <c:layout>
                <c:manualLayout>
                  <c:x val="1.827485380116959E-2"/>
                  <c:y val="1.7360959220375231E-2"/>
                </c:manualLayout>
              </c:layout>
              <c:tx>
                <c:rich>
                  <a:bodyPr/>
                  <a:lstStyle/>
                  <a:p>
                    <a:fld id="{C0612605-73C7-4508-87F9-90C4BFFC565A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,2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2436647173489"/>
                      <c:h val="0.1461033950617283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530-4390-B55A-0AF3E5411A4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B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 th</c:v>
                </c:pt>
                <c:pt idx="1">
                  <c:v>3 th</c:v>
                </c:pt>
                <c:pt idx="2">
                  <c:v>4 th</c:v>
                </c:pt>
                <c:pt idx="3">
                  <c:v>5 th</c:v>
                </c:pt>
                <c:pt idx="4">
                  <c:v>6 th</c:v>
                </c:pt>
                <c:pt idx="5">
                  <c:v>7 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28.2</c:v>
                </c:pt>
                <c:pt idx="1">
                  <c:v>20</c:v>
                </c:pt>
                <c:pt idx="2">
                  <c:v>15.9</c:v>
                </c:pt>
                <c:pt idx="3">
                  <c:v>13.4</c:v>
                </c:pt>
                <c:pt idx="4">
                  <c:v>11.8</c:v>
                </c:pt>
                <c:pt idx="5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E-4E69-B3C8-F99B2D56A8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416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tugas Week 5, bahan Week 4. Produk iPhone dianalisis lebih mendalam karena produknya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objek, masalah desain, dan alasan batas sistem sampai pemulihan: bila hanya pemakaian, hanya 18% dampak terlihat. Sumber: Apple PER 2024; porsi dibulatkan Apple.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Kaitkan tiga strategi Bocken dengan indikator Apple. Aluminium dan kobalt: menutup aliran. Baterai 75% lebih cepat: memperlambat aliran.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Skala: Tinggi bila kemampuan desain terdokumentasi tanpa hambatan besar; Sedang bila ada kemajuan tetapi masih ada hambatan; Rendah bila desain menghambat. Skor penilaian penulis. Sumber: Apple PER 2024; European Commission 2025; Fortune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Perhitungan: bagian tetap 49,2 kg (produksi, transportasi, akhir masa pakai), pemakaian 3,6 kg per tahun (18% dari 60 kg selama 3 tahun). Ini hitungan penulis, bukan rumus Apple. Uji ketahanan: dengan pemakaian 10% atau 25%, penurunan 3 ke 5 tahun tetap 30-36%.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usulan memperluas kemajuan pelepasan baterai 75% lebih cepat. Konflik kepentingan: umur layanan lebih panjang dapat menurunkan penjualan unit baru (uji rebound).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Hasil akhir: perangkat lebih mudah diperbaiki dan dibongkar dengan syarat ketahanan air tidak menurun.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594360"/>
            <a:ext cx="5669280" cy="5669280"/>
          </a:xfrm>
          <a:prstGeom prst="ellipse">
            <a:avLst/>
          </a:prstGeom>
          <a:solidFill>
            <a:srgbClr val="1A4A40">
              <a:alpha val="45000"/>
            </a:srgbClr>
          </a:solidFill>
          <a:ln w="12700">
            <a:solidFill>
              <a:srgbClr val="6FB8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1325880"/>
            <a:ext cx="4206240" cy="4206240"/>
          </a:xfrm>
          <a:prstGeom prst="ellipse">
            <a:avLst/>
          </a:prstGeom>
          <a:solidFill>
            <a:srgbClr val="1F6F5C">
              <a:alpha val="45000"/>
            </a:srgbClr>
          </a:solidFill>
          <a:ln w="12700">
            <a:solidFill>
              <a:srgbClr val="6FB8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2057400"/>
            <a:ext cx="2743200" cy="2743200"/>
          </a:xfrm>
          <a:prstGeom prst="ellipse">
            <a:avLst/>
          </a:prstGeom>
          <a:solidFill>
            <a:srgbClr val="2B8A73">
              <a:alpha val="45000"/>
            </a:srgbClr>
          </a:solidFill>
          <a:ln w="12700">
            <a:solidFill>
              <a:srgbClr val="6FB8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2880360"/>
            <a:ext cx="1097280" cy="10972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DD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 · Desain Produk Berkelanjutan dan Sirkular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DESAIN DAN REDESAIN SIRKULAR PADA APPLE iPHONE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5DD"/>
                </a:solidFill>
                <a:latin typeface="+mj-lt"/>
                <a:ea typeface="Calibri" pitchFamily="34" charset="-122"/>
                <a:cs typeface="Calibri" pitchFamily="34" charset="-120"/>
              </a:rPr>
              <a:t>Fokus: kemudahan perbaikan, pembongkaran, dan pemulihan pada akhir masa pakai; analisis global di Uni Eropa, Amerika Serikat, dan Indonesia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Objek, masalah, dan batas sistem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iPhone sebagai sistem produk dan jasa (product-service system)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16 Plus (128 GB)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keras ditambah pembaruan iOS, Self Service Repair, AppleCare, dan Trade In.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6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fungsional (functional unit): 1 tahun layanan telepon pintar per pengguna.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utama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Pertukaran (trade-off) antara ketahanan dan kemudahan perbaikan: perekat penyegel layar dan baterai menjaga ketahanan air, tetapi mempersulit pembongkaran. Perangkat tidak modular dan suku cadang dapat disandingkan secara digital.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128016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12302B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582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9DD1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Jejak karbon 60 kg CO2e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berasal dari produksi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Pemakaian 18% · Transportasi 4% · Akhir masa pakai &lt;1%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 sistem (system boundary): seluruh siklus hidup hingga pemulihan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2240280" cy="1005840"/>
          </a:xfrm>
          <a:prstGeom prst="chevron">
            <a:avLst/>
          </a:prstGeom>
          <a:solidFill>
            <a:srgbClr val="1F6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120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baku dan komponen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0" y="5120640"/>
            <a:ext cx="2240280" cy="1005840"/>
          </a:xfrm>
          <a:prstGeom prst="chevron">
            <a:avLst/>
          </a:prstGeom>
          <a:solidFill>
            <a:srgbClr val="1F6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54680" y="5120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dan perakitan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5120640"/>
            <a:ext cx="2240280" cy="1005840"/>
          </a:xfrm>
          <a:prstGeom prst="chevron">
            <a:avLst/>
          </a:prstGeom>
          <a:solidFill>
            <a:srgbClr val="1F6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5120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global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5120640"/>
            <a:ext cx="2240280" cy="1005840"/>
          </a:xfrm>
          <a:prstGeom prst="chevron">
            <a:avLst/>
          </a:prstGeom>
          <a:solidFill>
            <a:srgbClr val="1F6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5120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pakai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01200" y="5120640"/>
            <a:ext cx="2240280" cy="1005840"/>
          </a:xfrm>
          <a:prstGeom prst="chevron">
            <a:avLst/>
          </a:prstGeom>
          <a:solidFill>
            <a:srgbClr val="B565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12680" y="51206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Pemulihan (Trade In, daur ulang)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Dari paradigma linear ke desain sirkular: memperlambat, menutup, mempersempit aliran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493776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Definisi konsep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sirkular memandang desain sebagai keputusan sistem yang menentukan aliran nilai dari produksi sampai pemulihan, berbeda dari paradigma linear </a:t>
            </a:r>
            <a:r>
              <a:rPr lang="en-US" sz="1400" dirty="0" err="1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</a:t>
            </a: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buat, buang; </a:t>
            </a: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take-make-dispose).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74904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DCEBE5"/>
          </a:solidFill>
          <a:ln w="12700">
            <a:solidFill>
              <a:srgbClr val="DCEB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94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Memperlambat (slowing)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ketahanan, reparasi, modularitas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52628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DCEBE5"/>
          </a:solidFill>
          <a:ln w="12700">
            <a:solidFill>
              <a:srgbClr val="DCEB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572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(closing)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take-back, perbaikan ulang, daur ulang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30352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DCEBE5"/>
          </a:solidFill>
          <a:ln w="12700">
            <a:solidFill>
              <a:srgbClr val="DCEB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349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Mempersempit (narrowing)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bahan dan energi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1629" y="3172137"/>
            <a:ext cx="31117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Bocken</a:t>
            </a:r>
            <a:r>
              <a:rPr lang="en-US" sz="1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dkk. (2016); </a:t>
            </a:r>
            <a:r>
              <a:rPr lang="en-US" sz="1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Geissdoerfer</a:t>
            </a:r>
            <a:r>
              <a:rPr lang="en-US" sz="1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dkk. (2017); den Hollander </a:t>
            </a:r>
            <a:r>
              <a:rPr lang="en-US" sz="1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dkk</a:t>
            </a:r>
            <a:r>
              <a:rPr lang="en-US" sz="1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. (2017); Tukker (2004); Zink dan Geyer (2017)</a:t>
            </a:r>
            <a:endParaRPr lang="en-US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26280" y="1783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Indikator implementasi Apple saat ini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26280" y="2286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5488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daur ulang pada casing (iPhone 16)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83880" y="2286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Kobalt baterai, emas, dan timah solder daur ulang (iPhone 16)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26280" y="4069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75488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937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Pelepasan baterai lebih cepat dibanding iPhone 15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83880" y="4069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41248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4937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baterai dengan kapasitas minimal 80% (</a:t>
            </a:r>
            <a:r>
              <a:rPr lang="en-US" sz="1400" dirty="0" err="1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acuan</a:t>
            </a: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UE)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5897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klaim bahan daur ulang berbasis massa dan hanya untuk komponen rancangan Apple.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Bukti implementasi: Design Audit Matrix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842783"/>
              </p:ext>
            </p:extLst>
          </p:nvPr>
        </p:nvGraphicFramePr>
        <p:xfrm>
          <a:off x="457200" y="1280160"/>
          <a:ext cx="7406640" cy="359466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3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Evaluasi kondisi eksisting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3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Aluminium 85% dan kobalt 100% daur ulang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3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modular; fungsi terpadu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40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3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Durabilitas (durability)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siklus baterai; umur aktual tidak dipublikasikan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3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Reparasi (repairability)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Service Repair; penyandingan suku cadang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3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Pembongkaran (disassembly)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Baterai direkatkan; perekat lepas-listrik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3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Dukungan perangkat lunak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tahun di UE; pasar lain tidak diatur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Akhir masa </a:t>
                      </a:r>
                      <a:r>
                        <a:rPr lang="en-US" sz="1300" b="1" dirty="0" err="1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pakai</a:t>
                      </a: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300" b="1" dirty="0" err="1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EoL</a:t>
                      </a: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In </a:t>
                      </a:r>
                      <a:r>
                        <a:rPr lang="en-US" sz="1300" dirty="0" err="1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</a:t>
                      </a: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data </a:t>
                      </a:r>
                      <a:r>
                        <a:rPr lang="en-US" sz="1300" dirty="0" err="1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pengumpulan</a:t>
                      </a: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terbuka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211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029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Kekuatan: material dan ketahanan. Hambatan: modularitas dan pembongkaran.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Bukti per pasar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138160" y="173736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21040" y="1901952"/>
            <a:ext cx="256032" cy="256032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18653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 Eropa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sejak 20 Juni 2025: suku cadang 7 tahun, pembaruan 5 tahun, label reparasi A-E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324612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21040" y="3410712"/>
            <a:ext cx="256032" cy="256032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0" y="33741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Amerika Serikat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memperbaiki per negara bagian (Oregon SB 1596); Self Service Repair sejak 2022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38160" y="475488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4919472"/>
            <a:ext cx="256032" cy="25603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0" y="48828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Indonesia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5257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TKDN 40% dan komitmen investasi; tidak ada syarat umur pakai atau pengambilan kembali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</a:t>
            </a:r>
            <a:endParaRPr lang="en-US" sz="3000" dirty="0"/>
          </a:p>
        </p:txBody>
      </p:sp>
      <p:sp>
        <p:nvSpPr>
          <p:cNvPr id="90" name="Text 3"/>
          <p:cNvSpPr txBox="1"/>
          <p:nvPr/>
        </p:nvSpPr>
        <p:spPr>
          <a:xfrm>
            <a:off x="1188720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ketahanan klaim: umur layanan, kinerja aktual, dan risiko sistemik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per pengguna-tahun (kg CO2e)</a:t>
            </a:r>
            <a:endParaRPr lang="en-US" sz="17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170433596"/>
              </p:ext>
            </p:extLst>
          </p:nvPr>
        </p:nvGraphicFramePr>
        <p:xfrm>
          <a:off x="548640" y="173736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501616"/>
              </p:ext>
            </p:extLst>
          </p:nvPr>
        </p:nvGraphicFramePr>
        <p:xfrm>
          <a:off x="6035040" y="1280160"/>
          <a:ext cx="5696712" cy="46908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d-ID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Kesimpulan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Sensitivitas umur layanan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 lebih rendah pada 5 tahun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Lolos bersyarat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Desain vs kinerja aktual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Rasio reparasi tidak dipublikasikan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 lolos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40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Substitusi dan lokasi dampak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/>
                        <a:t>Produksi</a:t>
                      </a:r>
                      <a:r>
                        <a:rPr lang="en-US" sz="1400" dirty="0"/>
                        <a:t> 79%; </a:t>
                      </a:r>
                      <a:r>
                        <a:rPr lang="en-US" sz="1400" dirty="0" err="1"/>
                        <a:t>listrik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pemasok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0" dirty="0" err="1"/>
                        <a:t>merupakan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faktor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penentu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utama</a:t>
                      </a:r>
                      <a:endParaRPr lang="en-US" sz="13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Lolos sebagian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Pergeseran beban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22,3% e-waste global terdokumentasi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Berisiko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40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Efek rebound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Tukar tambah dapat mempercepat ganti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Berisiko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40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 sosial produksi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jam kerja terbaru tidak ada (98% pada 2016)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 terbukti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40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id-ID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</a:t>
            </a:r>
            <a:r>
              <a:rPr lang="en-US" sz="30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dua usulan redesain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dua usulan (detail sebelum–sesudah di slide 7 dan 8); konsep penulis, belum diuji teknis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5547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389888"/>
            <a:ext cx="458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Baterai modul tanpa penyandingan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tarik dan jalur akses jelas; hapus penyandingan serial untuk baterai, port, dan layar. Syarat: ketahanan air diuji ulang.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331720"/>
            <a:ext cx="458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Memperlambat aliran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87440" y="1280160"/>
            <a:ext cx="5547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70320" y="1435608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703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964680" y="1389888"/>
            <a:ext cx="458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Paspor komposisi dan jalur pembongkaran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QR komposisi material dan titik pembongkaran, selaras arah paspor produk digital UE.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964680" y="2331720"/>
            <a:ext cx="458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aliran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971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Konsekuensi multi-pemangku kepentingan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57200" y="3383280"/>
            <a:ext cx="21762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94360" y="3474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Pemasok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dan data komposisi standar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743200" y="3383280"/>
            <a:ext cx="21762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2880360" y="3474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modul baru; uji air ulang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029200" y="3383280"/>
            <a:ext cx="21762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166360" y="3474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suku cadang; aturan angkut baterai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315200" y="3383280"/>
            <a:ext cx="21762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452360" y="3474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servis turun; umur memanjang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9601200" y="3383280"/>
            <a:ext cx="21762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738360" y="3474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pemulihan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Bongkar lebih cepat; material lebih murni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1" name="Catatan rebound"/>
          <p:cNvSpPr txBox="1"/>
          <p:nvPr/>
        </p:nvSpPr>
        <p:spPr>
          <a:xfrm>
            <a:off x="457200" y="5029200"/>
            <a:ext cx="1127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d-ID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 kepentingan: </a:t>
            </a:r>
            <a:r>
              <a:rPr lang="id-ID" sz="12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 layanan yang lebih panjang dapat menurunkan penjualan unit baru; karena itu efek rebound tukar tambah tetap diawasi (lihat slide 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dan KPI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Menuju iPhone yang lebih mudah dibongkar, lebih bernilai, dan lebih sirkular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93776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Arah perbaikan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4526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dukungan suku cadang dan perangkat lunak di semua pasar setara standar UE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dan umumkan umur layanan aktual serta rasio reparasi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hambatan penyandingan suku cadang pada model baru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pengambilan kembali di pasar berkembang, termasuk Indonesia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Awasi rebound tukar tambah dan publikasikan kepatuhan jam kerja pemasok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2801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keberhasilan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0" y="1737360"/>
            <a:ext cx="60624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852160" y="1828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penggantian baterai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240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tidak dipublikasikan</a:t>
            </a: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 5 menit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2834640"/>
            <a:ext cx="60624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852160" y="2926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per pengguna-tahun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337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20 kg CO2e (3 tahun)</a:t>
            </a: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13 kg atau lebih rendah (5 tahun)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0" y="3931920"/>
            <a:ext cx="60624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852160" y="4023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pengumpulan per negara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22,3% (e-waste global)</a:t>
            </a: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dilaporkan per negara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5029200"/>
            <a:ext cx="60624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852160" y="5120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Ketahanan air setelah redesain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5532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rating eksisting</a:t>
            </a: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tidak menurun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Pustaka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199" y="1097280"/>
            <a:ext cx="11646131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Inc. (2024). Product Environmental Report: iPhone 16 and iPhone 16 Plus.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Inc. (2017). Raising the bar: 11th annual Supplier Responsibility Progress Report. Apple Newsroom.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Bocken, N. M. P., de Pauw, I., Bakker, C., &amp; van der Grinten, B. (2016). Product design and business model strategies for a circular economy. J. Ind. Prod. Eng., 33(5), 308-320.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Hollander, M. C., Bakker, C. A., &amp; Hultink, E. J. (2017). Product design in a circular economy. J. Ind. Ecol., 21(3), 517-525.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Commission. (2025). New EU rules for durable, energy-efficient and repairable smartphones and tablets start applying.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Geissdoerfer, M., Savaget, P., Bocken, N. M. P., &amp; Hultink, E. J. (2017). The circular economy: A new sustainability paradigm? J. Clean. Prod., 143, 757-768.</a:t>
            </a:r>
            <a:endParaRPr lang="id-ID" sz="1400" dirty="0">
              <a:solidFill>
                <a:srgbClr val="1B2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1000"/>
              </a:spcAft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&amp; UNITAR. (2024). The Global E-waste Monitor 2024.</a:t>
            </a:r>
            <a:endParaRPr lang="en-US" sz="1400" dirty="0"/>
          </a:p>
          <a:p>
            <a:pPr algn="l">
              <a:spcAft>
                <a:spcPts val="1000"/>
              </a:spcAft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Fortune. (2025). Indonesia iPhone ban, Apple deal and investment in AirTag plant.</a:t>
            </a:r>
            <a:endParaRPr lang="en-US" sz="1400" dirty="0"/>
          </a:p>
          <a:p>
            <a:pPr algn="l">
              <a:spcAft>
                <a:spcPts val="1000"/>
              </a:spcAft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Dive. (2026). Apple suppliers boost green energy but stagnate on emissions cuts.</a:t>
            </a:r>
            <a:endParaRPr lang="en-US" sz="1400" dirty="0"/>
          </a:p>
          <a:p>
            <a:pPr algn="l">
              <a:spcAft>
                <a:spcPts val="1000"/>
              </a:spcAft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Tukker, A. (2004). Eight types of product-service system. Bus. Strategy Environ., 13(4), 246-260.</a:t>
            </a:r>
            <a:endParaRPr lang="en-US" sz="1400" dirty="0"/>
          </a:p>
          <a:p>
            <a:pPr algn="l">
              <a:spcAft>
                <a:spcPts val="1000"/>
              </a:spcAft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Zink, T., &amp; Geyer, R. (2017). Circular economy rebound. J. Ind. Ecol., 21(3), 593-602.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endParaRPr lang="id-ID" sz="1400" dirty="0">
              <a:solidFill>
                <a:srgbClr val="1B2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1000"/>
              </a:spcAft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4572000" cy="4572000"/>
          </a:xfrm>
          <a:prstGeom prst="ellipse">
            <a:avLst/>
          </a:prstGeom>
          <a:solidFill>
            <a:srgbClr val="1A4A40"/>
          </a:solidFill>
          <a:ln w="12700">
            <a:solidFill>
              <a:srgbClr val="6FB8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5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Usulan #1: Baterai modul tanpa penyandingan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skor terendah audit: modularitas (Rendah) dan pembongkaran (Sedang)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2" name="Kartu Gap dari audit"/>
          <p:cNvSpPr/>
          <p:nvPr/>
        </p:nvSpPr>
        <p:spPr>
          <a:xfrm>
            <a:off x="457200" y="1280160"/>
            <a:ext cx="5547360" cy="17373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3" name="Isi Gap dari audit"/>
          <p:cNvSpPr txBox="1"/>
          <p:nvPr/>
        </p:nvSpPr>
        <p:spPr>
          <a:xfrm>
            <a:off x="640080" y="1417320"/>
            <a:ext cx="518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id-ID" sz="16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dari audit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tidak modular; baterai dan layar direkatkan untuk menjaga ketahanan air.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Penyandingan serial suku cadang membatasi reparasi di luar jalur resmi, meski Self Service Repair tersedia.</a:t>
            </a:r>
          </a:p>
        </p:txBody>
      </p:sp>
      <p:sp>
        <p:nvSpPr>
          <p:cNvPr id="104" name="Kartu Usulan perubahan"/>
          <p:cNvSpPr/>
          <p:nvPr/>
        </p:nvSpPr>
        <p:spPr>
          <a:xfrm>
            <a:off x="6187440" y="1280160"/>
            <a:ext cx="5547360" cy="17373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5" name="Isi Usulan perubahan"/>
          <p:cNvSpPr txBox="1"/>
          <p:nvPr/>
        </p:nvSpPr>
        <p:spPr>
          <a:xfrm>
            <a:off x="6370320" y="1417320"/>
            <a:ext cx="518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id-ID" sz="16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Usulan perubahan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Baterai sebagai modul dengan tab tarik dan jalur akses yang jelas.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Hapus penyandingan serial untuk baterai, port, dan layar; segel air tetap dipertahankan dan rating IP diuji ulang.</a:t>
            </a:r>
          </a:p>
        </p:txBody>
      </p:sp>
      <p:sp>
        <p:nvSpPr>
          <p:cNvPr id="106" name="Kartu Sebelum"/>
          <p:cNvSpPr/>
          <p:nvPr/>
        </p:nvSpPr>
        <p:spPr>
          <a:xfrm>
            <a:off x="457200" y="3246120"/>
            <a:ext cx="5227320" cy="224028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7" name="Isi Sebelum"/>
          <p:cNvSpPr txBox="1"/>
          <p:nvPr/>
        </p:nvSpPr>
        <p:spPr>
          <a:xfrm>
            <a:off x="640080" y="3383280"/>
            <a:ext cx="4861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id-ID" sz="2000" b="1" dirty="0">
                <a:solidFill>
                  <a:srgbClr val="5B6B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</a:t>
            </a:r>
          </a:p>
          <a:p>
            <a:pPr marL="0" indent="0" algn="l">
              <a:buNone/>
            </a:pPr>
            <a:r>
              <a:rPr lang="id-ID" sz="16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Baterai dan layar disegel perekat; suku cadang disandingkan secara serial sehingga penggantian di luar jalur resmi dibatasi. Waktu ganti baterai tidak dipublikasikan.</a:t>
            </a:r>
          </a:p>
        </p:txBody>
      </p:sp>
      <p:sp>
        <p:nvSpPr>
          <p:cNvPr id="108" name="Panah"/>
          <p:cNvSpPr/>
          <p:nvPr/>
        </p:nvSpPr>
        <p:spPr>
          <a:xfrm>
            <a:off x="5821680" y="4137660"/>
            <a:ext cx="548640" cy="457200"/>
          </a:xfrm>
          <a:prstGeom prst="rightArrow">
            <a:avLst/>
          </a:prstGeom>
          <a:solidFill>
            <a:srgbClr val="1F6F5C"/>
          </a:solidFill>
          <a:ln>
            <a:noFill/>
          </a:ln>
        </p:spPr>
      </p:sp>
      <p:sp>
        <p:nvSpPr>
          <p:cNvPr id="109" name="Kartu Sesudah"/>
          <p:cNvSpPr/>
          <p:nvPr/>
        </p:nvSpPr>
        <p:spPr>
          <a:xfrm>
            <a:off x="6507480" y="3246120"/>
            <a:ext cx="5227320" cy="2240280"/>
          </a:xfrm>
          <a:prstGeom prst="roundRect">
            <a:avLst>
              <a:gd name="adj" fmla="val 6452"/>
            </a:avLst>
          </a:prstGeom>
          <a:solidFill>
            <a:srgbClr val="E3EFEA"/>
          </a:solidFill>
          <a:ln w="9525">
            <a:solidFill>
              <a:srgbClr val="1F6F5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0" name="Isi Sesudah"/>
          <p:cNvSpPr txBox="1"/>
          <p:nvPr/>
        </p:nvSpPr>
        <p:spPr>
          <a:xfrm>
            <a:off x="6690360" y="3383280"/>
            <a:ext cx="4861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id-ID" sz="2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Sesudah</a:t>
            </a:r>
          </a:p>
          <a:p>
            <a:pPr marL="0" indent="0" algn="l">
              <a:buNone/>
            </a:pPr>
            <a:r>
              <a:rPr lang="id-ID" sz="1600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Baterai berbentuk modul dengan tab tarik; suku cadang asli dapat dipasang tanpa penyandingan. Target ganti baterai ≤ 5 menit dengan ketahanan air tidak menurun.</a:t>
            </a:r>
          </a:p>
        </p:txBody>
      </p:sp>
      <p:sp>
        <p:nvSpPr>
          <p:cNvPr id="111" name="Strategi"/>
          <p:cNvSpPr txBox="1"/>
          <p:nvPr/>
        </p:nvSpPr>
        <p:spPr>
          <a:xfrm>
            <a:off x="457200" y="566928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d-ID" sz="13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Strategi: </a:t>
            </a:r>
            <a:r>
              <a:rPr lang="id-ID" sz="13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memperlambat aliran (slowing)</a:t>
            </a:r>
            <a:r>
              <a:rPr lang="id-ID" sz="1300" b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KPI: </a:t>
            </a:r>
            <a:r>
              <a:rPr lang="id-ID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ganti baterai, rasio reparasi, rating ketahanan air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Usulan #2: Paspor komposisi dan jalur bongkar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hambatan akhir masa pakai: data pengumpulan dan pemulihan tidak terbuka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2" name="Kartu Gap dari audit"/>
          <p:cNvSpPr/>
          <p:nvPr/>
        </p:nvSpPr>
        <p:spPr>
          <a:xfrm>
            <a:off x="457200" y="1280160"/>
            <a:ext cx="5547360" cy="17373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3" name="Isi Gap dari audit"/>
          <p:cNvSpPr txBox="1"/>
          <p:nvPr/>
        </p:nvSpPr>
        <p:spPr>
          <a:xfrm>
            <a:off x="640080" y="1417320"/>
            <a:ext cx="518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id-ID" sz="16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dari audit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 masa pakai bernilai Sedang: Trade In tersedia, tetapi data pengumpulan tidak dibuka.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22,3% e-waste global terdokumentasi; Indonesia belum punya syarat pengambilan kembali.</a:t>
            </a:r>
          </a:p>
        </p:txBody>
      </p:sp>
      <p:sp>
        <p:nvSpPr>
          <p:cNvPr id="114" name="Kartu Usulan perubahan"/>
          <p:cNvSpPr/>
          <p:nvPr/>
        </p:nvSpPr>
        <p:spPr>
          <a:xfrm>
            <a:off x="6187440" y="1280160"/>
            <a:ext cx="5547360" cy="17373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5" name="Isi Usulan perubahan"/>
          <p:cNvSpPr txBox="1"/>
          <p:nvPr/>
        </p:nvSpPr>
        <p:spPr>
          <a:xfrm>
            <a:off x="6370320" y="1417320"/>
            <a:ext cx="518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id-ID" sz="16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Usulan perubahan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Kode QR berisi komposisi material dan urutan titik pembongkaran, selaras paspor produk digital UE.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id-ID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Data terbuka bagi mitra daur ulang dan bengkel independen, terhubung ke program pengembalian di pasar berkembang.</a:t>
            </a:r>
          </a:p>
        </p:txBody>
      </p:sp>
      <p:sp>
        <p:nvSpPr>
          <p:cNvPr id="116" name="Kartu Sebelum"/>
          <p:cNvSpPr/>
          <p:nvPr/>
        </p:nvSpPr>
        <p:spPr>
          <a:xfrm>
            <a:off x="457200" y="3246120"/>
            <a:ext cx="5227320" cy="224028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2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7" name="Isi Sebelum"/>
          <p:cNvSpPr txBox="1"/>
          <p:nvPr/>
        </p:nvSpPr>
        <p:spPr>
          <a:xfrm>
            <a:off x="640080" y="3383280"/>
            <a:ext cx="4861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id-ID" sz="2000" b="1" dirty="0">
                <a:solidFill>
                  <a:srgbClr val="5B6B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</a:t>
            </a:r>
          </a:p>
          <a:p>
            <a:pPr marL="0" indent="0" algn="l">
              <a:buNone/>
            </a:pPr>
            <a:r>
              <a:rPr lang="id-ID" sz="16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komposisi dan urutan bongkar tidak tersedia pada perangkat. Mitra pemulihan harus menebak cara bongkar sehingga material bercampur dan nilai pemulihan turun.</a:t>
            </a:r>
          </a:p>
        </p:txBody>
      </p:sp>
      <p:sp>
        <p:nvSpPr>
          <p:cNvPr id="118" name="Panah"/>
          <p:cNvSpPr/>
          <p:nvPr/>
        </p:nvSpPr>
        <p:spPr>
          <a:xfrm>
            <a:off x="5821680" y="4137660"/>
            <a:ext cx="548640" cy="457200"/>
          </a:xfrm>
          <a:prstGeom prst="rightArrow">
            <a:avLst/>
          </a:prstGeom>
          <a:solidFill>
            <a:srgbClr val="1F6F5C"/>
          </a:solidFill>
          <a:ln>
            <a:noFill/>
          </a:ln>
        </p:spPr>
      </p:sp>
      <p:sp>
        <p:nvSpPr>
          <p:cNvPr id="119" name="Kartu Sesudah"/>
          <p:cNvSpPr/>
          <p:nvPr/>
        </p:nvSpPr>
        <p:spPr>
          <a:xfrm>
            <a:off x="6507480" y="3246120"/>
            <a:ext cx="5227320" cy="2240280"/>
          </a:xfrm>
          <a:prstGeom prst="roundRect">
            <a:avLst>
              <a:gd name="adj" fmla="val 6452"/>
            </a:avLst>
          </a:prstGeom>
          <a:solidFill>
            <a:srgbClr val="E3EFEA"/>
          </a:solidFill>
          <a:ln w="9525">
            <a:solidFill>
              <a:srgbClr val="1F6F5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0" name="Isi Sesudah"/>
          <p:cNvSpPr txBox="1"/>
          <p:nvPr/>
        </p:nvSpPr>
        <p:spPr>
          <a:xfrm>
            <a:off x="6690360" y="3383280"/>
            <a:ext cx="4861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id-ID" sz="2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Sesudah</a:t>
            </a:r>
          </a:p>
          <a:p>
            <a:pPr marL="0" indent="0" algn="l">
              <a:buNone/>
            </a:pPr>
            <a:r>
              <a:rPr lang="id-ID" sz="1600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unit membawa paspor digital: mitra pemulihan memindai QR untuk melihat komposisi dan urutan bongkar, sehingga pemisahan lebih cepat dan material lebih murni.</a:t>
            </a:r>
          </a:p>
        </p:txBody>
      </p:sp>
      <p:sp>
        <p:nvSpPr>
          <p:cNvPr id="121" name="Strategi"/>
          <p:cNvSpPr txBox="1"/>
          <p:nvPr/>
        </p:nvSpPr>
        <p:spPr>
          <a:xfrm>
            <a:off x="457200" y="566928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d-ID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Strategi: </a:t>
            </a:r>
            <a:r>
              <a:rPr lang="id-ID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aliran (closing)</a:t>
            </a:r>
            <a:r>
              <a:rPr lang="id-ID" sz="1300" b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KPI: </a:t>
            </a:r>
            <a:r>
              <a:rPr lang="id-ID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pengumpulan per negara, kemurnian material hasil pemulihan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1375</Words>
  <Application>Microsoft Office PowerPoint</Application>
  <PresentationFormat>Widescreen</PresentationFormat>
  <Paragraphs>180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Desain dan Redesain Sirkular pada Apple iPhone</dc:title>
  <dc:subject>PptxGenJS Presentation</dc:subject>
  <dc:creator>Millah Karimah Maulidah</dc:creator>
  <cp:lastModifiedBy>Frans Correia Soares</cp:lastModifiedBy>
  <cp:revision>14</cp:revision>
  <dcterms:created xsi:type="dcterms:W3CDTF">2026-10-07T17:27:57Z</dcterms:created>
  <dcterms:modified xsi:type="dcterms:W3CDTF">2026-10-08T14:47:51Z</dcterms:modified>
</cp:coreProperties>
</file>