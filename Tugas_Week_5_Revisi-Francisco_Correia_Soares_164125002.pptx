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67" r:id="rId18"/>
    <p:sldId id="269" r:id="rId20"/>
    <p:sldId id="259" r:id="rId5"/>
    <p:sldId id="270" r:id="rId21"/>
    <p:sldId id="260" r:id="rId6"/>
    <p:sldId id="271" r:id="rId22"/>
    <p:sldId id="268" r:id="rId19"/>
    <p:sldId id="261" r:id="rId7"/>
    <p:sldId id="265" r:id="rId16"/>
    <p:sldId id="266" r:id="rId17"/>
    <p:sldId id="262" r:id="rId8"/>
    <p:sldId id="272" r:id="rId23"/>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76" d="100"/>
          <a:sy n="76" d="100"/>
        </p:scale>
        <p:origin x="272"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6.xml"/><Relationship Id="rId6" Type="http://schemas.openxmlformats.org/officeDocument/2006/relationships/slide" Target="slides/slide8.xml"/><Relationship Id="rId7" Type="http://schemas.openxmlformats.org/officeDocument/2006/relationships/slide" Target="slides/slide11.xml"/><Relationship Id="rId8" Type="http://schemas.openxmlformats.org/officeDocument/2006/relationships/slide" Target="slides/slide14.xml"/><Relationship Id="rId9" Type="http://schemas.openxmlformats.org/officeDocument/2006/relationships/slide" Target="slides/slide16.xml"/><Relationship Id="rId10" Type="http://schemas.openxmlformats.org/officeDocument/2006/relationships/slide" Target="slides/slide17.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4.xml"/><Relationship Id="rId19" Type="http://schemas.openxmlformats.org/officeDocument/2006/relationships/slide" Target="slides/slide10.xml"/><Relationship Id="rId20" Type="http://schemas.openxmlformats.org/officeDocument/2006/relationships/slide" Target="slides/slide5.xml"/><Relationship Id="rId21" Type="http://schemas.openxmlformats.org/officeDocument/2006/relationships/slide" Target="slides/slide7.xml"/><Relationship Id="rId22" Type="http://schemas.openxmlformats.org/officeDocument/2006/relationships/slide" Target="slides/slide9.xml"/><Relationship Id="rId23"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kg CO2e</c:v>
                </c:pt>
              </c:strCache>
            </c:strRef>
          </c:tx>
          <c:spPr>
            <a:solidFill>
              <a:srgbClr val="1F6F5C"/>
            </a:solidFill>
            <a:effectLst/>
          </c:spPr>
          <c:invertIfNegative val="0"/>
          <c:dLbls>
            <c:dLbl>
              <c:idx val="0"/>
              <c:layout>
                <c:manualLayout>
                  <c:x val="1.827485380116959E-2"/>
                  <c:y val="1.7360959220375231E-2"/>
                </c:manualLayout>
              </c:layout>
              <c:tx>
                <c:rich>
                  <a:bodyPr/>
                  <a:lstStyle/>
                  <a:p>
                    <a:fld id="{C0612605-73C7-4508-87F9-90C4BFFC565A}" type="VALUE">
                      <a:rPr lang="en-US" smtClean="0"/>
                      <a:pPr/>
                      <a:t>[VALUE]</a:t>
                    </a:fld>
                    <a:r>
                      <a:rPr lang="en-US" dirty="0"/>
                      <a:t>,2</a:t>
                    </a:r>
                  </a:p>
                </c:rich>
              </c:tx>
              <c:showLegendKey val="0"/>
              <c:showVal val="1"/>
              <c:showCatName val="0"/>
              <c:showSerName val="0"/>
              <c:showPercent val="0"/>
              <c:showBubbleSize val="0"/>
              <c:extLst>
                <c:ext xmlns:c15="http://schemas.microsoft.com/office/drawing/2012/chart" uri="{CE6537A1-D6FC-4f65-9D91-7224C49458BB}">
                  <c15:layout>
                    <c:manualLayout>
                      <c:w val="0.11252436647173489"/>
                      <c:h val="0.14610339506172837"/>
                    </c:manualLayout>
                  </c15:layout>
                  <c15:dlblFieldTable/>
                  <c15:showDataLabelsRange val="0"/>
                </c:ext>
                <c:ext xmlns:c16="http://schemas.microsoft.com/office/drawing/2014/chart" uri="{C3380CC4-5D6E-409C-BE32-E72D297353CC}">
                  <c16:uniqueId val="{00000000-A530-4390-B55A-0AF3E5411A41}"/>
                </c:ext>
              </c:extLst>
            </c:dLbl>
            <c:numFmt formatCode="#,##0" sourceLinked="0"/>
            <c:spPr>
              <a:noFill/>
              <a:ln>
                <a:noFill/>
              </a:ln>
              <a:effectLst/>
            </c:spPr>
            <c:txPr>
              <a:bodyPr/>
              <a:lstStyle/>
              <a:p>
                <a:pPr>
                  <a:defRPr sz="1300" b="0" i="0" u="none" strike="noStrike">
                    <a:solidFill>
                      <a:srgbClr val="1B2B2A"/>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 th</c:v>
                </c:pt>
                <c:pt idx="1">
                  <c:v>3 th</c:v>
                </c:pt>
                <c:pt idx="2">
                  <c:v>4 th</c:v>
                </c:pt>
                <c:pt idx="3">
                  <c:v>5 th</c:v>
                </c:pt>
                <c:pt idx="4">
                  <c:v>6 th</c:v>
                </c:pt>
                <c:pt idx="5">
                  <c:v>7 th</c:v>
                </c:pt>
              </c:strCache>
            </c:strRef>
          </c:cat>
          <c:val>
            <c:numRef>
              <c:f>Sheet1!$B$2:$B$7</c:f>
              <c:numCache>
                <c:formatCode>General</c:formatCode>
                <c:ptCount val="6"/>
                <c:pt idx="0">
                  <c:v>28.2</c:v>
                </c:pt>
                <c:pt idx="1">
                  <c:v>20</c:v>
                </c:pt>
                <c:pt idx="2">
                  <c:v>15.9</c:v>
                </c:pt>
                <c:pt idx="3">
                  <c:v>13.4</c:v>
                </c:pt>
                <c:pt idx="4">
                  <c:v>11.8</c:v>
                </c:pt>
                <c:pt idx="5">
                  <c:v>10.6</c:v>
                </c:pt>
              </c:numCache>
            </c:numRef>
          </c:val>
          <c:extLst>
            <c:ext xmlns:c16="http://schemas.microsoft.com/office/drawing/2014/chart" uri="{C3380CC4-5D6E-409C-BE32-E72D297353CC}">
              <c16:uniqueId val="{00000000-763E-4E69-B3C8-F99B2D56A8EC}"/>
            </c:ext>
          </c:extLst>
        </c:ser>
        <c:dLbls>
          <c:showLegendKey val="0"/>
          <c:showVal val="1"/>
          <c:showCatName val="0"/>
          <c:showSerName val="0"/>
          <c:showPercent val="0"/>
          <c:showBubbleSize val="0"/>
        </c:dLbls>
        <c:gapWidth val="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B2A"/>
                </a:solidFill>
                <a:latin typeface="Calibri"/>
              </a:defRPr>
            </a:pPr>
            <a:endParaRPr lang="en-US"/>
          </a:p>
        </c:txPr>
        <c:crossAx val="2094734552"/>
        <c:crosses val="autoZero"/>
        <c:auto val="1"/>
        <c:lblAlgn val="ctr"/>
        <c:lblOffset val="100"/>
        <c:noMultiLvlLbl val="1"/>
      </c:catAx>
      <c:valAx>
        <c:axId val="2094734552"/>
        <c:scaling>
          <c:orientation val="minMax"/>
          <c:max val="32"/>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31416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PEMBUKA. Presentasi ini adalah audit desain sirkular pada Apple iPhone, dengan studi kasus iPhone 16 Plus (128 GB). Pertanyaan utamanya: seberapa jauh desain iPhone saat ini mendukung ekonomi sirkular, yaitu produk yang awet, mudah diperbaiki, dan materialnya bisa dipulihkan di akhir masa pakai?</a:t>
            </a:r>
          </a:p>
          <a:p>
            <a:r>
              <a:t>Fokus analisis ada tiga: kemudahan perbaikan, kemudahan pembongkaran, dan pemulihan material. Karena iPhone dijual secara global, analisis dibandingkan di tiga pasar dengan aturan berbeda: Uni Eropa (regulasi paling ketat), Amerika Serikat (aturan hak memperbaiki per negara bagian), dan Indonesia (aturan TKDN, tetapi belum ada syarat umur pakai atau pengambilan kembali).</a:t>
            </a:r>
          </a:p>
          <a:p>
            <a:r>
              <a:t>Alur presentasi: objek dan batas sistem, konsep, landasan bukti dan metode, audit, analisis, dua usulan redesain, rekomendasi, lalu kesimpulan.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OBJEK DAN BATAS SISTEM. iPhone tidak dianalisis sebagai perangkat keras saja, tetapi sebagai sistem produk dan jasa (product-service system, Tukker 2004): perangkat ditambah pembaruan iOS, Self Service Repair, AppleCare, dan Trade In. Jasa-jasa inilah yang menentukan berapa lama ponsel benar-benar dipakai.</a:t>
            </a:r>
          </a:p>
          <a:p>
            <a:r>
              <a:t>Unit fungsional adalah 1 tahun layanan telepon pintar per pengguna. Dengan unit ini, ponsel yang lebih awet otomatis terlihat lebih baik karena dampaknya dibagi ke lebih banyak tahun.</a:t>
            </a:r>
          </a:p>
          <a:p>
            <a:r>
              <a:t>Masalah desain utama adalah trade-off: perekat penyegel layar dan baterai menjaga ketahanan air (IP68), tetapi mempersulit pembongkaran. Selain itu, suku cadang disandingkan secara digital ke nomor seri perangkat.</a:t>
            </a:r>
          </a:p>
          <a:p>
            <a:r>
              <a:t>Angka kunci (Apple 2024a, laporan lingkungan produk iPhone 16): jejak karbon 60 kg CO2e. Sebanyak 79% berasal dari produksi, 18% dari pemakaian, 4% dari transportasi, dan kurang dari 1% dari akhir masa pakai. Karena itu batas sistem harus mencakup seluruh siklus hidup hingga pemulihan. Jika kita hanya melihat fase pemakaian, hanya 18% dampak yang terlihat.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KONSEP. Desain sirkular memandang desain sebagai keputusan sistem yang menentukan aliran nilai dari produksi sampai pemulihan, berbeda dari paradigma linear ambil-buat-buang.</a:t>
            </a:r>
          </a:p>
          <a:p>
            <a:r>
              <a:t>Kerangka yang dipakai adalah tiga strategi Bocken dkk. (2016):</a:t>
            </a:r>
          </a:p>
          <a:p>
            <a:r>
              <a:t>(1) Memperlambat aliran (slowing): produk dipakai lebih lama melalui ketahanan, reparasi, dan modularitas.</a:t>
            </a:r>
          </a:p>
          <a:p>
            <a:r>
              <a:t>(2) Menutup aliran (closing): material kembali ke siklus melalui pengambilan kembali, perbaikan ulang, dan daur ulang.</a:t>
            </a:r>
          </a:p>
          <a:p>
            <a:r>
              <a:t>(3) Mempersempit aliran (narrowing): bahan dan energi per produk lebih sedikit.</a:t>
            </a:r>
          </a:p>
          <a:p>
            <a:r>
              <a:t>Indikator Apple saat ini: 85% aluminium daur ulang pada casing dan 100% kobalt daur ulang pada baterai rancangan Apple (menutup aliran); perekat baterai yang dapat dilepas dengan arus listrik dalam ±90 detik dan baterai 1.000 siklus pada kapasitas 80% (memperlambat aliran). Minimum UE adalah 800 siklus.</a:t>
            </a:r>
          </a:p>
          <a:p>
            <a:r>
              <a:t>Catatan penting: klaim material berbasis massa dan dilaporkan sendiri oleh Apple, belum diverifikasi pihak ketiga.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DESIGN AUDIT MATRIX. Ringkasan skor tujuh parameter. Hasilnya: dua parameter Tinggi (material dan durabilitas), satu Rendah (modularitas), dan empat Sedang (reparasi, pembongkaran, perangkat lunak, akhir masa pakai).</a:t>
            </a:r>
          </a:p>
          <a:p>
            <a:r>
              <a:t>Polanya jelas: iPhone kuat di sisi menutup aliran (material) dan ketahanan fisik, tetapi lemah di sisi memperlambat aliran secara struktural (modularitas dan pembongkaran).</a:t>
            </a:r>
          </a:p>
          <a:p>
            <a:r>
              <a:t>Bukti per pasar menunjukkan ketimpangan. Di Uni Eropa sejak 20 Juni 2025 ada kewajiban hukum: suku cadang 7 tahun, pembaruan OS 5 tahun, dan label reparasi. Di AS, aturan berbeda per negara bagian; Oregon SB 1596 melarang penyandingan suku cadang untuk perangkat produksi 2025 ke atas. Di Indonesia, aturan TKDN 40% hanya mengatur kandungan lokal, tidak mengatur umur pakai atau pengambilan kembali.</a:t>
            </a:r>
          </a:p>
          <a:p>
            <a:r>
              <a:t>Artinya, konsumen iPhone di Indonesia mendapat perlindungan sirkular paling lemah. Penjelasan rinci setiap skor ada di slide berikutnya.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ANALISIS: UJI KETAHANAN KLAIM. Grafik menunjukkan dampak karbon per pengguna-tahun menurut umur pakai. Pada umur 3 tahun (asumsi Apple), dampaknya 20 kg CO2e per tahun. Pada 5 tahun turun menjadi 13,4 kg, atau 33% lebih rendah. Cara menghitungnya dijelaskan di slide berikutnya.</a:t>
            </a:r>
          </a:p>
          <a:p>
            <a:r>
              <a:t>Tabel uji:</a:t>
            </a:r>
          </a:p>
          <a:p>
            <a:r>
              <a:t>(1) Sensitivitas umur layanan: lolos bersyarat. Manfaatnya besar, tetapi hanya jika pengguna benar-benar memakai ponsel lebih lama.</a:t>
            </a:r>
          </a:p>
          <a:p>
            <a:r>
              <a:t>(2) Desain vs kinerja aktual: belum lolos, karena rasio reparasi dan umur aktual tidak dipublikasikan.</a:t>
            </a:r>
          </a:p>
          <a:p>
            <a:r>
              <a:t>(3) Lokasi dampak: lolos sebagian. 79% dampak ada di produksi, dan penurunan terbesar berasal dari listrik pemasok, bukan dari desain produk.</a:t>
            </a:r>
          </a:p>
          <a:p>
            <a:r>
              <a:t>(4) Pergeseran beban: berisiko. Hanya 22,3% e-waste global yang terdokumentasi didaur ulang, jadi sisanya berpindah ke sektor informal.</a:t>
            </a:r>
          </a:p>
          <a:p>
            <a:r>
              <a:t>(5) Efek rebound: berisiko. Tukar tambah bisa mempercepat pembelian unit baru (Zink dan Geyer 2017).</a:t>
            </a:r>
          </a:p>
          <a:p>
            <a:r>
              <a:t>(6) Dimensi sosial: belum terbukti. Data kepatuhan jam kerja terakhir dari 2016 (98%).</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RINGKASAN DUA USULAN. Kedua usulan adalah konsep penulis berdasarkan hasil audit dan belum diuji teknis.</a:t>
            </a:r>
          </a:p>
          <a:p>
            <a:r>
              <a:t>Usulan 1, modul baterai standar tanpa penyandingan, menyasar strategi memperlambat aliran: baterai berdimensi tetap lintas generasi dan suku cadang bisa dipasang tanpa penyandingan, dengan syarat IP68 diuji ulang.</a:t>
            </a:r>
          </a:p>
          <a:p>
            <a:r>
              <a:t>Usulan 2, paspor komposisi dan jalur pembongkaran, menyasar strategi menutup aliran: kode QR berisi komposisi material dan urutan bongkar, selaras arah paspor produk digital UE.</a:t>
            </a:r>
          </a:p>
          <a:p>
            <a:r>
              <a:t>Konsekuensi bagi pemangku kepentingan: pemasok harus menyediakan modul dan data komposisi standar; produksi perlu desain modul baru dan uji air ulang; logistik menyimpan stok suku cadang dan mematuhi aturan angkut baterai; pelanggan mendapat biaya servis lebih rendah dan umur lebih panjang; mitra pemulihan bisa membongkar lebih cepat dan mendapat material lebih murni.</a:t>
            </a:r>
          </a:p>
          <a:p>
            <a:r>
              <a:t>Konflik kepentingan yang perlu diakui: umur yang lebih panjang dapat menurunkan penjualan unit baru Apple.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REKOMENDASI DAN KPI. Arah perbaikan:</a:t>
            </a:r>
          </a:p>
          <a:p>
            <a:r>
              <a:t>(1) samakan dukungan suku cadang dan perangkat lunak di semua pasar setara standar UE, agar konsumen Indonesia tidak tertinggal;</a:t>
            </a:r>
          </a:p>
          <a:p>
            <a:r>
              <a:t>(2) ukur dan umumkan umur layanan aktual serta rasio reparasi;</a:t>
            </a:r>
          </a:p>
          <a:p>
            <a:r>
              <a:t>(3) hapus hambatan penyandingan pada model baru;</a:t>
            </a:r>
          </a:p>
          <a:p>
            <a:r>
              <a:t>(4) bangun pengambilan kembali di pasar berkembang;</a:t>
            </a:r>
          </a:p>
          <a:p>
            <a:r>
              <a:t>(5) awasi rebound tukar tambah dan publikasikan kepatuhan jam kerja pemasok.</a:t>
            </a:r>
          </a:p>
          <a:p>
            <a:r>
              <a:t>KPI: waktu penggantian baterai paling lama 5 menit (baseline belum dipublikasikan); dampak per pengguna-tahun dari 20 kg menjadi 13 kg atau lebih rendah dengan umur 5 tahun (baseline 3 tahun, lihat perhitungan slide 9); tingkat pengumpulan dilaporkan per negara (baseline hanya angka global 22,3%); dan ketahanan air tidak menurun setelah redesain.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DAFTAR PUSTAKA. Sumber terdiri atas laporan resmi Apple (2017, 2024a, 2024b, 2026), jurnal ilmiah (Bocken dkk. 2016; Cordella dkk. 2021; den Hollander dkk. 2017; Geissdoerfer dkk. 2017; Makov dan Fitzpatrick 2021; Proske dan Jaeger-Erben 2019; Tukker 2004; Zink dan Geyer 2017), regulasi (Regulasi UE 2023/1670, Oregon SB 1596), serta data independen (ITU dan UNITAR 2024, iFixit 2024, Fortune 2025).</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PENUTUP. Terima kasih. Siap menerima pertanyaan, terutama tentang asumsi perhitungan umur pakai, kelayakan teknis modul baterai terhadap ketahanan air, dan penerapan kebijakan pengambilan kembali di Indonesia.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LANDASAN BUKTI. Setiap klaim dalam presentasi merujuk ke salah satu dari tiga jenis sumber.</a:t>
            </a:r>
          </a:p>
          <a:p>
            <a:r>
              <a:t>Pertama, laporan resmi Apple: laporan lingkungan produk iPhone 16 (data karbon dan material), Environmental Progress Report 2026 (material daur ulang lintas produk dan robot Daisy), serta pernyataan PSTI Inggris (pembaruan keamanan minimal 5 tahun). Kekuatannya: data paling rinci. Kelemahannya: dilaporkan sendiri.</a:t>
            </a:r>
          </a:p>
          <a:p>
            <a:r>
              <a:t>Kedua, jurnal ilmiah sebagai pembanding independen. Cordella dkk. (2021) menunjukkan keandalan dan reparabilitas bisa dicapai bersamaan. Makov dan Fitzpatrick (2021) menganalisis 3,5 juta skor benchmark iPhone dan menemukan kinerja stabil, tetapi minat reparasi turun eksponensial. Proske dan Jaeger-Erben (2019) mengingatkan bahwa modularitas tidak otomatis memperpanjang umur. Zink dan Geyer (2017) membahas risiko rebound.</a:t>
            </a:r>
          </a:p>
          <a:p>
            <a:r>
              <a:t>Ketiga, regulasi dan data independen: Regulasi UE 2023/1670, Global E-waste Monitor 2024 (62 miliar kg e-waste, hanya 22,3% terdokumentasi didaur ulang; Indonesia ±1,9 miliar kg), dan skor iFixit.</a:t>
            </a:r>
          </a:p>
          <a:p>
            <a:r>
              <a:t>Dengan triangulasi tiga jenis sumber ini, klaim Apple diuji dengan bukti dari luar Apple.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METODE AUDIT. Audit mengikuti empat langkah yang sama untuk setiap parameter.</a:t>
            </a:r>
          </a:p>
          <a:p>
            <a:r>
              <a:t>Langkah 1, kumpulkan bukti dari laporan resmi, jurnal, regulasi, dan data independen.</a:t>
            </a:r>
          </a:p>
          <a:p>
            <a:r>
              <a:t>Langkah 2, nilai tujuh parameter desain: material, modularitas, durabilitas, reparasi, pembongkaran, perangkat lunak, dan akhir masa pakai. Setiap skor wajib disertai bukti tertulis.</a:t>
            </a:r>
          </a:p>
          <a:p>
            <a:r>
              <a:t>Langkah 3, uji ketahanan klaim dengan enam uji agar kesimpulan tidak hanya mengikuti narasi perusahaan.</a:t>
            </a:r>
          </a:p>
          <a:p>
            <a:r>
              <a:t>Langkah 4, parameter berskor terendah menjadi sasaran redesain, dan setiap usulan diberi KPI.</a:t>
            </a:r>
          </a:p>
          <a:p>
            <a:r>
              <a:t>Kriteria skor: Tinggi jika kemampuan desain terdokumentasi dan tidak ada hambatan berarti; Sedang jika ada kemajuan tetapi masih ada hambatan teknis, hukum, atau data; Rendah jika desain justru menghambat strategi sirkular.</a:t>
            </a:r>
          </a:p>
          <a:p>
            <a:r>
              <a:t>Batasan yang perlu disampaikan secara jujur: data sebagian besar dari Apple sendiri, penulis tidak melakukan pembongkaran fisik, dan skor bersifat kualitatif.</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RINCIAN ALASAN SKOR. Slide ini menjelaskan mengapa setiap parameter mendapat skornya.</a:t>
            </a:r>
          </a:p>
          <a:p>
            <a:r>
              <a:t>Material, Tinggi: 85% aluminium daur ulang dan 100% kobalt daur ulang tercatat di laporan resmi. Aluminium daur ulang saja menurunkan emisi produk ±8%.</a:t>
            </a:r>
          </a:p>
          <a:p>
            <a:r>
              <a:t>Modularitas, Rendah: komponen terintegrasi, tidak ada modul yang bisa ditukar pengguna, sehingga komponen tidak bisa ditingkatkan atau dipakai ulang lintas generasi.</a:t>
            </a:r>
          </a:p>
          <a:p>
            <a:r>
              <a:t>Durabilitas, Tinggi: IP68, 1.000 siklus baterai, dan minimal 5 tahun pembaruan keamanan. Namun umur layanan aktual tidak dipublikasikan, jadi klaim ini belum terbukti di lapangan.</a:t>
            </a:r>
          </a:p>
          <a:p>
            <a:r>
              <a:t>Reparasi, Sedang: ada kemajuan nyata (Self Service Repair, Repair Assistant, skor iFixit naik dari 4 ke 7), tetapi suku cadang masih harus dikalibrasi dan disandingkan.</a:t>
            </a:r>
          </a:p>
          <a:p>
            <a:r>
              <a:t>Pembongkaran, Sedang: baterai lebih mudah dilepas, tetapi layar dan penutup masih disegel perekat.</a:t>
            </a:r>
          </a:p>
          <a:p>
            <a:r>
              <a:t>Perangkat lunak, Sedang: memenuhi standar UE, tetapi di luar UE dan Inggris tidak ada jaminan hukum, dan pesaing menjanjikan 7 tahun.</a:t>
            </a:r>
          </a:p>
          <a:p>
            <a:r>
              <a:t>Akhir masa pakai, Sedang: Trade In dan Daisy ada, tetapi tingkat pengumpulan tidak dibuka.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CARA MENGHITUNG DAMPAK PER PENGGUNA-TAHUN. Ini hitungan penulis berbasis data Apple, bukan rumus resmi Apple.</a:t>
            </a:r>
          </a:p>
          <a:p>
            <a:r>
              <a:t>Langkah 1: total jejak karbon 60 kg CO2e.</a:t>
            </a:r>
          </a:p>
          <a:p>
            <a:r>
              <a:t>Langkah 2: bagian pemakaian 18% × 60 = 10,8 kg. Apple mengasumsikan umur 3 tahun untuk pemilik pertama, jadi pemakaian per tahun 3,6 kg.</a:t>
            </a:r>
          </a:p>
          <a:p>
            <a:r>
              <a:t>Langkah 3: bagian tetap = 60 − 10,8 = 49,2 kg, berasal dari produksi, transportasi, dan akhir masa pakai. Bagian ini terjadi sekali, berapa pun umur pakainya.</a:t>
            </a:r>
          </a:p>
          <a:p>
            <a:r>
              <a:t>Langkah 4: dampak per tahun = 49,2 ÷ n + 3,6. Contoh: n = 3 menghasilkan 16,4 + 3,6 = 20,0 kg; n = 5 menghasilkan 9,8 + 3,6 = 13,4 kg, turun 33%.</a:t>
            </a:r>
          </a:p>
          <a:p>
            <a:r>
              <a:t>Uji sensitivitas: jika porsi pemakaian ternyata 10%, penurunannya 36%; jika 25%, penurunannya 30%. Jadi berapa pun asumsinya, memperpanjang umur dari 3 ke 5 tahun menurunkan dampak tahunan sekitar sepertiga. Ini terjadi karena sebagian besar dampak terkunci di produksi.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ANALISIS MENDALAM. Tabel ini membandingkan temuan jurnal dengan bukti iPhone dari laporan resmi untuk menghasilkan implikasi desain.</a:t>
            </a:r>
          </a:p>
          <a:p>
            <a:r>
              <a:t>Baris 1, Cordella dkk. (2021): ketahanan dan reparabilitas tidak harus dipertukarkan. iPhone 16 membuktikannya: tetap IP68, tetapi baterai kini bisa dilepas dengan arus listrik, dan skor iFixit naik ke 7/10. Implikasinya, trade-off yang disebut di slide 2 menyempit. Hambatan yang tersisa adalah penyandingan suku cadang dan dimensi baterai yang berubah tiap generasi. Inilah dasar Usulan #1.</a:t>
            </a:r>
          </a:p>
          <a:p>
            <a:r>
              <a:t>Baris 2, Makov dan Fitzpatrick (2021): kinerja iPhone stabil, tetapi minat reparasi cepat turun. Jadi umur pakai lebih dibatasi persepsi dan biaya reparasi daripada kemampuan teknis, sehingga diperlukan KPI umur layanan aktual dan reparasi yang murah.</a:t>
            </a:r>
          </a:p>
          <a:p>
            <a:r>
              <a:t>Baris 3, Proske dan Jaeger-Erben (2019): modularitas penuh membawa risiko tambahan material dan konektor. Karena itu usulan dibatasi pada modul baterai saja, bukan ponsel modular penuh.</a:t>
            </a:r>
          </a:p>
          <a:p>
            <a:r>
              <a:t>Baris 4, data Apple dan Zink dan Geyer (2017): memperpanjang umur memberi dampak lebih besar daripada mengganti material, tetapi Trade In perlu dipantau agar tidak memicu rebound.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USULAN #1: MODUL BATERAI STANDAR TANPA PENYANDINGAN.</a:t>
            </a:r>
          </a:p>
          <a:p>
            <a:r>
              <a:t>Gap: perekat baterai iPhone 16 sudah bisa dilepas dengan arus listrik (±90 detik menurut panduan reparasi Apple), tetapi perangkat tetap tidak modular, ukuran baterai berubah tiap generasi, dan suku cadang baru harus dikalibrasi atau disandingkan lewat Repair Assistant.</a:t>
            </a:r>
          </a:p>
          <a:p>
            <a:r>
              <a:t>Sebelum (diagram kiri): layar disegel perekat; baterai memakai perekat lepas-listrik; papan logika mengunci suku cadang ke nomor seri. Waktu total penggantian dan rasio reparasi tidak dipublikasikan.</a:t>
            </a:r>
          </a:p>
          <a:p>
            <a:r>
              <a:t>Sesudah (diagram kanan): baterai menjadi modul dengan dimensi dan konektor tetap lintas generasi, tetap memakai perekat lepas-listrik. Suku cadang asli maupun bekas bisa dipasang tanpa penyandingan, sementara kalibrasi tetap tersedia.</a:t>
            </a:r>
          </a:p>
          <a:p>
            <a:r>
              <a:t>Syarat yang tidak boleh dilanggar: rating IP68 tidak boleh menurun. Menurut Cordella dkk. (2021), keandalan dan reparabilitas dapat dicapai bersamaan.</a:t>
            </a:r>
          </a:p>
          <a:p>
            <a:r>
              <a:t>Evaluasi: KPI waktu penggantian baterai paling lama 5 menit dan rasio reparasi yang dilaporkan.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USULAN #2: PASPOR KOMPOSISI DAN JALUR PEMBONGKARAN.</a:t>
            </a:r>
          </a:p>
          <a:p>
            <a:r>
              <a:t>Gap: Trade In dan robot Daisy tersedia, tetapi Daisy hanya ada di fasilitas Apple, dan data pengumpulan per negara tidak dibuka. Di Indonesia, yang menghasilkan ±1,9 miliar kg e-waste per tahun, belum ada kewajiban pengambilan kembali.</a:t>
            </a:r>
          </a:p>
          <a:p>
            <a:r>
              <a:t>Sebelum (diagram kiri): mitra daur ulang di luar Apple tidak tahu komposisi dan urutan bongkar, sehingga material tercampur dan nilai pemulihan turun. Belum ada bukti terbuka bahwa Trade In menaikkan tingkat pengumpulan.</a:t>
            </a:r>
          </a:p>
          <a:p>
            <a:r>
              <a:t>Sesudah (diagram kanan): setiap unit membawa paspor digital berupa kode QR. Mitra pemulihan memindainya, lalu memilah modul untuk pakai ulang, perbaikan, atau daur ulang (aluminium, baterai, papan logika). Program ini dihubungkan dengan pengembalian di pasar berkembang, termasuk Indonesia.</a:t>
            </a:r>
          </a:p>
          <a:p>
            <a:r>
              <a:t>Evaluasi: KPI ditetapkan sebelum uji coba, yaitu tingkat pengumpulan per negara dan kemurnian material hasil pemulihan.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KESIMPULAN. Jawaban atas pertanyaan audit:</a:t>
            </a:r>
          </a:p>
          <a:p>
            <a:r>
              <a:t>(1) Kekuatan iPhone ada pada menutup aliran: material daur ulang tinggi dan emisi turun 30%, terutama berkat listrik rendah karbon di pemasok.</a:t>
            </a:r>
          </a:p>
          <a:p>
            <a:r>
              <a:t>(2) Kelemahannya ada pada memperlambat aliran: tidak modular, suku cadang disandingkan, dan umur layanan aktual tidak dibuka. Padahal 79% jejak karbon terjadi di produksi, sehingga umur pakai adalah tuas terbesar (−33% per tahun jika dipakai 5 tahun).</a:t>
            </a:r>
          </a:p>
          <a:p>
            <a:r>
              <a:t>(3) Dua usulan saling melengkapi: modul baterai standar memperlambat aliran, dan paspor komposisi menutup aliran.</a:t>
            </a:r>
          </a:p>
          <a:p>
            <a:r>
              <a:t>(4) Untuk Indonesia, tanpa aturan umur pakai dan pengambilan kembali, manfaat sirkular bergantung pada kebijakan sukarela Apple. Usulan penulis: kriteria TKDN diperluas dengan syarat reparasi dan pengembalian.</a:t>
            </a:r>
          </a:p>
          <a:p>
            <a:r>
              <a:t>Keterbatasan: data sebagian besar dari Apple sendiri dan usulan belum diuji teknis. Langkah lanjut: uji pembongkaran fisik dan meminta data pengumpulan per negara.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02B"/>
        </a:solidFill>
        <a:effectLst/>
      </p:bgPr>
    </p:bg>
    <p:spTree>
      <p:nvGrpSpPr>
        <p:cNvPr id="1" name=""/>
        <p:cNvGrpSpPr/>
        <p:nvPr/>
      </p:nvGrpSpPr>
      <p:grpSpPr>
        <a:xfrm>
          <a:off x="0" y="0"/>
          <a:ext cx="0" cy="0"/>
          <a:chOff x="0" y="0"/>
          <a:chExt cx="0" cy="0"/>
        </a:xfrm>
      </p:grpSpPr>
      <p:sp>
        <p:nvSpPr>
          <p:cNvPr id="2" name="Shape 0"/>
          <p:cNvSpPr/>
          <p:nvPr/>
        </p:nvSpPr>
        <p:spPr>
          <a:xfrm>
            <a:off x="7223760" y="594360"/>
            <a:ext cx="5669280" cy="5669280"/>
          </a:xfrm>
          <a:prstGeom prst="ellipse">
            <a:avLst/>
          </a:prstGeom>
          <a:solidFill>
            <a:srgbClr val="1A4A40">
              <a:alpha val="45000"/>
            </a:srgbClr>
          </a:solidFill>
          <a:ln w="12700">
            <a:solidFill>
              <a:srgbClr val="6FB8A3"/>
            </a:solidFill>
            <a:prstDash val="solid"/>
          </a:ln>
        </p:spPr>
      </p:sp>
      <p:sp>
        <p:nvSpPr>
          <p:cNvPr id="3" name="Shape 1"/>
          <p:cNvSpPr/>
          <p:nvPr/>
        </p:nvSpPr>
        <p:spPr>
          <a:xfrm>
            <a:off x="7955280" y="1325880"/>
            <a:ext cx="4206240" cy="4206240"/>
          </a:xfrm>
          <a:prstGeom prst="ellipse">
            <a:avLst/>
          </a:prstGeom>
          <a:solidFill>
            <a:srgbClr val="1F6F5C">
              <a:alpha val="45000"/>
            </a:srgbClr>
          </a:solidFill>
          <a:ln w="12700">
            <a:solidFill>
              <a:srgbClr val="6FB8A3"/>
            </a:solidFill>
            <a:prstDash val="solid"/>
          </a:ln>
        </p:spPr>
      </p:sp>
      <p:sp>
        <p:nvSpPr>
          <p:cNvPr id="4" name="Shape 2"/>
          <p:cNvSpPr/>
          <p:nvPr/>
        </p:nvSpPr>
        <p:spPr>
          <a:xfrm>
            <a:off x="8686800" y="2057400"/>
            <a:ext cx="2743200" cy="2743200"/>
          </a:xfrm>
          <a:prstGeom prst="ellipse">
            <a:avLst/>
          </a:prstGeom>
          <a:solidFill>
            <a:srgbClr val="2B8A73">
              <a:alpha val="45000"/>
            </a:srgbClr>
          </a:solidFill>
          <a:ln w="12700">
            <a:solidFill>
              <a:srgbClr val="6FB8A3"/>
            </a:solidFill>
            <a:prstDash val="solid"/>
          </a:ln>
        </p:spPr>
      </p:sp>
      <p:sp>
        <p:nvSpPr>
          <p:cNvPr id="5" name="Shape 3"/>
          <p:cNvSpPr/>
          <p:nvPr/>
        </p:nvSpPr>
        <p:spPr>
          <a:xfrm>
            <a:off x="9509760" y="2880360"/>
            <a:ext cx="1097280" cy="1097280"/>
          </a:xfrm>
          <a:prstGeom prst="ellipse">
            <a:avLst/>
          </a:prstGeom>
          <a:solidFill>
            <a:srgbClr val="B5651D"/>
          </a:solidFill>
          <a:ln w="12700">
            <a:solidFill>
              <a:srgbClr val="B5651D"/>
            </a:solidFill>
            <a:prstDash val="solid"/>
          </a:ln>
        </p:spPr>
      </p:sp>
      <p:sp>
        <p:nvSpPr>
          <p:cNvPr id="6" name="Text 4"/>
          <p:cNvSpPr txBox="1"/>
          <p:nvPr/>
        </p:nvSpPr>
        <p:spPr>
          <a:xfrm>
            <a:off x="731520" y="731520"/>
            <a:ext cx="7315200" cy="365760"/>
          </a:xfrm>
          <a:prstGeom prst="rect">
            <a:avLst/>
          </a:prstGeom>
          <a:noFill/>
          <a:ln/>
        </p:spPr>
        <p:txBody>
          <a:bodyPr wrap="square" lIns="0" tIns="0" rIns="0" bIns="0" rtlCol="0" anchor="t"/>
          <a:lstStyle/>
          <a:p>
            <a:pPr marL="0" indent="0">
              <a:buNone/>
            </a:pPr>
            <a:r>
              <a:rPr lang="en-US" sz="1600" b="1" dirty="0">
                <a:solidFill>
                  <a:srgbClr val="9DD1C2"/>
                </a:solidFill>
                <a:latin typeface="Calibri" pitchFamily="34" charset="0"/>
                <a:ea typeface="Calibri" pitchFamily="34" charset="-122"/>
                <a:cs typeface="Calibri" pitchFamily="34" charset="-120"/>
              </a:rPr>
              <a:t>W5 · Desain Produk Berkelanjutan dan Sirkular</a:t>
            </a:r>
            <a:endParaRPr lang="en-US" sz="1600" dirty="0"/>
          </a:p>
        </p:txBody>
      </p:sp>
      <p:sp>
        <p:nvSpPr>
          <p:cNvPr id="7" name="Text 5"/>
          <p:cNvSpPr txBox="1"/>
          <p:nvPr/>
        </p:nvSpPr>
        <p:spPr>
          <a:xfrm>
            <a:off x="731520" y="1463040"/>
            <a:ext cx="7680960" cy="2011680"/>
          </a:xfrm>
          <a:prstGeom prst="rect">
            <a:avLst/>
          </a:prstGeom>
          <a:noFill/>
          <a:ln/>
        </p:spPr>
        <p:txBody>
          <a:bodyPr wrap="square" lIns="0" tIns="0" rIns="0" bIns="0" rtlCol="0" anchor="t"/>
          <a:lstStyle/>
          <a:p>
            <a:pPr marL="0" indent="0">
              <a:buNone/>
            </a:pPr>
            <a:r>
              <a:rPr lang="en-US" sz="4000" b="1" dirty="0">
                <a:solidFill>
                  <a:srgbClr val="FFFFFF"/>
                </a:solidFill>
                <a:latin typeface="Cambria" pitchFamily="34" charset="0"/>
                <a:ea typeface="Cambria" pitchFamily="34" charset="-122"/>
                <a:cs typeface="Cambria" pitchFamily="34" charset="-120"/>
              </a:rPr>
              <a:t>AUDIT DESAIN DAN REDESAIN SIRKULAR PADA APPLE iPHONE</a:t>
            </a:r>
            <a:endParaRPr lang="en-US" sz="4000" dirty="0"/>
          </a:p>
        </p:txBody>
      </p:sp>
      <p:sp>
        <p:nvSpPr>
          <p:cNvPr id="8" name="Text 6"/>
          <p:cNvSpPr txBox="1"/>
          <p:nvPr/>
        </p:nvSpPr>
        <p:spPr>
          <a:xfrm>
            <a:off x="731520" y="3657600"/>
            <a:ext cx="7315200" cy="822960"/>
          </a:xfrm>
          <a:prstGeom prst="rect">
            <a:avLst/>
          </a:prstGeom>
          <a:noFill/>
          <a:ln/>
        </p:spPr>
        <p:txBody>
          <a:bodyPr wrap="square" lIns="0" tIns="0" rIns="0" bIns="0" rtlCol="0" anchor="t"/>
          <a:lstStyle/>
          <a:p>
            <a:pPr marL="0" indent="0" algn="l">
              <a:buNone/>
            </a:pPr>
            <a:r>
              <a:rPr lang="en-US" sz="1600" dirty="0">
                <a:solidFill>
                  <a:srgbClr val="CFE5DD"/>
                </a:solidFill>
                <a:latin typeface="+mj-lt"/>
                <a:ea typeface="Calibri" pitchFamily="34" charset="-122"/>
                <a:cs typeface="Calibri" pitchFamily="34" charset="-120"/>
              </a:rPr>
              <a:t>Fokus: kemudahan perbaikan, pembongkaran, dan pemulihan pada akhir masa pakai; analisis global di Uni Eropa, Amerika Serikat, dan Indonesia</a:t>
            </a:r>
            <a:endParaRPr lang="en-US" sz="1600" dirty="0">
              <a:latin typeface="+mj-l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8F6"/>
        </a:solidFill>
        <a:effectLst/>
      </p:bgPr>
    </p:bg>
    <p:spTree>
      <p:nvGrpSpPr>
        <p:cNvPr id="1" name=""/>
        <p:cNvGrpSpPr/>
        <p:nvPr/>
      </p:nvGrpSpPr>
      <p:grpSpPr>
        <a:xfrm>
          <a:off x="0" y="0"/>
          <a:ext cx="0" cy="0"/>
          <a:chOff x="0" y="0"/>
          <a:chExt cx="0" cy="0"/>
        </a:xfrm>
      </p:grpSpPr>
      <p:sp>
        <p:nvSpPr>
          <p:cNvPr id="2" name="badge"/>
          <p:cNvSpPr/>
          <p:nvPr/>
        </p:nvSpPr>
        <p:spPr>
          <a:xfrm>
            <a:off x="457200" y="384048"/>
            <a:ext cx="566928" cy="566928"/>
          </a:xfrm>
          <a:prstGeom prst="ellipse">
            <a:avLst/>
          </a:prstGeom>
          <a:solidFill>
            <a:srgbClr val="1F6F5C"/>
          </a:solidFill>
          <a:ln w="12700">
            <a:solidFill>
              <a:srgbClr val="1F6F5C"/>
            </a:solidFill>
            <a:prstDash val="solid"/>
          </a:ln>
        </p:spPr>
      </p:sp>
      <p:sp>
        <p:nvSpPr>
          <p:cNvPr id="3" name="Text 1"/>
          <p:cNvSpPr txBox="1"/>
          <p:nvPr/>
        </p:nvSpPr>
        <p:spPr>
          <a:xfrm>
            <a:off x="457200" y="384048"/>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4" name="Text 2"/>
          <p:cNvSpPr txBox="1"/>
          <p:nvPr/>
        </p:nvSpPr>
        <p:spPr>
          <a:xfrm>
            <a:off x="1188720" y="292608"/>
            <a:ext cx="9692640" cy="457200"/>
          </a:xfrm>
          <a:prstGeom prst="rect">
            <a:avLst/>
          </a:prstGeom>
          <a:noFill/>
          <a:ln/>
        </p:spPr>
        <p:txBody>
          <a:bodyPr wrap="square" lIns="0" tIns="0" rIns="0" bIns="0" rtlCol="0" anchor="ctr"/>
          <a:lstStyle/>
          <a:p>
            <a:pPr marL="0" indent="0">
              <a:buNone/>
            </a:pPr>
            <a:r>
              <a:rPr lang="en-US" sz="3000" b="1" dirty="0">
                <a:solidFill>
                  <a:srgbClr val="12302B"/>
                </a:solidFill>
                <a:latin typeface="Cambria" pitchFamily="34" charset="0"/>
                <a:ea typeface="Cambria" pitchFamily="34" charset="-122"/>
                <a:cs typeface="Cambria" pitchFamily="34" charset="-120"/>
              </a:rPr>
              <a:t>Objek, masalah, dan batas sistem</a:t>
            </a:r>
            <a:endParaRPr lang="en-US" sz="3000" dirty="0"/>
          </a:p>
        </p:txBody>
      </p:sp>
      <p:sp>
        <p:nvSpPr>
          <p:cNvPr id="5" name="Text 3"/>
          <p:cNvSpPr txBox="1"/>
          <p:nvPr/>
        </p:nvSpPr>
        <p:spPr>
          <a:xfrm>
            <a:off x="1188720" y="768096"/>
            <a:ext cx="10424160" cy="292608"/>
          </a:xfrm>
          <a:prstGeom prst="rect">
            <a:avLst/>
          </a:prstGeom>
          <a:noFill/>
          <a:ln/>
        </p:spPr>
        <p:txBody>
          <a:bodyPr wrap="square" lIns="0" tIns="0" rIns="0" bIns="0" rtlCol="0" anchor="t"/>
          <a:lstStyle/>
          <a:p>
            <a:pPr marL="0" indent="0">
              <a:buNone/>
            </a:pPr>
            <a:r>
              <a:rPr lang="en-US" sz="1400" i="1" dirty="0">
                <a:solidFill>
                  <a:srgbClr val="5B6B68"/>
                </a:solidFill>
                <a:latin typeface="Calibri" pitchFamily="34" charset="0"/>
                <a:ea typeface="Calibri" pitchFamily="34" charset="-122"/>
                <a:cs typeface="Calibri" pitchFamily="34" charset="-120"/>
              </a:rPr>
              <a:t>Apple iPhone sebagai sistem produk dan jasa (product-service system)</a:t>
            </a:r>
            <a:endParaRPr lang="en-US" sz="1400" dirty="0"/>
          </a:p>
        </p:txBody>
      </p:sp>
      <p:sp>
        <p:nvSpPr>
          <p:cNvPr id="6" name="Shape 4"/>
          <p:cNvSpPr/>
          <p:nvPr/>
        </p:nvSpPr>
        <p:spPr>
          <a:xfrm>
            <a:off x="457200" y="1280160"/>
            <a:ext cx="3657600" cy="3200400"/>
          </a:xfrm>
          <a:prstGeom prst="roundRect">
            <a:avLst>
              <a:gd name="adj" fmla="val 2857"/>
            </a:avLst>
          </a:prstGeom>
          <a:solidFill>
            <a:srgbClr val="FFFFFF"/>
          </a:solidFill>
          <a:ln w="9525">
            <a:solidFill>
              <a:srgbClr val="D5E2DD"/>
            </a:solidFill>
            <a:prstDash val="solid"/>
          </a:ln>
          <a:effectLst>
            <a:outerShdw blurRad="76200" dist="25400" dir="5400000" algn="bl" rotWithShape="0">
              <a:srgbClr val="000000">
                <a:alpha val="12000"/>
              </a:srgbClr>
            </a:outerShdw>
          </a:effectLst>
        </p:spPr>
      </p:sp>
      <p:sp>
        <p:nvSpPr>
          <p:cNvPr id="7" name="Text 5"/>
          <p:cNvSpPr txBox="1"/>
          <p:nvPr/>
        </p:nvSpPr>
        <p:spPr>
          <a:xfrm>
            <a:off x="685800" y="1417320"/>
            <a:ext cx="3200400" cy="320040"/>
          </a:xfrm>
          <a:prstGeom prst="rect">
            <a:avLst/>
          </a:prstGeom>
          <a:noFill/>
          <a:ln/>
        </p:spPr>
        <p:txBody>
          <a:bodyPr wrap="square" lIns="0" tIns="0" rIns="0" bIns="0" rtlCol="0" anchor="t"/>
          <a:lstStyle/>
          <a:p>
            <a:pPr marL="0" indent="0">
              <a:buNone/>
            </a:pPr>
            <a:r>
              <a:rPr lang="en-US" sz="2000" b="1" dirty="0">
                <a:solidFill>
                  <a:srgbClr val="1F6F5C"/>
                </a:solidFill>
                <a:latin typeface="Cambria" pitchFamily="34" charset="0"/>
                <a:ea typeface="Cambria" pitchFamily="34" charset="-122"/>
                <a:cs typeface="Cambria" pitchFamily="34" charset="-120"/>
              </a:rPr>
              <a:t>Objek</a:t>
            </a:r>
            <a:endParaRPr lang="en-US" sz="2000" dirty="0"/>
          </a:p>
        </p:txBody>
      </p:sp>
      <p:sp>
        <p:nvSpPr>
          <p:cNvPr id="8" name="Text 6"/>
          <p:cNvSpPr txBox="1"/>
          <p:nvPr/>
        </p:nvSpPr>
        <p:spPr>
          <a:xfrm>
            <a:off x="685800" y="1828800"/>
            <a:ext cx="3200400" cy="2468880"/>
          </a:xfrm>
          <a:prstGeom prst="rect">
            <a:avLst/>
          </a:prstGeom>
          <a:noFill/>
          <a:ln/>
        </p:spPr>
        <p:txBody>
          <a:bodyPr wrap="square" lIns="0" tIns="0" rIns="0" bIns="0" rtlCol="0" anchor="t"/>
          <a:lstStyle/>
          <a:p>
            <a:pPr marL="0" indent="0" algn="l">
              <a:spcAft>
                <a:spcPts val="400"/>
              </a:spcAft>
              <a:buNone/>
            </a:pPr>
            <a:r>
              <a:rPr lang="en-US" sz="1600" b="1" dirty="0">
                <a:solidFill>
                  <a:srgbClr val="1B2B2A"/>
                </a:solidFill>
                <a:latin typeface="Calibri" pitchFamily="34" charset="0"/>
                <a:ea typeface="Calibri" pitchFamily="34" charset="-122"/>
                <a:cs typeface="Calibri" pitchFamily="34" charset="-120"/>
              </a:rPr>
              <a:t>iPhone 16 Plus (128 GB)</a:t>
            </a:r>
            <a:endParaRPr lang="en-US" sz="1600" dirty="0"/>
          </a:p>
          <a:p>
            <a:pPr marL="0" indent="0" algn="l">
              <a:spcAft>
                <a:spcPts val="400"/>
              </a:spcAft>
              <a:buNone/>
            </a:pPr>
            <a:r>
              <a:rPr lang="en-US" sz="1600" dirty="0">
                <a:solidFill>
                  <a:srgbClr val="1B2B2A"/>
                </a:solidFill>
                <a:latin typeface="Calibri" pitchFamily="34" charset="0"/>
                <a:ea typeface="Calibri" pitchFamily="34" charset="-122"/>
                <a:cs typeface="Calibri" pitchFamily="34" charset="-120"/>
              </a:rPr>
              <a:t>Perangkat keras ditambah pembaruan iOS, Self Service Repair, AppleCare, dan Trade In.</a:t>
            </a:r>
            <a:endParaRPr lang="en-US" sz="1600" dirty="0"/>
          </a:p>
          <a:p>
            <a:pPr marL="0" indent="0" algn="l">
              <a:spcAft>
                <a:spcPts val="400"/>
              </a:spcAft>
              <a:buNone/>
            </a:pPr>
            <a:r>
              <a:rPr lang="en-US" sz="600" dirty="0">
                <a:solidFill>
                  <a:srgbClr val="1B2B2A"/>
                </a:solidFill>
                <a:latin typeface="Calibri" pitchFamily="34" charset="0"/>
                <a:ea typeface="Calibri" pitchFamily="34" charset="-122"/>
                <a:cs typeface="Calibri" pitchFamily="34" charset="-120"/>
              </a:rPr>
              <a:t> </a:t>
            </a:r>
            <a:endParaRPr lang="en-US" sz="1600" dirty="0"/>
          </a:p>
          <a:p>
            <a:pPr marL="0" indent="0" algn="l">
              <a:spcAft>
                <a:spcPts val="400"/>
              </a:spcAft>
              <a:buNone/>
            </a:pPr>
            <a:r>
              <a:rPr lang="en-US" sz="1600" dirty="0">
                <a:solidFill>
                  <a:srgbClr val="1B2B2A"/>
                </a:solidFill>
                <a:latin typeface="Calibri" pitchFamily="34" charset="0"/>
                <a:ea typeface="Calibri" pitchFamily="34" charset="-122"/>
                <a:cs typeface="Calibri" pitchFamily="34" charset="-120"/>
              </a:rPr>
              <a:t>Unit fungsional (functional unit): 1 tahun layanan telepon pintar per pengguna.</a:t>
            </a:r>
            <a:endParaRPr lang="en-US" sz="1600" dirty="0"/>
          </a:p>
        </p:txBody>
      </p:sp>
      <p:sp>
        <p:nvSpPr>
          <p:cNvPr id="9" name="Shape 7"/>
          <p:cNvSpPr/>
          <p:nvPr/>
        </p:nvSpPr>
        <p:spPr>
          <a:xfrm>
            <a:off x="4297680" y="1280160"/>
            <a:ext cx="3749040" cy="3200400"/>
          </a:xfrm>
          <a:prstGeom prst="roundRect">
            <a:avLst>
              <a:gd name="adj" fmla="val 2857"/>
            </a:avLst>
          </a:prstGeom>
          <a:solidFill>
            <a:srgbClr val="FFFFFF"/>
          </a:solidFill>
          <a:ln w="9525">
            <a:solidFill>
              <a:srgbClr val="D5E2DD"/>
            </a:solidFill>
            <a:prstDash val="solid"/>
          </a:ln>
          <a:effectLst>
            <a:outerShdw blurRad="76200" dist="25400" dir="5400000" algn="bl" rotWithShape="0">
              <a:srgbClr val="000000">
                <a:alpha val="12000"/>
              </a:srgbClr>
            </a:outerShdw>
          </a:effectLst>
        </p:spPr>
      </p:sp>
      <p:sp>
        <p:nvSpPr>
          <p:cNvPr id="10" name="Text 8"/>
          <p:cNvSpPr txBox="1"/>
          <p:nvPr/>
        </p:nvSpPr>
        <p:spPr>
          <a:xfrm>
            <a:off x="4526280" y="1417320"/>
            <a:ext cx="3291840" cy="320040"/>
          </a:xfrm>
          <a:prstGeom prst="rect">
            <a:avLst/>
          </a:prstGeom>
          <a:noFill/>
          <a:ln/>
        </p:spPr>
        <p:txBody>
          <a:bodyPr wrap="square" lIns="0" tIns="0" rIns="0" bIns="0" rtlCol="0" anchor="t"/>
          <a:lstStyle/>
          <a:p>
            <a:pPr marL="0" indent="0">
              <a:buNone/>
            </a:pPr>
            <a:r>
              <a:rPr lang="en-US" sz="2000" b="1" dirty="0">
                <a:solidFill>
                  <a:srgbClr val="B3402F"/>
                </a:solidFill>
                <a:latin typeface="Cambria" pitchFamily="34" charset="0"/>
                <a:ea typeface="Cambria" pitchFamily="34" charset="-122"/>
                <a:cs typeface="Cambria" pitchFamily="34" charset="-120"/>
              </a:rPr>
              <a:t>Masalah utama</a:t>
            </a:r>
            <a:endParaRPr lang="en-US" sz="2000" dirty="0"/>
          </a:p>
        </p:txBody>
      </p:sp>
      <p:sp>
        <p:nvSpPr>
          <p:cNvPr id="11" name="Text 9"/>
          <p:cNvSpPr txBox="1"/>
          <p:nvPr/>
        </p:nvSpPr>
        <p:spPr>
          <a:xfrm>
            <a:off x="4526280" y="1828800"/>
            <a:ext cx="3291840" cy="2560320"/>
          </a:xfrm>
          <a:prstGeom prst="rect">
            <a:avLst/>
          </a:prstGeom>
          <a:noFill/>
          <a:ln/>
        </p:spPr>
        <p:txBody>
          <a:bodyPr wrap="square" lIns="0" tIns="0" rIns="0" bIns="0" rtlCol="0" anchor="t"/>
          <a:lstStyle/>
          <a:p>
            <a:pPr marL="0" indent="0" algn="l">
              <a:buNone/>
            </a:pPr>
            <a:r>
              <a:rPr lang="en-US" sz="1600" dirty="0">
                <a:solidFill>
                  <a:srgbClr val="1B2B2A"/>
                </a:solidFill>
                <a:latin typeface="Calibri" pitchFamily="34" charset="0"/>
                <a:ea typeface="Calibri" pitchFamily="34" charset="-122"/>
                <a:cs typeface="Calibri" pitchFamily="34" charset="-120"/>
              </a:rPr>
              <a:t>Pertukaran (trade-off) antara ketahanan dan kemudahan perbaikan: perekat penyegel layar dan baterai menjaga ketahanan air, tetapi mempersulit pembongkaran. Perangkat tidak modular dan suku cadang dapat disandingkan secara digital.</a:t>
            </a:r>
            <a:endParaRPr lang="en-US" sz="1600" dirty="0"/>
          </a:p>
        </p:txBody>
      </p:sp>
      <p:sp>
        <p:nvSpPr>
          <p:cNvPr id="12" name="Shape 10"/>
          <p:cNvSpPr/>
          <p:nvPr/>
        </p:nvSpPr>
        <p:spPr>
          <a:xfrm>
            <a:off x="8229600" y="1280160"/>
            <a:ext cx="3502152" cy="3200400"/>
          </a:xfrm>
          <a:prstGeom prst="roundRect">
            <a:avLst>
              <a:gd name="adj" fmla="val 2857"/>
            </a:avLst>
          </a:prstGeom>
          <a:solidFill>
            <a:srgbClr val="12302B"/>
          </a:solidFill>
          <a:ln w="9525">
            <a:solidFill>
              <a:srgbClr val="D5E2DD"/>
            </a:solidFill>
            <a:prstDash val="solid"/>
          </a:ln>
          <a:effectLst>
            <a:outerShdw blurRad="76200" dist="25400" dir="5400000" algn="bl" rotWithShape="0">
              <a:srgbClr val="000000">
                <a:alpha val="12000"/>
              </a:srgbClr>
            </a:outerShdw>
          </a:effectLst>
        </p:spPr>
      </p:sp>
      <p:sp>
        <p:nvSpPr>
          <p:cNvPr id="13" name="Text 11"/>
          <p:cNvSpPr txBox="1"/>
          <p:nvPr/>
        </p:nvSpPr>
        <p:spPr>
          <a:xfrm>
            <a:off x="8458200" y="1417320"/>
            <a:ext cx="3108960" cy="320040"/>
          </a:xfrm>
          <a:prstGeom prst="rect">
            <a:avLst/>
          </a:prstGeom>
          <a:noFill/>
          <a:ln/>
        </p:spPr>
        <p:txBody>
          <a:bodyPr wrap="square" lIns="0" tIns="0" rIns="0" bIns="0" rtlCol="0" anchor="t"/>
          <a:lstStyle/>
          <a:p>
            <a:pPr marL="0" indent="0">
              <a:buNone/>
            </a:pPr>
            <a:r>
              <a:rPr lang="en-US" sz="1800" b="1" dirty="0">
                <a:solidFill>
                  <a:srgbClr val="9DD1C2"/>
                </a:solidFill>
                <a:latin typeface="Cambria" pitchFamily="34" charset="0"/>
                <a:ea typeface="Cambria" pitchFamily="34" charset="-122"/>
                <a:cs typeface="Cambria" pitchFamily="34" charset="-120"/>
              </a:rPr>
              <a:t>Jejak karbon 60 kg CO2e</a:t>
            </a:r>
            <a:endParaRPr lang="en-US" sz="1800" dirty="0"/>
          </a:p>
        </p:txBody>
      </p:sp>
      <p:sp>
        <p:nvSpPr>
          <p:cNvPr id="14" name="Text 12"/>
          <p:cNvSpPr txBox="1"/>
          <p:nvPr/>
        </p:nvSpPr>
        <p:spPr>
          <a:xfrm>
            <a:off x="8458200" y="1828800"/>
            <a:ext cx="3108960" cy="914400"/>
          </a:xfrm>
          <a:prstGeom prst="rect">
            <a:avLst/>
          </a:prstGeom>
          <a:noFill/>
          <a:ln/>
        </p:spPr>
        <p:txBody>
          <a:bodyPr wrap="square" lIns="0" tIns="0" rIns="0" bIns="0" rtlCol="0" anchor="t"/>
          <a:lstStyle/>
          <a:p>
            <a:pPr marL="0" indent="0">
              <a:buNone/>
            </a:pPr>
            <a:r>
              <a:rPr lang="en-US" sz="6000" b="1" dirty="0">
                <a:solidFill>
                  <a:srgbClr val="FFFFFF"/>
                </a:solidFill>
                <a:latin typeface="Cambria" pitchFamily="34" charset="0"/>
                <a:ea typeface="Cambria" pitchFamily="34" charset="-122"/>
                <a:cs typeface="Cambria" pitchFamily="34" charset="-120"/>
              </a:rPr>
              <a:t>79%</a:t>
            </a:r>
            <a:endParaRPr lang="en-US" sz="6000" dirty="0"/>
          </a:p>
        </p:txBody>
      </p:sp>
      <p:sp>
        <p:nvSpPr>
          <p:cNvPr id="15" name="Text 13"/>
          <p:cNvSpPr txBox="1"/>
          <p:nvPr/>
        </p:nvSpPr>
        <p:spPr>
          <a:xfrm>
            <a:off x="8458200" y="2743200"/>
            <a:ext cx="3108960" cy="320040"/>
          </a:xfrm>
          <a:prstGeom prst="rect">
            <a:avLst/>
          </a:prstGeom>
          <a:noFill/>
          <a:ln/>
        </p:spPr>
        <p:txBody>
          <a:bodyPr wrap="square" lIns="0" tIns="0" rIns="0" bIns="0" rtlCol="0" anchor="t"/>
          <a:lstStyle/>
          <a:p>
            <a:pPr marL="0" indent="0">
              <a:buNone/>
            </a:pPr>
            <a:r>
              <a:rPr lang="en-US" sz="1600" dirty="0">
                <a:solidFill>
                  <a:srgbClr val="FFFFFF"/>
                </a:solidFill>
                <a:latin typeface="Calibri" pitchFamily="34" charset="0"/>
                <a:ea typeface="Calibri" pitchFamily="34" charset="-122"/>
                <a:cs typeface="Calibri" pitchFamily="34" charset="-120"/>
              </a:rPr>
              <a:t>berasal dari produksi</a:t>
            </a:r>
            <a:endParaRPr lang="en-US" sz="1600" dirty="0"/>
          </a:p>
        </p:txBody>
      </p:sp>
      <p:sp>
        <p:nvSpPr>
          <p:cNvPr id="16" name="Text 14"/>
          <p:cNvSpPr txBox="1"/>
          <p:nvPr/>
        </p:nvSpPr>
        <p:spPr>
          <a:xfrm>
            <a:off x="8458200" y="3291840"/>
            <a:ext cx="3108960" cy="822960"/>
          </a:xfrm>
          <a:prstGeom prst="rect">
            <a:avLst/>
          </a:prstGeom>
          <a:noFill/>
          <a:ln/>
        </p:spPr>
        <p:txBody>
          <a:bodyPr wrap="square" lIns="0" tIns="0" rIns="0" bIns="0" rtlCol="0" anchor="t"/>
          <a:lstStyle/>
          <a:p>
            <a:pPr marL="0" indent="0">
              <a:buNone/>
            </a:pPr>
            <a:r>
              <a:rPr lang="en-US" sz="1400" dirty="0">
                <a:solidFill>
                  <a:srgbClr val="CFE5DD"/>
                </a:solidFill>
                <a:latin typeface="Calibri" pitchFamily="34" charset="0"/>
                <a:ea typeface="Calibri" pitchFamily="34" charset="-122"/>
                <a:cs typeface="Calibri" pitchFamily="34" charset="-120"/>
              </a:rPr>
              <a:t>Pemakaian 18% · Transportasi 4% · Akhir masa pakai &lt;1%</a:t>
            </a:r>
            <a:endParaRPr lang="en-US" sz="1400" dirty="0"/>
          </a:p>
        </p:txBody>
      </p:sp>
      <p:sp>
        <p:nvSpPr>
          <p:cNvPr id="17" name="Text 15"/>
          <p:cNvSpPr txBox="1"/>
          <p:nvPr/>
        </p:nvSpPr>
        <p:spPr>
          <a:xfrm>
            <a:off x="457200" y="4709160"/>
            <a:ext cx="8229600" cy="320040"/>
          </a:xfrm>
          <a:prstGeom prst="rect">
            <a:avLst/>
          </a:prstGeom>
          <a:noFill/>
          <a:ln/>
        </p:spPr>
        <p:txBody>
          <a:bodyPr wrap="square" lIns="0" tIns="0" rIns="0" bIns="0" rtlCol="0" anchor="t"/>
          <a:lstStyle/>
          <a:p>
            <a:pPr marL="0" indent="0">
              <a:buNone/>
            </a:pPr>
            <a:r>
              <a:rPr lang="en-US" sz="1800" b="1" dirty="0">
                <a:solidFill>
                  <a:srgbClr val="12302B"/>
                </a:solidFill>
                <a:latin typeface="Cambria" pitchFamily="34" charset="0"/>
                <a:ea typeface="Cambria" pitchFamily="34" charset="-122"/>
                <a:cs typeface="Cambria" pitchFamily="34" charset="-120"/>
              </a:rPr>
              <a:t>Batas sistem (system boundary): seluruh siklus hidup hingga pemulihan</a:t>
            </a:r>
            <a:endParaRPr lang="en-US" sz="1800" dirty="0"/>
          </a:p>
        </p:txBody>
      </p:sp>
      <p:sp>
        <p:nvSpPr>
          <p:cNvPr id="18" name="Shape 16"/>
          <p:cNvSpPr/>
          <p:nvPr/>
        </p:nvSpPr>
        <p:spPr>
          <a:xfrm>
            <a:off x="457200" y="5120640"/>
            <a:ext cx="2240280" cy="1005840"/>
          </a:xfrm>
          <a:prstGeom prst="chevron">
            <a:avLst/>
          </a:prstGeom>
          <a:solidFill>
            <a:srgbClr val="1F6F5C"/>
          </a:solidFill>
          <a:ln w="12700">
            <a:solidFill>
              <a:srgbClr val="FFFFFF"/>
            </a:solidFill>
            <a:prstDash val="solid"/>
          </a:ln>
        </p:spPr>
      </p:sp>
      <p:sp>
        <p:nvSpPr>
          <p:cNvPr id="19" name="Text 17"/>
          <p:cNvSpPr txBox="1"/>
          <p:nvPr/>
        </p:nvSpPr>
        <p:spPr>
          <a:xfrm>
            <a:off x="868680" y="5120640"/>
            <a:ext cx="1508760" cy="10058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Bahan baku dan komponen</a:t>
            </a:r>
            <a:endParaRPr lang="en-US" sz="1300" dirty="0"/>
          </a:p>
        </p:txBody>
      </p:sp>
      <p:sp>
        <p:nvSpPr>
          <p:cNvPr id="20" name="Shape 18"/>
          <p:cNvSpPr/>
          <p:nvPr/>
        </p:nvSpPr>
        <p:spPr>
          <a:xfrm>
            <a:off x="2743200" y="5120640"/>
            <a:ext cx="2240280" cy="1005840"/>
          </a:xfrm>
          <a:prstGeom prst="chevron">
            <a:avLst/>
          </a:prstGeom>
          <a:solidFill>
            <a:srgbClr val="1F6F5C"/>
          </a:solidFill>
          <a:ln w="12700">
            <a:solidFill>
              <a:srgbClr val="FFFFFF"/>
            </a:solidFill>
            <a:prstDash val="solid"/>
          </a:ln>
        </p:spPr>
      </p:sp>
      <p:sp>
        <p:nvSpPr>
          <p:cNvPr id="21" name="Text 19"/>
          <p:cNvSpPr txBox="1"/>
          <p:nvPr/>
        </p:nvSpPr>
        <p:spPr>
          <a:xfrm>
            <a:off x="3154680" y="5120640"/>
            <a:ext cx="1508760" cy="10058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Produksi dan perakitan</a:t>
            </a:r>
            <a:endParaRPr lang="en-US" sz="1300" dirty="0"/>
          </a:p>
        </p:txBody>
      </p:sp>
      <p:sp>
        <p:nvSpPr>
          <p:cNvPr id="22" name="Shape 20"/>
          <p:cNvSpPr/>
          <p:nvPr/>
        </p:nvSpPr>
        <p:spPr>
          <a:xfrm>
            <a:off x="5029200" y="5120640"/>
            <a:ext cx="2240280" cy="1005840"/>
          </a:xfrm>
          <a:prstGeom prst="chevron">
            <a:avLst/>
          </a:prstGeom>
          <a:solidFill>
            <a:srgbClr val="1F6F5C"/>
          </a:solidFill>
          <a:ln w="12700">
            <a:solidFill>
              <a:srgbClr val="FFFFFF"/>
            </a:solidFill>
            <a:prstDash val="solid"/>
          </a:ln>
        </p:spPr>
      </p:sp>
      <p:sp>
        <p:nvSpPr>
          <p:cNvPr id="23" name="Text 21"/>
          <p:cNvSpPr txBox="1"/>
          <p:nvPr/>
        </p:nvSpPr>
        <p:spPr>
          <a:xfrm>
            <a:off x="5440680" y="5120640"/>
            <a:ext cx="1508760" cy="10058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Distribusi global</a:t>
            </a:r>
            <a:endParaRPr lang="en-US" sz="1300" dirty="0"/>
          </a:p>
        </p:txBody>
      </p:sp>
      <p:sp>
        <p:nvSpPr>
          <p:cNvPr id="24" name="Shape 22"/>
          <p:cNvSpPr/>
          <p:nvPr/>
        </p:nvSpPr>
        <p:spPr>
          <a:xfrm>
            <a:off x="7315200" y="5120640"/>
            <a:ext cx="2240280" cy="1005840"/>
          </a:xfrm>
          <a:prstGeom prst="chevron">
            <a:avLst/>
          </a:prstGeom>
          <a:solidFill>
            <a:srgbClr val="1F6F5C"/>
          </a:solidFill>
          <a:ln w="12700">
            <a:solidFill>
              <a:srgbClr val="FFFFFF"/>
            </a:solidFill>
            <a:prstDash val="solid"/>
          </a:ln>
        </p:spPr>
      </p:sp>
      <p:sp>
        <p:nvSpPr>
          <p:cNvPr id="25" name="Text 23"/>
          <p:cNvSpPr txBox="1"/>
          <p:nvPr/>
        </p:nvSpPr>
        <p:spPr>
          <a:xfrm>
            <a:off x="7726680" y="5120640"/>
            <a:ext cx="1508760" cy="10058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Masa pakai</a:t>
            </a:r>
            <a:endParaRPr lang="en-US" sz="1300" dirty="0"/>
          </a:p>
        </p:txBody>
      </p:sp>
      <p:sp>
        <p:nvSpPr>
          <p:cNvPr id="26" name="Shape 24"/>
          <p:cNvSpPr/>
          <p:nvPr/>
        </p:nvSpPr>
        <p:spPr>
          <a:xfrm>
            <a:off x="9601200" y="5120640"/>
            <a:ext cx="2240280" cy="1005840"/>
          </a:xfrm>
          <a:prstGeom prst="chevron">
            <a:avLst/>
          </a:prstGeom>
          <a:solidFill>
            <a:srgbClr val="B5651D"/>
          </a:solidFill>
          <a:ln w="12700">
            <a:solidFill>
              <a:srgbClr val="FFFFFF"/>
            </a:solidFill>
            <a:prstDash val="solid"/>
          </a:ln>
        </p:spPr>
      </p:sp>
      <p:sp>
        <p:nvSpPr>
          <p:cNvPr id="27" name="Text 25"/>
          <p:cNvSpPr txBox="1"/>
          <p:nvPr/>
        </p:nvSpPr>
        <p:spPr>
          <a:xfrm>
            <a:off x="10012680" y="5120640"/>
            <a:ext cx="1508760" cy="100584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Pemulihan (Trade In, daur ulang)</a:t>
            </a:r>
            <a:endParaRPr lang="en-US" sz="1300" dirty="0"/>
          </a:p>
        </p:txBody>
      </p:sp>
      <p:sp>
        <p:nvSpPr>
          <p:cNvPr id="29" name="Text 27"/>
          <p:cNvSpPr txBox="1"/>
          <p:nvPr/>
        </p:nvSpPr>
        <p:spPr>
          <a:xfrm>
            <a:off x="11247120" y="6473952"/>
            <a:ext cx="457200" cy="228600"/>
          </a:xfrm>
          <a:prstGeom prst="rect">
            <a:avLst/>
          </a:prstGeom>
          <a:noFill/>
          <a:ln/>
        </p:spPr>
        <p:txBody>
          <a:bodyPr wrap="square" lIns="0" tIns="0" rIns="0" bIns="0" rtlCol="0" anchor="t"/>
          <a:lstStyle/>
          <a:p>
            <a:pPr marL="0" indent="0" algn="r">
              <a:buNone/>
            </a:pPr>
            <a:r>
              <a:rPr lang="en-US" sz="1000" dirty="0">
                <a:solidFill>
                  <a:srgbClr val="5B6B68"/>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8F6"/>
        </a:solidFill>
        <a:effectLst/>
      </p:bgPr>
    </p:bg>
    <p:spTree>
      <p:nvGrpSpPr>
        <p:cNvPr id="1" name=""/>
        <p:cNvGrpSpPr/>
        <p:nvPr/>
      </p:nvGrpSpPr>
      <p:grpSpPr>
        <a:xfrm>
          <a:off x="0" y="0"/>
          <a:ext cx="0" cy="0"/>
          <a:chOff x="0" y="0"/>
          <a:chExt cx="0" cy="0"/>
        </a:xfrm>
      </p:grpSpPr>
      <p:sp>
        <p:nvSpPr>
          <p:cNvPr id="2" name="badge"/>
          <p:cNvSpPr/>
          <p:nvPr/>
        </p:nvSpPr>
        <p:spPr>
          <a:xfrm>
            <a:off x="457200" y="384048"/>
            <a:ext cx="566928" cy="566928"/>
          </a:xfrm>
          <a:prstGeom prst="ellipse">
            <a:avLst/>
          </a:prstGeom>
          <a:solidFill>
            <a:srgbClr val="1F6F5C"/>
          </a:solidFill>
          <a:ln w="12700">
            <a:solidFill>
              <a:srgbClr val="1F6F5C"/>
            </a:solidFill>
            <a:prstDash val="solid"/>
          </a:ln>
        </p:spPr>
      </p:sp>
      <p:sp>
        <p:nvSpPr>
          <p:cNvPr id="3" name="Text 1"/>
          <p:cNvSpPr txBox="1"/>
          <p:nvPr/>
        </p:nvSpPr>
        <p:spPr>
          <a:xfrm>
            <a:off x="457200" y="384048"/>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4" name="Text 2"/>
          <p:cNvSpPr txBox="1"/>
          <p:nvPr/>
        </p:nvSpPr>
        <p:spPr>
          <a:xfrm>
            <a:off x="1188720" y="292608"/>
            <a:ext cx="9692640" cy="457200"/>
          </a:xfrm>
          <a:prstGeom prst="rect">
            <a:avLst/>
          </a:prstGeom>
          <a:noFill/>
          <a:ln/>
        </p:spPr>
        <p:txBody>
          <a:bodyPr wrap="square" lIns="0" tIns="0" rIns="0" bIns="0" rtlCol="0" anchor="ctr"/>
          <a:lstStyle/>
          <a:p>
            <a:pPr marL="0" indent="0">
              <a:buNone/>
            </a:pPr>
            <a:r>
              <a:rPr lang="en-US" sz="3000" b="1" dirty="0" err="1">
                <a:solidFill>
                  <a:srgbClr val="12302B"/>
                </a:solidFill>
                <a:latin typeface="Cambria" pitchFamily="34" charset="0"/>
                <a:ea typeface="Cambria" pitchFamily="34" charset="-122"/>
                <a:cs typeface="Cambria" pitchFamily="34" charset="-120"/>
              </a:rPr>
              <a:t>Konsep</a:t>
            </a:r>
            <a:endParaRPr lang="en-US" sz="3000" dirty="0"/>
          </a:p>
        </p:txBody>
      </p:sp>
      <p:sp>
        <p:nvSpPr>
          <p:cNvPr id="5" name="Text 3"/>
          <p:cNvSpPr txBox="1"/>
          <p:nvPr/>
        </p:nvSpPr>
        <p:spPr>
          <a:xfrm>
            <a:off x="1188720" y="768096"/>
            <a:ext cx="10424160" cy="292608"/>
          </a:xfrm>
          <a:prstGeom prst="rect">
            <a:avLst/>
          </a:prstGeom>
          <a:noFill/>
          <a:ln/>
        </p:spPr>
        <p:txBody>
          <a:bodyPr wrap="square" lIns="0" tIns="0" rIns="0" bIns="0" rtlCol="0" anchor="t"/>
          <a:lstStyle/>
          <a:p>
            <a:pPr marL="0" indent="0">
              <a:buNone/>
            </a:pPr>
            <a:r>
              <a:rPr lang="en-US" sz="1400" i="1" dirty="0">
                <a:ln w="0"/>
                <a:effectLst>
                  <a:outerShdw blurRad="38100" dist="19050" dir="2700000" algn="tl" rotWithShape="0">
                    <a:schemeClr val="dk1">
                      <a:alpha val="40000"/>
                    </a:schemeClr>
                  </a:outerShdw>
                </a:effectLst>
                <a:latin typeface="Calibri" pitchFamily="34" charset="0"/>
                <a:ea typeface="Calibri" pitchFamily="34" charset="-122"/>
                <a:cs typeface="Calibri" pitchFamily="34" charset="-120"/>
              </a:rPr>
              <a:t>Dari paradigma linear ke desain sirkular: memperlambat, menutup, mempersempit aliran</a:t>
            </a:r>
            <a:endParaRPr lang="en-US" sz="1400" dirty="0">
              <a:ln w="0"/>
              <a:effectLst>
                <a:outerShdw blurRad="38100" dist="19050" dir="2700000" algn="tl" rotWithShape="0">
                  <a:schemeClr val="dk1">
                    <a:alpha val="40000"/>
                  </a:schemeClr>
                </a:outerShdw>
              </a:effectLst>
            </a:endParaRPr>
          </a:p>
        </p:txBody>
      </p:sp>
      <p:sp>
        <p:nvSpPr>
          <p:cNvPr id="6" name="Shape 4"/>
          <p:cNvSpPr/>
          <p:nvPr/>
        </p:nvSpPr>
        <p:spPr>
          <a:xfrm>
            <a:off x="457200" y="1280160"/>
            <a:ext cx="3840480" cy="4937760"/>
          </a:xfrm>
          <a:prstGeom prst="roundRect">
            <a:avLst>
              <a:gd name="adj" fmla="val 2381"/>
            </a:avLst>
          </a:prstGeom>
          <a:solidFill>
            <a:srgbClr val="FFFFFF"/>
          </a:solidFill>
          <a:ln w="9525">
            <a:solidFill>
              <a:srgbClr val="D5E2DD"/>
            </a:solidFill>
            <a:prstDash val="solid"/>
          </a:ln>
          <a:effectLst>
            <a:outerShdw blurRad="76200" dist="25400" dir="5400000" algn="bl" rotWithShape="0">
              <a:srgbClr val="000000">
                <a:alpha val="12000"/>
              </a:srgbClr>
            </a:outerShdw>
          </a:effectLst>
        </p:spPr>
      </p:sp>
      <p:sp>
        <p:nvSpPr>
          <p:cNvPr id="7" name="Text 5"/>
          <p:cNvSpPr txBox="1"/>
          <p:nvPr/>
        </p:nvSpPr>
        <p:spPr>
          <a:xfrm>
            <a:off x="685800" y="1417320"/>
            <a:ext cx="3383280" cy="320040"/>
          </a:xfrm>
          <a:prstGeom prst="rect">
            <a:avLst/>
          </a:prstGeom>
          <a:noFill/>
          <a:ln/>
        </p:spPr>
        <p:txBody>
          <a:bodyPr wrap="square" lIns="0" tIns="0" rIns="0" bIns="0" rtlCol="0" anchor="t"/>
          <a:lstStyle/>
          <a:p>
            <a:pPr marL="0" indent="0">
              <a:buNone/>
            </a:pPr>
            <a:r>
              <a:rPr lang="en-US" sz="2000" b="1" dirty="0">
                <a:solidFill>
                  <a:srgbClr val="1F6F5C"/>
                </a:solidFill>
                <a:latin typeface="Cambria" pitchFamily="34" charset="0"/>
                <a:ea typeface="Cambria" pitchFamily="34" charset="-122"/>
                <a:cs typeface="Cambria" pitchFamily="34" charset="-120"/>
              </a:rPr>
              <a:t>Definisi konsep</a:t>
            </a:r>
            <a:endParaRPr lang="en-US" sz="2000" dirty="0"/>
          </a:p>
        </p:txBody>
      </p:sp>
      <p:sp>
        <p:nvSpPr>
          <p:cNvPr id="8" name="Text 6"/>
          <p:cNvSpPr txBox="1"/>
          <p:nvPr/>
        </p:nvSpPr>
        <p:spPr>
          <a:xfrm>
            <a:off x="685800" y="1828800"/>
            <a:ext cx="3383280" cy="1828800"/>
          </a:xfrm>
          <a:prstGeom prst="rect">
            <a:avLst/>
          </a:prstGeom>
          <a:noFill/>
          <a:ln/>
        </p:spPr>
        <p:txBody>
          <a:bodyPr wrap="square" lIns="0" tIns="0" rIns="0" bIns="0" rtlCol="0" anchor="t"/>
          <a:lstStyle/>
          <a:p>
            <a:pPr marL="0" indent="0">
              <a:buNone/>
            </a:pPr>
            <a:r>
              <a:rPr lang="en-US" sz="1400" dirty="0">
                <a:solidFill>
                  <a:srgbClr val="1B2B2A"/>
                </a:solidFill>
                <a:latin typeface="Calibri" pitchFamily="34" charset="0"/>
                <a:ea typeface="Calibri" pitchFamily="34" charset="-122"/>
                <a:cs typeface="Calibri" pitchFamily="34" charset="-120"/>
              </a:rPr>
              <a:t>Desain sirkular memandang desain sebagai keputusan sistem yang menentukan aliran nilai dari produksi sampai pemulihan, berbeda dari paradigma linear </a:t>
            </a:r>
            <a:r>
              <a:rPr lang="en-US" sz="1400" dirty="0" err="1">
                <a:solidFill>
                  <a:srgbClr val="1B2B2A"/>
                </a:solidFill>
                <a:latin typeface="Calibri" pitchFamily="34" charset="0"/>
                <a:ea typeface="Calibri" pitchFamily="34" charset="-122"/>
                <a:cs typeface="Calibri" pitchFamily="34" charset="-120"/>
              </a:rPr>
              <a:t>ambil</a:t>
            </a:r>
            <a:r>
              <a:rPr lang="en-US" sz="1400" dirty="0">
                <a:solidFill>
                  <a:srgbClr val="1B2B2A"/>
                </a:solidFill>
                <a:latin typeface="Calibri" pitchFamily="34" charset="0"/>
                <a:ea typeface="Calibri" pitchFamily="34" charset="-122"/>
                <a:cs typeface="Calibri" pitchFamily="34" charset="-120"/>
              </a:rPr>
              <a:t>, buat, buang; </a:t>
            </a:r>
            <a:r>
              <a:rPr lang="id-ID" sz="1400" dirty="0">
                <a:solidFill>
                  <a:srgbClr val="1B2B2A"/>
                </a:solidFill>
                <a:latin typeface="Calibri" pitchFamily="34" charset="0"/>
                <a:ea typeface="Calibri" pitchFamily="34" charset="-122"/>
                <a:cs typeface="Calibri" pitchFamily="34" charset="-120"/>
              </a:rPr>
              <a:t>(</a:t>
            </a:r>
            <a:r>
              <a:rPr lang="en-US" sz="1400" dirty="0">
                <a:solidFill>
                  <a:srgbClr val="1B2B2A"/>
                </a:solidFill>
                <a:latin typeface="Calibri" pitchFamily="34" charset="0"/>
                <a:ea typeface="Calibri" pitchFamily="34" charset="-122"/>
                <a:cs typeface="Calibri" pitchFamily="34" charset="-120"/>
              </a:rPr>
              <a:t>take-make-dispose).</a:t>
            </a:r>
            <a:endParaRPr lang="en-US" sz="1400" dirty="0"/>
          </a:p>
        </p:txBody>
      </p:sp>
      <p:sp>
        <p:nvSpPr>
          <p:cNvPr id="9" name="Shape 7"/>
          <p:cNvSpPr/>
          <p:nvPr/>
        </p:nvSpPr>
        <p:spPr>
          <a:xfrm>
            <a:off x="685800" y="3749040"/>
            <a:ext cx="3383280" cy="658368"/>
          </a:xfrm>
          <a:prstGeom prst="roundRect">
            <a:avLst>
              <a:gd name="adj" fmla="val 11111"/>
            </a:avLst>
          </a:prstGeom>
          <a:solidFill>
            <a:srgbClr val="DCEBE5"/>
          </a:solidFill>
          <a:ln w="12700">
            <a:solidFill>
              <a:srgbClr val="DCEBE5"/>
            </a:solidFill>
            <a:prstDash val="solid"/>
          </a:ln>
        </p:spPr>
      </p:sp>
      <p:sp>
        <p:nvSpPr>
          <p:cNvPr id="10" name="Text 8"/>
          <p:cNvSpPr txBox="1"/>
          <p:nvPr/>
        </p:nvSpPr>
        <p:spPr>
          <a:xfrm>
            <a:off x="822960" y="3794760"/>
            <a:ext cx="3200400" cy="566928"/>
          </a:xfrm>
          <a:prstGeom prst="rect">
            <a:avLst/>
          </a:prstGeom>
          <a:noFill/>
          <a:ln/>
        </p:spPr>
        <p:txBody>
          <a:bodyPr wrap="square" lIns="0" tIns="0" rIns="0" bIns="0" rtlCol="0" anchor="ctr"/>
          <a:lstStyle/>
          <a:p>
            <a:pPr marL="0" indent="0">
              <a:buNone/>
            </a:pPr>
            <a:r>
              <a:rPr lang="en-US" sz="1400" b="1" dirty="0">
                <a:solidFill>
                  <a:srgbClr val="12302B"/>
                </a:solidFill>
                <a:latin typeface="Calibri" pitchFamily="34" charset="0"/>
                <a:ea typeface="Calibri" pitchFamily="34" charset="-122"/>
                <a:cs typeface="Calibri" pitchFamily="34" charset="-120"/>
              </a:rPr>
              <a:t>Memperlambat (slowing)</a:t>
            </a:r>
            <a:endParaRPr lang="en-US" sz="1400" dirty="0"/>
          </a:p>
          <a:p>
            <a:pPr marL="0" indent="0">
              <a:buNone/>
            </a:pPr>
            <a:r>
              <a:rPr lang="en-US" sz="1200" dirty="0">
                <a:solidFill>
                  <a:srgbClr val="1B2B2A"/>
                </a:solidFill>
                <a:latin typeface="Calibri" pitchFamily="34" charset="0"/>
                <a:ea typeface="Calibri" pitchFamily="34" charset="-122"/>
                <a:cs typeface="Calibri" pitchFamily="34" charset="-120"/>
              </a:rPr>
              <a:t>ketahanan, reparasi, modularitas</a:t>
            </a:r>
            <a:endParaRPr lang="en-US" sz="1400" dirty="0"/>
          </a:p>
        </p:txBody>
      </p:sp>
      <p:sp>
        <p:nvSpPr>
          <p:cNvPr id="11" name="Shape 9"/>
          <p:cNvSpPr/>
          <p:nvPr/>
        </p:nvSpPr>
        <p:spPr>
          <a:xfrm>
            <a:off x="685800" y="4526280"/>
            <a:ext cx="3383280" cy="658368"/>
          </a:xfrm>
          <a:prstGeom prst="roundRect">
            <a:avLst>
              <a:gd name="adj" fmla="val 11111"/>
            </a:avLst>
          </a:prstGeom>
          <a:solidFill>
            <a:srgbClr val="DCEBE5"/>
          </a:solidFill>
          <a:ln w="12700">
            <a:solidFill>
              <a:srgbClr val="DCEBE5"/>
            </a:solidFill>
            <a:prstDash val="solid"/>
          </a:ln>
        </p:spPr>
      </p:sp>
      <p:sp>
        <p:nvSpPr>
          <p:cNvPr id="12" name="Text 10"/>
          <p:cNvSpPr txBox="1"/>
          <p:nvPr/>
        </p:nvSpPr>
        <p:spPr>
          <a:xfrm>
            <a:off x="822960" y="4572000"/>
            <a:ext cx="3200400" cy="566928"/>
          </a:xfrm>
          <a:prstGeom prst="rect">
            <a:avLst/>
          </a:prstGeom>
          <a:noFill/>
          <a:ln/>
        </p:spPr>
        <p:txBody>
          <a:bodyPr wrap="square" lIns="0" tIns="0" rIns="0" bIns="0" rtlCol="0" anchor="ctr"/>
          <a:lstStyle/>
          <a:p>
            <a:pPr marL="0" indent="0">
              <a:buNone/>
            </a:pPr>
            <a:r>
              <a:rPr lang="en-US" sz="1400" b="1" dirty="0">
                <a:solidFill>
                  <a:srgbClr val="12302B"/>
                </a:solidFill>
                <a:latin typeface="Calibri" pitchFamily="34" charset="0"/>
                <a:ea typeface="Calibri" pitchFamily="34" charset="-122"/>
                <a:cs typeface="Calibri" pitchFamily="34" charset="-120"/>
              </a:rPr>
              <a:t>Menutup (closing)</a:t>
            </a:r>
            <a:endParaRPr lang="en-US" sz="1400" dirty="0"/>
          </a:p>
          <a:p>
            <a:pPr marL="0" indent="0">
              <a:buNone/>
            </a:pPr>
            <a:r>
              <a:rPr lang="en-US" sz="1200" dirty="0">
                <a:solidFill>
                  <a:srgbClr val="1B2B2A"/>
                </a:solidFill>
                <a:latin typeface="Calibri" pitchFamily="34" charset="0"/>
                <a:ea typeface="Calibri" pitchFamily="34" charset="-122"/>
                <a:cs typeface="Calibri" pitchFamily="34" charset="-120"/>
              </a:rPr>
              <a:t>take-back, perbaikan ulang, daur ulang</a:t>
            </a:r>
            <a:endParaRPr lang="en-US" sz="1400" dirty="0"/>
          </a:p>
        </p:txBody>
      </p:sp>
      <p:sp>
        <p:nvSpPr>
          <p:cNvPr id="13" name="Shape 11"/>
          <p:cNvSpPr/>
          <p:nvPr/>
        </p:nvSpPr>
        <p:spPr>
          <a:xfrm>
            <a:off x="685800" y="5303520"/>
            <a:ext cx="3383280" cy="658368"/>
          </a:xfrm>
          <a:prstGeom prst="roundRect">
            <a:avLst>
              <a:gd name="adj" fmla="val 11111"/>
            </a:avLst>
          </a:prstGeom>
          <a:solidFill>
            <a:srgbClr val="DCEBE5"/>
          </a:solidFill>
          <a:ln w="12700">
            <a:solidFill>
              <a:srgbClr val="DCEBE5"/>
            </a:solidFill>
            <a:prstDash val="solid"/>
          </a:ln>
        </p:spPr>
      </p:sp>
      <p:sp>
        <p:nvSpPr>
          <p:cNvPr id="14" name="Text 12"/>
          <p:cNvSpPr txBox="1"/>
          <p:nvPr/>
        </p:nvSpPr>
        <p:spPr>
          <a:xfrm>
            <a:off x="822960" y="5349240"/>
            <a:ext cx="3200400" cy="566928"/>
          </a:xfrm>
          <a:prstGeom prst="rect">
            <a:avLst/>
          </a:prstGeom>
          <a:noFill/>
          <a:ln/>
        </p:spPr>
        <p:txBody>
          <a:bodyPr wrap="square" lIns="0" tIns="0" rIns="0" bIns="0" rtlCol="0" anchor="ctr"/>
          <a:lstStyle/>
          <a:p>
            <a:pPr marL="0" indent="0">
              <a:buNone/>
            </a:pPr>
            <a:r>
              <a:rPr lang="en-US" sz="1400" b="1" dirty="0">
                <a:solidFill>
                  <a:srgbClr val="12302B"/>
                </a:solidFill>
                <a:latin typeface="Calibri" pitchFamily="34" charset="0"/>
                <a:ea typeface="Calibri" pitchFamily="34" charset="-122"/>
                <a:cs typeface="Calibri" pitchFamily="34" charset="-120"/>
              </a:rPr>
              <a:t>Mempersempit (narrowing)</a:t>
            </a:r>
            <a:endParaRPr lang="en-US" sz="1400" dirty="0"/>
          </a:p>
          <a:p>
            <a:pPr marL="0" indent="0">
              <a:buNone/>
            </a:pPr>
            <a:r>
              <a:rPr lang="en-US" sz="1200" dirty="0">
                <a:solidFill>
                  <a:srgbClr val="1B2B2A"/>
                </a:solidFill>
                <a:latin typeface="Calibri" pitchFamily="34" charset="0"/>
                <a:ea typeface="Calibri" pitchFamily="34" charset="-122"/>
                <a:cs typeface="Calibri" pitchFamily="34" charset="-120"/>
              </a:rPr>
              <a:t>efisiensi bahan dan energi</a:t>
            </a:r>
            <a:endParaRPr lang="en-US" sz="1400" dirty="0"/>
          </a:p>
        </p:txBody>
      </p:sp>
      <p:sp>
        <p:nvSpPr>
          <p:cNvPr id="15" name="Text 13"/>
          <p:cNvSpPr txBox="1"/>
          <p:nvPr/>
        </p:nvSpPr>
        <p:spPr>
          <a:xfrm>
            <a:off x="911629" y="3172137"/>
            <a:ext cx="3111731" cy="502920"/>
          </a:xfrm>
          <a:prstGeom prst="rect">
            <a:avLst/>
          </a:prstGeom>
          <a:noFill/>
          <a:ln/>
        </p:spPr>
        <p:txBody>
          <a:bodyPr wrap="square" lIns="0" tIns="0" rIns="0" bIns="0" rtlCol="0" anchor="t"/>
          <a:lstStyle/>
          <a:p>
            <a:pPr marL="0" indent="0">
              <a:buNone/>
            </a:pPr>
            <a:r>
              <a:rPr lang="en-US" sz="1200" i="1" dirty="0" err="1">
                <a:ln w="0"/>
                <a:effectLst>
                  <a:outerShdw blurRad="38100" dist="19050" dir="2700000" algn="tl" rotWithShape="0">
                    <a:schemeClr val="dk1">
                      <a:alpha val="40000"/>
                    </a:schemeClr>
                  </a:outerShdw>
                </a:effectLst>
                <a:latin typeface="Calibri" pitchFamily="34" charset="0"/>
                <a:ea typeface="Calibri" pitchFamily="34" charset="-122"/>
                <a:cs typeface="Calibri" pitchFamily="34" charset="-120"/>
              </a:rPr>
              <a:t>Bocken</a:t>
            </a:r>
            <a:r>
              <a:rPr lang="en-US" sz="1200" i="1" dirty="0">
                <a:ln w="0"/>
                <a:effectLst>
                  <a:outerShdw blurRad="38100" dist="19050" dir="2700000" algn="tl" rotWithShape="0">
                    <a:schemeClr val="dk1">
                      <a:alpha val="40000"/>
                    </a:schemeClr>
                  </a:outerShdw>
                </a:effectLst>
                <a:latin typeface="Calibri" pitchFamily="34" charset="0"/>
                <a:ea typeface="Calibri" pitchFamily="34" charset="-122"/>
                <a:cs typeface="Calibri" pitchFamily="34" charset="-120"/>
              </a:rPr>
              <a:t> dkk. (2016); </a:t>
            </a:r>
            <a:r>
              <a:rPr lang="en-US" sz="1200" i="1" dirty="0" err="1">
                <a:ln w="0"/>
                <a:effectLst>
                  <a:outerShdw blurRad="38100" dist="19050" dir="2700000" algn="tl" rotWithShape="0">
                    <a:schemeClr val="dk1">
                      <a:alpha val="40000"/>
                    </a:schemeClr>
                  </a:outerShdw>
                </a:effectLst>
                <a:latin typeface="Calibri" pitchFamily="34" charset="0"/>
                <a:ea typeface="Calibri" pitchFamily="34" charset="-122"/>
                <a:cs typeface="Calibri" pitchFamily="34" charset="-120"/>
              </a:rPr>
              <a:t>Geissdoerfer</a:t>
            </a:r>
            <a:r>
              <a:rPr lang="en-US" sz="1200" i="1" dirty="0">
                <a:ln w="0"/>
                <a:effectLst>
                  <a:outerShdw blurRad="38100" dist="19050" dir="2700000" algn="tl" rotWithShape="0">
                    <a:schemeClr val="dk1">
                      <a:alpha val="40000"/>
                    </a:schemeClr>
                  </a:outerShdw>
                </a:effectLst>
                <a:latin typeface="Calibri" pitchFamily="34" charset="0"/>
                <a:ea typeface="Calibri" pitchFamily="34" charset="-122"/>
                <a:cs typeface="Calibri" pitchFamily="34" charset="-120"/>
              </a:rPr>
              <a:t> dkk. (2017); den Hollander </a:t>
            </a:r>
            <a:r>
              <a:rPr lang="en-US" sz="1200" i="1" dirty="0" err="1">
                <a:ln w="0"/>
                <a:effectLst>
                  <a:outerShdw blurRad="38100" dist="19050" dir="2700000" algn="tl" rotWithShape="0">
                    <a:schemeClr val="dk1">
                      <a:alpha val="40000"/>
                    </a:schemeClr>
                  </a:outerShdw>
                </a:effectLst>
                <a:latin typeface="Calibri" pitchFamily="34" charset="0"/>
                <a:ea typeface="Calibri" pitchFamily="34" charset="-122"/>
                <a:cs typeface="Calibri" pitchFamily="34" charset="-120"/>
              </a:rPr>
              <a:t>dkk</a:t>
            </a:r>
            <a:r>
              <a:rPr lang="en-US" sz="1200" i="1" dirty="0">
                <a:ln w="0"/>
                <a:effectLst>
                  <a:outerShdw blurRad="38100" dist="19050" dir="2700000" algn="tl" rotWithShape="0">
                    <a:schemeClr val="dk1">
                      <a:alpha val="40000"/>
                    </a:schemeClr>
                  </a:outerShdw>
                </a:effectLst>
                <a:latin typeface="Calibri" pitchFamily="34" charset="0"/>
                <a:ea typeface="Calibri" pitchFamily="34" charset="-122"/>
                <a:cs typeface="Calibri" pitchFamily="34" charset="-120"/>
              </a:rPr>
              <a:t>. (2017); Tukker (2004); Zink dan Geyer (2017)</a:t>
            </a:r>
            <a:endParaRPr lang="en-US" sz="1200" dirty="0">
              <a:ln w="0"/>
              <a:effectLst>
                <a:outerShdw blurRad="38100" dist="19050" dir="2700000" algn="tl" rotWithShape="0">
                  <a:schemeClr val="dk1">
                    <a:alpha val="40000"/>
                  </a:schemeClr>
                </a:outerShdw>
              </a:effectLst>
            </a:endParaRPr>
          </a:p>
        </p:txBody>
      </p:sp>
      <p:sp>
        <p:nvSpPr>
          <p:cNvPr id="16" name="Text 14"/>
          <p:cNvSpPr txBox="1"/>
          <p:nvPr/>
        </p:nvSpPr>
        <p:spPr>
          <a:xfrm>
            <a:off x="4526280" y="1783080"/>
            <a:ext cx="7223760" cy="365760"/>
          </a:xfrm>
          <a:prstGeom prst="rect">
            <a:avLst/>
          </a:prstGeom>
          <a:noFill/>
          <a:ln/>
        </p:spPr>
        <p:txBody>
          <a:bodyPr wrap="square" lIns="0" tIns="0" rIns="0" bIns="0" rtlCol="0" anchor="t"/>
          <a:lstStyle/>
          <a:p>
            <a:pPr marL="0" indent="0">
              <a:buNone/>
            </a:pPr>
            <a:r>
              <a:rPr lang="en-US" sz="2000" b="1" dirty="0">
                <a:solidFill>
                  <a:srgbClr val="12302B"/>
                </a:solidFill>
                <a:latin typeface="Cambria" pitchFamily="34" charset="0"/>
                <a:ea typeface="Cambria" pitchFamily="34" charset="-122"/>
                <a:cs typeface="Cambria" pitchFamily="34" charset="-120"/>
              </a:rPr>
              <a:t>Indikator implementasi Apple saat ini</a:t>
            </a:r>
            <a:endParaRPr lang="en-US" sz="2000" dirty="0"/>
          </a:p>
        </p:txBody>
      </p:sp>
      <p:sp>
        <p:nvSpPr>
          <p:cNvPr id="17" name="Shape 15"/>
          <p:cNvSpPr/>
          <p:nvPr/>
        </p:nvSpPr>
        <p:spPr>
          <a:xfrm>
            <a:off x="4526280" y="2286000"/>
            <a:ext cx="3520440" cy="1600200"/>
          </a:xfrm>
          <a:prstGeom prst="roundRect">
            <a:avLst>
              <a:gd name="adj" fmla="val 5714"/>
            </a:avLst>
          </a:prstGeom>
          <a:solidFill>
            <a:srgbClr val="FFFFFF"/>
          </a:solidFill>
          <a:ln w="9525">
            <a:solidFill>
              <a:srgbClr val="D5E2DD"/>
            </a:solidFill>
            <a:prstDash val="solid"/>
          </a:ln>
          <a:effectLst>
            <a:outerShdw blurRad="76200" dist="25400" dir="5400000" algn="bl" rotWithShape="0">
              <a:srgbClr val="000000">
                <a:alpha val="12000"/>
              </a:srgbClr>
            </a:outerShdw>
          </a:effectLst>
        </p:spPr>
      </p:sp>
      <p:sp>
        <p:nvSpPr>
          <p:cNvPr id="18" name="Text 16"/>
          <p:cNvSpPr txBox="1"/>
          <p:nvPr/>
        </p:nvSpPr>
        <p:spPr>
          <a:xfrm>
            <a:off x="4754880" y="2423160"/>
            <a:ext cx="3108960" cy="731520"/>
          </a:xfrm>
          <a:prstGeom prst="rect">
            <a:avLst/>
          </a:prstGeom>
          <a:noFill/>
          <a:ln/>
        </p:spPr>
        <p:txBody>
          <a:bodyPr wrap="square" lIns="0" tIns="0" rIns="0" bIns="0" rtlCol="0" anchor="t"/>
          <a:lstStyle/>
          <a:p>
            <a:pPr marL="0" indent="0">
              <a:buNone/>
            </a:pPr>
            <a:r>
              <a:rPr lang="en-US" sz="4000" b="1" dirty="0">
                <a:solidFill>
                  <a:srgbClr val="1F6F5C"/>
                </a:solidFill>
                <a:latin typeface="Cambria" pitchFamily="34" charset="0"/>
                <a:ea typeface="Cambria" pitchFamily="34" charset="-122"/>
                <a:cs typeface="Cambria" pitchFamily="34" charset="-120"/>
              </a:rPr>
              <a:t>85%</a:t>
            </a:r>
            <a:endParaRPr lang="en-US" sz="4000" dirty="0"/>
          </a:p>
        </p:txBody>
      </p:sp>
      <p:sp>
        <p:nvSpPr>
          <p:cNvPr id="19" name="Text 17"/>
          <p:cNvSpPr txBox="1"/>
          <p:nvPr/>
        </p:nvSpPr>
        <p:spPr>
          <a:xfrm>
            <a:off x="4754880" y="3154680"/>
            <a:ext cx="3108960" cy="640080"/>
          </a:xfrm>
          <a:prstGeom prst="rect">
            <a:avLst/>
          </a:prstGeom>
          <a:noFill/>
          <a:ln/>
        </p:spPr>
        <p:txBody>
          <a:bodyPr wrap="square" lIns="0" tIns="0" rIns="0" bIns="0" rtlCol="0" anchor="t"/>
          <a:lstStyle/>
          <a:p>
            <a:pPr marL="0" indent="0">
              <a:buNone/>
            </a:pPr>
            <a:r>
              <a:rPr lang="en-US" sz="1400" dirty="0">
                <a:solidFill>
                  <a:srgbClr val="1B2B2A"/>
                </a:solidFill>
                <a:latin typeface="Calibri" pitchFamily="34" charset="0"/>
                <a:ea typeface="Calibri" pitchFamily="34" charset="-122"/>
                <a:cs typeface="Calibri" pitchFamily="34" charset="-120"/>
              </a:rPr>
              <a:t>Aluminium daur ulang pada casing (Apple, 2024)</a:t>
            </a:r>
            <a:endParaRPr lang="en-US" sz="1400" dirty="0"/>
          </a:p>
        </p:txBody>
      </p:sp>
      <p:sp>
        <p:nvSpPr>
          <p:cNvPr id="20" name="Shape 18"/>
          <p:cNvSpPr/>
          <p:nvPr/>
        </p:nvSpPr>
        <p:spPr>
          <a:xfrm>
            <a:off x="8183880" y="2286000"/>
            <a:ext cx="3520440" cy="1600200"/>
          </a:xfrm>
          <a:prstGeom prst="roundRect">
            <a:avLst>
              <a:gd name="adj" fmla="val 5714"/>
            </a:avLst>
          </a:prstGeom>
          <a:solidFill>
            <a:srgbClr val="FFFFFF"/>
          </a:solidFill>
          <a:ln w="9525">
            <a:solidFill>
              <a:srgbClr val="D5E2DD"/>
            </a:solidFill>
            <a:prstDash val="solid"/>
          </a:ln>
          <a:effectLst>
            <a:outerShdw blurRad="76200" dist="25400" dir="5400000" algn="bl" rotWithShape="0">
              <a:srgbClr val="000000">
                <a:alpha val="12000"/>
              </a:srgbClr>
            </a:outerShdw>
          </a:effectLst>
        </p:spPr>
      </p:sp>
      <p:sp>
        <p:nvSpPr>
          <p:cNvPr id="21" name="Text 19"/>
          <p:cNvSpPr txBox="1"/>
          <p:nvPr/>
        </p:nvSpPr>
        <p:spPr>
          <a:xfrm>
            <a:off x="8412480" y="2423160"/>
            <a:ext cx="3108960" cy="731520"/>
          </a:xfrm>
          <a:prstGeom prst="rect">
            <a:avLst/>
          </a:prstGeom>
          <a:noFill/>
          <a:ln/>
        </p:spPr>
        <p:txBody>
          <a:bodyPr wrap="square" lIns="0" tIns="0" rIns="0" bIns="0" rtlCol="0" anchor="t"/>
          <a:lstStyle/>
          <a:p>
            <a:pPr marL="0" indent="0">
              <a:buNone/>
            </a:pPr>
            <a:r>
              <a:rPr lang="en-US" sz="4000" b="1" dirty="0">
                <a:solidFill>
                  <a:srgbClr val="1F6F5C"/>
                </a:solidFill>
                <a:latin typeface="Cambria" pitchFamily="34" charset="0"/>
                <a:ea typeface="Cambria" pitchFamily="34" charset="-122"/>
                <a:cs typeface="Cambria" pitchFamily="34" charset="-120"/>
              </a:rPr>
              <a:t>100%</a:t>
            </a:r>
            <a:endParaRPr lang="en-US" sz="4000" dirty="0"/>
          </a:p>
        </p:txBody>
      </p:sp>
      <p:sp>
        <p:nvSpPr>
          <p:cNvPr id="22" name="Text 20"/>
          <p:cNvSpPr txBox="1"/>
          <p:nvPr/>
        </p:nvSpPr>
        <p:spPr>
          <a:xfrm>
            <a:off x="8412480" y="3154680"/>
            <a:ext cx="3108960" cy="640080"/>
          </a:xfrm>
          <a:prstGeom prst="rect">
            <a:avLst/>
          </a:prstGeom>
          <a:noFill/>
          <a:ln/>
        </p:spPr>
        <p:txBody>
          <a:bodyPr wrap="square" lIns="0" tIns="0" rIns="0" bIns="0" rtlCol="0" anchor="t"/>
          <a:lstStyle/>
          <a:p>
            <a:pPr marL="0" indent="0">
              <a:buNone/>
            </a:pPr>
            <a:r>
              <a:rPr lang="en-US" sz="1400" dirty="0">
                <a:solidFill>
                  <a:srgbClr val="1B2B2A"/>
                </a:solidFill>
                <a:latin typeface="Calibri" pitchFamily="34" charset="0"/>
                <a:ea typeface="Calibri" pitchFamily="34" charset="-122"/>
                <a:cs typeface="Calibri" pitchFamily="34" charset="-120"/>
              </a:rPr>
              <a:t>Kobalt daur ulang pada baterai rancangan Apple (Apple, 2026)</a:t>
            </a:r>
            <a:endParaRPr lang="en-US" sz="1400" dirty="0"/>
          </a:p>
        </p:txBody>
      </p:sp>
      <p:sp>
        <p:nvSpPr>
          <p:cNvPr id="23" name="Shape 21"/>
          <p:cNvSpPr/>
          <p:nvPr/>
        </p:nvSpPr>
        <p:spPr>
          <a:xfrm>
            <a:off x="4526280" y="4069080"/>
            <a:ext cx="3520440" cy="1600200"/>
          </a:xfrm>
          <a:prstGeom prst="roundRect">
            <a:avLst>
              <a:gd name="adj" fmla="val 5714"/>
            </a:avLst>
          </a:prstGeom>
          <a:solidFill>
            <a:srgbClr val="FFFFFF"/>
          </a:solidFill>
          <a:ln w="9525">
            <a:solidFill>
              <a:srgbClr val="D5E2DD"/>
            </a:solidFill>
            <a:prstDash val="solid"/>
          </a:ln>
          <a:effectLst>
            <a:outerShdw blurRad="76200" dist="25400" dir="5400000" algn="bl" rotWithShape="0">
              <a:srgbClr val="000000">
                <a:alpha val="12000"/>
              </a:srgbClr>
            </a:outerShdw>
          </a:effectLst>
        </p:spPr>
      </p:sp>
      <p:sp>
        <p:nvSpPr>
          <p:cNvPr id="24" name="Text 22"/>
          <p:cNvSpPr txBox="1"/>
          <p:nvPr/>
        </p:nvSpPr>
        <p:spPr>
          <a:xfrm>
            <a:off x="4754880" y="4206240"/>
            <a:ext cx="3108960" cy="731520"/>
          </a:xfrm>
          <a:prstGeom prst="rect">
            <a:avLst/>
          </a:prstGeom>
          <a:noFill/>
          <a:ln/>
        </p:spPr>
        <p:txBody>
          <a:bodyPr wrap="square" lIns="0" tIns="0" rIns="0" bIns="0" rtlCol="0" anchor="t"/>
          <a:lstStyle/>
          <a:p>
            <a:pPr marL="0" indent="0">
              <a:buNone/>
            </a:pPr>
            <a:r>
              <a:rPr lang="en-US" sz="4000" b="1" dirty="0">
                <a:solidFill>
                  <a:srgbClr val="B5651D"/>
                </a:solidFill>
                <a:latin typeface="Cambria" pitchFamily="34" charset="0"/>
                <a:ea typeface="Cambria" pitchFamily="34" charset="-122"/>
                <a:cs typeface="Cambria" pitchFamily="34" charset="-120"/>
              </a:rPr>
              <a:t>±90 dtk</a:t>
            </a:r>
            <a:endParaRPr lang="en-US" sz="4000" dirty="0"/>
          </a:p>
        </p:txBody>
      </p:sp>
      <p:sp>
        <p:nvSpPr>
          <p:cNvPr id="25" name="Text 23"/>
          <p:cNvSpPr txBox="1"/>
          <p:nvPr/>
        </p:nvSpPr>
        <p:spPr>
          <a:xfrm>
            <a:off x="4754880" y="4937760"/>
            <a:ext cx="3108960" cy="640080"/>
          </a:xfrm>
          <a:prstGeom prst="rect">
            <a:avLst/>
          </a:prstGeom>
          <a:noFill/>
          <a:ln/>
        </p:spPr>
        <p:txBody>
          <a:bodyPr wrap="square" lIns="0" tIns="0" rIns="0" bIns="0" rtlCol="0" anchor="t"/>
          <a:lstStyle/>
          <a:p>
            <a:pPr marL="0" indent="0">
              <a:buNone/>
            </a:pPr>
            <a:r>
              <a:rPr lang="en-US" sz="1400" dirty="0">
                <a:solidFill>
                  <a:srgbClr val="1B2B2A"/>
                </a:solidFill>
                <a:latin typeface="Calibri" pitchFamily="34" charset="0"/>
                <a:ea typeface="Calibri" pitchFamily="34" charset="-122"/>
                <a:cs typeface="Calibri" pitchFamily="34" charset="-120"/>
              </a:rPr>
              <a:t>Pelepasan perekat baterai dengan arus listrik (iPhone 16; panduan reparasi Apple)</a:t>
            </a:r>
            <a:endParaRPr lang="en-US" sz="1400" dirty="0"/>
          </a:p>
        </p:txBody>
      </p:sp>
      <p:sp>
        <p:nvSpPr>
          <p:cNvPr id="26" name="Shape 24"/>
          <p:cNvSpPr/>
          <p:nvPr/>
        </p:nvSpPr>
        <p:spPr>
          <a:xfrm>
            <a:off x="8183880" y="4069080"/>
            <a:ext cx="3520440" cy="1600200"/>
          </a:xfrm>
          <a:prstGeom prst="roundRect">
            <a:avLst>
              <a:gd name="adj" fmla="val 5714"/>
            </a:avLst>
          </a:prstGeom>
          <a:solidFill>
            <a:srgbClr val="FFFFFF"/>
          </a:solidFill>
          <a:ln w="9525">
            <a:solidFill>
              <a:srgbClr val="D5E2DD"/>
            </a:solidFill>
            <a:prstDash val="solid"/>
          </a:ln>
          <a:effectLst>
            <a:outerShdw blurRad="76200" dist="25400" dir="5400000" algn="bl" rotWithShape="0">
              <a:srgbClr val="000000">
                <a:alpha val="12000"/>
              </a:srgbClr>
            </a:outerShdw>
          </a:effectLst>
        </p:spPr>
      </p:sp>
      <p:sp>
        <p:nvSpPr>
          <p:cNvPr id="27" name="Text 25"/>
          <p:cNvSpPr txBox="1"/>
          <p:nvPr/>
        </p:nvSpPr>
        <p:spPr>
          <a:xfrm>
            <a:off x="8412480" y="4206240"/>
            <a:ext cx="3108960" cy="731520"/>
          </a:xfrm>
          <a:prstGeom prst="rect">
            <a:avLst/>
          </a:prstGeom>
          <a:noFill/>
          <a:ln/>
        </p:spPr>
        <p:txBody>
          <a:bodyPr wrap="square" lIns="0" tIns="0" rIns="0" bIns="0" rtlCol="0" anchor="t"/>
          <a:lstStyle/>
          <a:p>
            <a:pPr marL="0" indent="0">
              <a:buNone/>
            </a:pPr>
            <a:r>
              <a:rPr lang="en-US" sz="4000" b="1" dirty="0">
                <a:solidFill>
                  <a:srgbClr val="1F6F5C"/>
                </a:solidFill>
                <a:latin typeface="Cambria" pitchFamily="34" charset="0"/>
                <a:ea typeface="Cambria" pitchFamily="34" charset="-122"/>
                <a:cs typeface="Cambria" pitchFamily="34" charset="-120"/>
              </a:rPr>
              <a:t>1.000</a:t>
            </a:r>
            <a:endParaRPr lang="en-US" sz="4000" dirty="0"/>
          </a:p>
        </p:txBody>
      </p:sp>
      <p:sp>
        <p:nvSpPr>
          <p:cNvPr id="28" name="Text 26"/>
          <p:cNvSpPr txBox="1"/>
          <p:nvPr/>
        </p:nvSpPr>
        <p:spPr>
          <a:xfrm>
            <a:off x="8412480" y="4937760"/>
            <a:ext cx="3108960" cy="640080"/>
          </a:xfrm>
          <a:prstGeom prst="rect">
            <a:avLst/>
          </a:prstGeom>
          <a:noFill/>
          <a:ln/>
        </p:spPr>
        <p:txBody>
          <a:bodyPr wrap="square" lIns="0" tIns="0" rIns="0" bIns="0" rtlCol="0" anchor="t"/>
          <a:lstStyle/>
          <a:p>
            <a:pPr marL="0" indent="0">
              <a:buNone/>
            </a:pPr>
            <a:r>
              <a:rPr lang="en-US" sz="1400" dirty="0">
                <a:solidFill>
                  <a:srgbClr val="1B2B2A"/>
                </a:solidFill>
                <a:latin typeface="Calibri" pitchFamily="34" charset="0"/>
                <a:ea typeface="Calibri" pitchFamily="34" charset="-122"/>
                <a:cs typeface="Calibri" pitchFamily="34" charset="-120"/>
              </a:rPr>
              <a:t>Siklus baterai pada kapasitas 80% (klaim Apple; minimum UE 800, </a:t>
            </a:r>
            <a:r>
              <a:rPr lang="en-US" sz="1400" dirty="0" err="1">
                <a:solidFill>
                  <a:srgbClr val="1B2B2A"/>
                </a:solidFill>
                <a:latin typeface="Calibri" pitchFamily="34" charset="0"/>
                <a:ea typeface="Calibri" pitchFamily="34" charset="-122"/>
                <a:cs typeface="Calibri" pitchFamily="34" charset="-120"/>
              </a:rPr>
              <a:t>Reg. 2023/1670</a:t>
            </a:r>
            <a:r>
              <a:rPr lang="en-US" sz="1400" dirty="0">
                <a:solidFill>
                  <a:srgbClr val="1B2B2A"/>
                </a:solidFill>
                <a:latin typeface="Calibri" pitchFamily="34" charset="0"/>
                <a:ea typeface="Calibri" pitchFamily="34" charset="-122"/>
                <a:cs typeface="Calibri" pitchFamily="34" charset="-120"/>
              </a:rPr>
              <a:t> UE)</a:t>
            </a:r>
            <a:endParaRPr lang="en-US" sz="1400" dirty="0"/>
          </a:p>
        </p:txBody>
      </p:sp>
      <p:sp>
        <p:nvSpPr>
          <p:cNvPr id="29" name="Text 27"/>
          <p:cNvSpPr txBox="1"/>
          <p:nvPr/>
        </p:nvSpPr>
        <p:spPr>
          <a:xfrm>
            <a:off x="4526280" y="5897880"/>
            <a:ext cx="7223760" cy="320040"/>
          </a:xfrm>
          <a:prstGeom prst="rect">
            <a:avLst/>
          </a:prstGeom>
          <a:noFill/>
          <a:ln/>
        </p:spPr>
        <p:txBody>
          <a:bodyPr wrap="square" lIns="0" tIns="0" rIns="0" bIns="0" rtlCol="0" anchor="t"/>
          <a:lstStyle/>
          <a:p>
            <a:pPr marL="0" indent="0">
              <a:buNone/>
            </a:pPr>
            <a:r>
              <a:rPr lang="en-US" sz="1200" i="1" dirty="0">
                <a:solidFill>
                  <a:srgbClr val="5B6B68"/>
                </a:solidFill>
                <a:latin typeface="Calibri" pitchFamily="34" charset="0"/>
                <a:ea typeface="Calibri" pitchFamily="34" charset="-122"/>
                <a:cs typeface="Calibri" pitchFamily="34" charset="-120"/>
              </a:rPr>
              <a:t>Catatan: klaim berbasis massa, dilaporkan sendiri oleh Apple (PER 2024; Environmental Progress Report 2026), belum diverifikasi pihak ketiga.</a:t>
            </a:r>
            <a:endParaRPr lang="en-US" sz="1200" dirty="0"/>
          </a:p>
        </p:txBody>
      </p:sp>
      <p:sp>
        <p:nvSpPr>
          <p:cNvPr id="31" name="Text 29"/>
          <p:cNvSpPr txBox="1"/>
          <p:nvPr/>
        </p:nvSpPr>
        <p:spPr>
          <a:xfrm>
            <a:off x="11247120" y="6473952"/>
            <a:ext cx="457200" cy="228600"/>
          </a:xfrm>
          <a:prstGeom prst="rect">
            <a:avLst/>
          </a:prstGeom>
          <a:noFill/>
          <a:ln/>
        </p:spPr>
        <p:txBody>
          <a:bodyPr wrap="square" lIns="0" tIns="0" rIns="0" bIns="0" rtlCol="0" anchor="t"/>
          <a:lstStyle/>
          <a:p>
            <a:pPr marL="0" indent="0" algn="r">
              <a:buNone/>
            </a:pPr>
            <a:r>
              <a:rPr lang="en-US" sz="1000" dirty="0">
                <a:solidFill>
                  <a:srgbClr val="5B6B68"/>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F4F8F6"/>
        </a:solidFill>
        <a:effectLst/>
      </p:bgPr>
    </p:bg>
    <p:spTree>
      <p:nvGrpSpPr>
        <p:cNvPr id="1" name=""/>
        <p:cNvGrpSpPr/>
        <p:nvPr/>
      </p:nvGrpSpPr>
      <p:grpSpPr>
        <a:xfrm>
          <a:off x="0" y="0"/>
          <a:ext cx="0" cy="0"/>
          <a:chOff x="0" y="0"/>
          <a:chExt cx="0" cy="0"/>
        </a:xfrm>
      </p:grpSpPr>
      <p:sp>
        <p:nvSpPr>
          <p:cNvPr id="2" name="badge"/>
          <p:cNvSpPr/>
          <p:nvPr/>
        </p:nvSpPr>
        <p:spPr>
          <a:xfrm>
            <a:off x="457200" y="384048"/>
            <a:ext cx="566928" cy="566928"/>
          </a:xfrm>
          <a:prstGeom prst="ellipse">
            <a:avLst/>
          </a:prstGeom>
          <a:solidFill>
            <a:srgbClr val="1F6F5C"/>
          </a:solidFill>
          <a:ln w="12700">
            <a:solidFill>
              <a:srgbClr val="1F6F5C"/>
            </a:solidFill>
            <a:prstDash val="solid"/>
          </a:ln>
        </p:spPr>
      </p:sp>
      <p:sp>
        <p:nvSpPr>
          <p:cNvPr id="3" name="Text 1"/>
          <p:cNvSpPr txBox="1"/>
          <p:nvPr/>
        </p:nvSpPr>
        <p:spPr>
          <a:xfrm>
            <a:off x="457200" y="384048"/>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2.1</a:t>
            </a:r>
            <a:endParaRPr lang="en-US" sz="2000" dirty="0"/>
          </a:p>
        </p:txBody>
      </p:sp>
      <p:sp>
        <p:nvSpPr>
          <p:cNvPr id="4" name="Text 2"/>
          <p:cNvSpPr txBox="1"/>
          <p:nvPr/>
        </p:nvSpPr>
        <p:spPr>
          <a:xfrm>
            <a:off x="1188720" y="292608"/>
            <a:ext cx="9692640" cy="457200"/>
          </a:xfrm>
          <a:prstGeom prst="rect">
            <a:avLst/>
          </a:prstGeom>
          <a:noFill/>
          <a:ln/>
        </p:spPr>
        <p:txBody>
          <a:bodyPr wrap="square" lIns="0" tIns="0" rIns="0" bIns="0" rtlCol="0" anchor="ctr"/>
          <a:lstStyle/>
          <a:p>
            <a:pPr marL="0" indent="0">
              <a:buNone/>
            </a:pPr>
            <a:r>
              <a:rPr lang="en-US" sz="3000" b="1" dirty="0" err="1">
                <a:solidFill>
                  <a:srgbClr val="12302B"/>
                </a:solidFill>
                <a:latin typeface="Cambria" pitchFamily="34" charset="0"/>
                <a:ea typeface="Cambria" pitchFamily="34" charset="-122"/>
                <a:cs typeface="Cambria" pitchFamily="34" charset="-120"/>
              </a:rPr>
              <a:t>Landasan bukti: laporan Apple, jurnal, regulasi</a:t>
            </a:r>
            <a:endParaRPr lang="en-US" sz="3000" dirty="0"/>
          </a:p>
        </p:txBody>
      </p:sp>
      <p:sp>
        <p:nvSpPr>
          <p:cNvPr id="5" name="Text 3"/>
          <p:cNvSpPr txBox="1"/>
          <p:nvPr/>
        </p:nvSpPr>
        <p:spPr>
          <a:xfrm>
            <a:off x="1188720" y="768096"/>
            <a:ext cx="10424160" cy="292608"/>
          </a:xfrm>
          <a:prstGeom prst="rect">
            <a:avLst/>
          </a:prstGeom>
          <a:noFill/>
          <a:ln/>
        </p:spPr>
        <p:txBody>
          <a:bodyPr wrap="square" lIns="0" tIns="0" rIns="0" bIns="0" rtlCol="0" anchor="t"/>
          <a:lstStyle/>
          <a:p>
            <a:pPr marL="0" indent="0">
              <a:buNone/>
            </a:pPr>
            <a:r>
              <a:rPr lang="en-US" sz="1400" i="1" dirty="0">
                <a:solidFill>
                  <a:srgbClr val="5B6B68"/>
                </a:solidFill>
                <a:latin typeface="Calibri" pitchFamily="34" charset="0"/>
                <a:ea typeface="Calibri" pitchFamily="34" charset="-122"/>
                <a:cs typeface="Calibri" pitchFamily="34" charset="-120"/>
              </a:rPr>
              <a:t>Setiap klaim di audit merujuk ke salah satu sumber berikut; angka dibaca apa adanya, tidak diolah ulang kecuali disebut</a:t>
            </a:r>
            <a:endParaRPr lang="en-US" sz="1400" dirty="0"/>
          </a:p>
        </p:txBody>
      </p:sp>
      <p:sp>
        <p:nvSpPr>
          <p:cNvPr id="30" name="Text 27"/>
          <p:cNvSpPr txBox="1"/>
          <p:nvPr/>
        </p:nvSpPr>
        <p:spPr>
          <a:xfrm>
            <a:off x="11247120" y="6473952"/>
            <a:ext cx="457200" cy="228600"/>
          </a:xfrm>
          <a:prstGeom prst="rect">
            <a:avLst/>
          </a:prstGeom>
          <a:noFill/>
          <a:ln/>
        </p:spPr>
        <p:txBody>
          <a:bodyPr wrap="square" lIns="0" tIns="0" rIns="0" bIns="0" rtlCol="0" anchor="t"/>
          <a:lstStyle/>
          <a:p>
            <a:pPr marL="0" indent="0" algn="r">
              <a:buNone/>
            </a:pPr>
            <a:r>
              <a:rPr lang="en-US" sz="1000" dirty="0">
                <a:solidFill>
                  <a:srgbClr val="5B6B68"/>
                </a:solidFill>
                <a:latin typeface="Calibri" pitchFamily="34" charset="0"/>
                <a:ea typeface="Calibri" pitchFamily="34" charset="-122"/>
                <a:cs typeface="Calibri" pitchFamily="34" charset="-120"/>
              </a:rPr>
              <a:t>4</a:t>
            </a:r>
            <a:endParaRPr lang="en-US" sz="1000" dirty="0"/>
          </a:p>
        </p:txBody>
      </p:sp>
      <p:sp>
        <p:nvSpPr>
          <p:cNvPr id="294" name="Kolom Laporan resmi Apple"/>
          <p:cNvSpPr/>
          <p:nvPr/>
        </p:nvSpPr>
        <p:spPr>
          <a:xfrm>
            <a:off x="457200" y="1188720"/>
            <a:ext cx="3637280" cy="5029200"/>
          </a:xfrm>
          <a:prstGeom prst="roundRect">
            <a:avLst>
              <a:gd name="adj" fmla="val 6452"/>
            </a:avLst>
          </a:prstGeom>
          <a:solidFill>
            <a:srgbClr val="FFFFFF"/>
          </a:solidFill>
          <a:ln w="9525">
            <a:solidFill>
              <a:srgbClr val="D5E2DD"/>
            </a:solidFill>
          </a:ln>
          <a:effectLst>
            <a:outerShdw blurRad="76200" dist="25400" dir="5400000" algn="bl" rotWithShape="0">
              <a:srgbClr val="000000">
                <a:alpha val="12000"/>
              </a:srgbClr>
            </a:outerShdw>
          </a:effectLst>
        </p:spPr>
      </p:sp>
      <p:sp>
        <p:nvSpPr>
          <p:cNvPr id="295" name="Tag Laporan resmi Apple"/>
          <p:cNvSpPr/>
          <p:nvPr/>
        </p:nvSpPr>
        <p:spPr>
          <a:xfrm>
            <a:off x="594360" y="1325880"/>
            <a:ext cx="3362960" cy="320040"/>
          </a:xfrm>
          <a:prstGeom prst="roundRect">
            <a:avLst/>
          </a:prstGeom>
          <a:solidFill>
            <a:srgbClr val="1F6F5C"/>
          </a:solidFill>
          <a:ln>
            <a:noFill/>
          </a:ln>
        </p:spPr>
        <p:txBody>
          <a:bodyPr wrap="square" lIns="45720" tIns="0" rIns="45720" bIns="0" rtlCol="0" anchor="ctr"/>
          <a:lstStyle/>
          <a:p>
            <a:pPr marL="0" indent="0" algn="ctr">
              <a:buNone/>
            </a:pPr>
            <a:r>
              <a:rPr lang="id-ID" sz="1300" b="1" dirty="0">
                <a:solidFill>
                  <a:srgbClr val="FFFFFF"/>
                </a:solidFill>
                <a:latin typeface="Calibri" pitchFamily="34" charset="0"/>
                <a:ea typeface="Calibri" pitchFamily="34" charset="-122"/>
                <a:cs typeface="Calibri" pitchFamily="34" charset="-120"/>
              </a:rPr>
              <a:t>Laporan resmi Apple</a:t>
            </a:r>
          </a:p>
        </p:txBody>
      </p:sp>
      <p:sp>
        <p:nvSpPr>
          <p:cNvPr id="296" name="Isi Laporan resmi Apple"/>
          <p:cNvSpPr txBox="1"/>
          <p:nvPr/>
        </p:nvSpPr>
        <p:spPr>
          <a:xfrm>
            <a:off x="640080" y="1783080"/>
            <a:ext cx="3271520" cy="4343400"/>
          </a:xfrm>
          <a:prstGeom prst="rect">
            <a:avLst/>
          </a:prstGeom>
          <a:noFill/>
          <a:ln/>
        </p:spPr>
        <p:txBody>
          <a:bodyPr wrap="square" lIns="0" tIns="0" rIns="0" bIns="0" rtlCol="0" anchor="t"/>
          <a:lstStyle/>
          <a:p>
            <a:pPr marL="0" indent="0" algn="l">
              <a:spcAft>
                <a:spcPts val="900"/>
              </a:spcAft>
              <a:buNone/>
            </a:pPr>
            <a:r>
              <a:rPr lang="id-ID" sz="1250" b="1" dirty="0">
                <a:solidFill>
                  <a:srgbClr val="12302B"/>
                </a:solidFill>
                <a:latin typeface="Calibri" pitchFamily="34" charset="0"/>
                <a:ea typeface="Calibri" pitchFamily="34" charset="-122"/>
                <a:cs typeface="Calibri" pitchFamily="34" charset="-120"/>
              </a:rPr>
              <a:t>Apple (2024a), PER iPhone 16 dan 16 Plus. </a:t>
            </a:r>
            <a:r>
              <a:rPr lang="id-ID" sz="1250" dirty="0">
                <a:solidFill>
                  <a:srgbClr val="1B2B2A"/>
                </a:solidFill>
                <a:latin typeface="Calibri" pitchFamily="34" charset="0"/>
                <a:ea typeface="Calibri" pitchFamily="34" charset="-122"/>
                <a:cs typeface="Calibri" pitchFamily="34" charset="-120"/>
              </a:rPr>
              <a:t>Jejak karbon 60 kg CO2e (16 Plus 128 GB): produksi 79%, pemakaian 18%, transportasi 4%, akhir masa pakai &lt;1%. Emisi turun 30% dari skenario business-as-usual: listrik rendah karbon pemasok 20%, aluminium daur ulang ±8%.</a:t>
            </a:r>
          </a:p>
          <a:p>
            <a:pPr marL="0" indent="0" algn="l">
              <a:spcAft>
                <a:spcPts val="900"/>
              </a:spcAft>
              <a:buNone/>
            </a:pPr>
            <a:r>
              <a:rPr lang="id-ID" sz="1250" b="1" dirty="0">
                <a:solidFill>
                  <a:srgbClr val="12302B"/>
                </a:solidFill>
                <a:latin typeface="Calibri" pitchFamily="34" charset="0"/>
                <a:ea typeface="Calibri" pitchFamily="34" charset="-122"/>
                <a:cs typeface="Calibri" pitchFamily="34" charset="-120"/>
              </a:rPr>
              <a:t>Apple (2026), Environmental Progress Report. </a:t>
            </a:r>
            <a:r>
              <a:rPr lang="id-ID" sz="1250" dirty="0">
                <a:solidFill>
                  <a:srgbClr val="1B2B2A"/>
                </a:solidFill>
                <a:latin typeface="Calibri" pitchFamily="34" charset="0"/>
                <a:ea typeface="Calibri" pitchFamily="34" charset="-122"/>
                <a:cs typeface="Calibri" pitchFamily="34" charset="-120"/>
              </a:rPr>
              <a:t>30% material daur ulang lintas produk (2025); 100% kobalt daur ulang di baterai rancangan Apple; robot Daisy membongkar 36 model iPhone.</a:t>
            </a:r>
          </a:p>
          <a:p>
            <a:pPr marL="0" indent="0" algn="l">
              <a:spcAft>
                <a:spcPts val="900"/>
              </a:spcAft>
              <a:buNone/>
            </a:pPr>
            <a:r>
              <a:rPr lang="id-ID" sz="1250" b="1" dirty="0">
                <a:solidFill>
                  <a:srgbClr val="12302B"/>
                </a:solidFill>
                <a:latin typeface="Calibri" pitchFamily="34" charset="0"/>
                <a:ea typeface="Calibri" pitchFamily="34" charset="-122"/>
                <a:cs typeface="Calibri" pitchFamily="34" charset="-120"/>
              </a:rPr>
              <a:t>Apple (2024b), pernyataan PSTI Inggris. </a:t>
            </a:r>
            <a:r>
              <a:rPr lang="id-ID" sz="1250" dirty="0">
                <a:solidFill>
                  <a:srgbClr val="1B2B2A"/>
                </a:solidFill>
                <a:latin typeface="Calibri" pitchFamily="34" charset="0"/>
                <a:ea typeface="Calibri" pitchFamily="34" charset="-122"/>
                <a:cs typeface="Calibri" pitchFamily="34" charset="-120"/>
              </a:rPr>
              <a:t>Pembaruan keamanan minimal 5 tahun sejak tanggal penjualan pertama.</a:t>
            </a:r>
          </a:p>
        </p:txBody>
      </p:sp>
      <p:sp>
        <p:nvSpPr>
          <p:cNvPr id="297" name="Kolom Jurnal ilmiah"/>
          <p:cNvSpPr/>
          <p:nvPr/>
        </p:nvSpPr>
        <p:spPr>
          <a:xfrm>
            <a:off x="4277360" y="1188720"/>
            <a:ext cx="3637280" cy="5029200"/>
          </a:xfrm>
          <a:prstGeom prst="roundRect">
            <a:avLst>
              <a:gd name="adj" fmla="val 6452"/>
            </a:avLst>
          </a:prstGeom>
          <a:solidFill>
            <a:srgbClr val="FFFFFF"/>
          </a:solidFill>
          <a:ln w="9525">
            <a:solidFill>
              <a:srgbClr val="D5E2DD"/>
            </a:solidFill>
          </a:ln>
          <a:effectLst>
            <a:outerShdw blurRad="76200" dist="25400" dir="5400000" algn="bl" rotWithShape="0">
              <a:srgbClr val="000000">
                <a:alpha val="12000"/>
              </a:srgbClr>
            </a:outerShdw>
          </a:effectLst>
        </p:spPr>
      </p:sp>
      <p:sp>
        <p:nvSpPr>
          <p:cNvPr id="298" name="Tag Jurnal ilmiah"/>
          <p:cNvSpPr/>
          <p:nvPr/>
        </p:nvSpPr>
        <p:spPr>
          <a:xfrm>
            <a:off x="4414520" y="1325880"/>
            <a:ext cx="3362960" cy="320040"/>
          </a:xfrm>
          <a:prstGeom prst="roundRect">
            <a:avLst/>
          </a:prstGeom>
          <a:solidFill>
            <a:srgbClr val="B5651D"/>
          </a:solidFill>
          <a:ln>
            <a:noFill/>
          </a:ln>
        </p:spPr>
        <p:txBody>
          <a:bodyPr wrap="square" lIns="45720" tIns="0" rIns="45720" bIns="0" rtlCol="0" anchor="ctr"/>
          <a:lstStyle/>
          <a:p>
            <a:pPr marL="0" indent="0" algn="ctr">
              <a:buNone/>
            </a:pPr>
            <a:r>
              <a:rPr lang="id-ID" sz="1300" b="1" dirty="0">
                <a:solidFill>
                  <a:srgbClr val="FFFFFF"/>
                </a:solidFill>
                <a:latin typeface="Calibri" pitchFamily="34" charset="0"/>
                <a:ea typeface="Calibri" pitchFamily="34" charset="-122"/>
                <a:cs typeface="Calibri" pitchFamily="34" charset="-120"/>
              </a:rPr>
              <a:t>Jurnal ilmiah</a:t>
            </a:r>
          </a:p>
        </p:txBody>
      </p:sp>
      <p:sp>
        <p:nvSpPr>
          <p:cNvPr id="299" name="Isi Jurnal ilmiah"/>
          <p:cNvSpPr txBox="1"/>
          <p:nvPr/>
        </p:nvSpPr>
        <p:spPr>
          <a:xfrm>
            <a:off x="4460240" y="1783080"/>
            <a:ext cx="3271520" cy="4343400"/>
          </a:xfrm>
          <a:prstGeom prst="rect">
            <a:avLst/>
          </a:prstGeom>
          <a:noFill/>
          <a:ln/>
        </p:spPr>
        <p:txBody>
          <a:bodyPr wrap="square" lIns="0" tIns="0" rIns="0" bIns="0" rtlCol="0" anchor="t"/>
          <a:lstStyle/>
          <a:p>
            <a:pPr marL="0" indent="0" algn="l">
              <a:spcAft>
                <a:spcPts val="900"/>
              </a:spcAft>
              <a:buNone/>
            </a:pPr>
            <a:r>
              <a:rPr lang="id-ID" sz="1250" b="1" dirty="0">
                <a:solidFill>
                  <a:srgbClr val="12302B"/>
                </a:solidFill>
                <a:latin typeface="Calibri" pitchFamily="34" charset="0"/>
                <a:ea typeface="Calibri" pitchFamily="34" charset="-122"/>
                <a:cs typeface="Calibri" pitchFamily="34" charset="-120"/>
              </a:rPr>
              <a:t>Cordella dkk. (2021), J. Clean. Prod. </a:t>
            </a:r>
            <a:r>
              <a:rPr lang="id-ID" sz="1250" dirty="0">
                <a:solidFill>
                  <a:srgbClr val="1B2B2A"/>
                </a:solidFill>
                <a:latin typeface="Calibri" pitchFamily="34" charset="0"/>
                <a:ea typeface="Calibri" pitchFamily="34" charset="-122"/>
                <a:cs typeface="Calibri" pitchFamily="34" charset="-120"/>
              </a:rPr>
              <a:t>Layar, baterai, penutup belakang, dan perangkat lunak adalah titik kritis daya tahan; keandalan dan reparabilitas dapat dicapai bersamaan.</a:t>
            </a:r>
          </a:p>
          <a:p>
            <a:pPr marL="0" indent="0" algn="l">
              <a:spcAft>
                <a:spcPts val="900"/>
              </a:spcAft>
              <a:buNone/>
            </a:pPr>
            <a:r>
              <a:rPr lang="id-ID" sz="1250" b="1" dirty="0">
                <a:solidFill>
                  <a:srgbClr val="12302B"/>
                </a:solidFill>
                <a:latin typeface="Calibri" pitchFamily="34" charset="0"/>
                <a:ea typeface="Calibri" pitchFamily="34" charset="-122"/>
                <a:cs typeface="Calibri" pitchFamily="34" charset="-120"/>
              </a:rPr>
              <a:t>Makov dan Fitzpatrick (2021), J. Clean. Prod. </a:t>
            </a:r>
            <a:r>
              <a:rPr lang="id-ID" sz="1250" dirty="0">
                <a:solidFill>
                  <a:srgbClr val="1B2B2A"/>
                </a:solidFill>
                <a:latin typeface="Calibri" pitchFamily="34" charset="0"/>
                <a:ea typeface="Calibri" pitchFamily="34" charset="-122"/>
                <a:cs typeface="Calibri" pitchFamily="34" charset="-120"/>
              </a:rPr>
              <a:t>Kinerja 3,5 juta iPhone stabil dari waktu ke waktu, tetapi minat reparasi turun eksponensial: reparabilitas saja tidak cukup.</a:t>
            </a:r>
          </a:p>
          <a:p>
            <a:pPr marL="0" indent="0" algn="l">
              <a:spcAft>
                <a:spcPts val="900"/>
              </a:spcAft>
              <a:buNone/>
            </a:pPr>
            <a:r>
              <a:rPr lang="id-ID" sz="1250" b="1" dirty="0">
                <a:solidFill>
                  <a:srgbClr val="12302B"/>
                </a:solidFill>
                <a:latin typeface="Calibri" pitchFamily="34" charset="0"/>
                <a:ea typeface="Calibri" pitchFamily="34" charset="-122"/>
                <a:cs typeface="Calibri" pitchFamily="34" charset="-120"/>
              </a:rPr>
              <a:t>Proske dan Jaeger-Erben (2019), J. Clean. Prod. </a:t>
            </a:r>
            <a:r>
              <a:rPr lang="id-ID" sz="1250" dirty="0">
                <a:solidFill>
                  <a:srgbClr val="1B2B2A"/>
                </a:solidFill>
                <a:latin typeface="Calibri" pitchFamily="34" charset="0"/>
                <a:ea typeface="Calibri" pitchFamily="34" charset="-122"/>
                <a:cs typeface="Calibri" pitchFamily="34" charset="-120"/>
              </a:rPr>
              <a:t>Modularitas tidak otomatis memperpanjang umur pakai; umur pakai terkait fungsi dan makna simbolik.</a:t>
            </a:r>
          </a:p>
          <a:p>
            <a:pPr marL="0" indent="0" algn="l">
              <a:spcAft>
                <a:spcPts val="900"/>
              </a:spcAft>
              <a:buNone/>
            </a:pPr>
            <a:r>
              <a:rPr lang="id-ID" sz="1250" b="1" dirty="0">
                <a:solidFill>
                  <a:srgbClr val="12302B"/>
                </a:solidFill>
                <a:latin typeface="Calibri" pitchFamily="34" charset="0"/>
                <a:ea typeface="Calibri" pitchFamily="34" charset="-122"/>
                <a:cs typeface="Calibri" pitchFamily="34" charset="-120"/>
              </a:rPr>
              <a:t>Zink dan Geyer (2017), J. Ind. Ecol. </a:t>
            </a:r>
            <a:r>
              <a:rPr lang="id-ID" sz="1250" dirty="0">
                <a:solidFill>
                  <a:srgbClr val="1B2B2A"/>
                </a:solidFill>
                <a:latin typeface="Calibri" pitchFamily="34" charset="0"/>
                <a:ea typeface="Calibri" pitchFamily="34" charset="-122"/>
                <a:cs typeface="Calibri" pitchFamily="34" charset="-120"/>
              </a:rPr>
              <a:t>Ekonomi sirkular dapat memicu rebound produksi.</a:t>
            </a:r>
          </a:p>
        </p:txBody>
      </p:sp>
      <p:sp>
        <p:nvSpPr>
          <p:cNvPr id="300" name="Kolom Regulasi dan data independen"/>
          <p:cNvSpPr/>
          <p:nvPr/>
        </p:nvSpPr>
        <p:spPr>
          <a:xfrm>
            <a:off x="8097520" y="1188720"/>
            <a:ext cx="3637280" cy="5029200"/>
          </a:xfrm>
          <a:prstGeom prst="roundRect">
            <a:avLst>
              <a:gd name="adj" fmla="val 6452"/>
            </a:avLst>
          </a:prstGeom>
          <a:solidFill>
            <a:srgbClr val="FFFFFF"/>
          </a:solidFill>
          <a:ln w="9525">
            <a:solidFill>
              <a:srgbClr val="D5E2DD"/>
            </a:solidFill>
          </a:ln>
          <a:effectLst>
            <a:outerShdw blurRad="76200" dist="25400" dir="5400000" algn="bl" rotWithShape="0">
              <a:srgbClr val="000000">
                <a:alpha val="12000"/>
              </a:srgbClr>
            </a:outerShdw>
          </a:effectLst>
        </p:spPr>
      </p:sp>
      <p:sp>
        <p:nvSpPr>
          <p:cNvPr id="301" name="Tag Regulasi dan data independen"/>
          <p:cNvSpPr/>
          <p:nvPr/>
        </p:nvSpPr>
        <p:spPr>
          <a:xfrm>
            <a:off x="8234680" y="1325880"/>
            <a:ext cx="3362960" cy="320040"/>
          </a:xfrm>
          <a:prstGeom prst="roundRect">
            <a:avLst/>
          </a:prstGeom>
          <a:solidFill>
            <a:srgbClr val="12302B"/>
          </a:solidFill>
          <a:ln>
            <a:noFill/>
          </a:ln>
        </p:spPr>
        <p:txBody>
          <a:bodyPr wrap="square" lIns="45720" tIns="0" rIns="45720" bIns="0" rtlCol="0" anchor="ctr"/>
          <a:lstStyle/>
          <a:p>
            <a:pPr marL="0" indent="0" algn="ctr">
              <a:buNone/>
            </a:pPr>
            <a:r>
              <a:rPr lang="id-ID" sz="1300" b="1" dirty="0">
                <a:solidFill>
                  <a:srgbClr val="FFFFFF"/>
                </a:solidFill>
                <a:latin typeface="Calibri" pitchFamily="34" charset="0"/>
                <a:ea typeface="Calibri" pitchFamily="34" charset="-122"/>
                <a:cs typeface="Calibri" pitchFamily="34" charset="-120"/>
              </a:rPr>
              <a:t>Regulasi dan data independen</a:t>
            </a:r>
          </a:p>
        </p:txBody>
      </p:sp>
      <p:sp>
        <p:nvSpPr>
          <p:cNvPr id="302" name="Isi Regulasi dan data independen"/>
          <p:cNvSpPr txBox="1"/>
          <p:nvPr/>
        </p:nvSpPr>
        <p:spPr>
          <a:xfrm>
            <a:off x="8280400" y="1783080"/>
            <a:ext cx="3271520" cy="4343400"/>
          </a:xfrm>
          <a:prstGeom prst="rect">
            <a:avLst/>
          </a:prstGeom>
          <a:noFill/>
          <a:ln/>
        </p:spPr>
        <p:txBody>
          <a:bodyPr wrap="square" lIns="0" tIns="0" rIns="0" bIns="0" rtlCol="0" anchor="t"/>
          <a:lstStyle/>
          <a:p>
            <a:pPr marL="0" indent="0" algn="l">
              <a:spcAft>
                <a:spcPts val="900"/>
              </a:spcAft>
              <a:buNone/>
            </a:pPr>
            <a:r>
              <a:rPr lang="id-ID" sz="1250" b="1" dirty="0">
                <a:solidFill>
                  <a:srgbClr val="12302B"/>
                </a:solidFill>
                <a:latin typeface="Calibri" pitchFamily="34" charset="0"/>
                <a:ea typeface="Calibri" pitchFamily="34" charset="-122"/>
                <a:cs typeface="Calibri" pitchFamily="34" charset="-120"/>
              </a:rPr>
              <a:t>Regulasi (UE) 2023/1670. </a:t>
            </a:r>
            <a:r>
              <a:rPr lang="id-ID" sz="1250" dirty="0">
                <a:solidFill>
                  <a:srgbClr val="1B2B2A"/>
                </a:solidFill>
                <a:latin typeface="Calibri" pitchFamily="34" charset="0"/>
                <a:ea typeface="Calibri" pitchFamily="34" charset="-122"/>
                <a:cs typeface="Calibri" pitchFamily="34" charset="-120"/>
              </a:rPr>
              <a:t>Mulai 20 Juni 2025: baterai ≥800 siklus pada 80%, suku cadang 7 tahun, pembaruan OS 5 tahun, label reparasi.</a:t>
            </a:r>
          </a:p>
          <a:p>
            <a:pPr marL="0" indent="0" algn="l">
              <a:spcAft>
                <a:spcPts val="900"/>
              </a:spcAft>
              <a:buNone/>
            </a:pPr>
            <a:r>
              <a:rPr lang="id-ID" sz="1250" b="1" dirty="0">
                <a:solidFill>
                  <a:srgbClr val="12302B"/>
                </a:solidFill>
                <a:latin typeface="Calibri" pitchFamily="34" charset="0"/>
                <a:ea typeface="Calibri" pitchFamily="34" charset="-122"/>
                <a:cs typeface="Calibri" pitchFamily="34" charset="-120"/>
              </a:rPr>
              <a:t>ITU dan UNITAR (2024). </a:t>
            </a:r>
            <a:r>
              <a:rPr lang="id-ID" sz="1250" dirty="0">
                <a:solidFill>
                  <a:srgbClr val="1B2B2A"/>
                </a:solidFill>
                <a:latin typeface="Calibri" pitchFamily="34" charset="0"/>
                <a:ea typeface="Calibri" pitchFamily="34" charset="-122"/>
                <a:cs typeface="Calibri" pitchFamily="34" charset="-120"/>
              </a:rPr>
              <a:t>62 miliar kg e-waste (2022); 22,3% terdokumentasi didaur ulang; Indonesia ±1,9 miliar kg.</a:t>
            </a:r>
          </a:p>
          <a:p>
            <a:pPr marL="0" indent="0" algn="l">
              <a:spcAft>
                <a:spcPts val="900"/>
              </a:spcAft>
              <a:buNone/>
            </a:pPr>
            <a:r>
              <a:rPr lang="id-ID" sz="1250" b="1" dirty="0">
                <a:solidFill>
                  <a:srgbClr val="12302B"/>
                </a:solidFill>
                <a:latin typeface="Calibri" pitchFamily="34" charset="0"/>
                <a:ea typeface="Calibri" pitchFamily="34" charset="-122"/>
                <a:cs typeface="Calibri" pitchFamily="34" charset="-120"/>
              </a:rPr>
              <a:t>iFixit (2024). </a:t>
            </a:r>
            <a:r>
              <a:rPr lang="id-ID" sz="1250" dirty="0">
                <a:solidFill>
                  <a:srgbClr val="1B2B2A"/>
                </a:solidFill>
                <a:latin typeface="Calibri" pitchFamily="34" charset="0"/>
                <a:ea typeface="Calibri" pitchFamily="34" charset="-122"/>
                <a:cs typeface="Calibri" pitchFamily="34" charset="-120"/>
              </a:rPr>
              <a:t>Skor reparabilitas iPhone 16 7/10 (sementara), naik dari 4/10 pada iPhone 15.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4F8F6"/>
        </a:solidFill>
        <a:effectLst/>
      </p:bgPr>
    </p:bg>
    <p:spTree>
      <p:nvGrpSpPr>
        <p:cNvPr id="1" name=""/>
        <p:cNvGrpSpPr/>
        <p:nvPr/>
      </p:nvGrpSpPr>
      <p:grpSpPr>
        <a:xfrm>
          <a:off x="0" y="0"/>
          <a:ext cx="0" cy="0"/>
          <a:chOff x="0" y="0"/>
          <a:chExt cx="0" cy="0"/>
        </a:xfrm>
      </p:grpSpPr>
      <p:sp>
        <p:nvSpPr>
          <p:cNvPr id="2" name="badge"/>
          <p:cNvSpPr/>
          <p:nvPr/>
        </p:nvSpPr>
        <p:spPr>
          <a:xfrm>
            <a:off x="457200" y="384048"/>
            <a:ext cx="566928" cy="566928"/>
          </a:xfrm>
          <a:prstGeom prst="ellipse">
            <a:avLst/>
          </a:prstGeom>
          <a:solidFill>
            <a:srgbClr val="1F6F5C"/>
          </a:solidFill>
          <a:ln w="12700">
            <a:solidFill>
              <a:srgbClr val="1F6F5C"/>
            </a:solidFill>
            <a:prstDash val="solid"/>
          </a:ln>
        </p:spPr>
      </p:sp>
      <p:sp>
        <p:nvSpPr>
          <p:cNvPr id="3" name="Text 1"/>
          <p:cNvSpPr txBox="1"/>
          <p:nvPr/>
        </p:nvSpPr>
        <p:spPr>
          <a:xfrm>
            <a:off x="457200" y="384048"/>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2.2</a:t>
            </a:r>
            <a:endParaRPr lang="en-US" sz="2000" dirty="0"/>
          </a:p>
        </p:txBody>
      </p:sp>
      <p:sp>
        <p:nvSpPr>
          <p:cNvPr id="4" name="Text 2"/>
          <p:cNvSpPr txBox="1"/>
          <p:nvPr/>
        </p:nvSpPr>
        <p:spPr>
          <a:xfrm>
            <a:off x="1188720" y="292608"/>
            <a:ext cx="9692640" cy="457200"/>
          </a:xfrm>
          <a:prstGeom prst="rect">
            <a:avLst/>
          </a:prstGeom>
          <a:noFill/>
          <a:ln/>
        </p:spPr>
        <p:txBody>
          <a:bodyPr wrap="square" lIns="0" tIns="0" rIns="0" bIns="0" rtlCol="0" anchor="ctr"/>
          <a:lstStyle/>
          <a:p>
            <a:pPr marL="0" indent="0">
              <a:buNone/>
            </a:pPr>
            <a:r>
              <a:rPr lang="en-US" sz="3000" b="1" dirty="0" err="1">
                <a:solidFill>
                  <a:srgbClr val="12302B"/>
                </a:solidFill>
                <a:latin typeface="Cambria" pitchFamily="34" charset="0"/>
                <a:ea typeface="Cambria" pitchFamily="34" charset="-122"/>
                <a:cs typeface="Cambria" pitchFamily="34" charset="-120"/>
              </a:rPr>
              <a:t>Metode audit: dari bukti ke usulan</a:t>
            </a:r>
            <a:endParaRPr lang="en-US" sz="3000" dirty="0"/>
          </a:p>
        </p:txBody>
      </p:sp>
      <p:sp>
        <p:nvSpPr>
          <p:cNvPr id="5" name="Text 3"/>
          <p:cNvSpPr txBox="1"/>
          <p:nvPr/>
        </p:nvSpPr>
        <p:spPr>
          <a:xfrm>
            <a:off x="1188720" y="768096"/>
            <a:ext cx="10424160" cy="292608"/>
          </a:xfrm>
          <a:prstGeom prst="rect">
            <a:avLst/>
          </a:prstGeom>
          <a:noFill/>
          <a:ln/>
        </p:spPr>
        <p:txBody>
          <a:bodyPr wrap="square" lIns="0" tIns="0" rIns="0" bIns="0" rtlCol="0" anchor="t"/>
          <a:lstStyle/>
          <a:p>
            <a:pPr marL="0" indent="0">
              <a:buNone/>
            </a:pPr>
            <a:r>
              <a:rPr lang="en-US" sz="1400" i="1" dirty="0">
                <a:solidFill>
                  <a:srgbClr val="5B6B68"/>
                </a:solidFill>
                <a:latin typeface="Calibri" pitchFamily="34" charset="0"/>
                <a:ea typeface="Calibri" pitchFamily="34" charset="-122"/>
                <a:cs typeface="Calibri" pitchFamily="34" charset="-120"/>
              </a:rPr>
              <a:t>Empat langkah yang sama diterapkan pada setiap parameter, sehingga skor dan usulan dapat ditelusuri ke sumbernya</a:t>
            </a:r>
            <a:endParaRPr lang="en-US" sz="1400" dirty="0"/>
          </a:p>
        </p:txBody>
      </p:sp>
      <p:sp>
        <p:nvSpPr>
          <p:cNvPr id="30" name="Text 27"/>
          <p:cNvSpPr txBox="1"/>
          <p:nvPr/>
        </p:nvSpPr>
        <p:spPr>
          <a:xfrm>
            <a:off x="11247120" y="6473952"/>
            <a:ext cx="457200" cy="228600"/>
          </a:xfrm>
          <a:prstGeom prst="rect">
            <a:avLst/>
          </a:prstGeom>
          <a:noFill/>
          <a:ln/>
        </p:spPr>
        <p:txBody>
          <a:bodyPr wrap="square" lIns="0" tIns="0" rIns="0" bIns="0" rtlCol="0" anchor="t"/>
          <a:lstStyle/>
          <a:p>
            <a:pPr marL="0" indent="0" algn="r">
              <a:buNone/>
            </a:pPr>
            <a:r>
              <a:rPr lang="en-US" sz="1000" dirty="0">
                <a:solidFill>
                  <a:srgbClr val="5B6B68"/>
                </a:solidFill>
                <a:latin typeface="Calibri" pitchFamily="34" charset="0"/>
                <a:ea typeface="Calibri" pitchFamily="34" charset="-122"/>
                <a:cs typeface="Calibri" pitchFamily="34" charset="-120"/>
              </a:rPr>
              <a:t>5</a:t>
            </a:r>
            <a:endParaRPr lang="en-US" sz="1000" dirty="0"/>
          </a:p>
        </p:txBody>
      </p:sp>
      <p:sp>
        <p:nvSpPr>
          <p:cNvPr id="201" name="Langkah 1"/>
          <p:cNvSpPr/>
          <p:nvPr/>
        </p:nvSpPr>
        <p:spPr>
          <a:xfrm>
            <a:off x="457200" y="1188720"/>
            <a:ext cx="2716530" cy="1965960"/>
          </a:xfrm>
          <a:prstGeom prst="roundRect">
            <a:avLst>
              <a:gd name="adj" fmla="val 6452"/>
            </a:avLst>
          </a:prstGeom>
          <a:solidFill>
            <a:srgbClr val="FFFFFF"/>
          </a:solidFill>
          <a:ln w="9525">
            <a:solidFill>
              <a:srgbClr val="D5E2DD"/>
            </a:solidFill>
          </a:ln>
          <a:effectLst>
            <a:outerShdw blurRad="76200" dist="25400" dir="5400000" algn="bl" rotWithShape="0">
              <a:srgbClr val="000000">
                <a:alpha val="12000"/>
              </a:srgbClr>
            </a:outerShdw>
          </a:effectLst>
        </p:spPr>
      </p:sp>
      <p:sp>
        <p:nvSpPr>
          <p:cNvPr id="202" name="Nomor 1"/>
          <p:cNvSpPr/>
          <p:nvPr/>
        </p:nvSpPr>
        <p:spPr>
          <a:xfrm>
            <a:off x="594360" y="1325880"/>
            <a:ext cx="411480" cy="411480"/>
          </a:xfrm>
          <a:prstGeom prst="ellipse">
            <a:avLst/>
          </a:prstGeom>
          <a:solidFill>
            <a:srgbClr val="1F6F5C"/>
          </a:solidFill>
          <a:ln>
            <a:noFill/>
          </a:ln>
        </p:spPr>
        <p:txBody>
          <a:bodyPr wrap="square" lIns="45720" tIns="0" rIns="45720" bIns="0" rtlCol="0" anchor="ctr"/>
          <a:lstStyle/>
          <a:p>
            <a:pPr marL="0" indent="0" algn="ctr">
              <a:buNone/>
            </a:pPr>
            <a:r>
              <a:rPr lang="id-ID" sz="1400" b="1" dirty="0">
                <a:solidFill>
                  <a:srgbClr val="FFFFFF"/>
                </a:solidFill>
                <a:latin typeface="Calibri" pitchFamily="34" charset="0"/>
                <a:ea typeface="Calibri" pitchFamily="34" charset="-122"/>
                <a:cs typeface="Calibri" pitchFamily="34" charset="-120"/>
              </a:rPr>
              <a:t>1</a:t>
            </a:r>
          </a:p>
        </p:txBody>
      </p:sp>
      <p:sp>
        <p:nvSpPr>
          <p:cNvPr id="203" name="Judul langkah 1"/>
          <p:cNvSpPr txBox="1"/>
          <p:nvPr/>
        </p:nvSpPr>
        <p:spPr>
          <a:xfrm>
            <a:off x="1097280" y="1325880"/>
            <a:ext cx="1985010" cy="411480"/>
          </a:xfrm>
          <a:prstGeom prst="rect">
            <a:avLst/>
          </a:prstGeom>
          <a:noFill/>
          <a:ln/>
        </p:spPr>
        <p:txBody>
          <a:bodyPr wrap="square" lIns="0" tIns="0" rIns="0" bIns="0" rtlCol="0" anchor="ctr"/>
          <a:lstStyle/>
          <a:p>
            <a:pPr marL="0" indent="0" algn="l">
              <a:buNone/>
            </a:pPr>
            <a:r>
              <a:rPr lang="id-ID" sz="1400" b="1" dirty="0">
                <a:solidFill>
                  <a:srgbClr val="12302B"/>
                </a:solidFill>
                <a:latin typeface="Calibri" pitchFamily="34" charset="0"/>
                <a:ea typeface="Calibri" pitchFamily="34" charset="-122"/>
                <a:cs typeface="Calibri" pitchFamily="34" charset="-120"/>
              </a:rPr>
              <a:t>Kumpulkan bukti</a:t>
            </a:r>
          </a:p>
        </p:txBody>
      </p:sp>
      <p:sp>
        <p:nvSpPr>
          <p:cNvPr id="204" name="Isi langkah 1"/>
          <p:cNvSpPr txBox="1"/>
          <p:nvPr/>
        </p:nvSpPr>
        <p:spPr>
          <a:xfrm>
            <a:off x="594360" y="1828800"/>
            <a:ext cx="2442210" cy="1234440"/>
          </a:xfrm>
          <a:prstGeom prst="rect">
            <a:avLst/>
          </a:prstGeom>
          <a:noFill/>
          <a:ln/>
        </p:spPr>
        <p:txBody>
          <a:bodyPr wrap="square" lIns="0" tIns="0" rIns="0" bIns="0" rtlCol="0" anchor="t"/>
          <a:lstStyle/>
          <a:p>
            <a:pPr marL="0" indent="0" algn="l">
              <a:buNone/>
            </a:pPr>
            <a:r>
              <a:rPr lang="id-ID" sz="1200" dirty="0">
                <a:solidFill>
                  <a:srgbClr val="1B2B2A"/>
                </a:solidFill>
                <a:latin typeface="Calibri" pitchFamily="34" charset="0"/>
                <a:ea typeface="Calibri" pitchFamily="34" charset="-122"/>
                <a:cs typeface="Calibri" pitchFamily="34" charset="-120"/>
              </a:rPr>
              <a:t>Laporan resmi Apple (PER iPhone 16, Environmental Progress Report), jurnal ilmiah, regulasi UE, AS, dan Indonesia, serta data iFixit dan ITU-UNITAR.</a:t>
            </a:r>
          </a:p>
        </p:txBody>
      </p:sp>
      <p:cxnSp>
        <p:nvCxnSpPr>
          <p:cNvPr id="205" name="Alur 0"/>
          <p:cNvCxnSpPr/>
          <p:nvPr/>
        </p:nvCxnSpPr>
        <p:spPr>
          <a:xfrm>
            <a:off x="3182874" y="2171700"/>
            <a:ext cx="118872" cy="0"/>
          </a:xfrm>
          <a:prstGeom prst="straightConnector1">
            <a:avLst/>
          </a:prstGeom>
          <a:ln w="19050">
            <a:solidFill>
              <a:srgbClr val="1F6F5C"/>
            </a:solidFill>
            <a:tailEnd type="triangle"/>
          </a:ln>
        </p:spPr>
      </p:cxnSp>
      <p:sp>
        <p:nvSpPr>
          <p:cNvPr id="206" name="Langkah 2"/>
          <p:cNvSpPr/>
          <p:nvPr/>
        </p:nvSpPr>
        <p:spPr>
          <a:xfrm>
            <a:off x="3310890" y="1188720"/>
            <a:ext cx="2716530" cy="1965960"/>
          </a:xfrm>
          <a:prstGeom prst="roundRect">
            <a:avLst>
              <a:gd name="adj" fmla="val 6452"/>
            </a:avLst>
          </a:prstGeom>
          <a:solidFill>
            <a:srgbClr val="FFFFFF"/>
          </a:solidFill>
          <a:ln w="9525">
            <a:solidFill>
              <a:srgbClr val="D5E2DD"/>
            </a:solidFill>
          </a:ln>
          <a:effectLst>
            <a:outerShdw blurRad="76200" dist="25400" dir="5400000" algn="bl" rotWithShape="0">
              <a:srgbClr val="000000">
                <a:alpha val="12000"/>
              </a:srgbClr>
            </a:outerShdw>
          </a:effectLst>
        </p:spPr>
      </p:sp>
      <p:sp>
        <p:nvSpPr>
          <p:cNvPr id="207" name="Nomor 2"/>
          <p:cNvSpPr/>
          <p:nvPr/>
        </p:nvSpPr>
        <p:spPr>
          <a:xfrm>
            <a:off x="3448050" y="1325880"/>
            <a:ext cx="411480" cy="411480"/>
          </a:xfrm>
          <a:prstGeom prst="ellipse">
            <a:avLst/>
          </a:prstGeom>
          <a:solidFill>
            <a:srgbClr val="1F6F5C"/>
          </a:solidFill>
          <a:ln>
            <a:noFill/>
          </a:ln>
        </p:spPr>
        <p:txBody>
          <a:bodyPr wrap="square" lIns="45720" tIns="0" rIns="45720" bIns="0" rtlCol="0" anchor="ctr"/>
          <a:lstStyle/>
          <a:p>
            <a:pPr marL="0" indent="0" algn="ctr">
              <a:buNone/>
            </a:pPr>
            <a:r>
              <a:rPr lang="id-ID" sz="1400" b="1" dirty="0">
                <a:solidFill>
                  <a:srgbClr val="FFFFFF"/>
                </a:solidFill>
                <a:latin typeface="Calibri" pitchFamily="34" charset="0"/>
                <a:ea typeface="Calibri" pitchFamily="34" charset="-122"/>
                <a:cs typeface="Calibri" pitchFamily="34" charset="-120"/>
              </a:rPr>
              <a:t>2</a:t>
            </a:r>
          </a:p>
        </p:txBody>
      </p:sp>
      <p:sp>
        <p:nvSpPr>
          <p:cNvPr id="208" name="Judul langkah 2"/>
          <p:cNvSpPr txBox="1"/>
          <p:nvPr/>
        </p:nvSpPr>
        <p:spPr>
          <a:xfrm>
            <a:off x="3950970" y="1325880"/>
            <a:ext cx="1985010" cy="411480"/>
          </a:xfrm>
          <a:prstGeom prst="rect">
            <a:avLst/>
          </a:prstGeom>
          <a:noFill/>
          <a:ln/>
        </p:spPr>
        <p:txBody>
          <a:bodyPr wrap="square" lIns="0" tIns="0" rIns="0" bIns="0" rtlCol="0" anchor="ctr"/>
          <a:lstStyle/>
          <a:p>
            <a:pPr marL="0" indent="0" algn="l">
              <a:buNone/>
            </a:pPr>
            <a:r>
              <a:rPr lang="id-ID" sz="1400" b="1" dirty="0">
                <a:solidFill>
                  <a:srgbClr val="12302B"/>
                </a:solidFill>
                <a:latin typeface="Calibri" pitchFamily="34" charset="0"/>
                <a:ea typeface="Calibri" pitchFamily="34" charset="-122"/>
                <a:cs typeface="Calibri" pitchFamily="34" charset="-120"/>
              </a:rPr>
              <a:t>Nilai 7 parameter</a:t>
            </a:r>
          </a:p>
        </p:txBody>
      </p:sp>
      <p:sp>
        <p:nvSpPr>
          <p:cNvPr id="209" name="Isi langkah 2"/>
          <p:cNvSpPr txBox="1"/>
          <p:nvPr/>
        </p:nvSpPr>
        <p:spPr>
          <a:xfrm>
            <a:off x="3448050" y="1828800"/>
            <a:ext cx="2442210" cy="1234440"/>
          </a:xfrm>
          <a:prstGeom prst="rect">
            <a:avLst/>
          </a:prstGeom>
          <a:noFill/>
          <a:ln/>
        </p:spPr>
        <p:txBody>
          <a:bodyPr wrap="square" lIns="0" tIns="0" rIns="0" bIns="0" rtlCol="0" anchor="t"/>
          <a:lstStyle/>
          <a:p>
            <a:pPr marL="0" indent="0" algn="l">
              <a:buNone/>
            </a:pPr>
            <a:r>
              <a:rPr lang="id-ID" sz="1200" dirty="0">
                <a:solidFill>
                  <a:srgbClr val="1B2B2A"/>
                </a:solidFill>
                <a:latin typeface="Calibri" pitchFamily="34" charset="0"/>
                <a:ea typeface="Calibri" pitchFamily="34" charset="-122"/>
                <a:cs typeface="Calibri" pitchFamily="34" charset="-120"/>
              </a:rPr>
              <a:t>Material, modularitas, durabilitas, reparasi, pembongkaran, perangkat lunak, akhir masa pakai. Setiap skor wajib disertai bukti tertulis.</a:t>
            </a:r>
          </a:p>
        </p:txBody>
      </p:sp>
      <p:cxnSp>
        <p:nvCxnSpPr>
          <p:cNvPr id="210" name="Alur 1"/>
          <p:cNvCxnSpPr/>
          <p:nvPr/>
        </p:nvCxnSpPr>
        <p:spPr>
          <a:xfrm>
            <a:off x="6036564" y="2171700"/>
            <a:ext cx="118872" cy="0"/>
          </a:xfrm>
          <a:prstGeom prst="straightConnector1">
            <a:avLst/>
          </a:prstGeom>
          <a:ln w="19050">
            <a:solidFill>
              <a:srgbClr val="1F6F5C"/>
            </a:solidFill>
            <a:tailEnd type="triangle"/>
          </a:ln>
        </p:spPr>
      </p:cxnSp>
      <p:sp>
        <p:nvSpPr>
          <p:cNvPr id="211" name="Langkah 3"/>
          <p:cNvSpPr/>
          <p:nvPr/>
        </p:nvSpPr>
        <p:spPr>
          <a:xfrm>
            <a:off x="6164580" y="1188720"/>
            <a:ext cx="2716530" cy="1965960"/>
          </a:xfrm>
          <a:prstGeom prst="roundRect">
            <a:avLst>
              <a:gd name="adj" fmla="val 6452"/>
            </a:avLst>
          </a:prstGeom>
          <a:solidFill>
            <a:srgbClr val="FFFFFF"/>
          </a:solidFill>
          <a:ln w="9525">
            <a:solidFill>
              <a:srgbClr val="D5E2DD"/>
            </a:solidFill>
          </a:ln>
          <a:effectLst>
            <a:outerShdw blurRad="76200" dist="25400" dir="5400000" algn="bl" rotWithShape="0">
              <a:srgbClr val="000000">
                <a:alpha val="12000"/>
              </a:srgbClr>
            </a:outerShdw>
          </a:effectLst>
        </p:spPr>
      </p:sp>
      <p:sp>
        <p:nvSpPr>
          <p:cNvPr id="212" name="Nomor 3"/>
          <p:cNvSpPr/>
          <p:nvPr/>
        </p:nvSpPr>
        <p:spPr>
          <a:xfrm>
            <a:off x="6301740" y="1325880"/>
            <a:ext cx="411480" cy="411480"/>
          </a:xfrm>
          <a:prstGeom prst="ellipse">
            <a:avLst/>
          </a:prstGeom>
          <a:solidFill>
            <a:srgbClr val="1F6F5C"/>
          </a:solidFill>
          <a:ln>
            <a:noFill/>
          </a:ln>
        </p:spPr>
        <p:txBody>
          <a:bodyPr wrap="square" lIns="45720" tIns="0" rIns="45720" bIns="0" rtlCol="0" anchor="ctr"/>
          <a:lstStyle/>
          <a:p>
            <a:pPr marL="0" indent="0" algn="ctr">
              <a:buNone/>
            </a:pPr>
            <a:r>
              <a:rPr lang="id-ID" sz="1400" b="1" dirty="0">
                <a:solidFill>
                  <a:srgbClr val="FFFFFF"/>
                </a:solidFill>
                <a:latin typeface="Calibri" pitchFamily="34" charset="0"/>
                <a:ea typeface="Calibri" pitchFamily="34" charset="-122"/>
                <a:cs typeface="Calibri" pitchFamily="34" charset="-120"/>
              </a:rPr>
              <a:t>3</a:t>
            </a:r>
          </a:p>
        </p:txBody>
      </p:sp>
      <p:sp>
        <p:nvSpPr>
          <p:cNvPr id="213" name="Judul langkah 3"/>
          <p:cNvSpPr txBox="1"/>
          <p:nvPr/>
        </p:nvSpPr>
        <p:spPr>
          <a:xfrm>
            <a:off x="6804660" y="1325880"/>
            <a:ext cx="1985010" cy="411480"/>
          </a:xfrm>
          <a:prstGeom prst="rect">
            <a:avLst/>
          </a:prstGeom>
          <a:noFill/>
          <a:ln/>
        </p:spPr>
        <p:txBody>
          <a:bodyPr wrap="square" lIns="0" tIns="0" rIns="0" bIns="0" rtlCol="0" anchor="ctr"/>
          <a:lstStyle/>
          <a:p>
            <a:pPr marL="0" indent="0" algn="l">
              <a:buNone/>
            </a:pPr>
            <a:r>
              <a:rPr lang="id-ID" sz="1400" b="1" dirty="0">
                <a:solidFill>
                  <a:srgbClr val="12302B"/>
                </a:solidFill>
                <a:latin typeface="Calibri" pitchFamily="34" charset="0"/>
                <a:ea typeface="Calibri" pitchFamily="34" charset="-122"/>
                <a:cs typeface="Calibri" pitchFamily="34" charset="-120"/>
              </a:rPr>
              <a:t>Uji ketahanan klaim</a:t>
            </a:r>
          </a:p>
        </p:txBody>
      </p:sp>
      <p:sp>
        <p:nvSpPr>
          <p:cNvPr id="214" name="Isi langkah 3"/>
          <p:cNvSpPr txBox="1"/>
          <p:nvPr/>
        </p:nvSpPr>
        <p:spPr>
          <a:xfrm>
            <a:off x="6301740" y="1828800"/>
            <a:ext cx="2442210" cy="1234440"/>
          </a:xfrm>
          <a:prstGeom prst="rect">
            <a:avLst/>
          </a:prstGeom>
          <a:noFill/>
          <a:ln/>
        </p:spPr>
        <p:txBody>
          <a:bodyPr wrap="square" lIns="0" tIns="0" rIns="0" bIns="0" rtlCol="0" anchor="t"/>
          <a:lstStyle/>
          <a:p>
            <a:pPr marL="0" indent="0" algn="l">
              <a:buNone/>
            </a:pPr>
            <a:r>
              <a:rPr lang="id-ID" sz="1200" dirty="0">
                <a:solidFill>
                  <a:srgbClr val="1B2B2A"/>
                </a:solidFill>
                <a:latin typeface="Calibri" pitchFamily="34" charset="0"/>
                <a:ea typeface="Calibri" pitchFamily="34" charset="-122"/>
                <a:cs typeface="Calibri" pitchFamily="34" charset="-120"/>
              </a:rPr>
              <a:t>Enam uji: sensitivitas umur, desain vs kinerja aktual, lokasi dampak, pergeseran beban, rebound, dan dimensi sosial.</a:t>
            </a:r>
          </a:p>
        </p:txBody>
      </p:sp>
      <p:cxnSp>
        <p:nvCxnSpPr>
          <p:cNvPr id="215" name="Alur 2"/>
          <p:cNvCxnSpPr/>
          <p:nvPr/>
        </p:nvCxnSpPr>
        <p:spPr>
          <a:xfrm>
            <a:off x="8890254" y="2171700"/>
            <a:ext cx="118872" cy="0"/>
          </a:xfrm>
          <a:prstGeom prst="straightConnector1">
            <a:avLst/>
          </a:prstGeom>
          <a:ln w="19050">
            <a:solidFill>
              <a:srgbClr val="1F6F5C"/>
            </a:solidFill>
            <a:tailEnd type="triangle"/>
          </a:ln>
        </p:spPr>
      </p:cxnSp>
      <p:sp>
        <p:nvSpPr>
          <p:cNvPr id="216" name="Langkah 4"/>
          <p:cNvSpPr/>
          <p:nvPr/>
        </p:nvSpPr>
        <p:spPr>
          <a:xfrm>
            <a:off x="9018270" y="1188720"/>
            <a:ext cx="2716530" cy="1965960"/>
          </a:xfrm>
          <a:prstGeom prst="roundRect">
            <a:avLst>
              <a:gd name="adj" fmla="val 6452"/>
            </a:avLst>
          </a:prstGeom>
          <a:solidFill>
            <a:srgbClr val="FFFFFF"/>
          </a:solidFill>
          <a:ln w="9525">
            <a:solidFill>
              <a:srgbClr val="D5E2DD"/>
            </a:solidFill>
          </a:ln>
          <a:effectLst>
            <a:outerShdw blurRad="76200" dist="25400" dir="5400000" algn="bl" rotWithShape="0">
              <a:srgbClr val="000000">
                <a:alpha val="12000"/>
              </a:srgbClr>
            </a:outerShdw>
          </a:effectLst>
        </p:spPr>
      </p:sp>
      <p:sp>
        <p:nvSpPr>
          <p:cNvPr id="217" name="Nomor 4"/>
          <p:cNvSpPr/>
          <p:nvPr/>
        </p:nvSpPr>
        <p:spPr>
          <a:xfrm>
            <a:off x="9155430" y="1325880"/>
            <a:ext cx="411480" cy="411480"/>
          </a:xfrm>
          <a:prstGeom prst="ellipse">
            <a:avLst/>
          </a:prstGeom>
          <a:solidFill>
            <a:srgbClr val="B5651D"/>
          </a:solidFill>
          <a:ln>
            <a:noFill/>
          </a:ln>
        </p:spPr>
        <p:txBody>
          <a:bodyPr wrap="square" lIns="45720" tIns="0" rIns="45720" bIns="0" rtlCol="0" anchor="ctr"/>
          <a:lstStyle/>
          <a:p>
            <a:pPr marL="0" indent="0" algn="ctr">
              <a:buNone/>
            </a:pPr>
            <a:r>
              <a:rPr lang="id-ID" sz="1400" b="1" dirty="0">
                <a:solidFill>
                  <a:srgbClr val="FFFFFF"/>
                </a:solidFill>
                <a:latin typeface="Calibri" pitchFamily="34" charset="0"/>
                <a:ea typeface="Calibri" pitchFamily="34" charset="-122"/>
                <a:cs typeface="Calibri" pitchFamily="34" charset="-120"/>
              </a:rPr>
              <a:t>4</a:t>
            </a:r>
          </a:p>
        </p:txBody>
      </p:sp>
      <p:sp>
        <p:nvSpPr>
          <p:cNvPr id="218" name="Judul langkah 4"/>
          <p:cNvSpPr txBox="1"/>
          <p:nvPr/>
        </p:nvSpPr>
        <p:spPr>
          <a:xfrm>
            <a:off x="9658350" y="1325880"/>
            <a:ext cx="1985010" cy="411480"/>
          </a:xfrm>
          <a:prstGeom prst="rect">
            <a:avLst/>
          </a:prstGeom>
          <a:noFill/>
          <a:ln/>
        </p:spPr>
        <p:txBody>
          <a:bodyPr wrap="square" lIns="0" tIns="0" rIns="0" bIns="0" rtlCol="0" anchor="ctr"/>
          <a:lstStyle/>
          <a:p>
            <a:pPr marL="0" indent="0" algn="l">
              <a:buNone/>
            </a:pPr>
            <a:r>
              <a:rPr lang="id-ID" sz="1400" b="1" dirty="0">
                <a:solidFill>
                  <a:srgbClr val="12302B"/>
                </a:solidFill>
                <a:latin typeface="Calibri" pitchFamily="34" charset="0"/>
                <a:ea typeface="Calibri" pitchFamily="34" charset="-122"/>
                <a:cs typeface="Calibri" pitchFamily="34" charset="-120"/>
              </a:rPr>
              <a:t>Rumuskan usulan dan KPI</a:t>
            </a:r>
          </a:p>
        </p:txBody>
      </p:sp>
      <p:sp>
        <p:nvSpPr>
          <p:cNvPr id="219" name="Isi langkah 4"/>
          <p:cNvSpPr txBox="1"/>
          <p:nvPr/>
        </p:nvSpPr>
        <p:spPr>
          <a:xfrm>
            <a:off x="9155430" y="1828800"/>
            <a:ext cx="2442210" cy="1234440"/>
          </a:xfrm>
          <a:prstGeom prst="rect">
            <a:avLst/>
          </a:prstGeom>
          <a:noFill/>
          <a:ln/>
        </p:spPr>
        <p:txBody>
          <a:bodyPr wrap="square" lIns="0" tIns="0" rIns="0" bIns="0" rtlCol="0" anchor="t"/>
          <a:lstStyle/>
          <a:p>
            <a:pPr marL="0" indent="0" algn="l">
              <a:buNone/>
            </a:pPr>
            <a:r>
              <a:rPr lang="id-ID" sz="1200" dirty="0">
                <a:solidFill>
                  <a:srgbClr val="1B2B2A"/>
                </a:solidFill>
                <a:latin typeface="Calibri" pitchFamily="34" charset="0"/>
                <a:ea typeface="Calibri" pitchFamily="34" charset="-122"/>
                <a:cs typeface="Calibri" pitchFamily="34" charset="-120"/>
              </a:rPr>
              <a:t>Parameter berskor terendah menjadi sasaran redesain; setiap usulan diberi KPI terukur dan syarat yang tidak boleh dilanggar.</a:t>
            </a:r>
          </a:p>
        </p:txBody>
      </p:sp>
      <p:sp>
        <p:nvSpPr>
          <p:cNvPr id="220" name="Kriteria"/>
          <p:cNvSpPr/>
          <p:nvPr/>
        </p:nvSpPr>
        <p:spPr>
          <a:xfrm>
            <a:off x="457200" y="3337560"/>
            <a:ext cx="6400800" cy="2971800"/>
          </a:xfrm>
          <a:prstGeom prst="roundRect">
            <a:avLst>
              <a:gd name="adj" fmla="val 6452"/>
            </a:avLst>
          </a:prstGeom>
          <a:solidFill>
            <a:srgbClr val="FFFFFF"/>
          </a:solidFill>
          <a:ln w="9525">
            <a:solidFill>
              <a:srgbClr val="D5E2DD"/>
            </a:solidFill>
          </a:ln>
          <a:effectLst>
            <a:outerShdw blurRad="76200" dist="25400" dir="5400000" algn="bl" rotWithShape="0">
              <a:srgbClr val="000000">
                <a:alpha val="12000"/>
              </a:srgbClr>
            </a:outerShdw>
          </a:effectLst>
        </p:spPr>
      </p:sp>
      <p:sp>
        <p:nvSpPr>
          <p:cNvPr id="221" name="Judul kriteria"/>
          <p:cNvSpPr txBox="1"/>
          <p:nvPr/>
        </p:nvSpPr>
        <p:spPr>
          <a:xfrm>
            <a:off x="640080" y="3447288"/>
            <a:ext cx="6035040" cy="320040"/>
          </a:xfrm>
          <a:prstGeom prst="rect">
            <a:avLst/>
          </a:prstGeom>
          <a:noFill/>
          <a:ln/>
        </p:spPr>
        <p:txBody>
          <a:bodyPr wrap="square" lIns="0" tIns="0" rIns="0" bIns="0" rtlCol="0" anchor="t"/>
          <a:lstStyle/>
          <a:p>
            <a:pPr marL="0" indent="0" algn="l">
              <a:buNone/>
            </a:pPr>
            <a:r>
              <a:rPr lang="id-ID" sz="1500" b="1" dirty="0">
                <a:solidFill>
                  <a:srgbClr val="12302B"/>
                </a:solidFill>
                <a:latin typeface="Cambria" pitchFamily="34" charset="0"/>
                <a:ea typeface="Cambria" pitchFamily="34" charset="-122"/>
                <a:cs typeface="Cambria" pitchFamily="34" charset="-120"/>
              </a:rPr>
              <a:t>Kriteria skor</a:t>
            </a:r>
          </a:p>
        </p:txBody>
      </p:sp>
      <p:sp>
        <p:nvSpPr>
          <p:cNvPr id="222" name="Skor"/>
          <p:cNvSpPr/>
          <p:nvPr/>
        </p:nvSpPr>
        <p:spPr>
          <a:xfrm>
            <a:off x="640080" y="4072128"/>
            <a:ext cx="914400" cy="329184"/>
          </a:xfrm>
          <a:prstGeom prst="rect">
            <a:avLst/>
          </a:prstGeom>
          <a:solidFill>
            <a:srgbClr val="1F6F5C"/>
          </a:solidFill>
          <a:ln>
            <a:noFill/>
          </a:ln>
        </p:spPr>
        <p:txBody>
          <a:bodyPr wrap="square" lIns="45720" tIns="0" rIns="45720" bIns="0" rtlCol="0" anchor="ctr"/>
          <a:lstStyle/>
          <a:p>
            <a:pPr marL="0" indent="0" algn="ctr">
              <a:buNone/>
            </a:pPr>
            <a:r>
              <a:rPr lang="id-ID" sz="1100" b="1" dirty="0">
                <a:solidFill>
                  <a:srgbClr val="FFFFFF"/>
                </a:solidFill>
                <a:latin typeface="Calibri" pitchFamily="34" charset="0"/>
                <a:ea typeface="Calibri" pitchFamily="34" charset="-122"/>
                <a:cs typeface="Calibri" pitchFamily="34" charset="-120"/>
              </a:rPr>
              <a:t>Tinggi</a:t>
            </a:r>
          </a:p>
        </p:txBody>
      </p:sp>
      <p:sp>
        <p:nvSpPr>
          <p:cNvPr id="223" name="Kriteria Tinggi"/>
          <p:cNvSpPr txBox="1"/>
          <p:nvPr/>
        </p:nvSpPr>
        <p:spPr>
          <a:xfrm>
            <a:off x="1691640" y="3840480"/>
            <a:ext cx="4983480" cy="792480"/>
          </a:xfrm>
          <a:prstGeom prst="rect">
            <a:avLst/>
          </a:prstGeom>
          <a:noFill/>
          <a:ln/>
        </p:spPr>
        <p:txBody>
          <a:bodyPr wrap="square" lIns="0" tIns="0" rIns="0" bIns="0" rtlCol="0" anchor="ctr"/>
          <a:lstStyle/>
          <a:p>
            <a:pPr marL="0" indent="0" algn="l">
              <a:buNone/>
            </a:pPr>
            <a:r>
              <a:rPr lang="id-ID" sz="1200" dirty="0">
                <a:solidFill>
                  <a:srgbClr val="1B2B2A"/>
                </a:solidFill>
                <a:latin typeface="Calibri" pitchFamily="34" charset="0"/>
                <a:ea typeface="Calibri" pitchFamily="34" charset="-122"/>
                <a:cs typeface="Calibri" pitchFamily="34" charset="-120"/>
              </a:rPr>
              <a:t>Kemampuan desain terdokumentasi dalam sumber resmi dan tidak ada hambatan berarti bagi pengguna atau bengkel.</a:t>
            </a:r>
          </a:p>
        </p:txBody>
      </p:sp>
      <p:sp>
        <p:nvSpPr>
          <p:cNvPr id="224" name="Skor"/>
          <p:cNvSpPr/>
          <p:nvPr/>
        </p:nvSpPr>
        <p:spPr>
          <a:xfrm>
            <a:off x="640080" y="4864608"/>
            <a:ext cx="914400" cy="329184"/>
          </a:xfrm>
          <a:prstGeom prst="rect">
            <a:avLst/>
          </a:prstGeom>
          <a:solidFill>
            <a:srgbClr val="C98A12"/>
          </a:solidFill>
          <a:ln>
            <a:noFill/>
          </a:ln>
        </p:spPr>
        <p:txBody>
          <a:bodyPr wrap="square" lIns="45720" tIns="0" rIns="45720" bIns="0" rtlCol="0" anchor="ctr"/>
          <a:lstStyle/>
          <a:p>
            <a:pPr marL="0" indent="0" algn="ctr">
              <a:buNone/>
            </a:pPr>
            <a:r>
              <a:rPr lang="id-ID" sz="1100" b="1" dirty="0">
                <a:solidFill>
                  <a:srgbClr val="FFFFFF"/>
                </a:solidFill>
                <a:latin typeface="Calibri" pitchFamily="34" charset="0"/>
                <a:ea typeface="Calibri" pitchFamily="34" charset="-122"/>
                <a:cs typeface="Calibri" pitchFamily="34" charset="-120"/>
              </a:rPr>
              <a:t>Sedang</a:t>
            </a:r>
          </a:p>
        </p:txBody>
      </p:sp>
      <p:sp>
        <p:nvSpPr>
          <p:cNvPr id="225" name="Kriteria Sedang"/>
          <p:cNvSpPr txBox="1"/>
          <p:nvPr/>
        </p:nvSpPr>
        <p:spPr>
          <a:xfrm>
            <a:off x="1691640" y="4632960"/>
            <a:ext cx="4983480" cy="792480"/>
          </a:xfrm>
          <a:prstGeom prst="rect">
            <a:avLst/>
          </a:prstGeom>
          <a:noFill/>
          <a:ln/>
        </p:spPr>
        <p:txBody>
          <a:bodyPr wrap="square" lIns="0" tIns="0" rIns="0" bIns="0" rtlCol="0" anchor="ctr"/>
          <a:lstStyle/>
          <a:p>
            <a:pPr marL="0" indent="0" algn="l">
              <a:buNone/>
            </a:pPr>
            <a:r>
              <a:rPr lang="id-ID" sz="1200" dirty="0">
                <a:solidFill>
                  <a:srgbClr val="1B2B2A"/>
                </a:solidFill>
                <a:latin typeface="Calibri" pitchFamily="34" charset="0"/>
                <a:ea typeface="Calibri" pitchFamily="34" charset="-122"/>
                <a:cs typeface="Calibri" pitchFamily="34" charset="-120"/>
              </a:rPr>
              <a:t>Ada kemajuan yang terdokumentasi, tetapi masih ada hambatan teknis, hukum, atau keterbukaan data.</a:t>
            </a:r>
          </a:p>
        </p:txBody>
      </p:sp>
      <p:sp>
        <p:nvSpPr>
          <p:cNvPr id="226" name="Skor"/>
          <p:cNvSpPr/>
          <p:nvPr/>
        </p:nvSpPr>
        <p:spPr>
          <a:xfrm>
            <a:off x="640080" y="5657088"/>
            <a:ext cx="914400" cy="329184"/>
          </a:xfrm>
          <a:prstGeom prst="rect">
            <a:avLst/>
          </a:prstGeom>
          <a:solidFill>
            <a:srgbClr val="B3402F"/>
          </a:solidFill>
          <a:ln>
            <a:noFill/>
          </a:ln>
        </p:spPr>
        <p:txBody>
          <a:bodyPr wrap="square" lIns="45720" tIns="0" rIns="45720" bIns="0" rtlCol="0" anchor="ctr"/>
          <a:lstStyle/>
          <a:p>
            <a:pPr marL="0" indent="0" algn="ctr">
              <a:buNone/>
            </a:pPr>
            <a:r>
              <a:rPr lang="id-ID" sz="1100" b="1" dirty="0">
                <a:solidFill>
                  <a:srgbClr val="FFFFFF"/>
                </a:solidFill>
                <a:latin typeface="Calibri" pitchFamily="34" charset="0"/>
                <a:ea typeface="Calibri" pitchFamily="34" charset="-122"/>
                <a:cs typeface="Calibri" pitchFamily="34" charset="-120"/>
              </a:rPr>
              <a:t>Rendah</a:t>
            </a:r>
          </a:p>
        </p:txBody>
      </p:sp>
      <p:sp>
        <p:nvSpPr>
          <p:cNvPr id="227" name="Kriteria Rendah"/>
          <p:cNvSpPr txBox="1"/>
          <p:nvPr/>
        </p:nvSpPr>
        <p:spPr>
          <a:xfrm>
            <a:off x="1691640" y="5425440"/>
            <a:ext cx="4983480" cy="792480"/>
          </a:xfrm>
          <a:prstGeom prst="rect">
            <a:avLst/>
          </a:prstGeom>
          <a:noFill/>
          <a:ln/>
        </p:spPr>
        <p:txBody>
          <a:bodyPr wrap="square" lIns="0" tIns="0" rIns="0" bIns="0" rtlCol="0" anchor="ctr"/>
          <a:lstStyle/>
          <a:p>
            <a:pPr marL="0" indent="0" algn="l">
              <a:buNone/>
            </a:pPr>
            <a:r>
              <a:rPr lang="id-ID" sz="1200" dirty="0">
                <a:solidFill>
                  <a:srgbClr val="1B2B2A"/>
                </a:solidFill>
                <a:latin typeface="Calibri" pitchFamily="34" charset="0"/>
                <a:ea typeface="Calibri" pitchFamily="34" charset="-122"/>
                <a:cs typeface="Calibri" pitchFamily="34" charset="-120"/>
              </a:rPr>
              <a:t>Desain secara aktif menghambat strategi sirkular yang dinilai.</a:t>
            </a:r>
          </a:p>
        </p:txBody>
      </p:sp>
      <p:sp>
        <p:nvSpPr>
          <p:cNvPr id="228" name="Batasan"/>
          <p:cNvSpPr/>
          <p:nvPr/>
        </p:nvSpPr>
        <p:spPr>
          <a:xfrm>
            <a:off x="7040880" y="3337560"/>
            <a:ext cx="4693920" cy="2971800"/>
          </a:xfrm>
          <a:prstGeom prst="roundRect">
            <a:avLst>
              <a:gd name="adj" fmla="val 6452"/>
            </a:avLst>
          </a:prstGeom>
          <a:solidFill>
            <a:srgbClr val="F4F8F6"/>
          </a:solidFill>
          <a:ln w="9525">
            <a:solidFill>
              <a:srgbClr val="D5E2DD"/>
            </a:solidFill>
          </a:ln>
          <a:effectLst>
            <a:outerShdw blurRad="76200" dist="25400" dir="5400000" algn="bl" rotWithShape="0">
              <a:srgbClr val="000000">
                <a:alpha val="12000"/>
              </a:srgbClr>
            </a:outerShdw>
          </a:effectLst>
        </p:spPr>
      </p:sp>
      <p:sp>
        <p:nvSpPr>
          <p:cNvPr id="229" name="Judul batasan"/>
          <p:cNvSpPr txBox="1"/>
          <p:nvPr/>
        </p:nvSpPr>
        <p:spPr>
          <a:xfrm>
            <a:off x="7223760" y="3447288"/>
            <a:ext cx="4328160" cy="320040"/>
          </a:xfrm>
          <a:prstGeom prst="rect">
            <a:avLst/>
          </a:prstGeom>
          <a:noFill/>
          <a:ln/>
        </p:spPr>
        <p:txBody>
          <a:bodyPr wrap="square" lIns="0" tIns="0" rIns="0" bIns="0" rtlCol="0" anchor="t"/>
          <a:lstStyle/>
          <a:p>
            <a:pPr marL="0" indent="0" algn="l">
              <a:buNone/>
            </a:pPr>
            <a:r>
              <a:rPr lang="id-ID" sz="1500" b="1" dirty="0">
                <a:solidFill>
                  <a:srgbClr val="B5651D"/>
                </a:solidFill>
                <a:latin typeface="Cambria" pitchFamily="34" charset="0"/>
                <a:ea typeface="Cambria" pitchFamily="34" charset="-122"/>
                <a:cs typeface="Cambria" pitchFamily="34" charset="-120"/>
              </a:rPr>
              <a:t>Batasan metode</a:t>
            </a:r>
          </a:p>
        </p:txBody>
      </p:sp>
      <p:sp>
        <p:nvSpPr>
          <p:cNvPr id="230" name="Isi batasan"/>
          <p:cNvSpPr txBox="1"/>
          <p:nvPr/>
        </p:nvSpPr>
        <p:spPr>
          <a:xfrm>
            <a:off x="7223760" y="3840480"/>
            <a:ext cx="4328160" cy="2377440"/>
          </a:xfrm>
          <a:prstGeom prst="rect">
            <a:avLst/>
          </a:prstGeom>
          <a:noFill/>
          <a:ln/>
        </p:spPr>
        <p:txBody>
          <a:bodyPr wrap="square" lIns="0" tIns="0" rIns="0" bIns="0" rtlCol="0" anchor="t"/>
          <a:lstStyle/>
          <a:p>
            <a:pPr marL="228600" indent="-228600" algn="l">
              <a:spcAft>
                <a:spcPts val="300"/>
              </a:spcAft>
              <a:buFont typeface="Arial"/>
              <a:buChar char="•"/>
            </a:pPr>
            <a:r>
              <a:rPr lang="id-ID" sz="1150" dirty="0">
                <a:solidFill>
                  <a:srgbClr val="1B2B2A"/>
                </a:solidFill>
                <a:latin typeface="Calibri" pitchFamily="34" charset="0"/>
                <a:ea typeface="Calibri" pitchFamily="34" charset="-122"/>
                <a:cs typeface="Calibri" pitchFamily="34" charset="-120"/>
              </a:rPr>
              <a:t>Sebagian besar data iPhone dilaporkan sendiri oleh Apple dan belum diverifikasi pihak ketiga.</a:t>
            </a:r>
          </a:p>
          <a:p>
            <a:pPr marL="228600" indent="-228600" algn="l">
              <a:spcAft>
                <a:spcPts val="300"/>
              </a:spcAft>
              <a:buFont typeface="Arial"/>
              <a:buChar char="•"/>
            </a:pPr>
            <a:r>
              <a:rPr lang="id-ID" sz="1150" dirty="0">
                <a:solidFill>
                  <a:srgbClr val="1B2B2A"/>
                </a:solidFill>
                <a:latin typeface="Calibri" pitchFamily="34" charset="0"/>
                <a:ea typeface="Calibri" pitchFamily="34" charset="-122"/>
                <a:cs typeface="Calibri" pitchFamily="34" charset="-120"/>
              </a:rPr>
              <a:t>Penulis tidak melakukan uji laboratorium atau pembongkaran fisik.</a:t>
            </a:r>
          </a:p>
          <a:p>
            <a:pPr marL="228600" indent="-228600" algn="l">
              <a:spcAft>
                <a:spcPts val="300"/>
              </a:spcAft>
              <a:buFont typeface="Arial"/>
              <a:buChar char="•"/>
            </a:pPr>
            <a:r>
              <a:rPr lang="id-ID" sz="1150" dirty="0">
                <a:solidFill>
                  <a:srgbClr val="1B2B2A"/>
                </a:solidFill>
                <a:latin typeface="Calibri" pitchFamily="34" charset="0"/>
                <a:ea typeface="Calibri" pitchFamily="34" charset="-122"/>
                <a:cs typeface="Calibri" pitchFamily="34" charset="-120"/>
              </a:rPr>
              <a:t>Skor bersifat kualitatif (penilaian penulis) dan dapat diperdebatkan.</a:t>
            </a:r>
          </a:p>
          <a:p>
            <a:pPr marL="228600" indent="-228600" algn="l">
              <a:spcAft>
                <a:spcPts val="300"/>
              </a:spcAft>
              <a:buFont typeface="Arial"/>
              <a:buChar char="•"/>
            </a:pPr>
            <a:r>
              <a:rPr lang="id-ID" sz="1150" dirty="0">
                <a:solidFill>
                  <a:srgbClr val="1B2B2A"/>
                </a:solidFill>
                <a:latin typeface="Calibri" pitchFamily="34" charset="0"/>
                <a:ea typeface="Calibri" pitchFamily="34" charset="-122"/>
                <a:cs typeface="Calibri" pitchFamily="34" charset="-120"/>
              </a:rPr>
              <a:t>Unit fungsional: 1 tahun layanan per pengguna; batas sistem dari bahan baku hingga pemulihan.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4F8F6"/>
        </a:solidFill>
        <a:effectLst/>
      </p:bgPr>
    </p:bg>
    <p:spTree>
      <p:nvGrpSpPr>
        <p:cNvPr id="1" name=""/>
        <p:cNvGrpSpPr/>
        <p:nvPr/>
      </p:nvGrpSpPr>
      <p:grpSpPr>
        <a:xfrm>
          <a:off x="0" y="0"/>
          <a:ext cx="0" cy="0"/>
          <a:chOff x="0" y="0"/>
          <a:chExt cx="0" cy="0"/>
        </a:xfrm>
      </p:grpSpPr>
      <p:sp>
        <p:nvSpPr>
          <p:cNvPr id="2" name="badge"/>
          <p:cNvSpPr/>
          <p:nvPr/>
        </p:nvSpPr>
        <p:spPr>
          <a:xfrm>
            <a:off x="457200" y="384048"/>
            <a:ext cx="566928" cy="566928"/>
          </a:xfrm>
          <a:prstGeom prst="ellipse">
            <a:avLst/>
          </a:prstGeom>
          <a:solidFill>
            <a:srgbClr val="1F6F5C"/>
          </a:solidFill>
          <a:ln w="12700">
            <a:solidFill>
              <a:srgbClr val="1F6F5C"/>
            </a:solidFill>
            <a:prstDash val="solid"/>
          </a:ln>
        </p:spPr>
      </p:sp>
      <p:sp>
        <p:nvSpPr>
          <p:cNvPr id="3" name="Text 1"/>
          <p:cNvSpPr txBox="1"/>
          <p:nvPr/>
        </p:nvSpPr>
        <p:spPr>
          <a:xfrm>
            <a:off x="457200" y="384048"/>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4" name="Text 2"/>
          <p:cNvSpPr txBox="1"/>
          <p:nvPr/>
        </p:nvSpPr>
        <p:spPr>
          <a:xfrm>
            <a:off x="1188720" y="292608"/>
            <a:ext cx="9692640" cy="457200"/>
          </a:xfrm>
          <a:prstGeom prst="rect">
            <a:avLst/>
          </a:prstGeom>
          <a:noFill/>
          <a:ln/>
        </p:spPr>
        <p:txBody>
          <a:bodyPr wrap="square" lIns="0" tIns="0" rIns="0" bIns="0" rtlCol="0" anchor="ctr"/>
          <a:lstStyle/>
          <a:p>
            <a:pPr marL="0" indent="0">
              <a:buNone/>
            </a:pPr>
            <a:r>
              <a:rPr lang="en-US" sz="3000" b="1" dirty="0">
                <a:solidFill>
                  <a:srgbClr val="12302B"/>
                </a:solidFill>
                <a:latin typeface="Cambria" pitchFamily="34" charset="0"/>
                <a:ea typeface="Cambria" pitchFamily="34" charset="-122"/>
                <a:cs typeface="Cambria" pitchFamily="34" charset="-120"/>
              </a:rPr>
              <a:t>Bukti implementasi: Design Audit Matrix</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2065842783"/>
              </p:ext>
            </p:extLst>
          </p:nvPr>
        </p:nvGraphicFramePr>
        <p:xfrm>
          <a:off x="457200" y="1280160"/>
          <a:ext cx="7406640" cy="3594664"/>
        </p:xfrm>
        <a:graphic>
          <a:graphicData uri="http://schemas.openxmlformats.org/drawingml/2006/table">
            <a:tbl>
              <a:tblPr/>
              <a:tblGrid>
                <a:gridCol w="219456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449333">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Parameter</a:t>
                      </a:r>
                      <a:endParaRPr lang="en-US" sz="1300" dirty="0">
                        <a:latin typeface="Calibri" charset="0"/>
                        <a:ea typeface="Calibri" charset="0"/>
                        <a:cs typeface="Calibri" charset="0"/>
                      </a:endParaRPr>
                    </a:p>
                  </a:txBody>
                  <a:tcPr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12302B"/>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Evaluasi kondisi eksisting</a:t>
                      </a:r>
                      <a:endParaRPr lang="en-US" sz="1300" dirty="0">
                        <a:latin typeface="Calibri" charset="0"/>
                        <a:ea typeface="Calibri" charset="0"/>
                        <a:cs typeface="Calibri" charset="0"/>
                      </a:endParaRPr>
                    </a:p>
                  </a:txBody>
                  <a:tcPr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12302B"/>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Skor</a:t>
                      </a:r>
                      <a:endParaRPr lang="en-US" sz="1300" dirty="0">
                        <a:latin typeface="Calibri" charset="0"/>
                        <a:ea typeface="Calibri" charset="0"/>
                        <a:cs typeface="Calibri" charset="0"/>
                      </a:endParaRPr>
                    </a:p>
                  </a:txBody>
                  <a:tcPr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12302B"/>
                    </a:solidFill>
                  </a:tcPr>
                </a:tc>
                <a:extLst>
                  <a:ext uri="{0D108BD9-81ED-4DB2-BD59-A6C34878D82A}">
                    <a16:rowId xmlns:a16="http://schemas.microsoft.com/office/drawing/2014/main" val="10000"/>
                  </a:ext>
                </a:extLst>
              </a:tr>
              <a:tr h="449333">
                <a:tc>
                  <a:txBody>
                    <a:bodyPr/>
                    <a:lstStyle/>
                    <a:p>
                      <a:pPr marL="0" indent="0">
                        <a:buNone/>
                      </a:pPr>
                      <a:r>
                        <a:rPr lang="en-US" sz="1300" b="1" dirty="0">
                          <a:solidFill>
                            <a:srgbClr val="12302B"/>
                          </a:solidFill>
                          <a:latin typeface="Calibri" pitchFamily="34" charset="0"/>
                          <a:ea typeface="Calibri" pitchFamily="34" charset="-122"/>
                          <a:cs typeface="Calibri" pitchFamily="34" charset="-120"/>
                        </a:rPr>
                        <a:t>Material</a:t>
                      </a:r>
                      <a:endParaRPr lang="en-US" sz="1300" dirty="0">
                        <a:latin typeface="Calibri" charset="0"/>
                        <a:ea typeface="Calibri" charset="0"/>
                        <a:cs typeface="Calibri" charset="0"/>
                      </a:endParaRPr>
                    </a:p>
                  </a:txBody>
                  <a:tcPr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FFFFFF"/>
                    </a:solidFill>
                  </a:tcPr>
                </a:tc>
                <a:tc>
                  <a:txBody>
                    <a:bodyPr/>
                    <a:lstStyle/>
                    <a:p>
                      <a:pPr marL="0" indent="0">
                        <a:buNone/>
                      </a:pPr>
                      <a:r>
                        <a:rPr lang="en-US" sz="1300" dirty="0">
                          <a:solidFill>
                            <a:srgbClr val="1B2B2A"/>
                          </a:solidFill>
                          <a:latin typeface="Calibri" pitchFamily="34" charset="0"/>
                          <a:ea typeface="Calibri" pitchFamily="34" charset="-122"/>
                          <a:cs typeface="Calibri" pitchFamily="34" charset="-120"/>
                        </a:rPr>
                        <a:t>Aluminium 85% dan kobalt 100% daur ulang</a:t>
                      </a:r>
                      <a:endParaRPr lang="en-US" sz="1300" dirty="0">
                        <a:latin typeface="Calibri" charset="0"/>
                        <a:ea typeface="Calibri" charset="0"/>
                        <a:cs typeface="Calibri" charset="0"/>
                      </a:endParaRPr>
                    </a:p>
                  </a:txBody>
                  <a:tcPr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Tinggi</a:t>
                      </a:r>
                      <a:endParaRPr lang="en-US" sz="1300" dirty="0">
                        <a:latin typeface="Calibri" charset="0"/>
                        <a:ea typeface="Calibri" charset="0"/>
                        <a:cs typeface="Calibri" charset="0"/>
                      </a:endParaRPr>
                    </a:p>
                  </a:txBody>
                  <a:tcPr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1F6F5C"/>
                    </a:solidFill>
                  </a:tcPr>
                </a:tc>
                <a:extLst>
                  <a:ext uri="{0D108BD9-81ED-4DB2-BD59-A6C34878D82A}">
                    <a16:rowId xmlns:a16="http://schemas.microsoft.com/office/drawing/2014/main" val="10001"/>
                  </a:ext>
                </a:extLst>
              </a:tr>
              <a:tr h="449333">
                <a:tc>
                  <a:txBody>
                    <a:bodyPr/>
                    <a:lstStyle/>
                    <a:p>
                      <a:pPr marL="0" indent="0">
                        <a:buNone/>
                      </a:pPr>
                      <a:r>
                        <a:rPr lang="en-US" sz="1300" b="1" dirty="0">
                          <a:solidFill>
                            <a:srgbClr val="12302B"/>
                          </a:solidFill>
                          <a:latin typeface="Calibri" pitchFamily="34" charset="0"/>
                          <a:ea typeface="Calibri" pitchFamily="34" charset="-122"/>
                          <a:cs typeface="Calibri" pitchFamily="34" charset="-120"/>
                        </a:rPr>
                        <a:t>Modularitas</a:t>
                      </a:r>
                      <a:endParaRPr lang="en-US" sz="1300" dirty="0">
                        <a:latin typeface="Calibri" charset="0"/>
                        <a:ea typeface="Calibri" charset="0"/>
                        <a:cs typeface="Calibri" charset="0"/>
                      </a:endParaRPr>
                    </a:p>
                  </a:txBody>
                  <a:tcPr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FFFFFF"/>
                    </a:solidFill>
                  </a:tcPr>
                </a:tc>
                <a:tc>
                  <a:txBody>
                    <a:bodyPr/>
                    <a:lstStyle/>
                    <a:p>
                      <a:pPr marL="0" indent="0">
                        <a:buNone/>
                      </a:pPr>
                      <a:r>
                        <a:rPr lang="en-US" sz="1300" dirty="0">
                          <a:solidFill>
                            <a:srgbClr val="1B2B2A"/>
                          </a:solidFill>
                          <a:latin typeface="Calibri" pitchFamily="34" charset="0"/>
                          <a:ea typeface="Calibri" pitchFamily="34" charset="-122"/>
                          <a:cs typeface="Calibri" pitchFamily="34" charset="-120"/>
                        </a:rPr>
                        <a:t>Tidak modular; fungsi terpadu</a:t>
                      </a:r>
                      <a:endParaRPr lang="en-US" sz="1300" dirty="0">
                        <a:latin typeface="Calibri" charset="0"/>
                        <a:ea typeface="Calibri" charset="0"/>
                        <a:cs typeface="Calibri" charset="0"/>
                      </a:endParaRPr>
                    </a:p>
                  </a:txBody>
                  <a:tcPr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Rendah</a:t>
                      </a:r>
                      <a:endParaRPr lang="en-US" sz="1300" dirty="0">
                        <a:latin typeface="Calibri" charset="0"/>
                        <a:ea typeface="Calibri" charset="0"/>
                        <a:cs typeface="Calibri" charset="0"/>
                      </a:endParaRPr>
                    </a:p>
                  </a:txBody>
                  <a:tcPr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B3402F"/>
                    </a:solidFill>
                  </a:tcPr>
                </a:tc>
                <a:extLst>
                  <a:ext uri="{0D108BD9-81ED-4DB2-BD59-A6C34878D82A}">
                    <a16:rowId xmlns:a16="http://schemas.microsoft.com/office/drawing/2014/main" val="10002"/>
                  </a:ext>
                </a:extLst>
              </a:tr>
              <a:tr h="449333">
                <a:tc>
                  <a:txBody>
                    <a:bodyPr/>
                    <a:lstStyle/>
                    <a:p>
                      <a:pPr marL="0" indent="0">
                        <a:buNone/>
                      </a:pPr>
                      <a:r>
                        <a:rPr lang="en-US" sz="1300" b="1" dirty="0">
                          <a:solidFill>
                            <a:srgbClr val="12302B"/>
                          </a:solidFill>
                          <a:latin typeface="Calibri" pitchFamily="34" charset="0"/>
                          <a:ea typeface="Calibri" pitchFamily="34" charset="-122"/>
                          <a:cs typeface="Calibri" pitchFamily="34" charset="-120"/>
                        </a:rPr>
                        <a:t>Durabilitas (durability)</a:t>
                      </a:r>
                      <a:endParaRPr lang="en-US" sz="1300" dirty="0">
                        <a:latin typeface="Calibri" charset="0"/>
                        <a:ea typeface="Calibri" charset="0"/>
                        <a:cs typeface="Calibri" charset="0"/>
                      </a:endParaRPr>
                    </a:p>
                  </a:txBody>
                  <a:tcPr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FFFFFF"/>
                    </a:solidFill>
                  </a:tcPr>
                </a:tc>
                <a:tc>
                  <a:txBody>
                    <a:bodyPr/>
                    <a:lstStyle/>
                    <a:p>
                      <a:pPr marL="0" indent="0">
                        <a:buNone/>
                      </a:pPr>
                      <a:r>
                        <a:rPr lang="en-US" sz="1300" dirty="0">
                          <a:solidFill>
                            <a:srgbClr val="1B2B2A"/>
                          </a:solidFill>
                          <a:latin typeface="Calibri" pitchFamily="34" charset="0"/>
                          <a:ea typeface="Calibri" pitchFamily="34" charset="-122"/>
                          <a:cs typeface="Calibri" pitchFamily="34" charset="-120"/>
                        </a:rPr>
                        <a:t>1.000 siklus @80% (klaim Apple); umur aktual tidak dipublikasikan</a:t>
                      </a:r>
                      <a:endParaRPr lang="en-US" sz="1300" dirty="0">
                        <a:latin typeface="Calibri" charset="0"/>
                        <a:ea typeface="Calibri" charset="0"/>
                        <a:cs typeface="Calibri" charset="0"/>
                      </a:endParaRPr>
                    </a:p>
                  </a:txBody>
                  <a:tcPr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Tinggi</a:t>
                      </a:r>
                      <a:endParaRPr lang="en-US" sz="1300" dirty="0">
                        <a:latin typeface="Calibri" charset="0"/>
                        <a:ea typeface="Calibri" charset="0"/>
                        <a:cs typeface="Calibri" charset="0"/>
                      </a:endParaRPr>
                    </a:p>
                  </a:txBody>
                  <a:tcPr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1F6F5C"/>
                    </a:solidFill>
                  </a:tcPr>
                </a:tc>
                <a:extLst>
                  <a:ext uri="{0D108BD9-81ED-4DB2-BD59-A6C34878D82A}">
                    <a16:rowId xmlns:a16="http://schemas.microsoft.com/office/drawing/2014/main" val="10003"/>
                  </a:ext>
                </a:extLst>
              </a:tr>
              <a:tr h="449333">
                <a:tc>
                  <a:txBody>
                    <a:bodyPr/>
                    <a:lstStyle/>
                    <a:p>
                      <a:pPr marL="0" indent="0">
                        <a:buNone/>
                      </a:pPr>
                      <a:r>
                        <a:rPr lang="en-US" sz="1300" b="1" dirty="0">
                          <a:solidFill>
                            <a:srgbClr val="12302B"/>
                          </a:solidFill>
                          <a:latin typeface="Calibri" pitchFamily="34" charset="0"/>
                          <a:ea typeface="Calibri" pitchFamily="34" charset="-122"/>
                          <a:cs typeface="Calibri" pitchFamily="34" charset="-120"/>
                        </a:rPr>
                        <a:t>Reparasi (repairability)</a:t>
                      </a:r>
                      <a:endParaRPr lang="en-US" sz="1300" dirty="0">
                        <a:latin typeface="Calibri" charset="0"/>
                        <a:ea typeface="Calibri" charset="0"/>
                        <a:cs typeface="Calibri" charset="0"/>
                      </a:endParaRPr>
                    </a:p>
                  </a:txBody>
                  <a:tcPr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FFFFFF"/>
                    </a:solidFill>
                  </a:tcPr>
                </a:tc>
                <a:tc>
                  <a:txBody>
                    <a:bodyPr/>
                    <a:lstStyle/>
                    <a:p>
                      <a:pPr marL="0" indent="0">
                        <a:buNone/>
                      </a:pPr>
                      <a:r>
                        <a:rPr lang="en-US" sz="1300" dirty="0">
                          <a:solidFill>
                            <a:srgbClr val="1B2B2A"/>
                          </a:solidFill>
                          <a:latin typeface="Calibri" pitchFamily="34" charset="0"/>
                          <a:ea typeface="Calibri" pitchFamily="34" charset="-122"/>
                          <a:cs typeface="Calibri" pitchFamily="34" charset="-120"/>
                        </a:rPr>
                        <a:t>Self Service Repair; penyandingan dan kalibrasi; iFixit 7/10</a:t>
                      </a:r>
                      <a:endParaRPr lang="en-US" sz="1300" dirty="0">
                        <a:latin typeface="Calibri" charset="0"/>
                        <a:ea typeface="Calibri" charset="0"/>
                        <a:cs typeface="Calibri" charset="0"/>
                      </a:endParaRPr>
                    </a:p>
                  </a:txBody>
                  <a:tcPr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Sedang</a:t>
                      </a:r>
                      <a:endParaRPr lang="en-US" sz="1300" dirty="0">
                        <a:latin typeface="Calibri" charset="0"/>
                        <a:ea typeface="Calibri" charset="0"/>
                        <a:cs typeface="Calibri" charset="0"/>
                      </a:endParaRPr>
                    </a:p>
                  </a:txBody>
                  <a:tcPr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C98A12"/>
                    </a:solidFill>
                  </a:tcPr>
                </a:tc>
                <a:extLst>
                  <a:ext uri="{0D108BD9-81ED-4DB2-BD59-A6C34878D82A}">
                    <a16:rowId xmlns:a16="http://schemas.microsoft.com/office/drawing/2014/main" val="10004"/>
                  </a:ext>
                </a:extLst>
              </a:tr>
              <a:tr h="449333">
                <a:tc>
                  <a:txBody>
                    <a:bodyPr/>
                    <a:lstStyle/>
                    <a:p>
                      <a:pPr marL="0" indent="0">
                        <a:buNone/>
                      </a:pPr>
                      <a:r>
                        <a:rPr lang="en-US" sz="1300" b="1" dirty="0">
                          <a:solidFill>
                            <a:srgbClr val="12302B"/>
                          </a:solidFill>
                          <a:latin typeface="Calibri" pitchFamily="34" charset="0"/>
                          <a:ea typeface="Calibri" pitchFamily="34" charset="-122"/>
                          <a:cs typeface="Calibri" pitchFamily="34" charset="-120"/>
                        </a:rPr>
                        <a:t>Pembongkaran (disassembly)</a:t>
                      </a:r>
                      <a:endParaRPr lang="en-US" sz="1300" dirty="0">
                        <a:latin typeface="Calibri" charset="0"/>
                        <a:ea typeface="Calibri" charset="0"/>
                        <a:cs typeface="Calibri" charset="0"/>
                      </a:endParaRPr>
                    </a:p>
                  </a:txBody>
                  <a:tcPr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FFFFFF"/>
                    </a:solidFill>
                  </a:tcPr>
                </a:tc>
                <a:tc>
                  <a:txBody>
                    <a:bodyPr/>
                    <a:lstStyle/>
                    <a:p>
                      <a:pPr marL="0" indent="0">
                        <a:buNone/>
                      </a:pPr>
                      <a:r>
                        <a:rPr lang="en-US" sz="1300" dirty="0">
                          <a:solidFill>
                            <a:srgbClr val="1B2B2A"/>
                          </a:solidFill>
                          <a:latin typeface="Calibri" pitchFamily="34" charset="0"/>
                          <a:ea typeface="Calibri" pitchFamily="34" charset="-122"/>
                          <a:cs typeface="Calibri" pitchFamily="34" charset="-120"/>
                        </a:rPr>
                        <a:t>Baterai lepas-listrik ±90 dtk; layar tetap disegel</a:t>
                      </a:r>
                      <a:endParaRPr lang="en-US" sz="1300" dirty="0">
                        <a:latin typeface="Calibri" charset="0"/>
                        <a:ea typeface="Calibri" charset="0"/>
                        <a:cs typeface="Calibri" charset="0"/>
                      </a:endParaRPr>
                    </a:p>
                  </a:txBody>
                  <a:tcPr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Sedang</a:t>
                      </a:r>
                      <a:endParaRPr lang="en-US" sz="1300" dirty="0">
                        <a:latin typeface="Calibri" charset="0"/>
                        <a:ea typeface="Calibri" charset="0"/>
                        <a:cs typeface="Calibri" charset="0"/>
                      </a:endParaRPr>
                    </a:p>
                  </a:txBody>
                  <a:tcPr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C98A12"/>
                    </a:solidFill>
                  </a:tcPr>
                </a:tc>
                <a:extLst>
                  <a:ext uri="{0D108BD9-81ED-4DB2-BD59-A6C34878D82A}">
                    <a16:rowId xmlns:a16="http://schemas.microsoft.com/office/drawing/2014/main" val="10005"/>
                  </a:ext>
                </a:extLst>
              </a:tr>
              <a:tr h="449333">
                <a:tc>
                  <a:txBody>
                    <a:bodyPr/>
                    <a:lstStyle/>
                    <a:p>
                      <a:pPr marL="0" indent="0">
                        <a:buNone/>
                      </a:pPr>
                      <a:r>
                        <a:rPr lang="en-US" sz="1300" b="1" dirty="0">
                          <a:solidFill>
                            <a:srgbClr val="12302B"/>
                          </a:solidFill>
                          <a:latin typeface="Calibri" pitchFamily="34" charset="0"/>
                          <a:ea typeface="Calibri" pitchFamily="34" charset="-122"/>
                          <a:cs typeface="Calibri" pitchFamily="34" charset="-120"/>
                        </a:rPr>
                        <a:t>Dukungan perangkat lunak</a:t>
                      </a:r>
                      <a:endParaRPr lang="en-US" sz="1300" dirty="0">
                        <a:latin typeface="Calibri" charset="0"/>
                        <a:ea typeface="Calibri" charset="0"/>
                        <a:cs typeface="Calibri" charset="0"/>
                      </a:endParaRPr>
                    </a:p>
                  </a:txBody>
                  <a:tcPr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FFFFFF"/>
                    </a:solidFill>
                  </a:tcPr>
                </a:tc>
                <a:tc>
                  <a:txBody>
                    <a:bodyPr/>
                    <a:lstStyle/>
                    <a:p>
                      <a:pPr marL="0" indent="0">
                        <a:buNone/>
                      </a:pPr>
                      <a:r>
                        <a:rPr lang="en-US" sz="1300" dirty="0">
                          <a:solidFill>
                            <a:srgbClr val="1B2B2A"/>
                          </a:solidFill>
                          <a:latin typeface="Calibri" pitchFamily="34" charset="0"/>
                          <a:ea typeface="Calibri" pitchFamily="34" charset="-122"/>
                          <a:cs typeface="Calibri" pitchFamily="34" charset="-120"/>
                        </a:rPr>
                        <a:t>Min. 5 tahun pembaruan keamanan (PSTI); UE wajib OS 5 tahun</a:t>
                      </a:r>
                      <a:endParaRPr lang="en-US" sz="1300" dirty="0">
                        <a:latin typeface="Calibri" charset="0"/>
                        <a:ea typeface="Calibri" charset="0"/>
                        <a:cs typeface="Calibri" charset="0"/>
                      </a:endParaRPr>
                    </a:p>
                  </a:txBody>
                  <a:tcPr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Sedang</a:t>
                      </a:r>
                      <a:endParaRPr lang="en-US" sz="1300" dirty="0">
                        <a:latin typeface="Calibri" charset="0"/>
                        <a:ea typeface="Calibri" charset="0"/>
                        <a:cs typeface="Calibri" charset="0"/>
                      </a:endParaRPr>
                    </a:p>
                  </a:txBody>
                  <a:tcPr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C98A12"/>
                    </a:solidFill>
                  </a:tcPr>
                </a:tc>
                <a:extLst>
                  <a:ext uri="{0D108BD9-81ED-4DB2-BD59-A6C34878D82A}">
                    <a16:rowId xmlns:a16="http://schemas.microsoft.com/office/drawing/2014/main" val="10006"/>
                  </a:ext>
                </a:extLst>
              </a:tr>
              <a:tr h="4493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300" b="1" dirty="0">
                          <a:solidFill>
                            <a:srgbClr val="12302B"/>
                          </a:solidFill>
                          <a:latin typeface="Calibri" pitchFamily="34" charset="0"/>
                          <a:ea typeface="Calibri" pitchFamily="34" charset="-122"/>
                          <a:cs typeface="Calibri" pitchFamily="34" charset="-120"/>
                        </a:rPr>
                        <a:t>Akhir masa </a:t>
                      </a:r>
                      <a:r>
                        <a:rPr lang="en-US" sz="1300" b="1" dirty="0" err="1">
                          <a:solidFill>
                            <a:srgbClr val="12302B"/>
                          </a:solidFill>
                          <a:latin typeface="Calibri" pitchFamily="34" charset="0"/>
                          <a:ea typeface="Calibri" pitchFamily="34" charset="-122"/>
                          <a:cs typeface="Calibri" pitchFamily="34" charset="-120"/>
                        </a:rPr>
                        <a:t>pakai</a:t>
                      </a:r>
                      <a:r>
                        <a:rPr lang="en-US" sz="1300" b="1" dirty="0">
                          <a:solidFill>
                            <a:srgbClr val="12302B"/>
                          </a:solidFill>
                          <a:latin typeface="Calibri" pitchFamily="34" charset="0"/>
                          <a:ea typeface="Calibri" pitchFamily="34" charset="-122"/>
                          <a:cs typeface="Calibri" pitchFamily="34" charset="-120"/>
                        </a:rPr>
                        <a:t> (</a:t>
                      </a:r>
                      <a:r>
                        <a:rPr lang="en-US" sz="1300" b="1" dirty="0" err="1">
                          <a:solidFill>
                            <a:srgbClr val="12302B"/>
                          </a:solidFill>
                          <a:latin typeface="Calibri" pitchFamily="34" charset="0"/>
                          <a:ea typeface="Calibri" pitchFamily="34" charset="-122"/>
                          <a:cs typeface="Calibri" pitchFamily="34" charset="-120"/>
                        </a:rPr>
                        <a:t>EoL</a:t>
                      </a:r>
                      <a:r>
                        <a:rPr lang="en-US" sz="1300" b="1" dirty="0">
                          <a:solidFill>
                            <a:srgbClr val="12302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FFFFFF"/>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300" dirty="0">
                          <a:solidFill>
                            <a:srgbClr val="1B2B2A"/>
                          </a:solidFill>
                          <a:latin typeface="Calibri" pitchFamily="34" charset="0"/>
                          <a:ea typeface="Calibri" pitchFamily="34" charset="-122"/>
                          <a:cs typeface="Calibri" pitchFamily="34" charset="-120"/>
                        </a:rPr>
                        <a:t>Trade In </a:t>
                      </a:r>
                      <a:r>
                        <a:rPr lang="en-US" sz="1300" dirty="0" err="1">
                          <a:solidFill>
                            <a:srgbClr val="1B2B2A"/>
                          </a:solidFill>
                          <a:latin typeface="Calibri" pitchFamily="34" charset="0"/>
                          <a:ea typeface="Calibri" pitchFamily="34" charset="-122"/>
                          <a:cs typeface="Calibri" pitchFamily="34" charset="-120"/>
                        </a:rPr>
                        <a:t>ada</a:t>
                      </a:r>
                      <a:r>
                        <a:rPr lang="en-US" sz="1300" dirty="0">
                          <a:solidFill>
                            <a:srgbClr val="1B2B2A"/>
                          </a:solidFill>
                          <a:latin typeface="Calibri" pitchFamily="34" charset="0"/>
                          <a:ea typeface="Calibri" pitchFamily="34" charset="-122"/>
                          <a:cs typeface="Calibri" pitchFamily="34" charset="-120"/>
                        </a:rPr>
                        <a:t>; data </a:t>
                      </a:r>
                      <a:r>
                        <a:rPr lang="en-US" sz="1300" dirty="0" err="1">
                          <a:solidFill>
                            <a:srgbClr val="1B2B2A"/>
                          </a:solidFill>
                          <a:latin typeface="Calibri" pitchFamily="34" charset="0"/>
                          <a:ea typeface="Calibri" pitchFamily="34" charset="-122"/>
                          <a:cs typeface="Calibri" pitchFamily="34" charset="-120"/>
                        </a:rPr>
                        <a:t>pengumpulan</a:t>
                      </a:r>
                      <a:r>
                        <a:rPr lang="en-US" sz="1300" dirty="0">
                          <a:solidFill>
                            <a:srgbClr val="1B2B2A"/>
                          </a:solidFill>
                          <a:latin typeface="Calibri" pitchFamily="34" charset="0"/>
                          <a:ea typeface="Calibri" pitchFamily="34" charset="-122"/>
                          <a:cs typeface="Calibri" pitchFamily="34" charset="-120"/>
                        </a:rPr>
                        <a:t> </a:t>
                      </a:r>
                      <a:r>
                        <a:rPr lang="en-US" sz="1300" dirty="0" err="1">
                          <a:solidFill>
                            <a:srgbClr val="1B2B2A"/>
                          </a:solidFill>
                          <a:latin typeface="Calibri" pitchFamily="34" charset="0"/>
                          <a:ea typeface="Calibri" pitchFamily="34" charset="-122"/>
                          <a:cs typeface="Calibri" pitchFamily="34" charset="-120"/>
                        </a:rPr>
                        <a:t>tidak</a:t>
                      </a:r>
                      <a:r>
                        <a:rPr lang="en-US" sz="1300" dirty="0">
                          <a:solidFill>
                            <a:srgbClr val="1B2B2A"/>
                          </a:solidFill>
                          <a:latin typeface="Calibri" pitchFamily="34" charset="0"/>
                          <a:ea typeface="Calibri" pitchFamily="34" charset="-122"/>
                          <a:cs typeface="Calibri" pitchFamily="34" charset="-120"/>
                        </a:rPr>
                        <a:t> </a:t>
                      </a:r>
                      <a:r>
                        <a:rPr lang="en-US" sz="1300" dirty="0" err="1">
                          <a:solidFill>
                            <a:srgbClr val="1B2B2A"/>
                          </a:solidFill>
                          <a:latin typeface="Calibri" pitchFamily="34" charset="0"/>
                          <a:ea typeface="Calibri" pitchFamily="34" charset="-122"/>
                          <a:cs typeface="Calibri" pitchFamily="34" charset="-120"/>
                        </a:rPr>
                        <a:t>terbuka</a:t>
                      </a:r>
                      <a:endParaRPr lang="en-US" sz="1300" dirty="0">
                        <a:latin typeface="Calibri" charset="0"/>
                        <a:ea typeface="Calibri" charset="0"/>
                        <a:cs typeface="Calibri" charset="0"/>
                      </a:endParaRPr>
                    </a:p>
                  </a:txBody>
                  <a:tcPr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FFFF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300" b="1" dirty="0">
                          <a:solidFill>
                            <a:srgbClr val="FFFFFF"/>
                          </a:solidFill>
                          <a:latin typeface="Calibri" pitchFamily="34" charset="0"/>
                          <a:ea typeface="Calibri" pitchFamily="34" charset="-122"/>
                          <a:cs typeface="Calibri" pitchFamily="34" charset="-120"/>
                        </a:rPr>
                        <a:t>Sedang</a:t>
                      </a:r>
                      <a:endParaRPr lang="en-US" sz="1300" dirty="0">
                        <a:latin typeface="Calibri" charset="0"/>
                        <a:ea typeface="Calibri" charset="0"/>
                        <a:cs typeface="Calibri" charset="0"/>
                      </a:endParaRPr>
                    </a:p>
                  </a:txBody>
                  <a:tcPr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C98A12"/>
                    </a:solidFill>
                  </a:tcPr>
                </a:tc>
                <a:extLst>
                  <a:ext uri="{0D108BD9-81ED-4DB2-BD59-A6C34878D82A}">
                    <a16:rowId xmlns:a16="http://schemas.microsoft.com/office/drawing/2014/main" val="1816921107"/>
                  </a:ext>
                </a:extLst>
              </a:tr>
            </a:tbl>
          </a:graphicData>
        </a:graphic>
      </p:graphicFrame>
      <p:sp>
        <p:nvSpPr>
          <p:cNvPr id="7" name="Text 4"/>
          <p:cNvSpPr txBox="1"/>
          <p:nvPr/>
        </p:nvSpPr>
        <p:spPr>
          <a:xfrm>
            <a:off x="457200" y="5029200"/>
            <a:ext cx="7406640" cy="365760"/>
          </a:xfrm>
          <a:prstGeom prst="rect">
            <a:avLst/>
          </a:prstGeom>
          <a:noFill/>
          <a:ln/>
        </p:spPr>
        <p:txBody>
          <a:bodyPr wrap="square" lIns="0" tIns="0" rIns="0" bIns="0" rtlCol="0" anchor="t"/>
          <a:lstStyle/>
          <a:p>
            <a:pPr marL="0" indent="0">
              <a:buNone/>
            </a:pPr>
            <a:r>
              <a:rPr lang="en-US" sz="1400" b="1" dirty="0">
                <a:solidFill>
                  <a:srgbClr val="12302B"/>
                </a:solidFill>
                <a:latin typeface="Calibri" pitchFamily="34" charset="0"/>
                <a:ea typeface="Calibri" pitchFamily="34" charset="-122"/>
                <a:cs typeface="Calibri" pitchFamily="34" charset="-120"/>
              </a:rPr>
              <a:t>Kekuatan: material dan ketahanan. Hambatan: modularitas dan pembongkaran.</a:t>
            </a:r>
          </a:p>
          <a:p>
            <a:pPr marL="0" indent="0">
              <a:buNone/>
            </a:pPr>
            <a:r>
              <a:rPr lang="id-ID" sz="1000" i="1" dirty="0">
                <a:solidFill>
                  <a:srgbClr val="5B6B68"/>
                </a:solidFill>
              </a:rPr>
              <a:t>Sumber: Apple (2024a, 2024b); European Commission (2025); iFixit (2024). Skor: penilaian penulis.</a:t>
            </a:r>
            <a:endParaRPr lang="en-US" sz="1400" dirty="0"/>
          </a:p>
        </p:txBody>
      </p:sp>
      <p:sp>
        <p:nvSpPr>
          <p:cNvPr id="8" name="Text 5"/>
          <p:cNvSpPr txBox="1"/>
          <p:nvPr/>
        </p:nvSpPr>
        <p:spPr>
          <a:xfrm>
            <a:off x="8138160" y="1280160"/>
            <a:ext cx="3566160" cy="365760"/>
          </a:xfrm>
          <a:prstGeom prst="rect">
            <a:avLst/>
          </a:prstGeom>
          <a:noFill/>
          <a:ln/>
        </p:spPr>
        <p:txBody>
          <a:bodyPr wrap="square" lIns="0" tIns="0" rIns="0" bIns="0" rtlCol="0" anchor="t"/>
          <a:lstStyle/>
          <a:p>
            <a:pPr marL="0" indent="0">
              <a:buNone/>
            </a:pPr>
            <a:r>
              <a:rPr lang="en-US" sz="2000" b="1" dirty="0">
                <a:solidFill>
                  <a:srgbClr val="12302B"/>
                </a:solidFill>
                <a:latin typeface="Cambria" pitchFamily="34" charset="0"/>
                <a:ea typeface="Cambria" pitchFamily="34" charset="-122"/>
                <a:cs typeface="Cambria" pitchFamily="34" charset="-120"/>
              </a:rPr>
              <a:t>Bukti per pasar</a:t>
            </a:r>
            <a:endParaRPr lang="en-US" sz="2000" dirty="0"/>
          </a:p>
        </p:txBody>
      </p:sp>
      <p:sp>
        <p:nvSpPr>
          <p:cNvPr id="9" name="Shape 6"/>
          <p:cNvSpPr/>
          <p:nvPr/>
        </p:nvSpPr>
        <p:spPr>
          <a:xfrm>
            <a:off x="8138160" y="1737360"/>
            <a:ext cx="3593592" cy="1371600"/>
          </a:xfrm>
          <a:prstGeom prst="roundRect">
            <a:avLst>
              <a:gd name="adj" fmla="val 6667"/>
            </a:avLst>
          </a:prstGeom>
          <a:solidFill>
            <a:srgbClr val="FFFFFF"/>
          </a:solidFill>
          <a:ln w="9525">
            <a:solidFill>
              <a:srgbClr val="D5E2DD"/>
            </a:solidFill>
            <a:prstDash val="solid"/>
          </a:ln>
          <a:effectLst>
            <a:outerShdw blurRad="76200" dist="25400" dir="5400000" algn="bl" rotWithShape="0">
              <a:srgbClr val="000000">
                <a:alpha val="12000"/>
              </a:srgbClr>
            </a:outerShdw>
          </a:effectLst>
        </p:spPr>
      </p:sp>
      <p:sp>
        <p:nvSpPr>
          <p:cNvPr id="10" name="Shape 7"/>
          <p:cNvSpPr/>
          <p:nvPr/>
        </p:nvSpPr>
        <p:spPr>
          <a:xfrm>
            <a:off x="8321040" y="1901952"/>
            <a:ext cx="256032" cy="256032"/>
          </a:xfrm>
          <a:prstGeom prst="ellipse">
            <a:avLst/>
          </a:prstGeom>
          <a:solidFill>
            <a:srgbClr val="1F6F5C"/>
          </a:solidFill>
          <a:ln w="12700">
            <a:solidFill>
              <a:srgbClr val="1F6F5C"/>
            </a:solidFill>
            <a:prstDash val="solid"/>
          </a:ln>
        </p:spPr>
      </p:sp>
      <p:sp>
        <p:nvSpPr>
          <p:cNvPr id="11" name="Text 8"/>
          <p:cNvSpPr txBox="1"/>
          <p:nvPr/>
        </p:nvSpPr>
        <p:spPr>
          <a:xfrm>
            <a:off x="8686800" y="1865376"/>
            <a:ext cx="2926080" cy="320040"/>
          </a:xfrm>
          <a:prstGeom prst="rect">
            <a:avLst/>
          </a:prstGeom>
          <a:noFill/>
          <a:ln/>
        </p:spPr>
        <p:txBody>
          <a:bodyPr wrap="square" lIns="0" tIns="0" rIns="0" bIns="0" rtlCol="0" anchor="t"/>
          <a:lstStyle/>
          <a:p>
            <a:pPr marL="0" indent="0">
              <a:buNone/>
            </a:pPr>
            <a:r>
              <a:rPr lang="en-US" sz="1600" b="1" dirty="0">
                <a:solidFill>
                  <a:srgbClr val="12302B"/>
                </a:solidFill>
                <a:latin typeface="Cambria" pitchFamily="34" charset="0"/>
                <a:ea typeface="Cambria" pitchFamily="34" charset="-122"/>
                <a:cs typeface="Cambria" pitchFamily="34" charset="-120"/>
              </a:rPr>
              <a:t>Uni Eropa</a:t>
            </a:r>
            <a:endParaRPr lang="en-US" sz="1600" dirty="0"/>
          </a:p>
        </p:txBody>
      </p:sp>
      <p:sp>
        <p:nvSpPr>
          <p:cNvPr id="12" name="Text 9"/>
          <p:cNvSpPr txBox="1"/>
          <p:nvPr/>
        </p:nvSpPr>
        <p:spPr>
          <a:xfrm>
            <a:off x="8321040" y="2240280"/>
            <a:ext cx="3291840" cy="822960"/>
          </a:xfrm>
          <a:prstGeom prst="rect">
            <a:avLst/>
          </a:prstGeom>
          <a:noFill/>
          <a:ln/>
        </p:spPr>
        <p:txBody>
          <a:bodyPr wrap="square" lIns="0" tIns="0" rIns="0" bIns="0" rtlCol="0" anchor="t"/>
          <a:lstStyle/>
          <a:p>
            <a:pPr marL="0" indent="0">
              <a:buNone/>
            </a:pPr>
            <a:r>
              <a:rPr lang="en-US" sz="1300" dirty="0">
                <a:solidFill>
                  <a:srgbClr val="1B2B2A"/>
                </a:solidFill>
                <a:latin typeface="Calibri" pitchFamily="34" charset="0"/>
                <a:ea typeface="Calibri" pitchFamily="34" charset="-122"/>
                <a:cs typeface="Calibri" pitchFamily="34" charset="-120"/>
              </a:rPr>
              <a:t>Wajib sejak 20 Juni 2025: suku cadang 7 tahun, pembaruan 5 tahun, label reparasi A-E</a:t>
            </a:r>
            <a:endParaRPr lang="en-US" sz="1300" dirty="0"/>
          </a:p>
        </p:txBody>
      </p:sp>
      <p:sp>
        <p:nvSpPr>
          <p:cNvPr id="13" name="Shape 10"/>
          <p:cNvSpPr/>
          <p:nvPr/>
        </p:nvSpPr>
        <p:spPr>
          <a:xfrm>
            <a:off x="8138160" y="3246120"/>
            <a:ext cx="3593592" cy="1371600"/>
          </a:xfrm>
          <a:prstGeom prst="roundRect">
            <a:avLst>
              <a:gd name="adj" fmla="val 6667"/>
            </a:avLst>
          </a:prstGeom>
          <a:solidFill>
            <a:srgbClr val="FFFFFF"/>
          </a:solidFill>
          <a:ln w="9525">
            <a:solidFill>
              <a:srgbClr val="D5E2DD"/>
            </a:solidFill>
            <a:prstDash val="solid"/>
          </a:ln>
          <a:effectLst>
            <a:outerShdw blurRad="76200" dist="25400" dir="5400000" algn="bl" rotWithShape="0">
              <a:srgbClr val="000000">
                <a:alpha val="12000"/>
              </a:srgbClr>
            </a:outerShdw>
          </a:effectLst>
        </p:spPr>
      </p:sp>
      <p:sp>
        <p:nvSpPr>
          <p:cNvPr id="14" name="Shape 11"/>
          <p:cNvSpPr/>
          <p:nvPr/>
        </p:nvSpPr>
        <p:spPr>
          <a:xfrm>
            <a:off x="8321040" y="3410712"/>
            <a:ext cx="256032" cy="256032"/>
          </a:xfrm>
          <a:prstGeom prst="ellipse">
            <a:avLst/>
          </a:prstGeom>
          <a:solidFill>
            <a:srgbClr val="C98A12"/>
          </a:solidFill>
          <a:ln w="12700">
            <a:solidFill>
              <a:srgbClr val="C98A12"/>
            </a:solidFill>
            <a:prstDash val="solid"/>
          </a:ln>
        </p:spPr>
      </p:sp>
      <p:sp>
        <p:nvSpPr>
          <p:cNvPr id="15" name="Text 12"/>
          <p:cNvSpPr txBox="1"/>
          <p:nvPr/>
        </p:nvSpPr>
        <p:spPr>
          <a:xfrm>
            <a:off x="8686800" y="3374136"/>
            <a:ext cx="2926080" cy="320040"/>
          </a:xfrm>
          <a:prstGeom prst="rect">
            <a:avLst/>
          </a:prstGeom>
          <a:noFill/>
          <a:ln/>
        </p:spPr>
        <p:txBody>
          <a:bodyPr wrap="square" lIns="0" tIns="0" rIns="0" bIns="0" rtlCol="0" anchor="t"/>
          <a:lstStyle/>
          <a:p>
            <a:pPr marL="0" indent="0">
              <a:buNone/>
            </a:pPr>
            <a:r>
              <a:rPr lang="en-US" sz="1600" b="1" dirty="0">
                <a:solidFill>
                  <a:srgbClr val="12302B"/>
                </a:solidFill>
                <a:latin typeface="Cambria" pitchFamily="34" charset="0"/>
                <a:ea typeface="Cambria" pitchFamily="34" charset="-122"/>
                <a:cs typeface="Cambria" pitchFamily="34" charset="-120"/>
              </a:rPr>
              <a:t>Amerika Serikat</a:t>
            </a:r>
            <a:endParaRPr lang="en-US" sz="1600" dirty="0"/>
          </a:p>
        </p:txBody>
      </p:sp>
      <p:sp>
        <p:nvSpPr>
          <p:cNvPr id="16" name="Text 13"/>
          <p:cNvSpPr txBox="1"/>
          <p:nvPr/>
        </p:nvSpPr>
        <p:spPr>
          <a:xfrm>
            <a:off x="8321040" y="3749040"/>
            <a:ext cx="3291840" cy="822960"/>
          </a:xfrm>
          <a:prstGeom prst="rect">
            <a:avLst/>
          </a:prstGeom>
          <a:noFill/>
          <a:ln/>
        </p:spPr>
        <p:txBody>
          <a:bodyPr wrap="square" lIns="0" tIns="0" rIns="0" bIns="0" rtlCol="0" anchor="t"/>
          <a:lstStyle/>
          <a:p>
            <a:pPr marL="0" indent="0">
              <a:buNone/>
            </a:pPr>
            <a:r>
              <a:rPr lang="en-US" sz="1300" dirty="0">
                <a:solidFill>
                  <a:srgbClr val="1B2B2A"/>
                </a:solidFill>
                <a:latin typeface="Calibri" pitchFamily="34" charset="0"/>
                <a:ea typeface="Calibri" pitchFamily="34" charset="-122"/>
                <a:cs typeface="Calibri" pitchFamily="34" charset="-120"/>
              </a:rPr>
              <a:t>Hak memperbaiki per negara bagian (Oregon SB 1596); Self Service Repair sejak 2022</a:t>
            </a:r>
            <a:endParaRPr lang="en-US" sz="1300" dirty="0"/>
          </a:p>
        </p:txBody>
      </p:sp>
      <p:sp>
        <p:nvSpPr>
          <p:cNvPr id="17" name="Shape 14"/>
          <p:cNvSpPr/>
          <p:nvPr/>
        </p:nvSpPr>
        <p:spPr>
          <a:xfrm>
            <a:off x="8138160" y="4754880"/>
            <a:ext cx="3593592" cy="1371600"/>
          </a:xfrm>
          <a:prstGeom prst="roundRect">
            <a:avLst>
              <a:gd name="adj" fmla="val 6667"/>
            </a:avLst>
          </a:prstGeom>
          <a:solidFill>
            <a:srgbClr val="FFFFFF"/>
          </a:solidFill>
          <a:ln w="9525">
            <a:solidFill>
              <a:srgbClr val="D5E2DD"/>
            </a:solidFill>
            <a:prstDash val="solid"/>
          </a:ln>
          <a:effectLst>
            <a:outerShdw blurRad="76200" dist="25400" dir="5400000" algn="bl" rotWithShape="0">
              <a:srgbClr val="000000">
                <a:alpha val="12000"/>
              </a:srgbClr>
            </a:outerShdw>
          </a:effectLst>
        </p:spPr>
      </p:sp>
      <p:sp>
        <p:nvSpPr>
          <p:cNvPr id="18" name="Shape 15"/>
          <p:cNvSpPr/>
          <p:nvPr/>
        </p:nvSpPr>
        <p:spPr>
          <a:xfrm>
            <a:off x="8321040" y="4919472"/>
            <a:ext cx="256032" cy="256032"/>
          </a:xfrm>
          <a:prstGeom prst="ellipse">
            <a:avLst/>
          </a:prstGeom>
          <a:solidFill>
            <a:srgbClr val="B3402F"/>
          </a:solidFill>
          <a:ln w="12700">
            <a:solidFill>
              <a:srgbClr val="B3402F"/>
            </a:solidFill>
            <a:prstDash val="solid"/>
          </a:ln>
        </p:spPr>
      </p:sp>
      <p:sp>
        <p:nvSpPr>
          <p:cNvPr id="19" name="Text 16"/>
          <p:cNvSpPr txBox="1"/>
          <p:nvPr/>
        </p:nvSpPr>
        <p:spPr>
          <a:xfrm>
            <a:off x="8686800" y="4882896"/>
            <a:ext cx="2926080" cy="320040"/>
          </a:xfrm>
          <a:prstGeom prst="rect">
            <a:avLst/>
          </a:prstGeom>
          <a:noFill/>
          <a:ln/>
        </p:spPr>
        <p:txBody>
          <a:bodyPr wrap="square" lIns="0" tIns="0" rIns="0" bIns="0" rtlCol="0" anchor="t"/>
          <a:lstStyle/>
          <a:p>
            <a:pPr marL="0" indent="0">
              <a:buNone/>
            </a:pPr>
            <a:r>
              <a:rPr lang="en-US" sz="1600" b="1" dirty="0">
                <a:solidFill>
                  <a:srgbClr val="12302B"/>
                </a:solidFill>
                <a:latin typeface="Cambria" pitchFamily="34" charset="0"/>
                <a:ea typeface="Cambria" pitchFamily="34" charset="-122"/>
                <a:cs typeface="Cambria" pitchFamily="34" charset="-120"/>
              </a:rPr>
              <a:t>Indonesia</a:t>
            </a:r>
            <a:endParaRPr lang="en-US" sz="1600" dirty="0"/>
          </a:p>
        </p:txBody>
      </p:sp>
      <p:sp>
        <p:nvSpPr>
          <p:cNvPr id="20" name="Text 17"/>
          <p:cNvSpPr txBox="1"/>
          <p:nvPr/>
        </p:nvSpPr>
        <p:spPr>
          <a:xfrm>
            <a:off x="8321040" y="5257800"/>
            <a:ext cx="3291840" cy="822960"/>
          </a:xfrm>
          <a:prstGeom prst="rect">
            <a:avLst/>
          </a:prstGeom>
          <a:noFill/>
          <a:ln/>
        </p:spPr>
        <p:txBody>
          <a:bodyPr wrap="square" lIns="0" tIns="0" rIns="0" bIns="0" rtlCol="0" anchor="t"/>
          <a:lstStyle/>
          <a:p>
            <a:pPr marL="0" indent="0">
              <a:buNone/>
            </a:pPr>
            <a:r>
              <a:rPr lang="en-US" sz="1300" dirty="0">
                <a:solidFill>
                  <a:srgbClr val="1B2B2A"/>
                </a:solidFill>
                <a:latin typeface="Calibri" pitchFamily="34" charset="0"/>
                <a:ea typeface="Calibri" pitchFamily="34" charset="-122"/>
                <a:cs typeface="Calibri" pitchFamily="34" charset="-120"/>
              </a:rPr>
              <a:t>TKDN 40% dan komitmen investasi; tidak ada syarat umur pakai atau pengambilan kembali</a:t>
            </a:r>
            <a:endParaRPr lang="en-US" sz="1300" dirty="0"/>
          </a:p>
        </p:txBody>
      </p:sp>
      <p:sp>
        <p:nvSpPr>
          <p:cNvPr id="22" name="Text 19"/>
          <p:cNvSpPr txBox="1"/>
          <p:nvPr/>
        </p:nvSpPr>
        <p:spPr>
          <a:xfrm>
            <a:off x="11247120" y="6473952"/>
            <a:ext cx="457200" cy="228600"/>
          </a:xfrm>
          <a:prstGeom prst="rect">
            <a:avLst/>
          </a:prstGeom>
          <a:noFill/>
          <a:ln/>
        </p:spPr>
        <p:txBody>
          <a:bodyPr wrap="square" lIns="0" tIns="0" rIns="0" bIns="0" rtlCol="0" anchor="t"/>
          <a:lstStyle/>
          <a:p>
            <a:pPr marL="0" indent="0" algn="r">
              <a:buNone/>
            </a:pPr>
            <a:r>
              <a:rPr lang="en-US" sz="1000" dirty="0">
                <a:solidFill>
                  <a:srgbClr val="5B6B68"/>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4F8F6"/>
        </a:solidFill>
        <a:effectLst/>
      </p:bgPr>
    </p:bg>
    <p:spTree>
      <p:nvGrpSpPr>
        <p:cNvPr id="1" name=""/>
        <p:cNvGrpSpPr/>
        <p:nvPr/>
      </p:nvGrpSpPr>
      <p:grpSpPr>
        <a:xfrm>
          <a:off x="0" y="0"/>
          <a:ext cx="0" cy="0"/>
          <a:chOff x="0" y="0"/>
          <a:chExt cx="0" cy="0"/>
        </a:xfrm>
      </p:grpSpPr>
      <p:sp>
        <p:nvSpPr>
          <p:cNvPr id="2" name="badge"/>
          <p:cNvSpPr/>
          <p:nvPr/>
        </p:nvSpPr>
        <p:spPr>
          <a:xfrm>
            <a:off x="457200" y="384048"/>
            <a:ext cx="566928" cy="566928"/>
          </a:xfrm>
          <a:prstGeom prst="ellipse">
            <a:avLst/>
          </a:prstGeom>
          <a:solidFill>
            <a:srgbClr val="1F6F5C"/>
          </a:solidFill>
          <a:ln w="12700">
            <a:solidFill>
              <a:srgbClr val="1F6F5C"/>
            </a:solidFill>
            <a:prstDash val="solid"/>
          </a:ln>
        </p:spPr>
      </p:sp>
      <p:sp>
        <p:nvSpPr>
          <p:cNvPr id="3" name="Text 1"/>
          <p:cNvSpPr txBox="1"/>
          <p:nvPr/>
        </p:nvSpPr>
        <p:spPr>
          <a:xfrm>
            <a:off x="457200" y="384048"/>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3.1</a:t>
            </a:r>
            <a:endParaRPr lang="en-US" sz="2000" dirty="0"/>
          </a:p>
        </p:txBody>
      </p:sp>
      <p:sp>
        <p:nvSpPr>
          <p:cNvPr id="4" name="Text 2"/>
          <p:cNvSpPr txBox="1"/>
          <p:nvPr/>
        </p:nvSpPr>
        <p:spPr>
          <a:xfrm>
            <a:off x="1188720" y="292608"/>
            <a:ext cx="9692640" cy="457200"/>
          </a:xfrm>
          <a:prstGeom prst="rect">
            <a:avLst/>
          </a:prstGeom>
          <a:noFill/>
          <a:ln/>
        </p:spPr>
        <p:txBody>
          <a:bodyPr wrap="square" lIns="0" tIns="0" rIns="0" bIns="0" rtlCol="0" anchor="ctr"/>
          <a:lstStyle/>
          <a:p>
            <a:pPr marL="0" indent="0">
              <a:buNone/>
            </a:pPr>
            <a:r>
              <a:rPr lang="en-US" sz="3000" b="1" dirty="0" err="1">
                <a:solidFill>
                  <a:srgbClr val="12302B"/>
                </a:solidFill>
                <a:latin typeface="Cambria" pitchFamily="34" charset="0"/>
                <a:ea typeface="Cambria" pitchFamily="34" charset="-122"/>
                <a:cs typeface="Cambria" pitchFamily="34" charset="-120"/>
              </a:rPr>
              <a:t>Rincian alasan skor audit</a:t>
            </a:r>
            <a:endParaRPr lang="en-US" sz="3000" dirty="0"/>
          </a:p>
        </p:txBody>
      </p:sp>
      <p:sp>
        <p:nvSpPr>
          <p:cNvPr id="5" name="Text 3"/>
          <p:cNvSpPr txBox="1"/>
          <p:nvPr/>
        </p:nvSpPr>
        <p:spPr>
          <a:xfrm>
            <a:off x="1188720" y="768096"/>
            <a:ext cx="10424160" cy="292608"/>
          </a:xfrm>
          <a:prstGeom prst="rect">
            <a:avLst/>
          </a:prstGeom>
          <a:noFill/>
          <a:ln/>
        </p:spPr>
        <p:txBody>
          <a:bodyPr wrap="square" lIns="0" tIns="0" rIns="0" bIns="0" rtlCol="0" anchor="t"/>
          <a:lstStyle/>
          <a:p>
            <a:pPr marL="0" indent="0">
              <a:buNone/>
            </a:pPr>
            <a:r>
              <a:rPr lang="en-US" sz="1400" i="1" dirty="0">
                <a:solidFill>
                  <a:srgbClr val="5B6B68"/>
                </a:solidFill>
                <a:latin typeface="Calibri" pitchFamily="34" charset="0"/>
                <a:ea typeface="Calibri" pitchFamily="34" charset="-122"/>
                <a:cs typeface="Calibri" pitchFamily="34" charset="-120"/>
              </a:rPr>
              <a:t>Setiap skor di Design Audit Matrix dijelaskan dengan bukti dan alasannya</a:t>
            </a:r>
            <a:endParaRPr lang="en-US" sz="1400" dirty="0"/>
          </a:p>
        </p:txBody>
      </p:sp>
      <p:sp>
        <p:nvSpPr>
          <p:cNvPr id="30" name="Text 27"/>
          <p:cNvSpPr txBox="1"/>
          <p:nvPr/>
        </p:nvSpPr>
        <p:spPr>
          <a:xfrm>
            <a:off x="11247120" y="6473952"/>
            <a:ext cx="457200" cy="228600"/>
          </a:xfrm>
          <a:prstGeom prst="rect">
            <a:avLst/>
          </a:prstGeom>
          <a:noFill/>
          <a:ln/>
        </p:spPr>
        <p:txBody>
          <a:bodyPr wrap="square" lIns="0" tIns="0" rIns="0" bIns="0" rtlCol="0" anchor="t"/>
          <a:lstStyle/>
          <a:p>
            <a:pPr marL="0" indent="0" algn="r">
              <a:buNone/>
            </a:pPr>
            <a:r>
              <a:rPr lang="en-US" sz="1000" dirty="0">
                <a:solidFill>
                  <a:srgbClr val="5B6B68"/>
                </a:solidFill>
                <a:latin typeface="Calibri" pitchFamily="34" charset="0"/>
                <a:ea typeface="Calibri" pitchFamily="34" charset="-122"/>
                <a:cs typeface="Calibri" pitchFamily="34" charset="-120"/>
              </a:rPr>
              <a:t>7</a:t>
            </a:r>
            <a:endParaRPr lang="en-US" sz="1000" dirty="0"/>
          </a:p>
        </p:txBody>
      </p:sp>
      <p:sp>
        <p:nvSpPr>
          <p:cNvPr id="231" name="Header"/>
          <p:cNvSpPr/>
          <p:nvPr/>
        </p:nvSpPr>
        <p:spPr>
          <a:xfrm>
            <a:off x="457200" y="1188720"/>
            <a:ext cx="11277600" cy="338328"/>
          </a:xfrm>
          <a:prstGeom prst="rect">
            <a:avLst/>
          </a:prstGeom>
          <a:solidFill>
            <a:srgbClr val="12302B"/>
          </a:solidFill>
          <a:ln>
            <a:noFill/>
          </a:ln>
        </p:spPr>
      </p:sp>
      <p:sp>
        <p:nvSpPr>
          <p:cNvPr id="232" name="HParameter"/>
          <p:cNvSpPr txBox="1"/>
          <p:nvPr/>
        </p:nvSpPr>
        <p:spPr>
          <a:xfrm>
            <a:off x="548640" y="1188720"/>
            <a:ext cx="1554480" cy="338328"/>
          </a:xfrm>
          <a:prstGeom prst="rect">
            <a:avLst/>
          </a:prstGeom>
          <a:noFill/>
          <a:ln/>
        </p:spPr>
        <p:txBody>
          <a:bodyPr wrap="square" lIns="0" tIns="0" rIns="0" bIns="0" rtlCol="0" anchor="ctr"/>
          <a:lstStyle/>
          <a:p>
            <a:pPr marL="0" indent="0" algn="l">
              <a:buNone/>
            </a:pPr>
            <a:r>
              <a:rPr lang="id-ID" sz="1200" b="1" dirty="0">
                <a:solidFill>
                  <a:srgbClr val="FFFFFF"/>
                </a:solidFill>
                <a:latin typeface="Calibri" pitchFamily="34" charset="0"/>
                <a:ea typeface="Calibri" pitchFamily="34" charset="-122"/>
                <a:cs typeface="Calibri" pitchFamily="34" charset="-120"/>
              </a:rPr>
              <a:t>Parameter</a:t>
            </a:r>
          </a:p>
        </p:txBody>
      </p:sp>
      <p:sp>
        <p:nvSpPr>
          <p:cNvPr id="233" name="HBukti dari sumber"/>
          <p:cNvSpPr txBox="1"/>
          <p:nvPr/>
        </p:nvSpPr>
        <p:spPr>
          <a:xfrm>
            <a:off x="2286000" y="1188720"/>
            <a:ext cx="4023360" cy="338328"/>
          </a:xfrm>
          <a:prstGeom prst="rect">
            <a:avLst/>
          </a:prstGeom>
          <a:noFill/>
          <a:ln/>
        </p:spPr>
        <p:txBody>
          <a:bodyPr wrap="square" lIns="0" tIns="0" rIns="0" bIns="0" rtlCol="0" anchor="ctr"/>
          <a:lstStyle/>
          <a:p>
            <a:pPr marL="0" indent="0" algn="l">
              <a:buNone/>
            </a:pPr>
            <a:r>
              <a:rPr lang="id-ID" sz="1200" b="1" dirty="0">
                <a:solidFill>
                  <a:srgbClr val="FFFFFF"/>
                </a:solidFill>
                <a:latin typeface="Calibri" pitchFamily="34" charset="0"/>
                <a:ea typeface="Calibri" pitchFamily="34" charset="-122"/>
                <a:cs typeface="Calibri" pitchFamily="34" charset="-120"/>
              </a:rPr>
              <a:t>Bukti dari sumber</a:t>
            </a:r>
          </a:p>
        </p:txBody>
      </p:sp>
      <p:sp>
        <p:nvSpPr>
          <p:cNvPr id="234" name="HAlasan skor"/>
          <p:cNvSpPr txBox="1"/>
          <p:nvPr/>
        </p:nvSpPr>
        <p:spPr>
          <a:xfrm>
            <a:off x="6492240" y="1188720"/>
            <a:ext cx="4206240" cy="338328"/>
          </a:xfrm>
          <a:prstGeom prst="rect">
            <a:avLst/>
          </a:prstGeom>
          <a:noFill/>
          <a:ln/>
        </p:spPr>
        <p:txBody>
          <a:bodyPr wrap="square" lIns="0" tIns="0" rIns="0" bIns="0" rtlCol="0" anchor="ctr"/>
          <a:lstStyle/>
          <a:p>
            <a:pPr marL="0" indent="0" algn="l">
              <a:buNone/>
            </a:pPr>
            <a:r>
              <a:rPr lang="id-ID" sz="1200" b="1" dirty="0">
                <a:solidFill>
                  <a:srgbClr val="FFFFFF"/>
                </a:solidFill>
                <a:latin typeface="Calibri" pitchFamily="34" charset="0"/>
                <a:ea typeface="Calibri" pitchFamily="34" charset="-122"/>
                <a:cs typeface="Calibri" pitchFamily="34" charset="-120"/>
              </a:rPr>
              <a:t>Alasan skor</a:t>
            </a:r>
          </a:p>
        </p:txBody>
      </p:sp>
      <p:sp>
        <p:nvSpPr>
          <p:cNvPr id="235" name="HSkor"/>
          <p:cNvSpPr txBox="1"/>
          <p:nvPr/>
        </p:nvSpPr>
        <p:spPr>
          <a:xfrm>
            <a:off x="10881360" y="1188720"/>
            <a:ext cx="762000" cy="338328"/>
          </a:xfrm>
          <a:prstGeom prst="rect">
            <a:avLst/>
          </a:prstGeom>
          <a:noFill/>
          <a:ln/>
        </p:spPr>
        <p:txBody>
          <a:bodyPr wrap="square" lIns="0" tIns="0" rIns="0" bIns="0" rtlCol="0" anchor="ctr"/>
          <a:lstStyle/>
          <a:p>
            <a:pPr marL="0" indent="0" algn="ctr">
              <a:buNone/>
            </a:pPr>
            <a:r>
              <a:rPr lang="id-ID" sz="1200" b="1" dirty="0">
                <a:solidFill>
                  <a:srgbClr val="FFFFFF"/>
                </a:solidFill>
                <a:latin typeface="Calibri" pitchFamily="34" charset="0"/>
                <a:ea typeface="Calibri" pitchFamily="34" charset="-122"/>
                <a:cs typeface="Calibri" pitchFamily="34" charset="-120"/>
              </a:rPr>
              <a:t>Skor</a:t>
            </a:r>
          </a:p>
        </p:txBody>
      </p:sp>
      <p:sp>
        <p:nvSpPr>
          <p:cNvPr id="236" name="Baris 0"/>
          <p:cNvSpPr/>
          <p:nvPr/>
        </p:nvSpPr>
        <p:spPr>
          <a:xfrm>
            <a:off x="457200" y="1527048"/>
            <a:ext cx="11277600" cy="683187"/>
          </a:xfrm>
          <a:prstGeom prst="rect">
            <a:avLst/>
          </a:prstGeom>
          <a:solidFill>
            <a:srgbClr val="FFFFFF"/>
          </a:solidFill>
          <a:ln w="9525">
            <a:solidFill>
              <a:srgbClr val="D5E2DD"/>
            </a:solidFill>
          </a:ln>
        </p:spPr>
      </p:sp>
      <p:sp>
        <p:nvSpPr>
          <p:cNvPr id="237" name="P0"/>
          <p:cNvSpPr txBox="1"/>
          <p:nvPr/>
        </p:nvSpPr>
        <p:spPr>
          <a:xfrm>
            <a:off x="548640" y="1527048"/>
            <a:ext cx="1554480" cy="683187"/>
          </a:xfrm>
          <a:prstGeom prst="rect">
            <a:avLst/>
          </a:prstGeom>
          <a:noFill/>
          <a:ln/>
        </p:spPr>
        <p:txBody>
          <a:bodyPr wrap="square" lIns="0" tIns="0" rIns="0" bIns="0" rtlCol="0" anchor="ctr"/>
          <a:lstStyle/>
          <a:p>
            <a:pPr marL="0" indent="0" algn="l">
              <a:buNone/>
            </a:pPr>
            <a:r>
              <a:rPr lang="id-ID" sz="1150" b="1" dirty="0">
                <a:solidFill>
                  <a:srgbClr val="12302B"/>
                </a:solidFill>
                <a:latin typeface="Calibri" pitchFamily="34" charset="0"/>
                <a:ea typeface="Calibri" pitchFamily="34" charset="-122"/>
                <a:cs typeface="Calibri" pitchFamily="34" charset="-120"/>
              </a:rPr>
              <a:t>Material</a:t>
            </a:r>
          </a:p>
        </p:txBody>
      </p:sp>
      <p:sp>
        <p:nvSpPr>
          <p:cNvPr id="238" name="B0"/>
          <p:cNvSpPr txBox="1"/>
          <p:nvPr/>
        </p:nvSpPr>
        <p:spPr>
          <a:xfrm>
            <a:off x="2286000" y="1527048"/>
            <a:ext cx="4023360" cy="683187"/>
          </a:xfrm>
          <a:prstGeom prst="rect">
            <a:avLst/>
          </a:prstGeom>
          <a:noFill/>
          <a:ln/>
        </p:spPr>
        <p:txBody>
          <a:bodyPr wrap="square" lIns="0" tIns="0" rIns="0" bIns="0" rtlCol="0" anchor="ctr"/>
          <a:lstStyle/>
          <a:p>
            <a:pPr marL="0" indent="0" algn="l">
              <a:buNone/>
            </a:pPr>
            <a:r>
              <a:rPr lang="id-ID" sz="1050" dirty="0">
                <a:solidFill>
                  <a:srgbClr val="1B2B2A"/>
                </a:solidFill>
                <a:latin typeface="Calibri" pitchFamily="34" charset="0"/>
                <a:ea typeface="Calibri" pitchFamily="34" charset="-122"/>
                <a:cs typeface="Calibri" pitchFamily="34" charset="-120"/>
              </a:rPr>
              <a:t>85% aluminium daur ulang pada casing; 100% kobalt daur ulang di baterai rancangan Apple; aluminium daur ulang menurunkan emisi ±8% (Apple 2024a; 2026).</a:t>
            </a:r>
          </a:p>
        </p:txBody>
      </p:sp>
      <p:sp>
        <p:nvSpPr>
          <p:cNvPr id="239" name="A0"/>
          <p:cNvSpPr txBox="1"/>
          <p:nvPr/>
        </p:nvSpPr>
        <p:spPr>
          <a:xfrm>
            <a:off x="6492240" y="1527048"/>
            <a:ext cx="4206240" cy="683187"/>
          </a:xfrm>
          <a:prstGeom prst="rect">
            <a:avLst/>
          </a:prstGeom>
          <a:noFill/>
          <a:ln/>
        </p:spPr>
        <p:txBody>
          <a:bodyPr wrap="square" lIns="0" tIns="0" rIns="0" bIns="0" rtlCol="0" anchor="ctr"/>
          <a:lstStyle/>
          <a:p>
            <a:pPr marL="0" indent="0" algn="l">
              <a:buNone/>
            </a:pPr>
            <a:r>
              <a:rPr lang="id-ID" sz="1050" dirty="0">
                <a:solidFill>
                  <a:srgbClr val="1B2B2A"/>
                </a:solidFill>
                <a:latin typeface="Calibri" pitchFamily="34" charset="0"/>
                <a:ea typeface="Calibri" pitchFamily="34" charset="-122"/>
                <a:cs typeface="Calibri" pitchFamily="34" charset="-120"/>
              </a:rPr>
              <a:t>Strategi menutup aliran sudah terbukti di laporan resmi. Catatan: klaim berbasis massa dan belum diverifikasi pihak ketiga.</a:t>
            </a:r>
          </a:p>
        </p:txBody>
      </p:sp>
      <p:sp>
        <p:nvSpPr>
          <p:cNvPr id="240" name="Skor"/>
          <p:cNvSpPr/>
          <p:nvPr/>
        </p:nvSpPr>
        <p:spPr>
          <a:xfrm>
            <a:off x="10881360" y="1713193"/>
            <a:ext cx="762000" cy="310896"/>
          </a:xfrm>
          <a:prstGeom prst="rect">
            <a:avLst/>
          </a:prstGeom>
          <a:solidFill>
            <a:srgbClr val="1F6F5C"/>
          </a:solidFill>
          <a:ln>
            <a:noFill/>
          </a:ln>
        </p:spPr>
        <p:txBody>
          <a:bodyPr wrap="square" lIns="45720" tIns="0" rIns="45720" bIns="0" rtlCol="0" anchor="ctr"/>
          <a:lstStyle/>
          <a:p>
            <a:pPr marL="0" indent="0" algn="ctr">
              <a:buNone/>
            </a:pPr>
            <a:r>
              <a:rPr lang="id-ID" sz="1100" b="1" dirty="0">
                <a:solidFill>
                  <a:srgbClr val="FFFFFF"/>
                </a:solidFill>
                <a:latin typeface="Calibri" pitchFamily="34" charset="0"/>
                <a:ea typeface="Calibri" pitchFamily="34" charset="-122"/>
                <a:cs typeface="Calibri" pitchFamily="34" charset="-120"/>
              </a:rPr>
              <a:t>Tinggi</a:t>
            </a:r>
          </a:p>
        </p:txBody>
      </p:sp>
      <p:sp>
        <p:nvSpPr>
          <p:cNvPr id="241" name="Baris 1"/>
          <p:cNvSpPr/>
          <p:nvPr/>
        </p:nvSpPr>
        <p:spPr>
          <a:xfrm>
            <a:off x="457200" y="2210235"/>
            <a:ext cx="11277600" cy="683187"/>
          </a:xfrm>
          <a:prstGeom prst="rect">
            <a:avLst/>
          </a:prstGeom>
          <a:solidFill>
            <a:srgbClr val="F4F8F6"/>
          </a:solidFill>
          <a:ln w="9525">
            <a:solidFill>
              <a:srgbClr val="D5E2DD"/>
            </a:solidFill>
          </a:ln>
        </p:spPr>
      </p:sp>
      <p:sp>
        <p:nvSpPr>
          <p:cNvPr id="242" name="P1"/>
          <p:cNvSpPr txBox="1"/>
          <p:nvPr/>
        </p:nvSpPr>
        <p:spPr>
          <a:xfrm>
            <a:off x="548640" y="2210235"/>
            <a:ext cx="1554480" cy="683187"/>
          </a:xfrm>
          <a:prstGeom prst="rect">
            <a:avLst/>
          </a:prstGeom>
          <a:noFill/>
          <a:ln/>
        </p:spPr>
        <p:txBody>
          <a:bodyPr wrap="square" lIns="0" tIns="0" rIns="0" bIns="0" rtlCol="0" anchor="ctr"/>
          <a:lstStyle/>
          <a:p>
            <a:pPr marL="0" indent="0" algn="l">
              <a:buNone/>
            </a:pPr>
            <a:r>
              <a:rPr lang="id-ID" sz="1150" b="1" dirty="0">
                <a:solidFill>
                  <a:srgbClr val="12302B"/>
                </a:solidFill>
                <a:latin typeface="Calibri" pitchFamily="34" charset="0"/>
                <a:ea typeface="Calibri" pitchFamily="34" charset="-122"/>
                <a:cs typeface="Calibri" pitchFamily="34" charset="-120"/>
              </a:rPr>
              <a:t>Modularitas</a:t>
            </a:r>
          </a:p>
        </p:txBody>
      </p:sp>
      <p:sp>
        <p:nvSpPr>
          <p:cNvPr id="243" name="B1"/>
          <p:cNvSpPr txBox="1"/>
          <p:nvPr/>
        </p:nvSpPr>
        <p:spPr>
          <a:xfrm>
            <a:off x="2286000" y="2210235"/>
            <a:ext cx="4023360" cy="683187"/>
          </a:xfrm>
          <a:prstGeom prst="rect">
            <a:avLst/>
          </a:prstGeom>
          <a:noFill/>
          <a:ln/>
        </p:spPr>
        <p:txBody>
          <a:bodyPr wrap="square" lIns="0" tIns="0" rIns="0" bIns="0" rtlCol="0" anchor="ctr"/>
          <a:lstStyle/>
          <a:p>
            <a:pPr marL="0" indent="0" algn="l">
              <a:buNone/>
            </a:pPr>
            <a:r>
              <a:rPr lang="id-ID" sz="1050" dirty="0">
                <a:solidFill>
                  <a:srgbClr val="1B2B2A"/>
                </a:solidFill>
                <a:latin typeface="Calibri" pitchFamily="34" charset="0"/>
                <a:ea typeface="Calibri" pitchFamily="34" charset="-122"/>
                <a:cs typeface="Calibri" pitchFamily="34" charset="-120"/>
              </a:rPr>
              <a:t>Komponen utama terintegrasi; tidak ada modul yang dapat ditukar pengguna tanpa alat (iFixit 2024).</a:t>
            </a:r>
          </a:p>
        </p:txBody>
      </p:sp>
      <p:sp>
        <p:nvSpPr>
          <p:cNvPr id="244" name="A1"/>
          <p:cNvSpPr txBox="1"/>
          <p:nvPr/>
        </p:nvSpPr>
        <p:spPr>
          <a:xfrm>
            <a:off x="6492240" y="2210235"/>
            <a:ext cx="4206240" cy="683187"/>
          </a:xfrm>
          <a:prstGeom prst="rect">
            <a:avLst/>
          </a:prstGeom>
          <a:noFill/>
          <a:ln/>
        </p:spPr>
        <p:txBody>
          <a:bodyPr wrap="square" lIns="0" tIns="0" rIns="0" bIns="0" rtlCol="0" anchor="ctr"/>
          <a:lstStyle/>
          <a:p>
            <a:pPr marL="0" indent="0" algn="l">
              <a:buNone/>
            </a:pPr>
            <a:r>
              <a:rPr lang="id-ID" sz="1050" dirty="0">
                <a:solidFill>
                  <a:srgbClr val="1B2B2A"/>
                </a:solidFill>
                <a:latin typeface="Calibri" pitchFamily="34" charset="0"/>
                <a:ea typeface="Calibri" pitchFamily="34" charset="-122"/>
                <a:cs typeface="Calibri" pitchFamily="34" charset="-120"/>
              </a:rPr>
              <a:t>Desain terpadu menghambat strategi memperlambat aliran: komponen tidak dapat ditingkatkan atau dipakai ulang lintas generasi.</a:t>
            </a:r>
          </a:p>
        </p:txBody>
      </p:sp>
      <p:sp>
        <p:nvSpPr>
          <p:cNvPr id="245" name="Skor"/>
          <p:cNvSpPr/>
          <p:nvPr/>
        </p:nvSpPr>
        <p:spPr>
          <a:xfrm>
            <a:off x="10881360" y="2396380"/>
            <a:ext cx="762000" cy="310896"/>
          </a:xfrm>
          <a:prstGeom prst="rect">
            <a:avLst/>
          </a:prstGeom>
          <a:solidFill>
            <a:srgbClr val="B3402F"/>
          </a:solidFill>
          <a:ln>
            <a:noFill/>
          </a:ln>
        </p:spPr>
        <p:txBody>
          <a:bodyPr wrap="square" lIns="45720" tIns="0" rIns="45720" bIns="0" rtlCol="0" anchor="ctr"/>
          <a:lstStyle/>
          <a:p>
            <a:pPr marL="0" indent="0" algn="ctr">
              <a:buNone/>
            </a:pPr>
            <a:r>
              <a:rPr lang="id-ID" sz="1100" b="1" dirty="0">
                <a:solidFill>
                  <a:srgbClr val="FFFFFF"/>
                </a:solidFill>
                <a:latin typeface="Calibri" pitchFamily="34" charset="0"/>
                <a:ea typeface="Calibri" pitchFamily="34" charset="-122"/>
                <a:cs typeface="Calibri" pitchFamily="34" charset="-120"/>
              </a:rPr>
              <a:t>Rendah</a:t>
            </a:r>
          </a:p>
        </p:txBody>
      </p:sp>
      <p:sp>
        <p:nvSpPr>
          <p:cNvPr id="246" name="Baris 2"/>
          <p:cNvSpPr/>
          <p:nvPr/>
        </p:nvSpPr>
        <p:spPr>
          <a:xfrm>
            <a:off x="457200" y="2893422"/>
            <a:ext cx="11277600" cy="683187"/>
          </a:xfrm>
          <a:prstGeom prst="rect">
            <a:avLst/>
          </a:prstGeom>
          <a:solidFill>
            <a:srgbClr val="FFFFFF"/>
          </a:solidFill>
          <a:ln w="9525">
            <a:solidFill>
              <a:srgbClr val="D5E2DD"/>
            </a:solidFill>
          </a:ln>
        </p:spPr>
      </p:sp>
      <p:sp>
        <p:nvSpPr>
          <p:cNvPr id="247" name="P2"/>
          <p:cNvSpPr txBox="1"/>
          <p:nvPr/>
        </p:nvSpPr>
        <p:spPr>
          <a:xfrm>
            <a:off x="548640" y="2893422"/>
            <a:ext cx="1554480" cy="683187"/>
          </a:xfrm>
          <a:prstGeom prst="rect">
            <a:avLst/>
          </a:prstGeom>
          <a:noFill/>
          <a:ln/>
        </p:spPr>
        <p:txBody>
          <a:bodyPr wrap="square" lIns="0" tIns="0" rIns="0" bIns="0" rtlCol="0" anchor="ctr"/>
          <a:lstStyle/>
          <a:p>
            <a:pPr marL="0" indent="0" algn="l">
              <a:buNone/>
            </a:pPr>
            <a:r>
              <a:rPr lang="id-ID" sz="1150" b="1" dirty="0">
                <a:solidFill>
                  <a:srgbClr val="12302B"/>
                </a:solidFill>
                <a:latin typeface="Calibri" pitchFamily="34" charset="0"/>
                <a:ea typeface="Calibri" pitchFamily="34" charset="-122"/>
                <a:cs typeface="Calibri" pitchFamily="34" charset="-120"/>
              </a:rPr>
              <a:t>Durabilitas</a:t>
            </a:r>
          </a:p>
        </p:txBody>
      </p:sp>
      <p:sp>
        <p:nvSpPr>
          <p:cNvPr id="248" name="B2"/>
          <p:cNvSpPr txBox="1"/>
          <p:nvPr/>
        </p:nvSpPr>
        <p:spPr>
          <a:xfrm>
            <a:off x="2286000" y="2893422"/>
            <a:ext cx="4023360" cy="683187"/>
          </a:xfrm>
          <a:prstGeom prst="rect">
            <a:avLst/>
          </a:prstGeom>
          <a:noFill/>
          <a:ln/>
        </p:spPr>
        <p:txBody>
          <a:bodyPr wrap="square" lIns="0" tIns="0" rIns="0" bIns="0" rtlCol="0" anchor="ctr"/>
          <a:lstStyle/>
          <a:p>
            <a:pPr marL="0" indent="0" algn="l">
              <a:buNone/>
            </a:pPr>
            <a:r>
              <a:rPr lang="id-ID" sz="1050" dirty="0">
                <a:solidFill>
                  <a:srgbClr val="1B2B2A"/>
                </a:solidFill>
                <a:latin typeface="Calibri" pitchFamily="34" charset="0"/>
                <a:ea typeface="Calibri" pitchFamily="34" charset="-122"/>
                <a:cs typeface="Calibri" pitchFamily="34" charset="-120"/>
              </a:rPr>
              <a:t>Rating IP68; baterai 1.000 siklus pada 80% (klaim Apple); minimal 5 tahun pembaruan keamanan.</a:t>
            </a:r>
          </a:p>
        </p:txBody>
      </p:sp>
      <p:sp>
        <p:nvSpPr>
          <p:cNvPr id="249" name="A2"/>
          <p:cNvSpPr txBox="1"/>
          <p:nvPr/>
        </p:nvSpPr>
        <p:spPr>
          <a:xfrm>
            <a:off x="6492240" y="2893422"/>
            <a:ext cx="4206240" cy="683187"/>
          </a:xfrm>
          <a:prstGeom prst="rect">
            <a:avLst/>
          </a:prstGeom>
          <a:noFill/>
          <a:ln/>
        </p:spPr>
        <p:txBody>
          <a:bodyPr wrap="square" lIns="0" tIns="0" rIns="0" bIns="0" rtlCol="0" anchor="ctr"/>
          <a:lstStyle/>
          <a:p>
            <a:pPr marL="0" indent="0" algn="l">
              <a:buNone/>
            </a:pPr>
            <a:r>
              <a:rPr lang="id-ID" sz="1050" dirty="0">
                <a:solidFill>
                  <a:srgbClr val="1B2B2A"/>
                </a:solidFill>
                <a:latin typeface="Calibri" pitchFamily="34" charset="0"/>
                <a:ea typeface="Calibri" pitchFamily="34" charset="-122"/>
                <a:cs typeface="Calibri" pitchFamily="34" charset="-120"/>
              </a:rPr>
              <a:t>Melebihi minimum UE (800 siklus), tetapi umur layanan aktual tidak dipublikasikan sehingga klaim belum terbukti di lapangan.</a:t>
            </a:r>
          </a:p>
        </p:txBody>
      </p:sp>
      <p:sp>
        <p:nvSpPr>
          <p:cNvPr id="250" name="Skor"/>
          <p:cNvSpPr/>
          <p:nvPr/>
        </p:nvSpPr>
        <p:spPr>
          <a:xfrm>
            <a:off x="10881360" y="3079567"/>
            <a:ext cx="762000" cy="310896"/>
          </a:xfrm>
          <a:prstGeom prst="rect">
            <a:avLst/>
          </a:prstGeom>
          <a:solidFill>
            <a:srgbClr val="1F6F5C"/>
          </a:solidFill>
          <a:ln>
            <a:noFill/>
          </a:ln>
        </p:spPr>
        <p:txBody>
          <a:bodyPr wrap="square" lIns="45720" tIns="0" rIns="45720" bIns="0" rtlCol="0" anchor="ctr"/>
          <a:lstStyle/>
          <a:p>
            <a:pPr marL="0" indent="0" algn="ctr">
              <a:buNone/>
            </a:pPr>
            <a:r>
              <a:rPr lang="id-ID" sz="1100" b="1" dirty="0">
                <a:solidFill>
                  <a:srgbClr val="FFFFFF"/>
                </a:solidFill>
                <a:latin typeface="Calibri" pitchFamily="34" charset="0"/>
                <a:ea typeface="Calibri" pitchFamily="34" charset="-122"/>
                <a:cs typeface="Calibri" pitchFamily="34" charset="-120"/>
              </a:rPr>
              <a:t>Tinggi</a:t>
            </a:r>
          </a:p>
        </p:txBody>
      </p:sp>
      <p:sp>
        <p:nvSpPr>
          <p:cNvPr id="251" name="Baris 3"/>
          <p:cNvSpPr/>
          <p:nvPr/>
        </p:nvSpPr>
        <p:spPr>
          <a:xfrm>
            <a:off x="457200" y="3576609"/>
            <a:ext cx="11277600" cy="683187"/>
          </a:xfrm>
          <a:prstGeom prst="rect">
            <a:avLst/>
          </a:prstGeom>
          <a:solidFill>
            <a:srgbClr val="F4F8F6"/>
          </a:solidFill>
          <a:ln w="9525">
            <a:solidFill>
              <a:srgbClr val="D5E2DD"/>
            </a:solidFill>
          </a:ln>
        </p:spPr>
      </p:sp>
      <p:sp>
        <p:nvSpPr>
          <p:cNvPr id="252" name="P3"/>
          <p:cNvSpPr txBox="1"/>
          <p:nvPr/>
        </p:nvSpPr>
        <p:spPr>
          <a:xfrm>
            <a:off x="548640" y="3576609"/>
            <a:ext cx="1554480" cy="683187"/>
          </a:xfrm>
          <a:prstGeom prst="rect">
            <a:avLst/>
          </a:prstGeom>
          <a:noFill/>
          <a:ln/>
        </p:spPr>
        <p:txBody>
          <a:bodyPr wrap="square" lIns="0" tIns="0" rIns="0" bIns="0" rtlCol="0" anchor="ctr"/>
          <a:lstStyle/>
          <a:p>
            <a:pPr marL="0" indent="0" algn="l">
              <a:buNone/>
            </a:pPr>
            <a:r>
              <a:rPr lang="id-ID" sz="1150" b="1" dirty="0">
                <a:solidFill>
                  <a:srgbClr val="12302B"/>
                </a:solidFill>
                <a:latin typeface="Calibri" pitchFamily="34" charset="0"/>
                <a:ea typeface="Calibri" pitchFamily="34" charset="-122"/>
                <a:cs typeface="Calibri" pitchFamily="34" charset="-120"/>
              </a:rPr>
              <a:t>Reparasi</a:t>
            </a:r>
          </a:p>
        </p:txBody>
      </p:sp>
      <p:sp>
        <p:nvSpPr>
          <p:cNvPr id="253" name="B3"/>
          <p:cNvSpPr txBox="1"/>
          <p:nvPr/>
        </p:nvSpPr>
        <p:spPr>
          <a:xfrm>
            <a:off x="2286000" y="3576609"/>
            <a:ext cx="4023360" cy="683187"/>
          </a:xfrm>
          <a:prstGeom prst="rect">
            <a:avLst/>
          </a:prstGeom>
          <a:noFill/>
          <a:ln/>
        </p:spPr>
        <p:txBody>
          <a:bodyPr wrap="square" lIns="0" tIns="0" rIns="0" bIns="0" rtlCol="0" anchor="ctr"/>
          <a:lstStyle/>
          <a:p>
            <a:pPr marL="0" indent="0" algn="l">
              <a:buNone/>
            </a:pPr>
            <a:r>
              <a:rPr lang="id-ID" sz="1050" dirty="0">
                <a:solidFill>
                  <a:srgbClr val="1B2B2A"/>
                </a:solidFill>
                <a:latin typeface="Calibri" pitchFamily="34" charset="0"/>
                <a:ea typeface="Calibri" pitchFamily="34" charset="-122"/>
                <a:cs typeface="Calibri" pitchFamily="34" charset="-120"/>
              </a:rPr>
              <a:t>Self Service Repair sejak 2022; Repair Assistant iOS 18; skor iFixit 7/10, naik dari 4/10 (iPhone 15).</a:t>
            </a:r>
          </a:p>
        </p:txBody>
      </p:sp>
      <p:sp>
        <p:nvSpPr>
          <p:cNvPr id="254" name="A3"/>
          <p:cNvSpPr txBox="1"/>
          <p:nvPr/>
        </p:nvSpPr>
        <p:spPr>
          <a:xfrm>
            <a:off x="6492240" y="3576609"/>
            <a:ext cx="4206240" cy="683187"/>
          </a:xfrm>
          <a:prstGeom prst="rect">
            <a:avLst/>
          </a:prstGeom>
          <a:noFill/>
          <a:ln/>
        </p:spPr>
        <p:txBody>
          <a:bodyPr wrap="square" lIns="0" tIns="0" rIns="0" bIns="0" rtlCol="0" anchor="ctr"/>
          <a:lstStyle/>
          <a:p>
            <a:pPr marL="0" indent="0" algn="l">
              <a:buNone/>
            </a:pPr>
            <a:r>
              <a:rPr lang="id-ID" sz="1050" dirty="0">
                <a:solidFill>
                  <a:srgbClr val="1B2B2A"/>
                </a:solidFill>
                <a:latin typeface="Calibri" pitchFamily="34" charset="0"/>
                <a:ea typeface="Calibri" pitchFamily="34" charset="-122"/>
                <a:cs typeface="Calibri" pitchFamily="34" charset="-120"/>
              </a:rPr>
              <a:t>Kemajuan nyata, tetapi suku cadang harus dikalibrasi dan disandingkan, sehingga bengkel independen bergantung pada sistem Apple.</a:t>
            </a:r>
          </a:p>
        </p:txBody>
      </p:sp>
      <p:sp>
        <p:nvSpPr>
          <p:cNvPr id="255" name="Skor"/>
          <p:cNvSpPr/>
          <p:nvPr/>
        </p:nvSpPr>
        <p:spPr>
          <a:xfrm>
            <a:off x="10881360" y="3762754"/>
            <a:ext cx="762000" cy="310896"/>
          </a:xfrm>
          <a:prstGeom prst="rect">
            <a:avLst/>
          </a:prstGeom>
          <a:solidFill>
            <a:srgbClr val="C98A12"/>
          </a:solidFill>
          <a:ln>
            <a:noFill/>
          </a:ln>
        </p:spPr>
        <p:txBody>
          <a:bodyPr wrap="square" lIns="45720" tIns="0" rIns="45720" bIns="0" rtlCol="0" anchor="ctr"/>
          <a:lstStyle/>
          <a:p>
            <a:pPr marL="0" indent="0" algn="ctr">
              <a:buNone/>
            </a:pPr>
            <a:r>
              <a:rPr lang="id-ID" sz="1100" b="1" dirty="0">
                <a:solidFill>
                  <a:srgbClr val="FFFFFF"/>
                </a:solidFill>
                <a:latin typeface="Calibri" pitchFamily="34" charset="0"/>
                <a:ea typeface="Calibri" pitchFamily="34" charset="-122"/>
                <a:cs typeface="Calibri" pitchFamily="34" charset="-120"/>
              </a:rPr>
              <a:t>Sedang</a:t>
            </a:r>
          </a:p>
        </p:txBody>
      </p:sp>
      <p:sp>
        <p:nvSpPr>
          <p:cNvPr id="256" name="Baris 4"/>
          <p:cNvSpPr/>
          <p:nvPr/>
        </p:nvSpPr>
        <p:spPr>
          <a:xfrm>
            <a:off x="457200" y="4259796"/>
            <a:ext cx="11277600" cy="683187"/>
          </a:xfrm>
          <a:prstGeom prst="rect">
            <a:avLst/>
          </a:prstGeom>
          <a:solidFill>
            <a:srgbClr val="FFFFFF"/>
          </a:solidFill>
          <a:ln w="9525">
            <a:solidFill>
              <a:srgbClr val="D5E2DD"/>
            </a:solidFill>
          </a:ln>
        </p:spPr>
      </p:sp>
      <p:sp>
        <p:nvSpPr>
          <p:cNvPr id="257" name="P4"/>
          <p:cNvSpPr txBox="1"/>
          <p:nvPr/>
        </p:nvSpPr>
        <p:spPr>
          <a:xfrm>
            <a:off x="548640" y="4259796"/>
            <a:ext cx="1554480" cy="683187"/>
          </a:xfrm>
          <a:prstGeom prst="rect">
            <a:avLst/>
          </a:prstGeom>
          <a:noFill/>
          <a:ln/>
        </p:spPr>
        <p:txBody>
          <a:bodyPr wrap="square" lIns="0" tIns="0" rIns="0" bIns="0" rtlCol="0" anchor="ctr"/>
          <a:lstStyle/>
          <a:p>
            <a:pPr marL="0" indent="0" algn="l">
              <a:buNone/>
            </a:pPr>
            <a:r>
              <a:rPr lang="id-ID" sz="1150" b="1" dirty="0">
                <a:solidFill>
                  <a:srgbClr val="12302B"/>
                </a:solidFill>
                <a:latin typeface="Calibri" pitchFamily="34" charset="0"/>
                <a:ea typeface="Calibri" pitchFamily="34" charset="-122"/>
                <a:cs typeface="Calibri" pitchFamily="34" charset="-120"/>
              </a:rPr>
              <a:t>Pembongkaran</a:t>
            </a:r>
          </a:p>
        </p:txBody>
      </p:sp>
      <p:sp>
        <p:nvSpPr>
          <p:cNvPr id="258" name="B4"/>
          <p:cNvSpPr txBox="1"/>
          <p:nvPr/>
        </p:nvSpPr>
        <p:spPr>
          <a:xfrm>
            <a:off x="2286000" y="4259796"/>
            <a:ext cx="4023360" cy="683187"/>
          </a:xfrm>
          <a:prstGeom prst="rect">
            <a:avLst/>
          </a:prstGeom>
          <a:noFill/>
          <a:ln/>
        </p:spPr>
        <p:txBody>
          <a:bodyPr wrap="square" lIns="0" tIns="0" rIns="0" bIns="0" rtlCol="0" anchor="ctr"/>
          <a:lstStyle/>
          <a:p>
            <a:pPr marL="0" indent="0" algn="l">
              <a:buNone/>
            </a:pPr>
            <a:r>
              <a:rPr lang="id-ID" sz="1050" dirty="0">
                <a:solidFill>
                  <a:srgbClr val="1B2B2A"/>
                </a:solidFill>
                <a:latin typeface="Calibri" pitchFamily="34" charset="0"/>
                <a:ea typeface="Calibri" pitchFamily="34" charset="-122"/>
                <a:cs typeface="Calibri" pitchFamily="34" charset="-120"/>
              </a:rPr>
              <a:t>Perekat baterai dilepas arus listrik ±90 detik; layar dan penutup belakang tetap disegel perekat.</a:t>
            </a:r>
          </a:p>
        </p:txBody>
      </p:sp>
      <p:sp>
        <p:nvSpPr>
          <p:cNvPr id="259" name="A4"/>
          <p:cNvSpPr txBox="1"/>
          <p:nvPr/>
        </p:nvSpPr>
        <p:spPr>
          <a:xfrm>
            <a:off x="6492240" y="4259796"/>
            <a:ext cx="4206240" cy="683187"/>
          </a:xfrm>
          <a:prstGeom prst="rect">
            <a:avLst/>
          </a:prstGeom>
          <a:noFill/>
          <a:ln/>
        </p:spPr>
        <p:txBody>
          <a:bodyPr wrap="square" lIns="0" tIns="0" rIns="0" bIns="0" rtlCol="0" anchor="ctr"/>
          <a:lstStyle/>
          <a:p>
            <a:pPr marL="0" indent="0" algn="l">
              <a:buNone/>
            </a:pPr>
            <a:r>
              <a:rPr lang="id-ID" sz="1050" dirty="0">
                <a:solidFill>
                  <a:srgbClr val="1B2B2A"/>
                </a:solidFill>
                <a:latin typeface="Calibri" pitchFamily="34" charset="0"/>
                <a:ea typeface="Calibri" pitchFamily="34" charset="-122"/>
                <a:cs typeface="Calibri" pitchFamily="34" charset="-120"/>
              </a:rPr>
              <a:t>Penggantian baterai lebih mudah, tetapi pembongkaran penuh untuk daur ulang masih memerlukan alat khusus atau robot Daisy.</a:t>
            </a:r>
          </a:p>
        </p:txBody>
      </p:sp>
      <p:sp>
        <p:nvSpPr>
          <p:cNvPr id="260" name="Skor"/>
          <p:cNvSpPr/>
          <p:nvPr/>
        </p:nvSpPr>
        <p:spPr>
          <a:xfrm>
            <a:off x="10881360" y="4445941"/>
            <a:ext cx="762000" cy="310896"/>
          </a:xfrm>
          <a:prstGeom prst="rect">
            <a:avLst/>
          </a:prstGeom>
          <a:solidFill>
            <a:srgbClr val="C98A12"/>
          </a:solidFill>
          <a:ln>
            <a:noFill/>
          </a:ln>
        </p:spPr>
        <p:txBody>
          <a:bodyPr wrap="square" lIns="45720" tIns="0" rIns="45720" bIns="0" rtlCol="0" anchor="ctr"/>
          <a:lstStyle/>
          <a:p>
            <a:pPr marL="0" indent="0" algn="ctr">
              <a:buNone/>
            </a:pPr>
            <a:r>
              <a:rPr lang="id-ID" sz="1100" b="1" dirty="0">
                <a:solidFill>
                  <a:srgbClr val="FFFFFF"/>
                </a:solidFill>
                <a:latin typeface="Calibri" pitchFamily="34" charset="0"/>
                <a:ea typeface="Calibri" pitchFamily="34" charset="-122"/>
                <a:cs typeface="Calibri" pitchFamily="34" charset="-120"/>
              </a:rPr>
              <a:t>Sedang</a:t>
            </a:r>
          </a:p>
        </p:txBody>
      </p:sp>
      <p:sp>
        <p:nvSpPr>
          <p:cNvPr id="261" name="Baris 5"/>
          <p:cNvSpPr/>
          <p:nvPr/>
        </p:nvSpPr>
        <p:spPr>
          <a:xfrm>
            <a:off x="457200" y="4942983"/>
            <a:ext cx="11277600" cy="683187"/>
          </a:xfrm>
          <a:prstGeom prst="rect">
            <a:avLst/>
          </a:prstGeom>
          <a:solidFill>
            <a:srgbClr val="F4F8F6"/>
          </a:solidFill>
          <a:ln w="9525">
            <a:solidFill>
              <a:srgbClr val="D5E2DD"/>
            </a:solidFill>
          </a:ln>
        </p:spPr>
      </p:sp>
      <p:sp>
        <p:nvSpPr>
          <p:cNvPr id="262" name="P5"/>
          <p:cNvSpPr txBox="1"/>
          <p:nvPr/>
        </p:nvSpPr>
        <p:spPr>
          <a:xfrm>
            <a:off x="548640" y="4942983"/>
            <a:ext cx="1554480" cy="683187"/>
          </a:xfrm>
          <a:prstGeom prst="rect">
            <a:avLst/>
          </a:prstGeom>
          <a:noFill/>
          <a:ln/>
        </p:spPr>
        <p:txBody>
          <a:bodyPr wrap="square" lIns="0" tIns="0" rIns="0" bIns="0" rtlCol="0" anchor="ctr"/>
          <a:lstStyle/>
          <a:p>
            <a:pPr marL="0" indent="0" algn="l">
              <a:buNone/>
            </a:pPr>
            <a:r>
              <a:rPr lang="id-ID" sz="1150" b="1" dirty="0">
                <a:solidFill>
                  <a:srgbClr val="12302B"/>
                </a:solidFill>
                <a:latin typeface="Calibri" pitchFamily="34" charset="0"/>
                <a:ea typeface="Calibri" pitchFamily="34" charset="-122"/>
                <a:cs typeface="Calibri" pitchFamily="34" charset="-120"/>
              </a:rPr>
              <a:t>Perangkat lunak</a:t>
            </a:r>
          </a:p>
        </p:txBody>
      </p:sp>
      <p:sp>
        <p:nvSpPr>
          <p:cNvPr id="263" name="B5"/>
          <p:cNvSpPr txBox="1"/>
          <p:nvPr/>
        </p:nvSpPr>
        <p:spPr>
          <a:xfrm>
            <a:off x="2286000" y="4942983"/>
            <a:ext cx="4023360" cy="683187"/>
          </a:xfrm>
          <a:prstGeom prst="rect">
            <a:avLst/>
          </a:prstGeom>
          <a:noFill/>
          <a:ln/>
        </p:spPr>
        <p:txBody>
          <a:bodyPr wrap="square" lIns="0" tIns="0" rIns="0" bIns="0" rtlCol="0" anchor="ctr"/>
          <a:lstStyle/>
          <a:p>
            <a:pPr marL="0" indent="0" algn="l">
              <a:buNone/>
            </a:pPr>
            <a:r>
              <a:rPr lang="id-ID" sz="1050" dirty="0">
                <a:solidFill>
                  <a:srgbClr val="1B2B2A"/>
                </a:solidFill>
                <a:latin typeface="Calibri" pitchFamily="34" charset="0"/>
                <a:ea typeface="Calibri" pitchFamily="34" charset="-122"/>
                <a:cs typeface="Calibri" pitchFamily="34" charset="-120"/>
              </a:rPr>
              <a:t>Minimal 5 tahun pembaruan keamanan (PSTI Inggris); UE mewajibkan pembaruan OS 5 tahun.</a:t>
            </a:r>
          </a:p>
        </p:txBody>
      </p:sp>
      <p:sp>
        <p:nvSpPr>
          <p:cNvPr id="264" name="A5"/>
          <p:cNvSpPr txBox="1"/>
          <p:nvPr/>
        </p:nvSpPr>
        <p:spPr>
          <a:xfrm>
            <a:off x="6492240" y="4942983"/>
            <a:ext cx="4206240" cy="683187"/>
          </a:xfrm>
          <a:prstGeom prst="rect">
            <a:avLst/>
          </a:prstGeom>
          <a:noFill/>
          <a:ln/>
        </p:spPr>
        <p:txBody>
          <a:bodyPr wrap="square" lIns="0" tIns="0" rIns="0" bIns="0" rtlCol="0" anchor="ctr"/>
          <a:lstStyle/>
          <a:p>
            <a:pPr marL="0" indent="0" algn="l">
              <a:buNone/>
            </a:pPr>
            <a:r>
              <a:rPr lang="id-ID" sz="1050" dirty="0">
                <a:solidFill>
                  <a:srgbClr val="1B2B2A"/>
                </a:solidFill>
                <a:latin typeface="Calibri" pitchFamily="34" charset="0"/>
                <a:ea typeface="Calibri" pitchFamily="34" charset="-122"/>
                <a:cs typeface="Calibri" pitchFamily="34" charset="-120"/>
              </a:rPr>
              <a:t>Memenuhi standar UE, tetapi di luar UE dan Inggris tidak ada jaminan hukum; pesaing seperti Samsung dan Google menjanjikan 7 tahun.</a:t>
            </a:r>
          </a:p>
        </p:txBody>
      </p:sp>
      <p:sp>
        <p:nvSpPr>
          <p:cNvPr id="265" name="Skor"/>
          <p:cNvSpPr/>
          <p:nvPr/>
        </p:nvSpPr>
        <p:spPr>
          <a:xfrm>
            <a:off x="10881360" y="5129128"/>
            <a:ext cx="762000" cy="310896"/>
          </a:xfrm>
          <a:prstGeom prst="rect">
            <a:avLst/>
          </a:prstGeom>
          <a:solidFill>
            <a:srgbClr val="C98A12"/>
          </a:solidFill>
          <a:ln>
            <a:noFill/>
          </a:ln>
        </p:spPr>
        <p:txBody>
          <a:bodyPr wrap="square" lIns="45720" tIns="0" rIns="45720" bIns="0" rtlCol="0" anchor="ctr"/>
          <a:lstStyle/>
          <a:p>
            <a:pPr marL="0" indent="0" algn="ctr">
              <a:buNone/>
            </a:pPr>
            <a:r>
              <a:rPr lang="id-ID" sz="1100" b="1" dirty="0">
                <a:solidFill>
                  <a:srgbClr val="FFFFFF"/>
                </a:solidFill>
                <a:latin typeface="Calibri" pitchFamily="34" charset="0"/>
                <a:ea typeface="Calibri" pitchFamily="34" charset="-122"/>
                <a:cs typeface="Calibri" pitchFamily="34" charset="-120"/>
              </a:rPr>
              <a:t>Sedang</a:t>
            </a:r>
          </a:p>
        </p:txBody>
      </p:sp>
      <p:sp>
        <p:nvSpPr>
          <p:cNvPr id="266" name="Baris 6"/>
          <p:cNvSpPr/>
          <p:nvPr/>
        </p:nvSpPr>
        <p:spPr>
          <a:xfrm>
            <a:off x="457200" y="5626170"/>
            <a:ext cx="11277600" cy="683187"/>
          </a:xfrm>
          <a:prstGeom prst="rect">
            <a:avLst/>
          </a:prstGeom>
          <a:solidFill>
            <a:srgbClr val="FFFFFF"/>
          </a:solidFill>
          <a:ln w="9525">
            <a:solidFill>
              <a:srgbClr val="D5E2DD"/>
            </a:solidFill>
          </a:ln>
        </p:spPr>
      </p:sp>
      <p:sp>
        <p:nvSpPr>
          <p:cNvPr id="267" name="P6"/>
          <p:cNvSpPr txBox="1"/>
          <p:nvPr/>
        </p:nvSpPr>
        <p:spPr>
          <a:xfrm>
            <a:off x="548640" y="5626170"/>
            <a:ext cx="1554480" cy="683187"/>
          </a:xfrm>
          <a:prstGeom prst="rect">
            <a:avLst/>
          </a:prstGeom>
          <a:noFill/>
          <a:ln/>
        </p:spPr>
        <p:txBody>
          <a:bodyPr wrap="square" lIns="0" tIns="0" rIns="0" bIns="0" rtlCol="0" anchor="ctr"/>
          <a:lstStyle/>
          <a:p>
            <a:pPr marL="0" indent="0" algn="l">
              <a:buNone/>
            </a:pPr>
            <a:r>
              <a:rPr lang="id-ID" sz="1150" b="1" dirty="0">
                <a:solidFill>
                  <a:srgbClr val="12302B"/>
                </a:solidFill>
                <a:latin typeface="Calibri" pitchFamily="34" charset="0"/>
                <a:ea typeface="Calibri" pitchFamily="34" charset="-122"/>
                <a:cs typeface="Calibri" pitchFamily="34" charset="-120"/>
              </a:rPr>
              <a:t>Akhir masa pakai</a:t>
            </a:r>
          </a:p>
        </p:txBody>
      </p:sp>
      <p:sp>
        <p:nvSpPr>
          <p:cNvPr id="268" name="B6"/>
          <p:cNvSpPr txBox="1"/>
          <p:nvPr/>
        </p:nvSpPr>
        <p:spPr>
          <a:xfrm>
            <a:off x="2286000" y="5626170"/>
            <a:ext cx="4023360" cy="683187"/>
          </a:xfrm>
          <a:prstGeom prst="rect">
            <a:avLst/>
          </a:prstGeom>
          <a:noFill/>
          <a:ln/>
        </p:spPr>
        <p:txBody>
          <a:bodyPr wrap="square" lIns="0" tIns="0" rIns="0" bIns="0" rtlCol="0" anchor="ctr"/>
          <a:lstStyle/>
          <a:p>
            <a:pPr marL="0" indent="0" algn="l">
              <a:buNone/>
            </a:pPr>
            <a:r>
              <a:rPr lang="id-ID" sz="1050" dirty="0">
                <a:solidFill>
                  <a:srgbClr val="1B2B2A"/>
                </a:solidFill>
                <a:latin typeface="Calibri" pitchFamily="34" charset="0"/>
                <a:ea typeface="Calibri" pitchFamily="34" charset="-122"/>
                <a:cs typeface="Calibri" pitchFamily="34" charset="-120"/>
              </a:rPr>
              <a:t>Trade In dan robot Daisy (36 model); hanya 22,3% e-waste global terdokumentasi; Indonesia tanpa syarat pengambilan kembali.</a:t>
            </a:r>
          </a:p>
        </p:txBody>
      </p:sp>
      <p:sp>
        <p:nvSpPr>
          <p:cNvPr id="269" name="A6"/>
          <p:cNvSpPr txBox="1"/>
          <p:nvPr/>
        </p:nvSpPr>
        <p:spPr>
          <a:xfrm>
            <a:off x="6492240" y="5626170"/>
            <a:ext cx="4206240" cy="683187"/>
          </a:xfrm>
          <a:prstGeom prst="rect">
            <a:avLst/>
          </a:prstGeom>
          <a:noFill/>
          <a:ln/>
        </p:spPr>
        <p:txBody>
          <a:bodyPr wrap="square" lIns="0" tIns="0" rIns="0" bIns="0" rtlCol="0" anchor="ctr"/>
          <a:lstStyle/>
          <a:p>
            <a:pPr marL="0" indent="0" algn="l">
              <a:buNone/>
            </a:pPr>
            <a:r>
              <a:rPr lang="id-ID" sz="1050" dirty="0">
                <a:solidFill>
                  <a:srgbClr val="1B2B2A"/>
                </a:solidFill>
                <a:latin typeface="Calibri" pitchFamily="34" charset="0"/>
                <a:ea typeface="Calibri" pitchFamily="34" charset="-122"/>
                <a:cs typeface="Calibri" pitchFamily="34" charset="-120"/>
              </a:rPr>
              <a:t>Infrastruktur tersedia, tetapi tingkat pengumpulan iPhone tidak dibuka sehingga efektivitasnya tidak dapat dinilai.</a:t>
            </a:r>
          </a:p>
        </p:txBody>
      </p:sp>
      <p:sp>
        <p:nvSpPr>
          <p:cNvPr id="270" name="Skor"/>
          <p:cNvSpPr/>
          <p:nvPr/>
        </p:nvSpPr>
        <p:spPr>
          <a:xfrm>
            <a:off x="10881360" y="5812315"/>
            <a:ext cx="762000" cy="310896"/>
          </a:xfrm>
          <a:prstGeom prst="rect">
            <a:avLst/>
          </a:prstGeom>
          <a:solidFill>
            <a:srgbClr val="C98A12"/>
          </a:solidFill>
          <a:ln>
            <a:noFill/>
          </a:ln>
        </p:spPr>
        <p:txBody>
          <a:bodyPr wrap="square" lIns="45720" tIns="0" rIns="45720" bIns="0" rtlCol="0" anchor="ctr"/>
          <a:lstStyle/>
          <a:p>
            <a:pPr marL="0" indent="0" algn="ctr">
              <a:buNone/>
            </a:pPr>
            <a:r>
              <a:rPr lang="id-ID" sz="1100" b="1" dirty="0">
                <a:solidFill>
                  <a:srgbClr val="FFFFFF"/>
                </a:solidFill>
                <a:latin typeface="Calibri" pitchFamily="34" charset="0"/>
                <a:ea typeface="Calibri" pitchFamily="34" charset="-122"/>
                <a:cs typeface="Calibri" pitchFamily="34" charset="-120"/>
              </a:rPr>
              <a:t>Sedang</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4F8F6"/>
        </a:solidFill>
        <a:effectLst/>
      </p:bgPr>
    </p:bg>
    <p:spTree>
      <p:nvGrpSpPr>
        <p:cNvPr id="1" name=""/>
        <p:cNvGrpSpPr/>
        <p:nvPr/>
      </p:nvGrpSpPr>
      <p:grpSpPr>
        <a:xfrm>
          <a:off x="0" y="0"/>
          <a:ext cx="0" cy="0"/>
          <a:chOff x="0" y="0"/>
          <a:chExt cx="0" cy="0"/>
        </a:xfrm>
      </p:grpSpPr>
      <p:sp>
        <p:nvSpPr>
          <p:cNvPr id="2" name="badge"/>
          <p:cNvSpPr/>
          <p:nvPr/>
        </p:nvSpPr>
        <p:spPr>
          <a:xfrm>
            <a:off x="457200" y="384048"/>
            <a:ext cx="566928" cy="566928"/>
          </a:xfrm>
          <a:prstGeom prst="ellipse">
            <a:avLst/>
          </a:prstGeom>
          <a:solidFill>
            <a:srgbClr val="1F6F5C"/>
          </a:solidFill>
          <a:ln w="12700">
            <a:solidFill>
              <a:srgbClr val="1F6F5C"/>
            </a:solidFill>
            <a:prstDash val="solid"/>
          </a:ln>
        </p:spPr>
      </p:sp>
      <p:sp>
        <p:nvSpPr>
          <p:cNvPr id="3" name="Text 1"/>
          <p:cNvSpPr txBox="1"/>
          <p:nvPr/>
        </p:nvSpPr>
        <p:spPr>
          <a:xfrm>
            <a:off x="457200" y="384048"/>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4" name="Text 2"/>
          <p:cNvSpPr txBox="1"/>
          <p:nvPr/>
        </p:nvSpPr>
        <p:spPr>
          <a:xfrm>
            <a:off x="1188720" y="292608"/>
            <a:ext cx="9692640" cy="457200"/>
          </a:xfrm>
          <a:prstGeom prst="rect">
            <a:avLst/>
          </a:prstGeom>
          <a:noFill/>
          <a:ln/>
        </p:spPr>
        <p:txBody>
          <a:bodyPr wrap="square" lIns="0" tIns="0" rIns="0" bIns="0" rtlCol="0" anchor="ctr"/>
          <a:lstStyle/>
          <a:p>
            <a:pPr marL="0" indent="0">
              <a:buNone/>
            </a:pPr>
            <a:r>
              <a:rPr lang="en-US" sz="3000" b="1" dirty="0" err="1">
                <a:solidFill>
                  <a:srgbClr val="12302B"/>
                </a:solidFill>
                <a:latin typeface="Cambria" pitchFamily="34" charset="0"/>
                <a:ea typeface="Cambria" pitchFamily="34" charset="-122"/>
                <a:cs typeface="Cambria" pitchFamily="34" charset="-120"/>
              </a:rPr>
              <a:t>Analisis</a:t>
            </a:r>
            <a:endParaRPr lang="en-US" sz="3000" dirty="0"/>
          </a:p>
        </p:txBody>
      </p:sp>
      <p:sp>
        <p:nvSpPr>
          <p:cNvPr id="90" name="Text 3"/>
          <p:cNvSpPr txBox="1"/>
          <p:nvPr/>
        </p:nvSpPr>
        <p:spPr>
          <a:xfrm>
            <a:off x="1188720" y="768096"/>
            <a:ext cx="10424160" cy="292608"/>
          </a:xfrm>
          <a:prstGeom prst="rect">
            <a:avLst/>
          </a:prstGeom>
          <a:noFill/>
          <a:ln/>
        </p:spPr>
        <p:txBody>
          <a:bodyPr wrap="square" lIns="0" tIns="0" rIns="0" bIns="0" rtlCol="0" anchor="t"/>
          <a:lstStyle/>
          <a:p>
            <a:pPr marL="0" indent="0">
              <a:buNone/>
            </a:pPr>
            <a:r>
              <a:rPr lang="en-US" sz="1400" i="1" dirty="0">
                <a:solidFill>
                  <a:srgbClr val="5B6B68"/>
                </a:solidFill>
                <a:latin typeface="Calibri" pitchFamily="34" charset="0"/>
                <a:ea typeface="Calibri" pitchFamily="34" charset="-122"/>
                <a:cs typeface="Calibri" pitchFamily="34" charset="-120"/>
              </a:rPr>
              <a:t>Uji ketahanan klaim: umur layanan, kinerja aktual, dan risiko sistemik</a:t>
            </a:r>
            <a:endParaRPr lang="en-US" sz="1400" dirty="0"/>
          </a:p>
        </p:txBody>
      </p:sp>
      <p:sp>
        <p:nvSpPr>
          <p:cNvPr id="6" name="Shape 4"/>
          <p:cNvSpPr/>
          <p:nvPr/>
        </p:nvSpPr>
        <p:spPr>
          <a:xfrm>
            <a:off x="457200" y="1280160"/>
            <a:ext cx="5394960" cy="4937760"/>
          </a:xfrm>
          <a:prstGeom prst="roundRect">
            <a:avLst>
              <a:gd name="adj" fmla="val 1852"/>
            </a:avLst>
          </a:prstGeom>
          <a:solidFill>
            <a:srgbClr val="FFFFFF"/>
          </a:solidFill>
          <a:ln w="9525">
            <a:solidFill>
              <a:srgbClr val="D5E2DD"/>
            </a:solidFill>
            <a:prstDash val="solid"/>
          </a:ln>
          <a:effectLst>
            <a:outerShdw blurRad="76200" dist="25400" dir="5400000" algn="bl" rotWithShape="0">
              <a:srgbClr val="000000">
                <a:alpha val="12000"/>
              </a:srgbClr>
            </a:outerShdw>
          </a:effectLst>
        </p:spPr>
      </p:sp>
      <p:sp>
        <p:nvSpPr>
          <p:cNvPr id="7" name="Text 5"/>
          <p:cNvSpPr txBox="1"/>
          <p:nvPr/>
        </p:nvSpPr>
        <p:spPr>
          <a:xfrm>
            <a:off x="640080" y="1371600"/>
            <a:ext cx="5029200" cy="320040"/>
          </a:xfrm>
          <a:prstGeom prst="rect">
            <a:avLst/>
          </a:prstGeom>
          <a:noFill/>
          <a:ln/>
        </p:spPr>
        <p:txBody>
          <a:bodyPr wrap="square" lIns="0" tIns="0" rIns="0" bIns="0" rtlCol="0" anchor="t"/>
          <a:lstStyle/>
          <a:p>
            <a:pPr marL="0" indent="0">
              <a:buNone/>
            </a:pPr>
            <a:r>
              <a:rPr lang="en-US" sz="1700" b="1" dirty="0">
                <a:solidFill>
                  <a:srgbClr val="12302B"/>
                </a:solidFill>
                <a:latin typeface="Cambria" pitchFamily="34" charset="0"/>
                <a:ea typeface="Cambria" pitchFamily="34" charset="-122"/>
                <a:cs typeface="Cambria" pitchFamily="34" charset="-120"/>
              </a:rPr>
              <a:t>Dampak per pengguna-tahun (kg CO2e)</a:t>
            </a:r>
            <a:endParaRPr lang="en-US" sz="1700" dirty="0"/>
          </a:p>
        </p:txBody>
      </p:sp>
      <p:graphicFrame>
        <p:nvGraphicFramePr>
          <p:cNvPr id="8" name="Chart 0"/>
          <p:cNvGraphicFramePr/>
          <p:nvPr>
            <p:extLst>
              <p:ext uri="{D42A27DB-BD31-4B8C-83A1-F6EECF244321}">
                <p14:modId xmlns:p14="http://schemas.microsoft.com/office/powerpoint/2010/main" val="2170433596"/>
              </p:ext>
            </p:extLst>
          </p:nvPr>
        </p:nvGraphicFramePr>
        <p:xfrm>
          <a:off x="548640" y="1737360"/>
          <a:ext cx="5212080" cy="329184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3042501616"/>
              </p:ext>
            </p:extLst>
          </p:nvPr>
        </p:nvGraphicFramePr>
        <p:xfrm>
          <a:off x="6035040" y="1280160"/>
          <a:ext cx="5696712" cy="4690872"/>
        </p:xfrm>
        <a:graphic>
          <a:graphicData uri="http://schemas.openxmlformats.org/drawingml/2006/table">
            <a:tbl>
              <a:tblPr/>
              <a:tblGrid>
                <a:gridCol w="18288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581912">
                  <a:extLst>
                    <a:ext uri="{9D8B030D-6E8A-4147-A177-3AD203B41FA5}">
                      <a16:colId xmlns:a16="http://schemas.microsoft.com/office/drawing/2014/main" val="20002"/>
                    </a:ext>
                  </a:extLst>
                </a:gridCol>
              </a:tblGrid>
              <a:tr h="411480">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Uji</a:t>
                      </a:r>
                      <a:endParaRPr lang="en-US" sz="1300" dirty="0">
                        <a:latin typeface="Calibri" charset="0"/>
                        <a:ea typeface="Calibri" charset="0"/>
                        <a:cs typeface="Calibri" charset="0"/>
                      </a:endParaRPr>
                    </a:p>
                  </a:txBody>
                  <a:tcPr marL="73152" marR="73152"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12302B"/>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Temuan</a:t>
                      </a:r>
                      <a:endParaRPr lang="en-US" sz="1300" dirty="0">
                        <a:latin typeface="Calibri" charset="0"/>
                        <a:ea typeface="Calibri" charset="0"/>
                        <a:cs typeface="Calibri" charset="0"/>
                      </a:endParaRPr>
                    </a:p>
                  </a:txBody>
                  <a:tcPr marL="73152" marR="73152"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12302B"/>
                    </a:solidFill>
                  </a:tcPr>
                </a:tc>
                <a:tc>
                  <a:txBody>
                    <a:bodyPr/>
                    <a:lstStyle/>
                    <a:p>
                      <a:pPr marL="0" indent="0" algn="ctr">
                        <a:buNone/>
                      </a:pPr>
                      <a:r>
                        <a:rPr lang="id-ID" sz="1300" b="1" dirty="0">
                          <a:solidFill>
                            <a:srgbClr val="FFFFFF"/>
                          </a:solidFill>
                          <a:latin typeface="Calibri" pitchFamily="34" charset="0"/>
                          <a:ea typeface="Calibri" pitchFamily="34" charset="-122"/>
                          <a:cs typeface="Calibri" pitchFamily="34" charset="-120"/>
                        </a:rPr>
                        <a:t>Kesimpulan</a:t>
                      </a:r>
                      <a:endParaRPr lang="en-US" sz="1300" dirty="0">
                        <a:latin typeface="Calibri" charset="0"/>
                        <a:ea typeface="Calibri" charset="0"/>
                        <a:cs typeface="Calibri" charset="0"/>
                      </a:endParaRPr>
                    </a:p>
                  </a:txBody>
                  <a:tcPr marL="73152" marR="73152"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12302B"/>
                    </a:solidFill>
                  </a:tcPr>
                </a:tc>
                <a:extLst>
                  <a:ext uri="{0D108BD9-81ED-4DB2-BD59-A6C34878D82A}">
                    <a16:rowId xmlns:a16="http://schemas.microsoft.com/office/drawing/2014/main" val="10000"/>
                  </a:ext>
                </a:extLst>
              </a:tr>
              <a:tr h="713232">
                <a:tc>
                  <a:txBody>
                    <a:bodyPr/>
                    <a:lstStyle/>
                    <a:p>
                      <a:pPr marL="0" indent="0">
                        <a:buNone/>
                      </a:pPr>
                      <a:r>
                        <a:rPr lang="en-US" sz="1300" b="1" dirty="0">
                          <a:solidFill>
                            <a:srgbClr val="12302B"/>
                          </a:solidFill>
                          <a:latin typeface="Calibri" pitchFamily="34" charset="0"/>
                          <a:ea typeface="Calibri" pitchFamily="34" charset="-122"/>
                          <a:cs typeface="Calibri" pitchFamily="34" charset="-120"/>
                        </a:rPr>
                        <a:t>Sensitivitas umur layanan</a:t>
                      </a:r>
                      <a:endParaRPr lang="en-US" sz="1300" dirty="0">
                        <a:latin typeface="Calibri" charset="0"/>
                        <a:ea typeface="Calibri" charset="0"/>
                        <a:cs typeface="Calibri" charset="0"/>
                      </a:endParaRPr>
                    </a:p>
                  </a:txBody>
                  <a:tcPr marL="73152" marR="73152"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FFFFFF"/>
                    </a:solidFill>
                  </a:tcPr>
                </a:tc>
                <a:tc>
                  <a:txBody>
                    <a:bodyPr/>
                    <a:lstStyle/>
                    <a:p>
                      <a:pPr marL="0" indent="0">
                        <a:buNone/>
                      </a:pPr>
                      <a:r>
                        <a:rPr lang="en-US" sz="1300" dirty="0">
                          <a:solidFill>
                            <a:srgbClr val="1B2B2A"/>
                          </a:solidFill>
                          <a:latin typeface="Calibri" pitchFamily="34" charset="0"/>
                          <a:ea typeface="Calibri" pitchFamily="34" charset="-122"/>
                          <a:cs typeface="Calibri" pitchFamily="34" charset="-120"/>
                        </a:rPr>
                        <a:t>33% lebih rendah pada 5 tahun</a:t>
                      </a:r>
                      <a:endParaRPr lang="en-US" sz="1300" dirty="0">
                        <a:latin typeface="Calibri" charset="0"/>
                        <a:ea typeface="Calibri" charset="0"/>
                        <a:cs typeface="Calibri" charset="0"/>
                      </a:endParaRPr>
                    </a:p>
                  </a:txBody>
                  <a:tcPr marL="73152" marR="73152"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Lolos bersyarat</a:t>
                      </a:r>
                      <a:endParaRPr lang="en-US" sz="1200" dirty="0">
                        <a:latin typeface="Calibri" charset="0"/>
                        <a:ea typeface="Calibri" charset="0"/>
                        <a:cs typeface="Calibri" charset="0"/>
                      </a:endParaRPr>
                    </a:p>
                  </a:txBody>
                  <a:tcPr marL="73152" marR="73152"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C98A12"/>
                    </a:solidFill>
                  </a:tcPr>
                </a:tc>
                <a:extLst>
                  <a:ext uri="{0D108BD9-81ED-4DB2-BD59-A6C34878D82A}">
                    <a16:rowId xmlns:a16="http://schemas.microsoft.com/office/drawing/2014/main" val="10001"/>
                  </a:ext>
                </a:extLst>
              </a:tr>
              <a:tr h="713232">
                <a:tc>
                  <a:txBody>
                    <a:bodyPr/>
                    <a:lstStyle/>
                    <a:p>
                      <a:pPr marL="0" indent="0">
                        <a:buNone/>
                      </a:pPr>
                      <a:r>
                        <a:rPr lang="en-US" sz="1300" b="1" dirty="0">
                          <a:solidFill>
                            <a:srgbClr val="12302B"/>
                          </a:solidFill>
                          <a:latin typeface="Calibri" pitchFamily="34" charset="0"/>
                          <a:ea typeface="Calibri" pitchFamily="34" charset="-122"/>
                          <a:cs typeface="Calibri" pitchFamily="34" charset="-120"/>
                        </a:rPr>
                        <a:t>Desain vs kinerja aktual</a:t>
                      </a:r>
                      <a:endParaRPr lang="en-US" sz="1300" dirty="0">
                        <a:latin typeface="Calibri" charset="0"/>
                        <a:ea typeface="Calibri" charset="0"/>
                        <a:cs typeface="Calibri" charset="0"/>
                      </a:endParaRPr>
                    </a:p>
                  </a:txBody>
                  <a:tcPr marL="73152" marR="73152"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FFFFFF"/>
                    </a:solidFill>
                  </a:tcPr>
                </a:tc>
                <a:tc>
                  <a:txBody>
                    <a:bodyPr/>
                    <a:lstStyle/>
                    <a:p>
                      <a:pPr marL="0" indent="0">
                        <a:buNone/>
                      </a:pPr>
                      <a:r>
                        <a:rPr lang="en-US" sz="1300" dirty="0">
                          <a:solidFill>
                            <a:srgbClr val="1B2B2A"/>
                          </a:solidFill>
                          <a:latin typeface="Calibri" pitchFamily="34" charset="0"/>
                          <a:ea typeface="Calibri" pitchFamily="34" charset="-122"/>
                          <a:cs typeface="Calibri" pitchFamily="34" charset="-120"/>
                        </a:rPr>
                        <a:t>Rasio reparasi tidak dipublikasikan</a:t>
                      </a:r>
                      <a:endParaRPr lang="en-US" sz="1300" dirty="0">
                        <a:latin typeface="Calibri" charset="0"/>
                        <a:ea typeface="Calibri" charset="0"/>
                        <a:cs typeface="Calibri" charset="0"/>
                      </a:endParaRPr>
                    </a:p>
                  </a:txBody>
                  <a:tcPr marL="73152" marR="73152"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Belum lolos</a:t>
                      </a:r>
                      <a:endParaRPr lang="en-US" sz="1200" dirty="0">
                        <a:latin typeface="Calibri" charset="0"/>
                        <a:ea typeface="Calibri" charset="0"/>
                        <a:cs typeface="Calibri" charset="0"/>
                      </a:endParaRPr>
                    </a:p>
                  </a:txBody>
                  <a:tcPr marL="73152" marR="73152"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B3402F"/>
                    </a:solidFill>
                  </a:tcPr>
                </a:tc>
                <a:extLst>
                  <a:ext uri="{0D108BD9-81ED-4DB2-BD59-A6C34878D82A}">
                    <a16:rowId xmlns:a16="http://schemas.microsoft.com/office/drawing/2014/main" val="10002"/>
                  </a:ext>
                </a:extLst>
              </a:tr>
              <a:tr h="713232">
                <a:tc>
                  <a:txBody>
                    <a:bodyPr/>
                    <a:lstStyle/>
                    <a:p>
                      <a:pPr marL="0" indent="0">
                        <a:buNone/>
                      </a:pPr>
                      <a:r>
                        <a:rPr lang="en-US" sz="1300" b="1" dirty="0">
                          <a:solidFill>
                            <a:srgbClr val="12302B"/>
                          </a:solidFill>
                          <a:latin typeface="Calibri" pitchFamily="34" charset="0"/>
                          <a:ea typeface="Calibri" pitchFamily="34" charset="-122"/>
                          <a:cs typeface="Calibri" pitchFamily="34" charset="-120"/>
                        </a:rPr>
                        <a:t>Substitusi dan lokasi dampak</a:t>
                      </a:r>
                      <a:endParaRPr lang="en-US" sz="1300" dirty="0">
                        <a:latin typeface="Calibri" charset="0"/>
                        <a:ea typeface="Calibri" charset="0"/>
                        <a:cs typeface="Calibri" charset="0"/>
                      </a:endParaRPr>
                    </a:p>
                  </a:txBody>
                  <a:tcPr marL="73152" marR="73152"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FFFFFF"/>
                    </a:solidFill>
                  </a:tcPr>
                </a:tc>
                <a:tc>
                  <a:txBody>
                    <a:bodyPr/>
                    <a:lstStyle/>
                    <a:p>
                      <a:pPr marL="0" indent="0">
                        <a:buNone/>
                      </a:pPr>
                      <a:r>
                        <a:rPr lang="en-US" sz="1400" dirty="0" err="1"/>
                        <a:t>Produksi</a:t>
                      </a:r>
                      <a:r>
                        <a:rPr lang="en-US" sz="1400" dirty="0"/>
                        <a:t> 79%; </a:t>
                      </a:r>
                      <a:r>
                        <a:rPr lang="en-US" sz="1400" dirty="0" err="1"/>
                        <a:t>listrik</a:t>
                      </a:r>
                      <a:r>
                        <a:rPr lang="en-US" sz="1400" dirty="0"/>
                        <a:t> </a:t>
                      </a:r>
                      <a:r>
                        <a:rPr lang="en-US" sz="1400" dirty="0" err="1"/>
                        <a:t>pemasok</a:t>
                      </a:r>
                      <a:r>
                        <a:rPr lang="en-US" sz="1400" dirty="0"/>
                        <a:t> </a:t>
                      </a:r>
                      <a:r>
                        <a:rPr lang="en-US" sz="1400" b="0" dirty="0" err="1"/>
                        <a:t>merupakan</a:t>
                      </a:r>
                      <a:r>
                        <a:rPr lang="en-US" sz="1400" b="0" dirty="0"/>
                        <a:t> </a:t>
                      </a:r>
                      <a:r>
                        <a:rPr lang="en-US" sz="1400" b="0" dirty="0" err="1"/>
                        <a:t>faktor</a:t>
                      </a:r>
                      <a:r>
                        <a:rPr lang="en-US" sz="1400" b="0" dirty="0"/>
                        <a:t> </a:t>
                      </a:r>
                      <a:r>
                        <a:rPr lang="en-US" sz="1400" b="0" dirty="0" err="1"/>
                        <a:t>penentu</a:t>
                      </a:r>
                      <a:r>
                        <a:rPr lang="en-US" sz="1400" b="0" dirty="0"/>
                        <a:t> </a:t>
                      </a:r>
                      <a:r>
                        <a:rPr lang="en-US" sz="1400" b="0" dirty="0" err="1"/>
                        <a:t>utama</a:t>
                      </a:r>
                      <a:endParaRPr lang="en-US" sz="1300" b="0" dirty="0">
                        <a:latin typeface="Calibri" charset="0"/>
                        <a:ea typeface="Calibri" charset="0"/>
                        <a:cs typeface="Calibri" charset="0"/>
                      </a:endParaRPr>
                    </a:p>
                  </a:txBody>
                  <a:tcPr marL="73152" marR="73152"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Lolos sebagian</a:t>
                      </a:r>
                      <a:endParaRPr lang="en-US" sz="1200" dirty="0">
                        <a:latin typeface="Calibri" charset="0"/>
                        <a:ea typeface="Calibri" charset="0"/>
                        <a:cs typeface="Calibri" charset="0"/>
                      </a:endParaRPr>
                    </a:p>
                  </a:txBody>
                  <a:tcPr marL="73152" marR="73152"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C98A12"/>
                    </a:solidFill>
                  </a:tcPr>
                </a:tc>
                <a:extLst>
                  <a:ext uri="{0D108BD9-81ED-4DB2-BD59-A6C34878D82A}">
                    <a16:rowId xmlns:a16="http://schemas.microsoft.com/office/drawing/2014/main" val="10003"/>
                  </a:ext>
                </a:extLst>
              </a:tr>
              <a:tr h="713232">
                <a:tc>
                  <a:txBody>
                    <a:bodyPr/>
                    <a:lstStyle/>
                    <a:p>
                      <a:pPr marL="0" indent="0">
                        <a:buNone/>
                      </a:pPr>
                      <a:r>
                        <a:rPr lang="en-US" sz="1300" b="1" dirty="0">
                          <a:solidFill>
                            <a:srgbClr val="12302B"/>
                          </a:solidFill>
                          <a:latin typeface="Calibri" pitchFamily="34" charset="0"/>
                          <a:ea typeface="Calibri" pitchFamily="34" charset="-122"/>
                          <a:cs typeface="Calibri" pitchFamily="34" charset="-120"/>
                        </a:rPr>
                        <a:t>Pergeseran beban</a:t>
                      </a:r>
                      <a:endParaRPr lang="en-US" sz="1300" dirty="0">
                        <a:latin typeface="Calibri" charset="0"/>
                        <a:ea typeface="Calibri" charset="0"/>
                        <a:cs typeface="Calibri" charset="0"/>
                      </a:endParaRPr>
                    </a:p>
                  </a:txBody>
                  <a:tcPr marL="73152" marR="73152"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FFFFFF"/>
                    </a:solidFill>
                  </a:tcPr>
                </a:tc>
                <a:tc>
                  <a:txBody>
                    <a:bodyPr/>
                    <a:lstStyle/>
                    <a:p>
                      <a:pPr marL="0" indent="0">
                        <a:buNone/>
                      </a:pPr>
                      <a:r>
                        <a:rPr lang="en-US" sz="1300" dirty="0">
                          <a:solidFill>
                            <a:srgbClr val="1B2B2A"/>
                          </a:solidFill>
                          <a:latin typeface="Calibri" pitchFamily="34" charset="0"/>
                          <a:ea typeface="Calibri" pitchFamily="34" charset="-122"/>
                          <a:cs typeface="Calibri" pitchFamily="34" charset="-120"/>
                        </a:rPr>
                        <a:t>Hanya 22,3% e-waste global terdokumentasi</a:t>
                      </a:r>
                      <a:endParaRPr lang="en-US" sz="1300" dirty="0">
                        <a:latin typeface="Calibri" charset="0"/>
                        <a:ea typeface="Calibri" charset="0"/>
                        <a:cs typeface="Calibri" charset="0"/>
                      </a:endParaRPr>
                    </a:p>
                  </a:txBody>
                  <a:tcPr marL="73152" marR="73152"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Berisiko</a:t>
                      </a:r>
                      <a:endParaRPr lang="en-US" sz="1200" dirty="0">
                        <a:latin typeface="Calibri" charset="0"/>
                        <a:ea typeface="Calibri" charset="0"/>
                        <a:cs typeface="Calibri" charset="0"/>
                      </a:endParaRPr>
                    </a:p>
                  </a:txBody>
                  <a:tcPr marL="73152" marR="73152"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B3402F"/>
                    </a:solidFill>
                  </a:tcPr>
                </a:tc>
                <a:extLst>
                  <a:ext uri="{0D108BD9-81ED-4DB2-BD59-A6C34878D82A}">
                    <a16:rowId xmlns:a16="http://schemas.microsoft.com/office/drawing/2014/main" val="10004"/>
                  </a:ext>
                </a:extLst>
              </a:tr>
              <a:tr h="713232">
                <a:tc>
                  <a:txBody>
                    <a:bodyPr/>
                    <a:lstStyle/>
                    <a:p>
                      <a:pPr marL="0" indent="0">
                        <a:buNone/>
                      </a:pPr>
                      <a:r>
                        <a:rPr lang="en-US" sz="1300" b="1" dirty="0">
                          <a:solidFill>
                            <a:srgbClr val="12302B"/>
                          </a:solidFill>
                          <a:latin typeface="Calibri" pitchFamily="34" charset="0"/>
                          <a:ea typeface="Calibri" pitchFamily="34" charset="-122"/>
                          <a:cs typeface="Calibri" pitchFamily="34" charset="-120"/>
                        </a:rPr>
                        <a:t>Efek rebound</a:t>
                      </a:r>
                      <a:endParaRPr lang="en-US" sz="1300" dirty="0">
                        <a:latin typeface="Calibri" charset="0"/>
                        <a:ea typeface="Calibri" charset="0"/>
                        <a:cs typeface="Calibri" charset="0"/>
                      </a:endParaRPr>
                    </a:p>
                  </a:txBody>
                  <a:tcPr marL="73152" marR="73152"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FFFFFF"/>
                    </a:solidFill>
                  </a:tcPr>
                </a:tc>
                <a:tc>
                  <a:txBody>
                    <a:bodyPr/>
                    <a:lstStyle/>
                    <a:p>
                      <a:pPr marL="0" indent="0">
                        <a:buNone/>
                      </a:pPr>
                      <a:r>
                        <a:rPr lang="en-US" sz="1300" dirty="0">
                          <a:solidFill>
                            <a:srgbClr val="1B2B2A"/>
                          </a:solidFill>
                          <a:latin typeface="Calibri" pitchFamily="34" charset="0"/>
                          <a:ea typeface="Calibri" pitchFamily="34" charset="-122"/>
                          <a:cs typeface="Calibri" pitchFamily="34" charset="-120"/>
                        </a:rPr>
                        <a:t>Tukar tambah dapat mempercepat ganti</a:t>
                      </a:r>
                      <a:endParaRPr lang="en-US" sz="1300" dirty="0">
                        <a:latin typeface="Calibri" charset="0"/>
                        <a:ea typeface="Calibri" charset="0"/>
                        <a:cs typeface="Calibri" charset="0"/>
                      </a:endParaRPr>
                    </a:p>
                  </a:txBody>
                  <a:tcPr marL="73152" marR="73152"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Berisiko</a:t>
                      </a:r>
                      <a:endParaRPr lang="en-US" sz="1200" dirty="0">
                        <a:latin typeface="Calibri" charset="0"/>
                        <a:ea typeface="Calibri" charset="0"/>
                        <a:cs typeface="Calibri" charset="0"/>
                      </a:endParaRPr>
                    </a:p>
                  </a:txBody>
                  <a:tcPr marL="73152" marR="73152"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B3402F"/>
                    </a:solidFill>
                  </a:tcPr>
                </a:tc>
                <a:extLst>
                  <a:ext uri="{0D108BD9-81ED-4DB2-BD59-A6C34878D82A}">
                    <a16:rowId xmlns:a16="http://schemas.microsoft.com/office/drawing/2014/main" val="10005"/>
                  </a:ext>
                </a:extLst>
              </a:tr>
              <a:tr h="713232">
                <a:tc>
                  <a:txBody>
                    <a:bodyPr/>
                    <a:lstStyle/>
                    <a:p>
                      <a:pPr marL="0" indent="0">
                        <a:buNone/>
                      </a:pPr>
                      <a:r>
                        <a:rPr lang="en-US" sz="1300" b="1" dirty="0">
                          <a:solidFill>
                            <a:srgbClr val="12302B"/>
                          </a:solidFill>
                          <a:latin typeface="Calibri" pitchFamily="34" charset="0"/>
                          <a:ea typeface="Calibri" pitchFamily="34" charset="-122"/>
                          <a:cs typeface="Calibri" pitchFamily="34" charset="-120"/>
                        </a:rPr>
                        <a:t>Dimensi sosial produksi</a:t>
                      </a:r>
                      <a:endParaRPr lang="en-US" sz="1300" dirty="0">
                        <a:latin typeface="Calibri" charset="0"/>
                        <a:ea typeface="Calibri" charset="0"/>
                        <a:cs typeface="Calibri" charset="0"/>
                      </a:endParaRPr>
                    </a:p>
                  </a:txBody>
                  <a:tcPr marL="73152" marR="73152"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FFFFFF"/>
                    </a:solidFill>
                  </a:tcPr>
                </a:tc>
                <a:tc>
                  <a:txBody>
                    <a:bodyPr/>
                    <a:lstStyle/>
                    <a:p>
                      <a:pPr marL="0" indent="0">
                        <a:buNone/>
                      </a:pPr>
                      <a:r>
                        <a:rPr lang="en-US" sz="1300" dirty="0">
                          <a:solidFill>
                            <a:srgbClr val="1B2B2A"/>
                          </a:solidFill>
                          <a:latin typeface="Calibri" pitchFamily="34" charset="0"/>
                          <a:ea typeface="Calibri" pitchFamily="34" charset="-122"/>
                          <a:cs typeface="Calibri" pitchFamily="34" charset="-120"/>
                        </a:rPr>
                        <a:t>Data jam kerja terbaru tidak ada (98% pada 2016)</a:t>
                      </a:r>
                      <a:endParaRPr lang="en-US" sz="1300" dirty="0">
                        <a:latin typeface="Calibri" charset="0"/>
                        <a:ea typeface="Calibri" charset="0"/>
                        <a:cs typeface="Calibri" charset="0"/>
                      </a:endParaRPr>
                    </a:p>
                  </a:txBody>
                  <a:tcPr marL="73152" marR="73152"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Belum terbukti</a:t>
                      </a:r>
                      <a:endParaRPr lang="en-US" sz="1200" dirty="0">
                        <a:latin typeface="Calibri" charset="0"/>
                        <a:ea typeface="Calibri" charset="0"/>
                        <a:cs typeface="Calibri" charset="0"/>
                      </a:endParaRPr>
                    </a:p>
                  </a:txBody>
                  <a:tcPr marL="73152" marR="73152" marT="36576" marB="36576" anchor="ctr">
                    <a:lnL w="9525" cap="flat" cmpd="sng" algn="ctr">
                      <a:solidFill>
                        <a:srgbClr val="D5E2DD"/>
                      </a:solidFill>
                      <a:prstDash val="solid"/>
                      <a:round/>
                      <a:headEnd type="none" w="med" len="med"/>
                      <a:tailEnd type="none" w="med" len="med"/>
                    </a:lnL>
                    <a:lnR w="9525" cap="flat" cmpd="sng" algn="ctr">
                      <a:solidFill>
                        <a:srgbClr val="D5E2DD"/>
                      </a:solidFill>
                      <a:prstDash val="solid"/>
                      <a:round/>
                      <a:headEnd type="none" w="med" len="med"/>
                      <a:tailEnd type="none" w="med" len="med"/>
                    </a:lnR>
                    <a:lnT w="9525" cap="flat" cmpd="sng" algn="ctr">
                      <a:solidFill>
                        <a:srgbClr val="D5E2DD"/>
                      </a:solidFill>
                      <a:prstDash val="solid"/>
                      <a:round/>
                      <a:headEnd type="none" w="med" len="med"/>
                      <a:tailEnd type="none" w="med" len="med"/>
                    </a:lnT>
                    <a:lnB w="9525" cap="flat" cmpd="sng" algn="ctr">
                      <a:solidFill>
                        <a:srgbClr val="D5E2DD"/>
                      </a:solidFill>
                      <a:prstDash val="solid"/>
                      <a:round/>
                      <a:headEnd type="none" w="med" len="med"/>
                      <a:tailEnd type="none" w="med" len="med"/>
                    </a:lnB>
                    <a:solidFill>
                      <a:srgbClr val="B3402F"/>
                    </a:solidFill>
                  </a:tcPr>
                </a:tc>
                <a:extLst>
                  <a:ext uri="{0D108BD9-81ED-4DB2-BD59-A6C34878D82A}">
                    <a16:rowId xmlns:a16="http://schemas.microsoft.com/office/drawing/2014/main" val="10006"/>
                  </a:ext>
                </a:extLst>
              </a:tr>
            </a:tbl>
          </a:graphicData>
        </a:graphic>
      </p:graphicFrame>
      <p:sp>
        <p:nvSpPr>
          <p:cNvPr id="12" name="Text 8"/>
          <p:cNvSpPr txBox="1"/>
          <p:nvPr/>
        </p:nvSpPr>
        <p:spPr>
          <a:xfrm>
            <a:off x="11247120" y="6473952"/>
            <a:ext cx="457200" cy="228600"/>
          </a:xfrm>
          <a:prstGeom prst="rect">
            <a:avLst/>
          </a:prstGeom>
          <a:noFill/>
          <a:ln/>
        </p:spPr>
        <p:txBody>
          <a:bodyPr wrap="square" lIns="0" tIns="0" rIns="0" bIns="0" rtlCol="0" anchor="t"/>
          <a:lstStyle/>
          <a:p>
            <a:pPr marL="0" indent="0" algn="r">
              <a:buNone/>
            </a:pPr>
            <a:r>
              <a:rPr lang="en-US" sz="1000" dirty="0">
                <a:solidFill>
                  <a:srgbClr val="5B6B68"/>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4F8F6"/>
        </a:solidFill>
        <a:effectLst/>
      </p:bgPr>
    </p:bg>
    <p:spTree>
      <p:nvGrpSpPr>
        <p:cNvPr id="1" name=""/>
        <p:cNvGrpSpPr/>
        <p:nvPr/>
      </p:nvGrpSpPr>
      <p:grpSpPr>
        <a:xfrm>
          <a:off x="0" y="0"/>
          <a:ext cx="0" cy="0"/>
          <a:chOff x="0" y="0"/>
          <a:chExt cx="0" cy="0"/>
        </a:xfrm>
      </p:grpSpPr>
      <p:sp>
        <p:nvSpPr>
          <p:cNvPr id="2" name="badge"/>
          <p:cNvSpPr/>
          <p:nvPr/>
        </p:nvSpPr>
        <p:spPr>
          <a:xfrm>
            <a:off x="457200" y="384048"/>
            <a:ext cx="566928" cy="566928"/>
          </a:xfrm>
          <a:prstGeom prst="ellipse">
            <a:avLst/>
          </a:prstGeom>
          <a:solidFill>
            <a:srgbClr val="1F6F5C"/>
          </a:solidFill>
          <a:ln w="12700">
            <a:solidFill>
              <a:srgbClr val="1F6F5C"/>
            </a:solidFill>
            <a:prstDash val="solid"/>
          </a:ln>
        </p:spPr>
      </p:sp>
      <p:sp>
        <p:nvSpPr>
          <p:cNvPr id="3" name="Text 1"/>
          <p:cNvSpPr txBox="1"/>
          <p:nvPr/>
        </p:nvSpPr>
        <p:spPr>
          <a:xfrm>
            <a:off x="457200" y="384048"/>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4.1</a:t>
            </a:r>
            <a:endParaRPr lang="en-US" sz="2000" dirty="0"/>
          </a:p>
        </p:txBody>
      </p:sp>
      <p:sp>
        <p:nvSpPr>
          <p:cNvPr id="4" name="Text 2"/>
          <p:cNvSpPr txBox="1"/>
          <p:nvPr/>
        </p:nvSpPr>
        <p:spPr>
          <a:xfrm>
            <a:off x="1188720" y="292608"/>
            <a:ext cx="9692640" cy="457200"/>
          </a:xfrm>
          <a:prstGeom prst="rect">
            <a:avLst/>
          </a:prstGeom>
          <a:noFill/>
          <a:ln/>
        </p:spPr>
        <p:txBody>
          <a:bodyPr wrap="square" lIns="0" tIns="0" rIns="0" bIns="0" rtlCol="0" anchor="ctr"/>
          <a:lstStyle/>
          <a:p>
            <a:pPr marL="0" indent="0">
              <a:buNone/>
            </a:pPr>
            <a:r>
              <a:rPr lang="en-US" sz="3000" b="1" dirty="0" err="1">
                <a:solidFill>
                  <a:srgbClr val="12302B"/>
                </a:solidFill>
                <a:latin typeface="Cambria" pitchFamily="34" charset="0"/>
                <a:ea typeface="Cambria" pitchFamily="34" charset="-122"/>
                <a:cs typeface="Cambria" pitchFamily="34" charset="-120"/>
              </a:rPr>
              <a:t>Cara menghitung dampak per pengguna-tahun</a:t>
            </a:r>
            <a:endParaRPr lang="en-US" sz="3000" dirty="0"/>
          </a:p>
        </p:txBody>
      </p:sp>
      <p:sp>
        <p:nvSpPr>
          <p:cNvPr id="5" name="Text 3"/>
          <p:cNvSpPr txBox="1"/>
          <p:nvPr/>
        </p:nvSpPr>
        <p:spPr>
          <a:xfrm>
            <a:off x="1188720" y="768096"/>
            <a:ext cx="10424160" cy="292608"/>
          </a:xfrm>
          <a:prstGeom prst="rect">
            <a:avLst/>
          </a:prstGeom>
          <a:noFill/>
          <a:ln/>
        </p:spPr>
        <p:txBody>
          <a:bodyPr wrap="square" lIns="0" tIns="0" rIns="0" bIns="0" rtlCol="0" anchor="t"/>
          <a:lstStyle/>
          <a:p>
            <a:pPr marL="0" indent="0">
              <a:buNone/>
            </a:pPr>
            <a:r>
              <a:rPr lang="en-US" sz="1400" i="1" dirty="0">
                <a:solidFill>
                  <a:srgbClr val="5B6B68"/>
                </a:solidFill>
                <a:latin typeface="Calibri" pitchFamily="34" charset="0"/>
                <a:ea typeface="Calibri" pitchFamily="34" charset="-122"/>
                <a:cs typeface="Calibri" pitchFamily="34" charset="-120"/>
              </a:rPr>
              <a:t>Hitungan penulis berbasis data Apple (2024a); menjelaskan asal angka pada grafik slide sebelumnya</a:t>
            </a:r>
            <a:endParaRPr lang="en-US" sz="1400" dirty="0"/>
          </a:p>
        </p:txBody>
      </p:sp>
      <p:sp>
        <p:nvSpPr>
          <p:cNvPr id="30" name="Text 27"/>
          <p:cNvSpPr txBox="1"/>
          <p:nvPr/>
        </p:nvSpPr>
        <p:spPr>
          <a:xfrm>
            <a:off x="11247120" y="6473952"/>
            <a:ext cx="457200" cy="228600"/>
          </a:xfrm>
          <a:prstGeom prst="rect">
            <a:avLst/>
          </a:prstGeom>
          <a:noFill/>
          <a:ln/>
        </p:spPr>
        <p:txBody>
          <a:bodyPr wrap="square" lIns="0" tIns="0" rIns="0" bIns="0" rtlCol="0" anchor="t"/>
          <a:lstStyle/>
          <a:p>
            <a:pPr marL="0" indent="0" algn="r">
              <a:buNone/>
            </a:pPr>
            <a:r>
              <a:rPr lang="en-US" sz="1000" dirty="0">
                <a:solidFill>
                  <a:srgbClr val="5B6B68"/>
                </a:solidFill>
                <a:latin typeface="Calibri" pitchFamily="34" charset="0"/>
                <a:ea typeface="Calibri" pitchFamily="34" charset="-122"/>
                <a:cs typeface="Calibri" pitchFamily="34" charset="-120"/>
              </a:rPr>
              <a:t>9</a:t>
            </a:r>
            <a:endParaRPr lang="en-US" sz="1000" dirty="0"/>
          </a:p>
        </p:txBody>
      </p:sp>
      <p:sp>
        <p:nvSpPr>
          <p:cNvPr id="271" name="Langkah"/>
          <p:cNvSpPr/>
          <p:nvPr/>
        </p:nvSpPr>
        <p:spPr>
          <a:xfrm>
            <a:off x="457200" y="1188720"/>
            <a:ext cx="5303520" cy="5120640"/>
          </a:xfrm>
          <a:prstGeom prst="roundRect">
            <a:avLst>
              <a:gd name="adj" fmla="val 6452"/>
            </a:avLst>
          </a:prstGeom>
          <a:solidFill>
            <a:srgbClr val="FFFFFF"/>
          </a:solidFill>
          <a:ln w="9525">
            <a:solidFill>
              <a:srgbClr val="D5E2DD"/>
            </a:solidFill>
          </a:ln>
          <a:effectLst>
            <a:outerShdw blurRad="76200" dist="25400" dir="5400000" algn="bl" rotWithShape="0">
              <a:srgbClr val="000000">
                <a:alpha val="12000"/>
              </a:srgbClr>
            </a:outerShdw>
          </a:effectLst>
        </p:spPr>
      </p:sp>
      <p:sp>
        <p:nvSpPr>
          <p:cNvPr id="272" name="Judul langkah"/>
          <p:cNvSpPr txBox="1"/>
          <p:nvPr/>
        </p:nvSpPr>
        <p:spPr>
          <a:xfrm>
            <a:off x="640080" y="1298448"/>
            <a:ext cx="4937760" cy="320040"/>
          </a:xfrm>
          <a:prstGeom prst="rect">
            <a:avLst/>
          </a:prstGeom>
          <a:noFill/>
          <a:ln/>
        </p:spPr>
        <p:txBody>
          <a:bodyPr wrap="square" lIns="0" tIns="0" rIns="0" bIns="0" rtlCol="0" anchor="t"/>
          <a:lstStyle/>
          <a:p>
            <a:pPr marL="0" indent="0" algn="l">
              <a:buNone/>
            </a:pPr>
            <a:r>
              <a:rPr lang="id-ID" sz="1500" b="1" dirty="0">
                <a:solidFill>
                  <a:srgbClr val="12302B"/>
                </a:solidFill>
                <a:latin typeface="Cambria" pitchFamily="34" charset="0"/>
                <a:ea typeface="Cambria" pitchFamily="34" charset="-122"/>
                <a:cs typeface="Cambria" pitchFamily="34" charset="-120"/>
              </a:rPr>
              <a:t>Langkah perhitungan</a:t>
            </a:r>
          </a:p>
        </p:txBody>
      </p:sp>
      <p:sp>
        <p:nvSpPr>
          <p:cNvPr id="273" name="Nomor 1"/>
          <p:cNvSpPr/>
          <p:nvPr/>
        </p:nvSpPr>
        <p:spPr>
          <a:xfrm>
            <a:off x="640080" y="1737360"/>
            <a:ext cx="365760" cy="365760"/>
          </a:xfrm>
          <a:prstGeom prst="ellipse">
            <a:avLst/>
          </a:prstGeom>
          <a:solidFill>
            <a:srgbClr val="1F6F5C"/>
          </a:solidFill>
          <a:ln>
            <a:noFill/>
          </a:ln>
        </p:spPr>
        <p:txBody>
          <a:bodyPr wrap="square" lIns="45720" tIns="0" rIns="45720" bIns="0" rtlCol="0" anchor="ctr"/>
          <a:lstStyle/>
          <a:p>
            <a:pPr marL="0" indent="0" algn="ctr">
              <a:buNone/>
            </a:pPr>
            <a:r>
              <a:rPr lang="id-ID" sz="1400" b="1" dirty="0">
                <a:solidFill>
                  <a:srgbClr val="FFFFFF"/>
                </a:solidFill>
                <a:latin typeface="Calibri" pitchFamily="34" charset="0"/>
                <a:ea typeface="Calibri" pitchFamily="34" charset="-122"/>
                <a:cs typeface="Calibri" pitchFamily="34" charset="-120"/>
              </a:rPr>
              <a:t>1</a:t>
            </a:r>
          </a:p>
        </p:txBody>
      </p:sp>
      <p:sp>
        <p:nvSpPr>
          <p:cNvPr id="274" name="Langkah 1"/>
          <p:cNvSpPr txBox="1"/>
          <p:nvPr/>
        </p:nvSpPr>
        <p:spPr>
          <a:xfrm>
            <a:off x="1143000" y="1709928"/>
            <a:ext cx="4434840" cy="777240"/>
          </a:xfrm>
          <a:prstGeom prst="rect">
            <a:avLst/>
          </a:prstGeom>
          <a:noFill/>
          <a:ln/>
        </p:spPr>
        <p:txBody>
          <a:bodyPr wrap="square" lIns="0" tIns="0" rIns="0" bIns="0" rtlCol="0" anchor="t"/>
          <a:lstStyle/>
          <a:p>
            <a:pPr marL="0" indent="0" algn="l">
              <a:buNone/>
            </a:pPr>
            <a:r>
              <a:rPr lang="id-ID" sz="1250" b="1" dirty="0">
                <a:solidFill>
                  <a:srgbClr val="12302B"/>
                </a:solidFill>
                <a:latin typeface="Calibri" pitchFamily="34" charset="0"/>
                <a:ea typeface="Calibri" pitchFamily="34" charset="-122"/>
                <a:cs typeface="Calibri" pitchFamily="34" charset="-120"/>
              </a:rPr>
              <a:t>Total jejak karbon: </a:t>
            </a:r>
            <a:r>
              <a:rPr lang="id-ID" sz="1250" dirty="0">
                <a:solidFill>
                  <a:srgbClr val="1B2B2A"/>
                </a:solidFill>
                <a:latin typeface="Calibri" pitchFamily="34" charset="0"/>
                <a:ea typeface="Calibri" pitchFamily="34" charset="-122"/>
                <a:cs typeface="Calibri" pitchFamily="34" charset="-120"/>
              </a:rPr>
              <a:t>60 kg CO2e untuk iPhone 16 Plus 128 GB (Apple, 2024a).</a:t>
            </a:r>
          </a:p>
        </p:txBody>
      </p:sp>
      <p:sp>
        <p:nvSpPr>
          <p:cNvPr id="275" name="Nomor 2"/>
          <p:cNvSpPr/>
          <p:nvPr/>
        </p:nvSpPr>
        <p:spPr>
          <a:xfrm>
            <a:off x="640080" y="2606040"/>
            <a:ext cx="365760" cy="365760"/>
          </a:xfrm>
          <a:prstGeom prst="ellipse">
            <a:avLst/>
          </a:prstGeom>
          <a:solidFill>
            <a:srgbClr val="1F6F5C"/>
          </a:solidFill>
          <a:ln>
            <a:noFill/>
          </a:ln>
        </p:spPr>
        <p:txBody>
          <a:bodyPr wrap="square" lIns="45720" tIns="0" rIns="45720" bIns="0" rtlCol="0" anchor="ctr"/>
          <a:lstStyle/>
          <a:p>
            <a:pPr marL="0" indent="0" algn="ctr">
              <a:buNone/>
            </a:pPr>
            <a:r>
              <a:rPr lang="id-ID" sz="1400" b="1" dirty="0">
                <a:solidFill>
                  <a:srgbClr val="FFFFFF"/>
                </a:solidFill>
                <a:latin typeface="Calibri" pitchFamily="34" charset="0"/>
                <a:ea typeface="Calibri" pitchFamily="34" charset="-122"/>
                <a:cs typeface="Calibri" pitchFamily="34" charset="-120"/>
              </a:rPr>
              <a:t>2</a:t>
            </a:r>
          </a:p>
        </p:txBody>
      </p:sp>
      <p:sp>
        <p:nvSpPr>
          <p:cNvPr id="276" name="Langkah 2"/>
          <p:cNvSpPr txBox="1"/>
          <p:nvPr/>
        </p:nvSpPr>
        <p:spPr>
          <a:xfrm>
            <a:off x="1143000" y="2578608"/>
            <a:ext cx="4434840" cy="777240"/>
          </a:xfrm>
          <a:prstGeom prst="rect">
            <a:avLst/>
          </a:prstGeom>
          <a:noFill/>
          <a:ln/>
        </p:spPr>
        <p:txBody>
          <a:bodyPr wrap="square" lIns="0" tIns="0" rIns="0" bIns="0" rtlCol="0" anchor="t"/>
          <a:lstStyle/>
          <a:p>
            <a:pPr marL="0" indent="0" algn="l">
              <a:buNone/>
            </a:pPr>
            <a:r>
              <a:rPr lang="id-ID" sz="1250" b="1" dirty="0">
                <a:solidFill>
                  <a:srgbClr val="12302B"/>
                </a:solidFill>
                <a:latin typeface="Calibri" pitchFamily="34" charset="0"/>
                <a:ea typeface="Calibri" pitchFamily="34" charset="-122"/>
                <a:cs typeface="Calibri" pitchFamily="34" charset="-120"/>
              </a:rPr>
              <a:t>Bagian pemakaian: </a:t>
            </a:r>
            <a:r>
              <a:rPr lang="id-ID" sz="1250" dirty="0">
                <a:solidFill>
                  <a:srgbClr val="1B2B2A"/>
                </a:solidFill>
                <a:latin typeface="Calibri" pitchFamily="34" charset="0"/>
                <a:ea typeface="Calibri" pitchFamily="34" charset="-122"/>
                <a:cs typeface="Calibri" pitchFamily="34" charset="-120"/>
              </a:rPr>
              <a:t>18% × 60 = 10,8 kg selama 3 tahun (asumsi umur Apple) → 3,6 kg per tahun.</a:t>
            </a:r>
          </a:p>
        </p:txBody>
      </p:sp>
      <p:sp>
        <p:nvSpPr>
          <p:cNvPr id="277" name="Nomor 3"/>
          <p:cNvSpPr/>
          <p:nvPr/>
        </p:nvSpPr>
        <p:spPr>
          <a:xfrm>
            <a:off x="640080" y="3474720"/>
            <a:ext cx="365760" cy="365760"/>
          </a:xfrm>
          <a:prstGeom prst="ellipse">
            <a:avLst/>
          </a:prstGeom>
          <a:solidFill>
            <a:srgbClr val="1F6F5C"/>
          </a:solidFill>
          <a:ln>
            <a:noFill/>
          </a:ln>
        </p:spPr>
        <p:txBody>
          <a:bodyPr wrap="square" lIns="45720" tIns="0" rIns="45720" bIns="0" rtlCol="0" anchor="ctr"/>
          <a:lstStyle/>
          <a:p>
            <a:pPr marL="0" indent="0" algn="ctr">
              <a:buNone/>
            </a:pPr>
            <a:r>
              <a:rPr lang="id-ID" sz="1400" b="1" dirty="0">
                <a:solidFill>
                  <a:srgbClr val="FFFFFF"/>
                </a:solidFill>
                <a:latin typeface="Calibri" pitchFamily="34" charset="0"/>
                <a:ea typeface="Calibri" pitchFamily="34" charset="-122"/>
                <a:cs typeface="Calibri" pitchFamily="34" charset="-120"/>
              </a:rPr>
              <a:t>3</a:t>
            </a:r>
          </a:p>
        </p:txBody>
      </p:sp>
      <p:sp>
        <p:nvSpPr>
          <p:cNvPr id="278" name="Langkah 3"/>
          <p:cNvSpPr txBox="1"/>
          <p:nvPr/>
        </p:nvSpPr>
        <p:spPr>
          <a:xfrm>
            <a:off x="1143000" y="3447288"/>
            <a:ext cx="4434840" cy="777240"/>
          </a:xfrm>
          <a:prstGeom prst="rect">
            <a:avLst/>
          </a:prstGeom>
          <a:noFill/>
          <a:ln/>
        </p:spPr>
        <p:txBody>
          <a:bodyPr wrap="square" lIns="0" tIns="0" rIns="0" bIns="0" rtlCol="0" anchor="t"/>
          <a:lstStyle/>
          <a:p>
            <a:pPr marL="0" indent="0" algn="l">
              <a:buNone/>
            </a:pPr>
            <a:r>
              <a:rPr lang="id-ID" sz="1250" b="1" dirty="0">
                <a:solidFill>
                  <a:srgbClr val="12302B"/>
                </a:solidFill>
                <a:latin typeface="Calibri" pitchFamily="34" charset="0"/>
                <a:ea typeface="Calibri" pitchFamily="34" charset="-122"/>
                <a:cs typeface="Calibri" pitchFamily="34" charset="-120"/>
              </a:rPr>
              <a:t>Bagian tetap: </a:t>
            </a:r>
            <a:r>
              <a:rPr lang="id-ID" sz="1250" dirty="0">
                <a:solidFill>
                  <a:srgbClr val="1B2B2A"/>
                </a:solidFill>
                <a:latin typeface="Calibri" pitchFamily="34" charset="0"/>
                <a:ea typeface="Calibri" pitchFamily="34" charset="-122"/>
                <a:cs typeface="Calibri" pitchFamily="34" charset="-120"/>
              </a:rPr>
              <a:t>60 − 10,8 = 49,2 kg dari produksi, transportasi, dan akhir masa pakai. Bagian ini terjadi sekali, berapa pun umur pakainya.</a:t>
            </a:r>
          </a:p>
        </p:txBody>
      </p:sp>
      <p:sp>
        <p:nvSpPr>
          <p:cNvPr id="279" name="Nomor 4"/>
          <p:cNvSpPr/>
          <p:nvPr/>
        </p:nvSpPr>
        <p:spPr>
          <a:xfrm>
            <a:off x="640080" y="4343400"/>
            <a:ext cx="365760" cy="365760"/>
          </a:xfrm>
          <a:prstGeom prst="ellipse">
            <a:avLst/>
          </a:prstGeom>
          <a:solidFill>
            <a:srgbClr val="1F6F5C"/>
          </a:solidFill>
          <a:ln>
            <a:noFill/>
          </a:ln>
        </p:spPr>
        <p:txBody>
          <a:bodyPr wrap="square" lIns="45720" tIns="0" rIns="45720" bIns="0" rtlCol="0" anchor="ctr"/>
          <a:lstStyle/>
          <a:p>
            <a:pPr marL="0" indent="0" algn="ctr">
              <a:buNone/>
            </a:pPr>
            <a:r>
              <a:rPr lang="id-ID" sz="1400" b="1" dirty="0">
                <a:solidFill>
                  <a:srgbClr val="FFFFFF"/>
                </a:solidFill>
                <a:latin typeface="Calibri" pitchFamily="34" charset="0"/>
                <a:ea typeface="Calibri" pitchFamily="34" charset="-122"/>
                <a:cs typeface="Calibri" pitchFamily="34" charset="-120"/>
              </a:rPr>
              <a:t>4</a:t>
            </a:r>
          </a:p>
        </p:txBody>
      </p:sp>
      <p:sp>
        <p:nvSpPr>
          <p:cNvPr id="280" name="Langkah 4"/>
          <p:cNvSpPr txBox="1"/>
          <p:nvPr/>
        </p:nvSpPr>
        <p:spPr>
          <a:xfrm>
            <a:off x="1143000" y="4315968"/>
            <a:ext cx="4434840" cy="777240"/>
          </a:xfrm>
          <a:prstGeom prst="rect">
            <a:avLst/>
          </a:prstGeom>
          <a:noFill/>
          <a:ln/>
        </p:spPr>
        <p:txBody>
          <a:bodyPr wrap="square" lIns="0" tIns="0" rIns="0" bIns="0" rtlCol="0" anchor="t"/>
          <a:lstStyle/>
          <a:p>
            <a:pPr marL="0" indent="0" algn="l">
              <a:buNone/>
            </a:pPr>
            <a:r>
              <a:rPr lang="id-ID" sz="1250" b="1" dirty="0">
                <a:solidFill>
                  <a:srgbClr val="12302B"/>
                </a:solidFill>
                <a:latin typeface="Calibri" pitchFamily="34" charset="0"/>
                <a:ea typeface="Calibri" pitchFamily="34" charset="-122"/>
                <a:cs typeface="Calibri" pitchFamily="34" charset="-120"/>
              </a:rPr>
              <a:t>Dampak per tahun: </a:t>
            </a:r>
            <a:r>
              <a:rPr lang="id-ID" sz="1250" dirty="0">
                <a:solidFill>
                  <a:srgbClr val="1B2B2A"/>
                </a:solidFill>
                <a:latin typeface="Calibri" pitchFamily="34" charset="0"/>
                <a:ea typeface="Calibri" pitchFamily="34" charset="-122"/>
                <a:cs typeface="Calibri" pitchFamily="34" charset="-120"/>
              </a:rPr>
              <a:t>Bagian tetap dibagi umur pakai, lalu ditambah pemakaian tahunan.</a:t>
            </a:r>
          </a:p>
        </p:txBody>
      </p:sp>
      <p:sp>
        <p:nvSpPr>
          <p:cNvPr id="281" name="Rumus"/>
          <p:cNvSpPr/>
          <p:nvPr/>
        </p:nvSpPr>
        <p:spPr>
          <a:xfrm>
            <a:off x="640080" y="5257800"/>
            <a:ext cx="4937760" cy="548640"/>
          </a:xfrm>
          <a:prstGeom prst="roundRect">
            <a:avLst/>
          </a:prstGeom>
          <a:solidFill>
            <a:srgbClr val="E3EFEA"/>
          </a:solidFill>
          <a:ln w="12700">
            <a:solidFill>
              <a:srgbClr val="1F6F5C"/>
            </a:solidFill>
          </a:ln>
        </p:spPr>
        <p:txBody>
          <a:bodyPr wrap="square" lIns="45720" tIns="0" rIns="45720" bIns="0" rtlCol="0" anchor="ctr"/>
          <a:lstStyle/>
          <a:p>
            <a:pPr marL="0" indent="0" algn="ctr">
              <a:buNone/>
            </a:pPr>
            <a:r>
              <a:rPr lang="id-ID" sz="1400" b="1" dirty="0">
                <a:solidFill>
                  <a:srgbClr val="12302B"/>
                </a:solidFill>
                <a:latin typeface="Calibri" pitchFamily="34" charset="0"/>
                <a:ea typeface="Calibri" pitchFamily="34" charset="-122"/>
                <a:cs typeface="Calibri" pitchFamily="34" charset="-120"/>
              </a:rPr>
              <a:t>Dampak per tahun = 49,2 ÷ n + 3,6   (n = umur pakai, tahun)</a:t>
            </a:r>
          </a:p>
        </p:txBody>
      </p:sp>
      <p:sp>
        <p:nvSpPr>
          <p:cNvPr id="282" name="T0"/>
          <p:cNvSpPr/>
          <p:nvPr/>
        </p:nvSpPr>
        <p:spPr>
          <a:xfrm>
            <a:off x="5943600" y="1188720"/>
            <a:ext cx="5791200" cy="338328"/>
          </a:xfrm>
          <a:prstGeom prst="rect">
            <a:avLst/>
          </a:prstGeom>
          <a:solidFill>
            <a:srgbClr val="12302B"/>
          </a:solidFill>
          <a:ln>
            <a:noFill/>
          </a:ln>
        </p:spPr>
      </p:sp>
      <p:sp>
        <p:nvSpPr>
          <p:cNvPr id="283" name="t00"/>
          <p:cNvSpPr txBox="1"/>
          <p:nvPr/>
        </p:nvSpPr>
        <p:spPr>
          <a:xfrm>
            <a:off x="6007608" y="1188720"/>
            <a:ext cx="512064" cy="338328"/>
          </a:xfrm>
          <a:prstGeom prst="rect">
            <a:avLst/>
          </a:prstGeom>
          <a:noFill/>
          <a:ln/>
        </p:spPr>
        <p:txBody>
          <a:bodyPr wrap="square" lIns="0" tIns="0" rIns="0" bIns="0" rtlCol="0" anchor="ctr"/>
          <a:lstStyle/>
          <a:p>
            <a:pPr marL="0" indent="0" algn="ctr">
              <a:buNone/>
            </a:pPr>
            <a:r>
              <a:rPr lang="id-ID" sz="1150" b="1" dirty="0">
                <a:solidFill>
                  <a:srgbClr val="FFFFFF"/>
                </a:solidFill>
                <a:latin typeface="Calibri" pitchFamily="34" charset="0"/>
                <a:ea typeface="Calibri" pitchFamily="34" charset="-122"/>
                <a:cs typeface="Calibri" pitchFamily="34" charset="-120"/>
              </a:rPr>
              <a:t>n</a:t>
            </a:r>
          </a:p>
        </p:txBody>
      </p:sp>
      <p:sp>
        <p:nvSpPr>
          <p:cNvPr id="284" name="t01"/>
          <p:cNvSpPr txBox="1"/>
          <p:nvPr/>
        </p:nvSpPr>
        <p:spPr>
          <a:xfrm>
            <a:off x="6647688" y="1188720"/>
            <a:ext cx="1700784" cy="338328"/>
          </a:xfrm>
          <a:prstGeom prst="rect">
            <a:avLst/>
          </a:prstGeom>
          <a:noFill/>
          <a:ln/>
        </p:spPr>
        <p:txBody>
          <a:bodyPr wrap="square" lIns="0" tIns="0" rIns="0" bIns="0" rtlCol="0" anchor="ctr"/>
          <a:lstStyle/>
          <a:p>
            <a:pPr marL="0" indent="0" algn="ctr">
              <a:buNone/>
            </a:pPr>
            <a:r>
              <a:rPr lang="id-ID" sz="1150" b="1" dirty="0">
                <a:solidFill>
                  <a:srgbClr val="FFFFFF"/>
                </a:solidFill>
                <a:latin typeface="Calibri" pitchFamily="34" charset="0"/>
                <a:ea typeface="Calibri" pitchFamily="34" charset="-122"/>
                <a:cs typeface="Calibri" pitchFamily="34" charset="-120"/>
              </a:rPr>
              <a:t>Perhitungan</a:t>
            </a:r>
          </a:p>
        </p:txBody>
      </p:sp>
      <p:sp>
        <p:nvSpPr>
          <p:cNvPr id="285" name="t02"/>
          <p:cNvSpPr txBox="1"/>
          <p:nvPr/>
        </p:nvSpPr>
        <p:spPr>
          <a:xfrm>
            <a:off x="8476488" y="1188720"/>
            <a:ext cx="1426464" cy="338328"/>
          </a:xfrm>
          <a:prstGeom prst="rect">
            <a:avLst/>
          </a:prstGeom>
          <a:noFill/>
          <a:ln/>
        </p:spPr>
        <p:txBody>
          <a:bodyPr wrap="square" lIns="0" tIns="0" rIns="0" bIns="0" rtlCol="0" anchor="ctr"/>
          <a:lstStyle/>
          <a:p>
            <a:pPr marL="0" indent="0" algn="ctr">
              <a:buNone/>
            </a:pPr>
            <a:r>
              <a:rPr lang="id-ID" sz="1150" b="1" dirty="0">
                <a:solidFill>
                  <a:srgbClr val="FFFFFF"/>
                </a:solidFill>
                <a:latin typeface="Calibri" pitchFamily="34" charset="0"/>
                <a:ea typeface="Calibri" pitchFamily="34" charset="-122"/>
                <a:cs typeface="Calibri" pitchFamily="34" charset="-120"/>
              </a:rPr>
              <a:t>kg CO2e/tahun</a:t>
            </a:r>
          </a:p>
        </p:txBody>
      </p:sp>
      <p:sp>
        <p:nvSpPr>
          <p:cNvPr id="286" name="t03"/>
          <p:cNvSpPr txBox="1"/>
          <p:nvPr/>
        </p:nvSpPr>
        <p:spPr>
          <a:xfrm>
            <a:off x="10030968" y="1188720"/>
            <a:ext cx="1639824" cy="338328"/>
          </a:xfrm>
          <a:prstGeom prst="rect">
            <a:avLst/>
          </a:prstGeom>
          <a:noFill/>
          <a:ln/>
        </p:spPr>
        <p:txBody>
          <a:bodyPr wrap="square" lIns="0" tIns="0" rIns="0" bIns="0" rtlCol="0" anchor="ctr"/>
          <a:lstStyle/>
          <a:p>
            <a:pPr marL="0" indent="0" algn="ctr">
              <a:buNone/>
            </a:pPr>
            <a:r>
              <a:rPr lang="id-ID" sz="1150" b="1" dirty="0">
                <a:solidFill>
                  <a:srgbClr val="FFFFFF"/>
                </a:solidFill>
                <a:latin typeface="Calibri" pitchFamily="34" charset="0"/>
                <a:ea typeface="Calibri" pitchFamily="34" charset="-122"/>
                <a:cs typeface="Calibri" pitchFamily="34" charset="-120"/>
              </a:rPr>
              <a:t>vs 3 tahun</a:t>
            </a:r>
          </a:p>
        </p:txBody>
      </p:sp>
      <p:sp>
        <p:nvSpPr>
          <p:cNvPr id="287" name="T1"/>
          <p:cNvSpPr/>
          <p:nvPr/>
        </p:nvSpPr>
        <p:spPr>
          <a:xfrm>
            <a:off x="5943600" y="1527048"/>
            <a:ext cx="5791200" cy="338328"/>
          </a:xfrm>
          <a:prstGeom prst="rect">
            <a:avLst/>
          </a:prstGeom>
          <a:solidFill>
            <a:srgbClr val="FFFFFF"/>
          </a:solidFill>
          <a:ln w="9525">
            <a:solidFill>
              <a:srgbClr val="D5E2DD"/>
            </a:solidFill>
          </a:ln>
        </p:spPr>
      </p:sp>
      <p:sp>
        <p:nvSpPr>
          <p:cNvPr id="288" name="t10"/>
          <p:cNvSpPr txBox="1"/>
          <p:nvPr/>
        </p:nvSpPr>
        <p:spPr>
          <a:xfrm>
            <a:off x="6007608" y="1527048"/>
            <a:ext cx="512064" cy="338328"/>
          </a:xfrm>
          <a:prstGeom prst="rect">
            <a:avLst/>
          </a:prstGeom>
          <a:noFill/>
          <a:ln/>
        </p:spPr>
        <p:txBody>
          <a:bodyPr wrap="square" lIns="0" tIns="0" rIns="0" bIns="0" rtlCol="0" anchor="ctr"/>
          <a:lstStyle/>
          <a:p>
            <a:pPr marL="0" indent="0" algn="ctr">
              <a:buNone/>
            </a:pPr>
            <a:r>
              <a:rPr lang="id-ID" sz="1150" dirty="0">
                <a:solidFill>
                  <a:srgbClr val="12302B"/>
                </a:solidFill>
                <a:latin typeface="Calibri" pitchFamily="34" charset="0"/>
                <a:ea typeface="Calibri" pitchFamily="34" charset="-122"/>
                <a:cs typeface="Calibri" pitchFamily="34" charset="-120"/>
              </a:rPr>
              <a:t>2</a:t>
            </a:r>
          </a:p>
        </p:txBody>
      </p:sp>
      <p:sp>
        <p:nvSpPr>
          <p:cNvPr id="289" name="t11"/>
          <p:cNvSpPr txBox="1"/>
          <p:nvPr/>
        </p:nvSpPr>
        <p:spPr>
          <a:xfrm>
            <a:off x="6647688" y="1527048"/>
            <a:ext cx="1700784" cy="338328"/>
          </a:xfrm>
          <a:prstGeom prst="rect">
            <a:avLst/>
          </a:prstGeom>
          <a:noFill/>
          <a:ln/>
        </p:spPr>
        <p:txBody>
          <a:bodyPr wrap="square" lIns="0" tIns="0" rIns="0" bIns="0" rtlCol="0" anchor="ctr"/>
          <a:lstStyle/>
          <a:p>
            <a:pPr marL="0" indent="0" algn="ctr">
              <a:buNone/>
            </a:pPr>
            <a:r>
              <a:rPr lang="id-ID" sz="1150" dirty="0">
                <a:solidFill>
                  <a:srgbClr val="12302B"/>
                </a:solidFill>
                <a:latin typeface="Calibri" pitchFamily="34" charset="0"/>
                <a:ea typeface="Calibri" pitchFamily="34" charset="-122"/>
                <a:cs typeface="Calibri" pitchFamily="34" charset="-120"/>
              </a:rPr>
              <a:t>24,6 + 3,6</a:t>
            </a:r>
          </a:p>
        </p:txBody>
      </p:sp>
      <p:sp>
        <p:nvSpPr>
          <p:cNvPr id="290" name="t12"/>
          <p:cNvSpPr txBox="1"/>
          <p:nvPr/>
        </p:nvSpPr>
        <p:spPr>
          <a:xfrm>
            <a:off x="8476488" y="1527048"/>
            <a:ext cx="1426464" cy="338328"/>
          </a:xfrm>
          <a:prstGeom prst="rect">
            <a:avLst/>
          </a:prstGeom>
          <a:noFill/>
          <a:ln/>
        </p:spPr>
        <p:txBody>
          <a:bodyPr wrap="square" lIns="0" tIns="0" rIns="0" bIns="0" rtlCol="0" anchor="ctr"/>
          <a:lstStyle/>
          <a:p>
            <a:pPr marL="0" indent="0" algn="ctr">
              <a:buNone/>
            </a:pPr>
            <a:r>
              <a:rPr lang="id-ID" sz="1150" dirty="0">
                <a:solidFill>
                  <a:srgbClr val="12302B"/>
                </a:solidFill>
                <a:latin typeface="Calibri" pitchFamily="34" charset="0"/>
                <a:ea typeface="Calibri" pitchFamily="34" charset="-122"/>
                <a:cs typeface="Calibri" pitchFamily="34" charset="-120"/>
              </a:rPr>
              <a:t>28,2</a:t>
            </a:r>
          </a:p>
        </p:txBody>
      </p:sp>
      <p:sp>
        <p:nvSpPr>
          <p:cNvPr id="291" name="t13"/>
          <p:cNvSpPr txBox="1"/>
          <p:nvPr/>
        </p:nvSpPr>
        <p:spPr>
          <a:xfrm>
            <a:off x="10030968" y="1527048"/>
            <a:ext cx="1639824" cy="338328"/>
          </a:xfrm>
          <a:prstGeom prst="rect">
            <a:avLst/>
          </a:prstGeom>
          <a:noFill/>
          <a:ln/>
        </p:spPr>
        <p:txBody>
          <a:bodyPr wrap="square" lIns="0" tIns="0" rIns="0" bIns="0" rtlCol="0" anchor="ctr"/>
          <a:lstStyle/>
          <a:p>
            <a:pPr marL="0" indent="0" algn="ctr">
              <a:buNone/>
            </a:pPr>
            <a:r>
              <a:rPr lang="id-ID" sz="1150" dirty="0">
                <a:solidFill>
                  <a:srgbClr val="12302B"/>
                </a:solidFill>
                <a:latin typeface="Calibri" pitchFamily="34" charset="0"/>
                <a:ea typeface="Calibri" pitchFamily="34" charset="-122"/>
                <a:cs typeface="Calibri" pitchFamily="34" charset="-120"/>
              </a:rPr>
              <a:t>+41%</a:t>
            </a:r>
          </a:p>
        </p:txBody>
      </p:sp>
      <p:sp>
        <p:nvSpPr>
          <p:cNvPr id="292" name="T2"/>
          <p:cNvSpPr/>
          <p:nvPr/>
        </p:nvSpPr>
        <p:spPr>
          <a:xfrm>
            <a:off x="5943600" y="1865376"/>
            <a:ext cx="5791200" cy="338328"/>
          </a:xfrm>
          <a:prstGeom prst="rect">
            <a:avLst/>
          </a:prstGeom>
          <a:solidFill>
            <a:srgbClr val="E3EFEA"/>
          </a:solidFill>
          <a:ln w="9525">
            <a:solidFill>
              <a:srgbClr val="D5E2DD"/>
            </a:solidFill>
          </a:ln>
        </p:spPr>
      </p:sp>
      <p:sp>
        <p:nvSpPr>
          <p:cNvPr id="293" name="t20"/>
          <p:cNvSpPr txBox="1"/>
          <p:nvPr/>
        </p:nvSpPr>
        <p:spPr>
          <a:xfrm>
            <a:off x="6007608" y="1865376"/>
            <a:ext cx="512064" cy="338328"/>
          </a:xfrm>
          <a:prstGeom prst="rect">
            <a:avLst/>
          </a:prstGeom>
          <a:noFill/>
          <a:ln/>
        </p:spPr>
        <p:txBody>
          <a:bodyPr wrap="square" lIns="0" tIns="0" rIns="0" bIns="0" rtlCol="0" anchor="ctr"/>
          <a:lstStyle/>
          <a:p>
            <a:pPr marL="0" indent="0" algn="ctr">
              <a:buNone/>
            </a:pPr>
            <a:r>
              <a:rPr lang="id-ID" sz="1150" dirty="0">
                <a:solidFill>
                  <a:srgbClr val="12302B"/>
                </a:solidFill>
                <a:latin typeface="Calibri" pitchFamily="34" charset="0"/>
                <a:ea typeface="Calibri" pitchFamily="34" charset="-122"/>
                <a:cs typeface="Calibri" pitchFamily="34" charset="-120"/>
              </a:rPr>
              <a:t>3</a:t>
            </a:r>
          </a:p>
        </p:txBody>
      </p:sp>
      <p:sp>
        <p:nvSpPr>
          <p:cNvPr id="294" name="t21"/>
          <p:cNvSpPr txBox="1"/>
          <p:nvPr/>
        </p:nvSpPr>
        <p:spPr>
          <a:xfrm>
            <a:off x="6647688" y="1865376"/>
            <a:ext cx="1700784" cy="338328"/>
          </a:xfrm>
          <a:prstGeom prst="rect">
            <a:avLst/>
          </a:prstGeom>
          <a:noFill/>
          <a:ln/>
        </p:spPr>
        <p:txBody>
          <a:bodyPr wrap="square" lIns="0" tIns="0" rIns="0" bIns="0" rtlCol="0" anchor="ctr"/>
          <a:lstStyle/>
          <a:p>
            <a:pPr marL="0" indent="0" algn="ctr">
              <a:buNone/>
            </a:pPr>
            <a:r>
              <a:rPr lang="id-ID" sz="1150" dirty="0">
                <a:solidFill>
                  <a:srgbClr val="12302B"/>
                </a:solidFill>
                <a:latin typeface="Calibri" pitchFamily="34" charset="0"/>
                <a:ea typeface="Calibri" pitchFamily="34" charset="-122"/>
                <a:cs typeface="Calibri" pitchFamily="34" charset="-120"/>
              </a:rPr>
              <a:t>16,4 + 3,6</a:t>
            </a:r>
          </a:p>
        </p:txBody>
      </p:sp>
      <p:sp>
        <p:nvSpPr>
          <p:cNvPr id="295" name="t22"/>
          <p:cNvSpPr txBox="1"/>
          <p:nvPr/>
        </p:nvSpPr>
        <p:spPr>
          <a:xfrm>
            <a:off x="8476488" y="1865376"/>
            <a:ext cx="1426464" cy="338328"/>
          </a:xfrm>
          <a:prstGeom prst="rect">
            <a:avLst/>
          </a:prstGeom>
          <a:noFill/>
          <a:ln/>
        </p:spPr>
        <p:txBody>
          <a:bodyPr wrap="square" lIns="0" tIns="0" rIns="0" bIns="0" rtlCol="0" anchor="ctr"/>
          <a:lstStyle/>
          <a:p>
            <a:pPr marL="0" indent="0" algn="ctr">
              <a:buNone/>
            </a:pPr>
            <a:r>
              <a:rPr lang="id-ID" sz="1150" dirty="0">
                <a:solidFill>
                  <a:srgbClr val="12302B"/>
                </a:solidFill>
                <a:latin typeface="Calibri" pitchFamily="34" charset="0"/>
                <a:ea typeface="Calibri" pitchFamily="34" charset="-122"/>
                <a:cs typeface="Calibri" pitchFamily="34" charset="-120"/>
              </a:rPr>
              <a:t>20,0</a:t>
            </a:r>
          </a:p>
        </p:txBody>
      </p:sp>
      <p:sp>
        <p:nvSpPr>
          <p:cNvPr id="296" name="t23"/>
          <p:cNvSpPr txBox="1"/>
          <p:nvPr/>
        </p:nvSpPr>
        <p:spPr>
          <a:xfrm>
            <a:off x="10030968" y="1865376"/>
            <a:ext cx="1639824" cy="338328"/>
          </a:xfrm>
          <a:prstGeom prst="rect">
            <a:avLst/>
          </a:prstGeom>
          <a:noFill/>
          <a:ln/>
        </p:spPr>
        <p:txBody>
          <a:bodyPr wrap="square" lIns="0" tIns="0" rIns="0" bIns="0" rtlCol="0" anchor="ctr"/>
          <a:lstStyle/>
          <a:p>
            <a:pPr marL="0" indent="0" algn="ctr">
              <a:buNone/>
            </a:pPr>
            <a:r>
              <a:rPr lang="id-ID" sz="1150" dirty="0">
                <a:solidFill>
                  <a:srgbClr val="12302B"/>
                </a:solidFill>
                <a:latin typeface="Calibri" pitchFamily="34" charset="0"/>
                <a:ea typeface="Calibri" pitchFamily="34" charset="-122"/>
                <a:cs typeface="Calibri" pitchFamily="34" charset="-120"/>
              </a:rPr>
              <a:t>acuan</a:t>
            </a:r>
          </a:p>
        </p:txBody>
      </p:sp>
      <p:sp>
        <p:nvSpPr>
          <p:cNvPr id="297" name="T3"/>
          <p:cNvSpPr/>
          <p:nvPr/>
        </p:nvSpPr>
        <p:spPr>
          <a:xfrm>
            <a:off x="5943600" y="2203704"/>
            <a:ext cx="5791200" cy="338328"/>
          </a:xfrm>
          <a:prstGeom prst="rect">
            <a:avLst/>
          </a:prstGeom>
          <a:solidFill>
            <a:srgbClr val="FFFFFF"/>
          </a:solidFill>
          <a:ln w="9525">
            <a:solidFill>
              <a:srgbClr val="D5E2DD"/>
            </a:solidFill>
          </a:ln>
        </p:spPr>
      </p:sp>
      <p:sp>
        <p:nvSpPr>
          <p:cNvPr id="298" name="t30"/>
          <p:cNvSpPr txBox="1"/>
          <p:nvPr/>
        </p:nvSpPr>
        <p:spPr>
          <a:xfrm>
            <a:off x="6007608" y="2203704"/>
            <a:ext cx="512064" cy="338328"/>
          </a:xfrm>
          <a:prstGeom prst="rect">
            <a:avLst/>
          </a:prstGeom>
          <a:noFill/>
          <a:ln/>
        </p:spPr>
        <p:txBody>
          <a:bodyPr wrap="square" lIns="0" tIns="0" rIns="0" bIns="0" rtlCol="0" anchor="ctr"/>
          <a:lstStyle/>
          <a:p>
            <a:pPr marL="0" indent="0" algn="ctr">
              <a:buNone/>
            </a:pPr>
            <a:r>
              <a:rPr lang="id-ID" sz="1150" dirty="0">
                <a:solidFill>
                  <a:srgbClr val="12302B"/>
                </a:solidFill>
                <a:latin typeface="Calibri" pitchFamily="34" charset="0"/>
                <a:ea typeface="Calibri" pitchFamily="34" charset="-122"/>
                <a:cs typeface="Calibri" pitchFamily="34" charset="-120"/>
              </a:rPr>
              <a:t>4</a:t>
            </a:r>
          </a:p>
        </p:txBody>
      </p:sp>
      <p:sp>
        <p:nvSpPr>
          <p:cNvPr id="299" name="t31"/>
          <p:cNvSpPr txBox="1"/>
          <p:nvPr/>
        </p:nvSpPr>
        <p:spPr>
          <a:xfrm>
            <a:off x="6647688" y="2203704"/>
            <a:ext cx="1700784" cy="338328"/>
          </a:xfrm>
          <a:prstGeom prst="rect">
            <a:avLst/>
          </a:prstGeom>
          <a:noFill/>
          <a:ln/>
        </p:spPr>
        <p:txBody>
          <a:bodyPr wrap="square" lIns="0" tIns="0" rIns="0" bIns="0" rtlCol="0" anchor="ctr"/>
          <a:lstStyle/>
          <a:p>
            <a:pPr marL="0" indent="0" algn="ctr">
              <a:buNone/>
            </a:pPr>
            <a:r>
              <a:rPr lang="id-ID" sz="1150" dirty="0">
                <a:solidFill>
                  <a:srgbClr val="12302B"/>
                </a:solidFill>
                <a:latin typeface="Calibri" pitchFamily="34" charset="0"/>
                <a:ea typeface="Calibri" pitchFamily="34" charset="-122"/>
                <a:cs typeface="Calibri" pitchFamily="34" charset="-120"/>
              </a:rPr>
              <a:t>12,3 + 3,6</a:t>
            </a:r>
          </a:p>
        </p:txBody>
      </p:sp>
      <p:sp>
        <p:nvSpPr>
          <p:cNvPr id="300" name="t32"/>
          <p:cNvSpPr txBox="1"/>
          <p:nvPr/>
        </p:nvSpPr>
        <p:spPr>
          <a:xfrm>
            <a:off x="8476488" y="2203704"/>
            <a:ext cx="1426464" cy="338328"/>
          </a:xfrm>
          <a:prstGeom prst="rect">
            <a:avLst/>
          </a:prstGeom>
          <a:noFill/>
          <a:ln/>
        </p:spPr>
        <p:txBody>
          <a:bodyPr wrap="square" lIns="0" tIns="0" rIns="0" bIns="0" rtlCol="0" anchor="ctr"/>
          <a:lstStyle/>
          <a:p>
            <a:pPr marL="0" indent="0" algn="ctr">
              <a:buNone/>
            </a:pPr>
            <a:r>
              <a:rPr lang="id-ID" sz="1150" dirty="0">
                <a:solidFill>
                  <a:srgbClr val="12302B"/>
                </a:solidFill>
                <a:latin typeface="Calibri" pitchFamily="34" charset="0"/>
                <a:ea typeface="Calibri" pitchFamily="34" charset="-122"/>
                <a:cs typeface="Calibri" pitchFamily="34" charset="-120"/>
              </a:rPr>
              <a:t>15,9</a:t>
            </a:r>
          </a:p>
        </p:txBody>
      </p:sp>
      <p:sp>
        <p:nvSpPr>
          <p:cNvPr id="301" name="t33"/>
          <p:cNvSpPr txBox="1"/>
          <p:nvPr/>
        </p:nvSpPr>
        <p:spPr>
          <a:xfrm>
            <a:off x="10030968" y="2203704"/>
            <a:ext cx="1639824" cy="338328"/>
          </a:xfrm>
          <a:prstGeom prst="rect">
            <a:avLst/>
          </a:prstGeom>
          <a:noFill/>
          <a:ln/>
        </p:spPr>
        <p:txBody>
          <a:bodyPr wrap="square" lIns="0" tIns="0" rIns="0" bIns="0" rtlCol="0" anchor="ctr"/>
          <a:lstStyle/>
          <a:p>
            <a:pPr marL="0" indent="0" algn="ctr">
              <a:buNone/>
            </a:pPr>
            <a:r>
              <a:rPr lang="id-ID" sz="1150" dirty="0">
                <a:solidFill>
                  <a:srgbClr val="1F6F5C"/>
                </a:solidFill>
                <a:latin typeface="Calibri" pitchFamily="34" charset="0"/>
                <a:ea typeface="Calibri" pitchFamily="34" charset="-122"/>
                <a:cs typeface="Calibri" pitchFamily="34" charset="-120"/>
              </a:rPr>
              <a:t>−21%</a:t>
            </a:r>
          </a:p>
        </p:txBody>
      </p:sp>
      <p:sp>
        <p:nvSpPr>
          <p:cNvPr id="302" name="T4"/>
          <p:cNvSpPr/>
          <p:nvPr/>
        </p:nvSpPr>
        <p:spPr>
          <a:xfrm>
            <a:off x="5943600" y="2542032"/>
            <a:ext cx="5791200" cy="338328"/>
          </a:xfrm>
          <a:prstGeom prst="rect">
            <a:avLst/>
          </a:prstGeom>
          <a:solidFill>
            <a:srgbClr val="E3EFEA"/>
          </a:solidFill>
          <a:ln w="9525">
            <a:solidFill>
              <a:srgbClr val="D5E2DD"/>
            </a:solidFill>
          </a:ln>
        </p:spPr>
      </p:sp>
      <p:sp>
        <p:nvSpPr>
          <p:cNvPr id="303" name="t40"/>
          <p:cNvSpPr txBox="1"/>
          <p:nvPr/>
        </p:nvSpPr>
        <p:spPr>
          <a:xfrm>
            <a:off x="6007608" y="2542032"/>
            <a:ext cx="512064" cy="338328"/>
          </a:xfrm>
          <a:prstGeom prst="rect">
            <a:avLst/>
          </a:prstGeom>
          <a:noFill/>
          <a:ln/>
        </p:spPr>
        <p:txBody>
          <a:bodyPr wrap="square" lIns="0" tIns="0" rIns="0" bIns="0" rtlCol="0" anchor="ctr"/>
          <a:lstStyle/>
          <a:p>
            <a:pPr marL="0" indent="0" algn="ctr">
              <a:buNone/>
            </a:pPr>
            <a:r>
              <a:rPr lang="id-ID" sz="1150" b="1" dirty="0">
                <a:solidFill>
                  <a:srgbClr val="12302B"/>
                </a:solidFill>
                <a:latin typeface="Calibri" pitchFamily="34" charset="0"/>
                <a:ea typeface="Calibri" pitchFamily="34" charset="-122"/>
                <a:cs typeface="Calibri" pitchFamily="34" charset="-120"/>
              </a:rPr>
              <a:t>5</a:t>
            </a:r>
          </a:p>
        </p:txBody>
      </p:sp>
      <p:sp>
        <p:nvSpPr>
          <p:cNvPr id="304" name="t41"/>
          <p:cNvSpPr txBox="1"/>
          <p:nvPr/>
        </p:nvSpPr>
        <p:spPr>
          <a:xfrm>
            <a:off x="6647688" y="2542032"/>
            <a:ext cx="1700784" cy="338328"/>
          </a:xfrm>
          <a:prstGeom prst="rect">
            <a:avLst/>
          </a:prstGeom>
          <a:noFill/>
          <a:ln/>
        </p:spPr>
        <p:txBody>
          <a:bodyPr wrap="square" lIns="0" tIns="0" rIns="0" bIns="0" rtlCol="0" anchor="ctr"/>
          <a:lstStyle/>
          <a:p>
            <a:pPr marL="0" indent="0" algn="ctr">
              <a:buNone/>
            </a:pPr>
            <a:r>
              <a:rPr lang="id-ID" sz="1150" b="1" dirty="0">
                <a:solidFill>
                  <a:srgbClr val="12302B"/>
                </a:solidFill>
                <a:latin typeface="Calibri" pitchFamily="34" charset="0"/>
                <a:ea typeface="Calibri" pitchFamily="34" charset="-122"/>
                <a:cs typeface="Calibri" pitchFamily="34" charset="-120"/>
              </a:rPr>
              <a:t>9,8 + 3,6</a:t>
            </a:r>
          </a:p>
        </p:txBody>
      </p:sp>
      <p:sp>
        <p:nvSpPr>
          <p:cNvPr id="305" name="t42"/>
          <p:cNvSpPr txBox="1"/>
          <p:nvPr/>
        </p:nvSpPr>
        <p:spPr>
          <a:xfrm>
            <a:off x="8476488" y="2542032"/>
            <a:ext cx="1426464" cy="338328"/>
          </a:xfrm>
          <a:prstGeom prst="rect">
            <a:avLst/>
          </a:prstGeom>
          <a:noFill/>
          <a:ln/>
        </p:spPr>
        <p:txBody>
          <a:bodyPr wrap="square" lIns="0" tIns="0" rIns="0" bIns="0" rtlCol="0" anchor="ctr"/>
          <a:lstStyle/>
          <a:p>
            <a:pPr marL="0" indent="0" algn="ctr">
              <a:buNone/>
            </a:pPr>
            <a:r>
              <a:rPr lang="id-ID" sz="1150" b="1" dirty="0">
                <a:solidFill>
                  <a:srgbClr val="12302B"/>
                </a:solidFill>
                <a:latin typeface="Calibri" pitchFamily="34" charset="0"/>
                <a:ea typeface="Calibri" pitchFamily="34" charset="-122"/>
                <a:cs typeface="Calibri" pitchFamily="34" charset="-120"/>
              </a:rPr>
              <a:t>13,4</a:t>
            </a:r>
          </a:p>
        </p:txBody>
      </p:sp>
      <p:sp>
        <p:nvSpPr>
          <p:cNvPr id="306" name="t43"/>
          <p:cNvSpPr txBox="1"/>
          <p:nvPr/>
        </p:nvSpPr>
        <p:spPr>
          <a:xfrm>
            <a:off x="10030968" y="2542032"/>
            <a:ext cx="1639824" cy="338328"/>
          </a:xfrm>
          <a:prstGeom prst="rect">
            <a:avLst/>
          </a:prstGeom>
          <a:noFill/>
          <a:ln/>
        </p:spPr>
        <p:txBody>
          <a:bodyPr wrap="square" lIns="0" tIns="0" rIns="0" bIns="0" rtlCol="0" anchor="ctr"/>
          <a:lstStyle/>
          <a:p>
            <a:pPr marL="0" indent="0" algn="ctr">
              <a:buNone/>
            </a:pPr>
            <a:r>
              <a:rPr lang="id-ID" sz="1150" b="1" dirty="0">
                <a:solidFill>
                  <a:srgbClr val="1F6F5C"/>
                </a:solidFill>
                <a:latin typeface="Calibri" pitchFamily="34" charset="0"/>
                <a:ea typeface="Calibri" pitchFamily="34" charset="-122"/>
                <a:cs typeface="Calibri" pitchFamily="34" charset="-120"/>
              </a:rPr>
              <a:t>−33%</a:t>
            </a:r>
          </a:p>
        </p:txBody>
      </p:sp>
      <p:sp>
        <p:nvSpPr>
          <p:cNvPr id="307" name="T5"/>
          <p:cNvSpPr/>
          <p:nvPr/>
        </p:nvSpPr>
        <p:spPr>
          <a:xfrm>
            <a:off x="5943600" y="2880360"/>
            <a:ext cx="5791200" cy="338328"/>
          </a:xfrm>
          <a:prstGeom prst="rect">
            <a:avLst/>
          </a:prstGeom>
          <a:solidFill>
            <a:srgbClr val="FFFFFF"/>
          </a:solidFill>
          <a:ln w="9525">
            <a:solidFill>
              <a:srgbClr val="D5E2DD"/>
            </a:solidFill>
          </a:ln>
        </p:spPr>
      </p:sp>
      <p:sp>
        <p:nvSpPr>
          <p:cNvPr id="308" name="t50"/>
          <p:cNvSpPr txBox="1"/>
          <p:nvPr/>
        </p:nvSpPr>
        <p:spPr>
          <a:xfrm>
            <a:off x="6007608" y="2880360"/>
            <a:ext cx="512064" cy="338328"/>
          </a:xfrm>
          <a:prstGeom prst="rect">
            <a:avLst/>
          </a:prstGeom>
          <a:noFill/>
          <a:ln/>
        </p:spPr>
        <p:txBody>
          <a:bodyPr wrap="square" lIns="0" tIns="0" rIns="0" bIns="0" rtlCol="0" anchor="ctr"/>
          <a:lstStyle/>
          <a:p>
            <a:pPr marL="0" indent="0" algn="ctr">
              <a:buNone/>
            </a:pPr>
            <a:r>
              <a:rPr lang="id-ID" sz="1150" dirty="0">
                <a:solidFill>
                  <a:srgbClr val="12302B"/>
                </a:solidFill>
                <a:latin typeface="Calibri" pitchFamily="34" charset="0"/>
                <a:ea typeface="Calibri" pitchFamily="34" charset="-122"/>
                <a:cs typeface="Calibri" pitchFamily="34" charset="-120"/>
              </a:rPr>
              <a:t>6</a:t>
            </a:r>
          </a:p>
        </p:txBody>
      </p:sp>
      <p:sp>
        <p:nvSpPr>
          <p:cNvPr id="309" name="t51"/>
          <p:cNvSpPr txBox="1"/>
          <p:nvPr/>
        </p:nvSpPr>
        <p:spPr>
          <a:xfrm>
            <a:off x="6647688" y="2880360"/>
            <a:ext cx="1700784" cy="338328"/>
          </a:xfrm>
          <a:prstGeom prst="rect">
            <a:avLst/>
          </a:prstGeom>
          <a:noFill/>
          <a:ln/>
        </p:spPr>
        <p:txBody>
          <a:bodyPr wrap="square" lIns="0" tIns="0" rIns="0" bIns="0" rtlCol="0" anchor="ctr"/>
          <a:lstStyle/>
          <a:p>
            <a:pPr marL="0" indent="0" algn="ctr">
              <a:buNone/>
            </a:pPr>
            <a:r>
              <a:rPr lang="id-ID" sz="1150" dirty="0">
                <a:solidFill>
                  <a:srgbClr val="12302B"/>
                </a:solidFill>
                <a:latin typeface="Calibri" pitchFamily="34" charset="0"/>
                <a:ea typeface="Calibri" pitchFamily="34" charset="-122"/>
                <a:cs typeface="Calibri" pitchFamily="34" charset="-120"/>
              </a:rPr>
              <a:t>8,2 + 3,6</a:t>
            </a:r>
          </a:p>
        </p:txBody>
      </p:sp>
      <p:sp>
        <p:nvSpPr>
          <p:cNvPr id="310" name="t52"/>
          <p:cNvSpPr txBox="1"/>
          <p:nvPr/>
        </p:nvSpPr>
        <p:spPr>
          <a:xfrm>
            <a:off x="8476488" y="2880360"/>
            <a:ext cx="1426464" cy="338328"/>
          </a:xfrm>
          <a:prstGeom prst="rect">
            <a:avLst/>
          </a:prstGeom>
          <a:noFill/>
          <a:ln/>
        </p:spPr>
        <p:txBody>
          <a:bodyPr wrap="square" lIns="0" tIns="0" rIns="0" bIns="0" rtlCol="0" anchor="ctr"/>
          <a:lstStyle/>
          <a:p>
            <a:pPr marL="0" indent="0" algn="ctr">
              <a:buNone/>
            </a:pPr>
            <a:r>
              <a:rPr lang="id-ID" sz="1150" dirty="0">
                <a:solidFill>
                  <a:srgbClr val="12302B"/>
                </a:solidFill>
                <a:latin typeface="Calibri" pitchFamily="34" charset="0"/>
                <a:ea typeface="Calibri" pitchFamily="34" charset="-122"/>
                <a:cs typeface="Calibri" pitchFamily="34" charset="-120"/>
              </a:rPr>
              <a:t>11,8</a:t>
            </a:r>
          </a:p>
        </p:txBody>
      </p:sp>
      <p:sp>
        <p:nvSpPr>
          <p:cNvPr id="311" name="t53"/>
          <p:cNvSpPr txBox="1"/>
          <p:nvPr/>
        </p:nvSpPr>
        <p:spPr>
          <a:xfrm>
            <a:off x="10030968" y="2880360"/>
            <a:ext cx="1639824" cy="338328"/>
          </a:xfrm>
          <a:prstGeom prst="rect">
            <a:avLst/>
          </a:prstGeom>
          <a:noFill/>
          <a:ln/>
        </p:spPr>
        <p:txBody>
          <a:bodyPr wrap="square" lIns="0" tIns="0" rIns="0" bIns="0" rtlCol="0" anchor="ctr"/>
          <a:lstStyle/>
          <a:p>
            <a:pPr marL="0" indent="0" algn="ctr">
              <a:buNone/>
            </a:pPr>
            <a:r>
              <a:rPr lang="id-ID" sz="1150" dirty="0">
                <a:solidFill>
                  <a:srgbClr val="1F6F5C"/>
                </a:solidFill>
                <a:latin typeface="Calibri" pitchFamily="34" charset="0"/>
                <a:ea typeface="Calibri" pitchFamily="34" charset="-122"/>
                <a:cs typeface="Calibri" pitchFamily="34" charset="-120"/>
              </a:rPr>
              <a:t>−41%</a:t>
            </a:r>
          </a:p>
        </p:txBody>
      </p:sp>
      <p:sp>
        <p:nvSpPr>
          <p:cNvPr id="312" name="T6"/>
          <p:cNvSpPr/>
          <p:nvPr/>
        </p:nvSpPr>
        <p:spPr>
          <a:xfrm>
            <a:off x="5943600" y="3218688"/>
            <a:ext cx="5791200" cy="338328"/>
          </a:xfrm>
          <a:prstGeom prst="rect">
            <a:avLst/>
          </a:prstGeom>
          <a:solidFill>
            <a:srgbClr val="F4F8F6"/>
          </a:solidFill>
          <a:ln w="9525">
            <a:solidFill>
              <a:srgbClr val="D5E2DD"/>
            </a:solidFill>
          </a:ln>
        </p:spPr>
      </p:sp>
      <p:sp>
        <p:nvSpPr>
          <p:cNvPr id="313" name="t60"/>
          <p:cNvSpPr txBox="1"/>
          <p:nvPr/>
        </p:nvSpPr>
        <p:spPr>
          <a:xfrm>
            <a:off x="6007608" y="3218688"/>
            <a:ext cx="512064" cy="338328"/>
          </a:xfrm>
          <a:prstGeom prst="rect">
            <a:avLst/>
          </a:prstGeom>
          <a:noFill/>
          <a:ln/>
        </p:spPr>
        <p:txBody>
          <a:bodyPr wrap="square" lIns="0" tIns="0" rIns="0" bIns="0" rtlCol="0" anchor="ctr"/>
          <a:lstStyle/>
          <a:p>
            <a:pPr marL="0" indent="0" algn="ctr">
              <a:buNone/>
            </a:pPr>
            <a:r>
              <a:rPr lang="id-ID" sz="1150" dirty="0">
                <a:solidFill>
                  <a:srgbClr val="12302B"/>
                </a:solidFill>
                <a:latin typeface="Calibri" pitchFamily="34" charset="0"/>
                <a:ea typeface="Calibri" pitchFamily="34" charset="-122"/>
                <a:cs typeface="Calibri" pitchFamily="34" charset="-120"/>
              </a:rPr>
              <a:t>7</a:t>
            </a:r>
          </a:p>
        </p:txBody>
      </p:sp>
      <p:sp>
        <p:nvSpPr>
          <p:cNvPr id="314" name="t61"/>
          <p:cNvSpPr txBox="1"/>
          <p:nvPr/>
        </p:nvSpPr>
        <p:spPr>
          <a:xfrm>
            <a:off x="6647688" y="3218688"/>
            <a:ext cx="1700784" cy="338328"/>
          </a:xfrm>
          <a:prstGeom prst="rect">
            <a:avLst/>
          </a:prstGeom>
          <a:noFill/>
          <a:ln/>
        </p:spPr>
        <p:txBody>
          <a:bodyPr wrap="square" lIns="0" tIns="0" rIns="0" bIns="0" rtlCol="0" anchor="ctr"/>
          <a:lstStyle/>
          <a:p>
            <a:pPr marL="0" indent="0" algn="ctr">
              <a:buNone/>
            </a:pPr>
            <a:r>
              <a:rPr lang="id-ID" sz="1150" dirty="0">
                <a:solidFill>
                  <a:srgbClr val="12302B"/>
                </a:solidFill>
                <a:latin typeface="Calibri" pitchFamily="34" charset="0"/>
                <a:ea typeface="Calibri" pitchFamily="34" charset="-122"/>
                <a:cs typeface="Calibri" pitchFamily="34" charset="-120"/>
              </a:rPr>
              <a:t>7,0 + 3,6</a:t>
            </a:r>
          </a:p>
        </p:txBody>
      </p:sp>
      <p:sp>
        <p:nvSpPr>
          <p:cNvPr id="315" name="t62"/>
          <p:cNvSpPr txBox="1"/>
          <p:nvPr/>
        </p:nvSpPr>
        <p:spPr>
          <a:xfrm>
            <a:off x="8476488" y="3218688"/>
            <a:ext cx="1426464" cy="338328"/>
          </a:xfrm>
          <a:prstGeom prst="rect">
            <a:avLst/>
          </a:prstGeom>
          <a:noFill/>
          <a:ln/>
        </p:spPr>
        <p:txBody>
          <a:bodyPr wrap="square" lIns="0" tIns="0" rIns="0" bIns="0" rtlCol="0" anchor="ctr"/>
          <a:lstStyle/>
          <a:p>
            <a:pPr marL="0" indent="0" algn="ctr">
              <a:buNone/>
            </a:pPr>
            <a:r>
              <a:rPr lang="id-ID" sz="1150" dirty="0">
                <a:solidFill>
                  <a:srgbClr val="12302B"/>
                </a:solidFill>
                <a:latin typeface="Calibri" pitchFamily="34" charset="0"/>
                <a:ea typeface="Calibri" pitchFamily="34" charset="-122"/>
                <a:cs typeface="Calibri" pitchFamily="34" charset="-120"/>
              </a:rPr>
              <a:t>10,6</a:t>
            </a:r>
          </a:p>
        </p:txBody>
      </p:sp>
      <p:sp>
        <p:nvSpPr>
          <p:cNvPr id="316" name="t63"/>
          <p:cNvSpPr txBox="1"/>
          <p:nvPr/>
        </p:nvSpPr>
        <p:spPr>
          <a:xfrm>
            <a:off x="10030968" y="3218688"/>
            <a:ext cx="1639824" cy="338328"/>
          </a:xfrm>
          <a:prstGeom prst="rect">
            <a:avLst/>
          </a:prstGeom>
          <a:noFill/>
          <a:ln/>
        </p:spPr>
        <p:txBody>
          <a:bodyPr wrap="square" lIns="0" tIns="0" rIns="0" bIns="0" rtlCol="0" anchor="ctr"/>
          <a:lstStyle/>
          <a:p>
            <a:pPr marL="0" indent="0" algn="ctr">
              <a:buNone/>
            </a:pPr>
            <a:r>
              <a:rPr lang="id-ID" sz="1150" dirty="0">
                <a:solidFill>
                  <a:srgbClr val="1F6F5C"/>
                </a:solidFill>
                <a:latin typeface="Calibri" pitchFamily="34" charset="0"/>
                <a:ea typeface="Calibri" pitchFamily="34" charset="-122"/>
                <a:cs typeface="Calibri" pitchFamily="34" charset="-120"/>
              </a:rPr>
              <a:t>−47%</a:t>
            </a:r>
          </a:p>
        </p:txBody>
      </p:sp>
      <p:sp>
        <p:nvSpPr>
          <p:cNvPr id="317" name="Sensitivitas"/>
          <p:cNvSpPr/>
          <p:nvPr/>
        </p:nvSpPr>
        <p:spPr>
          <a:xfrm>
            <a:off x="5943600" y="3739896"/>
            <a:ext cx="5791200" cy="2569464"/>
          </a:xfrm>
          <a:prstGeom prst="roundRect">
            <a:avLst>
              <a:gd name="adj" fmla="val 6452"/>
            </a:avLst>
          </a:prstGeom>
          <a:solidFill>
            <a:srgbClr val="F4F8F6"/>
          </a:solidFill>
          <a:ln w="9525">
            <a:solidFill>
              <a:srgbClr val="D5E2DD"/>
            </a:solidFill>
          </a:ln>
          <a:effectLst>
            <a:outerShdw blurRad="76200" dist="25400" dir="5400000" algn="bl" rotWithShape="0">
              <a:srgbClr val="000000">
                <a:alpha val="12000"/>
              </a:srgbClr>
            </a:outerShdw>
          </a:effectLst>
        </p:spPr>
      </p:sp>
      <p:sp>
        <p:nvSpPr>
          <p:cNvPr id="318" name="Isi sensitivitas"/>
          <p:cNvSpPr txBox="1"/>
          <p:nvPr/>
        </p:nvSpPr>
        <p:spPr>
          <a:xfrm>
            <a:off x="6126480" y="3849624"/>
            <a:ext cx="5425440" cy="2386584"/>
          </a:xfrm>
          <a:prstGeom prst="rect">
            <a:avLst/>
          </a:prstGeom>
          <a:noFill/>
          <a:ln/>
        </p:spPr>
        <p:txBody>
          <a:bodyPr wrap="square" lIns="0" tIns="0" rIns="0" bIns="0" rtlCol="0" anchor="t"/>
          <a:lstStyle/>
          <a:p>
            <a:pPr marL="0" indent="0" algn="l">
              <a:spcAft>
                <a:spcPts val="500"/>
              </a:spcAft>
              <a:buNone/>
            </a:pPr>
            <a:r>
              <a:rPr lang="id-ID" sz="1200" b="1" dirty="0">
                <a:solidFill>
                  <a:srgbClr val="B5651D"/>
                </a:solidFill>
                <a:latin typeface="Calibri" pitchFamily="34" charset="0"/>
                <a:ea typeface="Calibri" pitchFamily="34" charset="-122"/>
                <a:cs typeface="Calibri" pitchFamily="34" charset="-120"/>
              </a:rPr>
              <a:t>Uji sensitivitas: </a:t>
            </a:r>
            <a:r>
              <a:rPr lang="id-ID" sz="1200" dirty="0">
                <a:solidFill>
                  <a:srgbClr val="1B2B2A"/>
                </a:solidFill>
                <a:latin typeface="Calibri" pitchFamily="34" charset="0"/>
                <a:ea typeface="Calibri" pitchFamily="34" charset="-122"/>
                <a:cs typeface="Calibri" pitchFamily="34" charset="-120"/>
              </a:rPr>
              <a:t>jika porsi pemakaian 10%, dampak turun 20,0 → 12,8 kg (−36%); jika 25%, 20,0 → 14,0 kg (−30%).</a:t>
            </a:r>
          </a:p>
          <a:p>
            <a:pPr marL="0" indent="0" algn="l">
              <a:buNone/>
            </a:pPr>
            <a:r>
              <a:rPr lang="id-ID" sz="1200" b="1" dirty="0">
                <a:solidFill>
                  <a:srgbClr val="12302B"/>
                </a:solidFill>
                <a:latin typeface="Calibri" pitchFamily="34" charset="0"/>
                <a:ea typeface="Calibri" pitchFamily="34" charset="-122"/>
                <a:cs typeface="Calibri" pitchFamily="34" charset="-120"/>
              </a:rPr>
              <a:t>Artinya: </a:t>
            </a:r>
            <a:r>
              <a:rPr lang="id-ID" sz="1200" dirty="0">
                <a:solidFill>
                  <a:srgbClr val="1B2B2A"/>
                </a:solidFill>
                <a:latin typeface="Calibri" pitchFamily="34" charset="0"/>
                <a:ea typeface="Calibri" pitchFamily="34" charset="-122"/>
                <a:cs typeface="Calibri" pitchFamily="34" charset="-120"/>
              </a:rPr>
              <a:t>memperpanjang umur 3 → 5 tahun menurunkan dampak per tahun 30–36% berapa pun asumsi pemakaian, karena 79% jejak karbon terjadi saat produksi.</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4F8F6"/>
        </a:solidFill>
        <a:effectLst/>
      </p:bgPr>
    </p:bg>
    <p:spTree>
      <p:nvGrpSpPr>
        <p:cNvPr id="1" name=""/>
        <p:cNvGrpSpPr/>
        <p:nvPr/>
      </p:nvGrpSpPr>
      <p:grpSpPr>
        <a:xfrm>
          <a:off x="0" y="0"/>
          <a:ext cx="0" cy="0"/>
          <a:chOff x="0" y="0"/>
          <a:chExt cx="0" cy="0"/>
        </a:xfrm>
      </p:grpSpPr>
      <p:sp>
        <p:nvSpPr>
          <p:cNvPr id="2" name="badge"/>
          <p:cNvSpPr/>
          <p:nvPr/>
        </p:nvSpPr>
        <p:spPr>
          <a:xfrm>
            <a:off x="457200" y="384048"/>
            <a:ext cx="566928" cy="566928"/>
          </a:xfrm>
          <a:prstGeom prst="ellipse">
            <a:avLst/>
          </a:prstGeom>
          <a:solidFill>
            <a:srgbClr val="1F6F5C"/>
          </a:solidFill>
          <a:ln w="12700">
            <a:solidFill>
              <a:srgbClr val="1F6F5C"/>
            </a:solidFill>
            <a:prstDash val="solid"/>
          </a:ln>
        </p:spPr>
      </p:sp>
      <p:sp>
        <p:nvSpPr>
          <p:cNvPr id="3" name="Text 1"/>
          <p:cNvSpPr txBox="1"/>
          <p:nvPr/>
        </p:nvSpPr>
        <p:spPr>
          <a:xfrm>
            <a:off x="457200" y="384048"/>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4.2</a:t>
            </a:r>
            <a:endParaRPr lang="en-US" sz="2000" dirty="0"/>
          </a:p>
        </p:txBody>
      </p:sp>
      <p:sp>
        <p:nvSpPr>
          <p:cNvPr id="4" name="Text 2"/>
          <p:cNvSpPr txBox="1"/>
          <p:nvPr/>
        </p:nvSpPr>
        <p:spPr>
          <a:xfrm>
            <a:off x="1188720" y="292608"/>
            <a:ext cx="9692640" cy="457200"/>
          </a:xfrm>
          <a:prstGeom prst="rect">
            <a:avLst/>
          </a:prstGeom>
          <a:noFill/>
          <a:ln/>
        </p:spPr>
        <p:txBody>
          <a:bodyPr wrap="square" lIns="0" tIns="0" rIns="0" bIns="0" rtlCol="0" anchor="ctr"/>
          <a:lstStyle/>
          <a:p>
            <a:pPr marL="0" indent="0">
              <a:buNone/>
            </a:pPr>
            <a:r>
              <a:rPr lang="en-US" sz="3000" b="1" dirty="0" err="1">
                <a:solidFill>
                  <a:srgbClr val="12302B"/>
                </a:solidFill>
                <a:latin typeface="Cambria" pitchFamily="34" charset="0"/>
                <a:ea typeface="Cambria" pitchFamily="34" charset="-122"/>
                <a:cs typeface="Cambria" pitchFamily="34" charset="-120"/>
              </a:rPr>
              <a:t>Analisis mendalam: jurnal vs bukti iPhone</a:t>
            </a:r>
            <a:endParaRPr lang="en-US" sz="3000" dirty="0"/>
          </a:p>
        </p:txBody>
      </p:sp>
      <p:sp>
        <p:nvSpPr>
          <p:cNvPr id="5" name="Text 3"/>
          <p:cNvSpPr txBox="1"/>
          <p:nvPr/>
        </p:nvSpPr>
        <p:spPr>
          <a:xfrm>
            <a:off x="1188720" y="768096"/>
            <a:ext cx="10424160" cy="292608"/>
          </a:xfrm>
          <a:prstGeom prst="rect">
            <a:avLst/>
          </a:prstGeom>
          <a:noFill/>
          <a:ln/>
        </p:spPr>
        <p:txBody>
          <a:bodyPr wrap="square" lIns="0" tIns="0" rIns="0" bIns="0" rtlCol="0" anchor="t"/>
          <a:lstStyle/>
          <a:p>
            <a:pPr marL="0" indent="0">
              <a:buNone/>
            </a:pPr>
            <a:r>
              <a:rPr lang="en-US" sz="1400" i="1" dirty="0">
                <a:solidFill>
                  <a:srgbClr val="5B6B68"/>
                </a:solidFill>
                <a:latin typeface="Calibri" pitchFamily="34" charset="0"/>
                <a:ea typeface="Calibri" pitchFamily="34" charset="-122"/>
                <a:cs typeface="Calibri" pitchFamily="34" charset="-120"/>
              </a:rPr>
              <a:t>Triangulasi temuan jurnal dengan laporan resmi Apple menghasilkan implikasi desain yang menjadi dasar usulan</a:t>
            </a:r>
            <a:endParaRPr lang="en-US" sz="1400" dirty="0"/>
          </a:p>
        </p:txBody>
      </p:sp>
      <p:sp>
        <p:nvSpPr>
          <p:cNvPr id="30" name="Text 27"/>
          <p:cNvSpPr txBox="1"/>
          <p:nvPr/>
        </p:nvSpPr>
        <p:spPr>
          <a:xfrm>
            <a:off x="11247120" y="6473952"/>
            <a:ext cx="457200" cy="228600"/>
          </a:xfrm>
          <a:prstGeom prst="rect">
            <a:avLst/>
          </a:prstGeom>
          <a:noFill/>
          <a:ln/>
        </p:spPr>
        <p:txBody>
          <a:bodyPr wrap="square" lIns="0" tIns="0" rIns="0" bIns="0" rtlCol="0" anchor="t"/>
          <a:lstStyle/>
          <a:p>
            <a:pPr marL="0" indent="0" algn="r">
              <a:buNone/>
            </a:pPr>
            <a:r>
              <a:rPr lang="en-US" sz="1000" dirty="0">
                <a:solidFill>
                  <a:srgbClr val="5B6B68"/>
                </a:solidFill>
                <a:latin typeface="Calibri" pitchFamily="34" charset="0"/>
                <a:ea typeface="Calibri" pitchFamily="34" charset="-122"/>
                <a:cs typeface="Calibri" pitchFamily="34" charset="-120"/>
              </a:rPr>
              <a:t>10</a:t>
            </a:r>
            <a:endParaRPr lang="en-US" sz="1000" dirty="0"/>
          </a:p>
        </p:txBody>
      </p:sp>
      <p:sp>
        <p:nvSpPr>
          <p:cNvPr id="303" name="Header tabel"/>
          <p:cNvSpPr/>
          <p:nvPr/>
        </p:nvSpPr>
        <p:spPr>
          <a:xfrm>
            <a:off x="457200" y="1188720"/>
            <a:ext cx="11277600" cy="365760"/>
          </a:xfrm>
          <a:prstGeom prst="rect">
            <a:avLst/>
          </a:prstGeom>
          <a:solidFill>
            <a:srgbClr val="12302B"/>
          </a:solidFill>
          <a:ln>
            <a:noFill/>
          </a:ln>
        </p:spPr>
      </p:sp>
      <p:sp>
        <p:nvSpPr>
          <p:cNvPr id="304" name="H Sumber"/>
          <p:cNvSpPr txBox="1"/>
          <p:nvPr/>
        </p:nvSpPr>
        <p:spPr>
          <a:xfrm>
            <a:off x="548640" y="1188720"/>
            <a:ext cx="2103120" cy="365760"/>
          </a:xfrm>
          <a:prstGeom prst="rect">
            <a:avLst/>
          </a:prstGeom>
          <a:noFill/>
          <a:ln/>
        </p:spPr>
        <p:txBody>
          <a:bodyPr wrap="square" lIns="0" tIns="0" rIns="0" bIns="0" rtlCol="0" anchor="ctr"/>
          <a:lstStyle/>
          <a:p>
            <a:pPr marL="0" indent="0" algn="l">
              <a:buNone/>
            </a:pPr>
            <a:r>
              <a:rPr lang="id-ID" sz="1200" b="1" dirty="0">
                <a:solidFill>
                  <a:srgbClr val="FFFFFF"/>
                </a:solidFill>
                <a:latin typeface="Calibri" pitchFamily="34" charset="0"/>
                <a:ea typeface="Calibri" pitchFamily="34" charset="-122"/>
                <a:cs typeface="Calibri" pitchFamily="34" charset="-120"/>
              </a:rPr>
              <a:t>Sumber</a:t>
            </a:r>
          </a:p>
        </p:txBody>
      </p:sp>
      <p:sp>
        <p:nvSpPr>
          <p:cNvPr id="305" name="H Temuan jurnal"/>
          <p:cNvSpPr txBox="1"/>
          <p:nvPr/>
        </p:nvSpPr>
        <p:spPr>
          <a:xfrm>
            <a:off x="2834640" y="1188720"/>
            <a:ext cx="2788920" cy="365760"/>
          </a:xfrm>
          <a:prstGeom prst="rect">
            <a:avLst/>
          </a:prstGeom>
          <a:noFill/>
          <a:ln/>
        </p:spPr>
        <p:txBody>
          <a:bodyPr wrap="square" lIns="0" tIns="0" rIns="0" bIns="0" rtlCol="0" anchor="ctr"/>
          <a:lstStyle/>
          <a:p>
            <a:pPr marL="0" indent="0" algn="l">
              <a:buNone/>
            </a:pPr>
            <a:r>
              <a:rPr lang="id-ID" sz="1200" b="1" dirty="0">
                <a:solidFill>
                  <a:srgbClr val="FFFFFF"/>
                </a:solidFill>
                <a:latin typeface="Calibri" pitchFamily="34" charset="0"/>
                <a:ea typeface="Calibri" pitchFamily="34" charset="-122"/>
                <a:cs typeface="Calibri" pitchFamily="34" charset="-120"/>
              </a:rPr>
              <a:t>Temuan jurnal</a:t>
            </a:r>
          </a:p>
        </p:txBody>
      </p:sp>
      <p:sp>
        <p:nvSpPr>
          <p:cNvPr id="306" name="H Bukti iPhone (laporan resmi)"/>
          <p:cNvSpPr txBox="1"/>
          <p:nvPr/>
        </p:nvSpPr>
        <p:spPr>
          <a:xfrm>
            <a:off x="5806440" y="1188720"/>
            <a:ext cx="2788920" cy="365760"/>
          </a:xfrm>
          <a:prstGeom prst="rect">
            <a:avLst/>
          </a:prstGeom>
          <a:noFill/>
          <a:ln/>
        </p:spPr>
        <p:txBody>
          <a:bodyPr wrap="square" lIns="0" tIns="0" rIns="0" bIns="0" rtlCol="0" anchor="ctr"/>
          <a:lstStyle/>
          <a:p>
            <a:pPr marL="0" indent="0" algn="l">
              <a:buNone/>
            </a:pPr>
            <a:r>
              <a:rPr lang="id-ID" sz="1200" b="1" dirty="0">
                <a:solidFill>
                  <a:srgbClr val="FFFFFF"/>
                </a:solidFill>
                <a:latin typeface="Calibri" pitchFamily="34" charset="0"/>
                <a:ea typeface="Calibri" pitchFamily="34" charset="-122"/>
                <a:cs typeface="Calibri" pitchFamily="34" charset="-120"/>
              </a:rPr>
              <a:t>Bukti iPhone (laporan resmi)</a:t>
            </a:r>
          </a:p>
        </p:txBody>
      </p:sp>
      <p:sp>
        <p:nvSpPr>
          <p:cNvPr id="307" name="H Implikasi desain"/>
          <p:cNvSpPr txBox="1"/>
          <p:nvPr/>
        </p:nvSpPr>
        <p:spPr>
          <a:xfrm>
            <a:off x="8778240" y="1188720"/>
            <a:ext cx="2956560" cy="365760"/>
          </a:xfrm>
          <a:prstGeom prst="rect">
            <a:avLst/>
          </a:prstGeom>
          <a:noFill/>
          <a:ln/>
        </p:spPr>
        <p:txBody>
          <a:bodyPr wrap="square" lIns="0" tIns="0" rIns="0" bIns="0" rtlCol="0" anchor="ctr"/>
          <a:lstStyle/>
          <a:p>
            <a:pPr marL="0" indent="0" algn="l">
              <a:buNone/>
            </a:pPr>
            <a:r>
              <a:rPr lang="id-ID" sz="1200" b="1" dirty="0">
                <a:solidFill>
                  <a:srgbClr val="FFFFFF"/>
                </a:solidFill>
                <a:latin typeface="Calibri" pitchFamily="34" charset="0"/>
                <a:ea typeface="Calibri" pitchFamily="34" charset="-122"/>
                <a:cs typeface="Calibri" pitchFamily="34" charset="-120"/>
              </a:rPr>
              <a:t>Implikasi desain</a:t>
            </a:r>
          </a:p>
        </p:txBody>
      </p:sp>
      <p:sp>
        <p:nvSpPr>
          <p:cNvPr id="308" name="Baris 0"/>
          <p:cNvSpPr/>
          <p:nvPr/>
        </p:nvSpPr>
        <p:spPr>
          <a:xfrm>
            <a:off x="457200" y="1554480"/>
            <a:ext cx="11277600" cy="1143000"/>
          </a:xfrm>
          <a:prstGeom prst="rect">
            <a:avLst/>
          </a:prstGeom>
          <a:solidFill>
            <a:srgbClr val="FFFFFF"/>
          </a:solidFill>
          <a:ln w="9525">
            <a:solidFill>
              <a:srgbClr val="D5E2DD"/>
            </a:solidFill>
          </a:ln>
        </p:spPr>
      </p:sp>
      <p:sp>
        <p:nvSpPr>
          <p:cNvPr id="309" name="Sel implikasi 0"/>
          <p:cNvSpPr/>
          <p:nvPr/>
        </p:nvSpPr>
        <p:spPr>
          <a:xfrm>
            <a:off x="8686800" y="1554480"/>
            <a:ext cx="3048000" cy="1143000"/>
          </a:xfrm>
          <a:prstGeom prst="rect">
            <a:avLst/>
          </a:prstGeom>
          <a:solidFill>
            <a:srgbClr val="E3EFEA"/>
          </a:solidFill>
          <a:ln w="9525">
            <a:solidFill>
              <a:srgbClr val="D5E2DD"/>
            </a:solidFill>
          </a:ln>
        </p:spPr>
      </p:sp>
      <p:sp>
        <p:nvSpPr>
          <p:cNvPr id="310" name="C00"/>
          <p:cNvSpPr txBox="1"/>
          <p:nvPr/>
        </p:nvSpPr>
        <p:spPr>
          <a:xfrm>
            <a:off x="548640" y="1600200"/>
            <a:ext cx="2011680" cy="1051560"/>
          </a:xfrm>
          <a:prstGeom prst="rect">
            <a:avLst/>
          </a:prstGeom>
          <a:noFill/>
          <a:ln/>
        </p:spPr>
        <p:txBody>
          <a:bodyPr wrap="square" lIns="0" tIns="0" rIns="0" bIns="0" rtlCol="0" anchor="ctr"/>
          <a:lstStyle/>
          <a:p>
            <a:pPr marL="0" indent="0" algn="l">
              <a:buNone/>
            </a:pPr>
            <a:r>
              <a:rPr lang="id-ID" sz="1200" b="1" dirty="0">
                <a:solidFill>
                  <a:srgbClr val="12302B"/>
                </a:solidFill>
                <a:latin typeface="Calibri" pitchFamily="34" charset="0"/>
                <a:ea typeface="Calibri" pitchFamily="34" charset="-122"/>
                <a:cs typeface="Calibri" pitchFamily="34" charset="-120"/>
              </a:rPr>
              <a:t>Cordella dkk. (2021)</a:t>
            </a:r>
          </a:p>
        </p:txBody>
      </p:sp>
      <p:sp>
        <p:nvSpPr>
          <p:cNvPr id="311" name="C01"/>
          <p:cNvSpPr txBox="1"/>
          <p:nvPr/>
        </p:nvSpPr>
        <p:spPr>
          <a:xfrm>
            <a:off x="2834640" y="1600200"/>
            <a:ext cx="2697480" cy="1051560"/>
          </a:xfrm>
          <a:prstGeom prst="rect">
            <a:avLst/>
          </a:prstGeom>
          <a:noFill/>
          <a:ln/>
        </p:spPr>
        <p:txBody>
          <a:bodyPr wrap="square" lIns="0" tIns="0" rIns="0" bIns="0" rtlCol="0" anchor="ctr"/>
          <a:lstStyle/>
          <a:p>
            <a:pPr marL="0" indent="0" algn="l">
              <a:buNone/>
            </a:pPr>
            <a:r>
              <a:rPr lang="id-ID" sz="1200" dirty="0">
                <a:solidFill>
                  <a:srgbClr val="1B2B2A"/>
                </a:solidFill>
                <a:latin typeface="Calibri" pitchFamily="34" charset="0"/>
                <a:ea typeface="Calibri" pitchFamily="34" charset="-122"/>
                <a:cs typeface="Calibri" pitchFamily="34" charset="-120"/>
              </a:rPr>
              <a:t>Ketahanan dan reparabilitas tidak harus dipertukarkan; baterai dan layar titik kritis.</a:t>
            </a:r>
          </a:p>
        </p:txBody>
      </p:sp>
      <p:sp>
        <p:nvSpPr>
          <p:cNvPr id="312" name="C02"/>
          <p:cNvSpPr txBox="1"/>
          <p:nvPr/>
        </p:nvSpPr>
        <p:spPr>
          <a:xfrm>
            <a:off x="5806440" y="1600200"/>
            <a:ext cx="2697480" cy="1051560"/>
          </a:xfrm>
          <a:prstGeom prst="rect">
            <a:avLst/>
          </a:prstGeom>
          <a:noFill/>
          <a:ln/>
        </p:spPr>
        <p:txBody>
          <a:bodyPr wrap="square" lIns="0" tIns="0" rIns="0" bIns="0" rtlCol="0" anchor="ctr"/>
          <a:lstStyle/>
          <a:p>
            <a:pPr marL="0" indent="0" algn="l">
              <a:buNone/>
            </a:pPr>
            <a:r>
              <a:rPr lang="id-ID" sz="1200" dirty="0">
                <a:solidFill>
                  <a:srgbClr val="1B2B2A"/>
                </a:solidFill>
                <a:latin typeface="Calibri" pitchFamily="34" charset="0"/>
                <a:ea typeface="Calibri" pitchFamily="34" charset="-122"/>
                <a:cs typeface="Calibri" pitchFamily="34" charset="-120"/>
              </a:rPr>
              <a:t>iPhone 16 tetap IP68, tetapi baterai kini dilepas arus listrik ±90 detik; skor iFixit naik 4 → 7/10.</a:t>
            </a:r>
          </a:p>
        </p:txBody>
      </p:sp>
      <p:sp>
        <p:nvSpPr>
          <p:cNvPr id="313" name="C03"/>
          <p:cNvSpPr txBox="1"/>
          <p:nvPr/>
        </p:nvSpPr>
        <p:spPr>
          <a:xfrm>
            <a:off x="8778240" y="1600200"/>
            <a:ext cx="2865120" cy="1051560"/>
          </a:xfrm>
          <a:prstGeom prst="rect">
            <a:avLst/>
          </a:prstGeom>
          <a:noFill/>
          <a:ln/>
        </p:spPr>
        <p:txBody>
          <a:bodyPr wrap="square" lIns="0" tIns="0" rIns="0" bIns="0" rtlCol="0" anchor="ctr"/>
          <a:lstStyle/>
          <a:p>
            <a:pPr marL="0" indent="0" algn="l">
              <a:buNone/>
            </a:pPr>
            <a:r>
              <a:rPr lang="id-ID" sz="1200" dirty="0">
                <a:solidFill>
                  <a:srgbClr val="12302B"/>
                </a:solidFill>
                <a:latin typeface="Calibri" pitchFamily="34" charset="0"/>
                <a:ea typeface="Calibri" pitchFamily="34" charset="-122"/>
                <a:cs typeface="Calibri" pitchFamily="34" charset="-120"/>
              </a:rPr>
              <a:t>Trade-off di slide 2 menyempit. Hambatan tersisa: penyandingan suku cadang dan dimensi baterai yang berubah → Usulan #1.</a:t>
            </a:r>
          </a:p>
        </p:txBody>
      </p:sp>
      <p:sp>
        <p:nvSpPr>
          <p:cNvPr id="314" name="Baris 1"/>
          <p:cNvSpPr/>
          <p:nvPr/>
        </p:nvSpPr>
        <p:spPr>
          <a:xfrm>
            <a:off x="457200" y="2697480"/>
            <a:ext cx="11277600" cy="1143000"/>
          </a:xfrm>
          <a:prstGeom prst="rect">
            <a:avLst/>
          </a:prstGeom>
          <a:solidFill>
            <a:srgbClr val="F4F8F6"/>
          </a:solidFill>
          <a:ln w="9525">
            <a:solidFill>
              <a:srgbClr val="D5E2DD"/>
            </a:solidFill>
          </a:ln>
        </p:spPr>
      </p:sp>
      <p:sp>
        <p:nvSpPr>
          <p:cNvPr id="315" name="Sel implikasi 1"/>
          <p:cNvSpPr/>
          <p:nvPr/>
        </p:nvSpPr>
        <p:spPr>
          <a:xfrm>
            <a:off x="8686800" y="2697480"/>
            <a:ext cx="3048000" cy="1143000"/>
          </a:xfrm>
          <a:prstGeom prst="rect">
            <a:avLst/>
          </a:prstGeom>
          <a:solidFill>
            <a:srgbClr val="E3EFEA"/>
          </a:solidFill>
          <a:ln w="9525">
            <a:solidFill>
              <a:srgbClr val="D5E2DD"/>
            </a:solidFill>
          </a:ln>
        </p:spPr>
      </p:sp>
      <p:sp>
        <p:nvSpPr>
          <p:cNvPr id="316" name="C10"/>
          <p:cNvSpPr txBox="1"/>
          <p:nvPr/>
        </p:nvSpPr>
        <p:spPr>
          <a:xfrm>
            <a:off x="548640" y="2743200"/>
            <a:ext cx="2011680" cy="1051560"/>
          </a:xfrm>
          <a:prstGeom prst="rect">
            <a:avLst/>
          </a:prstGeom>
          <a:noFill/>
          <a:ln/>
        </p:spPr>
        <p:txBody>
          <a:bodyPr wrap="square" lIns="0" tIns="0" rIns="0" bIns="0" rtlCol="0" anchor="ctr"/>
          <a:lstStyle/>
          <a:p>
            <a:pPr marL="0" indent="0" algn="l">
              <a:buNone/>
            </a:pPr>
            <a:r>
              <a:rPr lang="id-ID" sz="1200" b="1" dirty="0">
                <a:solidFill>
                  <a:srgbClr val="12302B"/>
                </a:solidFill>
                <a:latin typeface="Calibri" pitchFamily="34" charset="0"/>
                <a:ea typeface="Calibri" pitchFamily="34" charset="-122"/>
                <a:cs typeface="Calibri" pitchFamily="34" charset="-120"/>
              </a:rPr>
              <a:t>Makov dan Fitzpatrick (2021)</a:t>
            </a:r>
          </a:p>
        </p:txBody>
      </p:sp>
      <p:sp>
        <p:nvSpPr>
          <p:cNvPr id="317" name="C11"/>
          <p:cNvSpPr txBox="1"/>
          <p:nvPr/>
        </p:nvSpPr>
        <p:spPr>
          <a:xfrm>
            <a:off x="2834640" y="2743200"/>
            <a:ext cx="2697480" cy="1051560"/>
          </a:xfrm>
          <a:prstGeom prst="rect">
            <a:avLst/>
          </a:prstGeom>
          <a:noFill/>
          <a:ln/>
        </p:spPr>
        <p:txBody>
          <a:bodyPr wrap="square" lIns="0" tIns="0" rIns="0" bIns="0" rtlCol="0" anchor="ctr"/>
          <a:lstStyle/>
          <a:p>
            <a:pPr marL="0" indent="0" algn="l">
              <a:buNone/>
            </a:pPr>
            <a:r>
              <a:rPr lang="id-ID" sz="1200" dirty="0">
                <a:solidFill>
                  <a:srgbClr val="1B2B2A"/>
                </a:solidFill>
                <a:latin typeface="Calibri" pitchFamily="34" charset="0"/>
                <a:ea typeface="Calibri" pitchFamily="34" charset="-122"/>
                <a:cs typeface="Calibri" pitchFamily="34" charset="-120"/>
              </a:rPr>
              <a:t>Kinerja iPhone stabil; minat reparasi turun cepat seiring umur.</a:t>
            </a:r>
          </a:p>
        </p:txBody>
      </p:sp>
      <p:sp>
        <p:nvSpPr>
          <p:cNvPr id="318" name="C12"/>
          <p:cNvSpPr txBox="1"/>
          <p:nvPr/>
        </p:nvSpPr>
        <p:spPr>
          <a:xfrm>
            <a:off x="5806440" y="2743200"/>
            <a:ext cx="2697480" cy="1051560"/>
          </a:xfrm>
          <a:prstGeom prst="rect">
            <a:avLst/>
          </a:prstGeom>
          <a:noFill/>
          <a:ln/>
        </p:spPr>
        <p:txBody>
          <a:bodyPr wrap="square" lIns="0" tIns="0" rIns="0" bIns="0" rtlCol="0" anchor="ctr"/>
          <a:lstStyle/>
          <a:p>
            <a:pPr marL="0" indent="0" algn="l">
              <a:buNone/>
            </a:pPr>
            <a:r>
              <a:rPr lang="id-ID" sz="1200" dirty="0">
                <a:solidFill>
                  <a:srgbClr val="1B2B2A"/>
                </a:solidFill>
                <a:latin typeface="Calibri" pitchFamily="34" charset="0"/>
                <a:ea typeface="Calibri" pitchFamily="34" charset="-122"/>
                <a:cs typeface="Calibri" pitchFamily="34" charset="-120"/>
              </a:rPr>
              <a:t>Klaim Apple: pembaruan keamanan ≥5 tahun; umur layanan aktual dan rasio reparasi tidak dipublikasikan.</a:t>
            </a:r>
          </a:p>
        </p:txBody>
      </p:sp>
      <p:sp>
        <p:nvSpPr>
          <p:cNvPr id="319" name="C13"/>
          <p:cNvSpPr txBox="1"/>
          <p:nvPr/>
        </p:nvSpPr>
        <p:spPr>
          <a:xfrm>
            <a:off x="8778240" y="2743200"/>
            <a:ext cx="2865120" cy="1051560"/>
          </a:xfrm>
          <a:prstGeom prst="rect">
            <a:avLst/>
          </a:prstGeom>
          <a:noFill/>
          <a:ln/>
        </p:spPr>
        <p:txBody>
          <a:bodyPr wrap="square" lIns="0" tIns="0" rIns="0" bIns="0" rtlCol="0" anchor="ctr"/>
          <a:lstStyle/>
          <a:p>
            <a:pPr marL="0" indent="0" algn="l">
              <a:buNone/>
            </a:pPr>
            <a:r>
              <a:rPr lang="id-ID" sz="1200" dirty="0">
                <a:solidFill>
                  <a:srgbClr val="12302B"/>
                </a:solidFill>
                <a:latin typeface="Calibri" pitchFamily="34" charset="0"/>
                <a:ea typeface="Calibri" pitchFamily="34" charset="-122"/>
                <a:cs typeface="Calibri" pitchFamily="34" charset="-120"/>
              </a:rPr>
              <a:t>Umur pakai lebih dibatasi persepsi dan biaya reparasi daripada teknis → KPI umur layanan aktual dan reparasi murah.</a:t>
            </a:r>
          </a:p>
        </p:txBody>
      </p:sp>
      <p:sp>
        <p:nvSpPr>
          <p:cNvPr id="320" name="Baris 2"/>
          <p:cNvSpPr/>
          <p:nvPr/>
        </p:nvSpPr>
        <p:spPr>
          <a:xfrm>
            <a:off x="457200" y="3840480"/>
            <a:ext cx="11277600" cy="1143000"/>
          </a:xfrm>
          <a:prstGeom prst="rect">
            <a:avLst/>
          </a:prstGeom>
          <a:solidFill>
            <a:srgbClr val="FFFFFF"/>
          </a:solidFill>
          <a:ln w="9525">
            <a:solidFill>
              <a:srgbClr val="D5E2DD"/>
            </a:solidFill>
          </a:ln>
        </p:spPr>
      </p:sp>
      <p:sp>
        <p:nvSpPr>
          <p:cNvPr id="321" name="Sel implikasi 2"/>
          <p:cNvSpPr/>
          <p:nvPr/>
        </p:nvSpPr>
        <p:spPr>
          <a:xfrm>
            <a:off x="8686800" y="3840480"/>
            <a:ext cx="3048000" cy="1143000"/>
          </a:xfrm>
          <a:prstGeom prst="rect">
            <a:avLst/>
          </a:prstGeom>
          <a:solidFill>
            <a:srgbClr val="E3EFEA"/>
          </a:solidFill>
          <a:ln w="9525">
            <a:solidFill>
              <a:srgbClr val="D5E2DD"/>
            </a:solidFill>
          </a:ln>
        </p:spPr>
      </p:sp>
      <p:sp>
        <p:nvSpPr>
          <p:cNvPr id="322" name="C20"/>
          <p:cNvSpPr txBox="1"/>
          <p:nvPr/>
        </p:nvSpPr>
        <p:spPr>
          <a:xfrm>
            <a:off x="548640" y="3886200"/>
            <a:ext cx="2011680" cy="1051560"/>
          </a:xfrm>
          <a:prstGeom prst="rect">
            <a:avLst/>
          </a:prstGeom>
          <a:noFill/>
          <a:ln/>
        </p:spPr>
        <p:txBody>
          <a:bodyPr wrap="square" lIns="0" tIns="0" rIns="0" bIns="0" rtlCol="0" anchor="ctr"/>
          <a:lstStyle/>
          <a:p>
            <a:pPr marL="0" indent="0" algn="l">
              <a:buNone/>
            </a:pPr>
            <a:r>
              <a:rPr lang="id-ID" sz="1200" b="1" dirty="0">
                <a:solidFill>
                  <a:srgbClr val="12302B"/>
                </a:solidFill>
                <a:latin typeface="Calibri" pitchFamily="34" charset="0"/>
                <a:ea typeface="Calibri" pitchFamily="34" charset="-122"/>
                <a:cs typeface="Calibri" pitchFamily="34" charset="-120"/>
              </a:rPr>
              <a:t>Proske dan Jaeger-Erben (2019)</a:t>
            </a:r>
          </a:p>
        </p:txBody>
      </p:sp>
      <p:sp>
        <p:nvSpPr>
          <p:cNvPr id="323" name="C21"/>
          <p:cNvSpPr txBox="1"/>
          <p:nvPr/>
        </p:nvSpPr>
        <p:spPr>
          <a:xfrm>
            <a:off x="2834640" y="3886200"/>
            <a:ext cx="2697480" cy="1051560"/>
          </a:xfrm>
          <a:prstGeom prst="rect">
            <a:avLst/>
          </a:prstGeom>
          <a:noFill/>
          <a:ln/>
        </p:spPr>
        <p:txBody>
          <a:bodyPr wrap="square" lIns="0" tIns="0" rIns="0" bIns="0" rtlCol="0" anchor="ctr"/>
          <a:lstStyle/>
          <a:p>
            <a:pPr marL="0" indent="0" algn="l">
              <a:buNone/>
            </a:pPr>
            <a:r>
              <a:rPr lang="id-ID" sz="1200" dirty="0">
                <a:solidFill>
                  <a:srgbClr val="1B2B2A"/>
                </a:solidFill>
                <a:latin typeface="Calibri" pitchFamily="34" charset="0"/>
                <a:ea typeface="Calibri" pitchFamily="34" charset="-122"/>
                <a:cs typeface="Calibri" pitchFamily="34" charset="-120"/>
              </a:rPr>
              <a:t>Modularitas penuh membawa risiko (lebih banyak material, konektor) dan tidak menjamin umur lebih panjang.</a:t>
            </a:r>
          </a:p>
        </p:txBody>
      </p:sp>
      <p:sp>
        <p:nvSpPr>
          <p:cNvPr id="324" name="C22"/>
          <p:cNvSpPr txBox="1"/>
          <p:nvPr/>
        </p:nvSpPr>
        <p:spPr>
          <a:xfrm>
            <a:off x="5806440" y="3886200"/>
            <a:ext cx="2697480" cy="1051560"/>
          </a:xfrm>
          <a:prstGeom prst="rect">
            <a:avLst/>
          </a:prstGeom>
          <a:noFill/>
          <a:ln/>
        </p:spPr>
        <p:txBody>
          <a:bodyPr wrap="square" lIns="0" tIns="0" rIns="0" bIns="0" rtlCol="0" anchor="ctr"/>
          <a:lstStyle/>
          <a:p>
            <a:pPr marL="0" indent="0" algn="l">
              <a:buNone/>
            </a:pPr>
            <a:r>
              <a:rPr lang="id-ID" sz="1200" dirty="0">
                <a:solidFill>
                  <a:srgbClr val="1B2B2A"/>
                </a:solidFill>
                <a:latin typeface="Calibri" pitchFamily="34" charset="0"/>
                <a:ea typeface="Calibri" pitchFamily="34" charset="-122"/>
                <a:cs typeface="Calibri" pitchFamily="34" charset="-120"/>
              </a:rPr>
              <a:t>iPhone tidak modular; desain terpadu menjaga ketahanan air dan bentuk tipis.</a:t>
            </a:r>
          </a:p>
        </p:txBody>
      </p:sp>
      <p:sp>
        <p:nvSpPr>
          <p:cNvPr id="325" name="C23"/>
          <p:cNvSpPr txBox="1"/>
          <p:nvPr/>
        </p:nvSpPr>
        <p:spPr>
          <a:xfrm>
            <a:off x="8778240" y="3886200"/>
            <a:ext cx="2865120" cy="1051560"/>
          </a:xfrm>
          <a:prstGeom prst="rect">
            <a:avLst/>
          </a:prstGeom>
          <a:noFill/>
          <a:ln/>
        </p:spPr>
        <p:txBody>
          <a:bodyPr wrap="square" lIns="0" tIns="0" rIns="0" bIns="0" rtlCol="0" anchor="ctr"/>
          <a:lstStyle/>
          <a:p>
            <a:pPr marL="0" indent="0" algn="l">
              <a:buNone/>
            </a:pPr>
            <a:r>
              <a:rPr lang="id-ID" sz="1200" dirty="0">
                <a:solidFill>
                  <a:srgbClr val="12302B"/>
                </a:solidFill>
                <a:latin typeface="Calibri" pitchFamily="34" charset="0"/>
                <a:ea typeface="Calibri" pitchFamily="34" charset="-122"/>
                <a:cs typeface="Calibri" pitchFamily="34" charset="-120"/>
              </a:rPr>
              <a:t>Usulan dibatasi pada modul baterai (komponen kritis), bukan ponsel modular penuh.</a:t>
            </a:r>
          </a:p>
        </p:txBody>
      </p:sp>
      <p:sp>
        <p:nvSpPr>
          <p:cNvPr id="326" name="Baris 3"/>
          <p:cNvSpPr/>
          <p:nvPr/>
        </p:nvSpPr>
        <p:spPr>
          <a:xfrm>
            <a:off x="457200" y="4983480"/>
            <a:ext cx="11277600" cy="1143000"/>
          </a:xfrm>
          <a:prstGeom prst="rect">
            <a:avLst/>
          </a:prstGeom>
          <a:solidFill>
            <a:srgbClr val="F4F8F6"/>
          </a:solidFill>
          <a:ln w="9525">
            <a:solidFill>
              <a:srgbClr val="D5E2DD"/>
            </a:solidFill>
          </a:ln>
        </p:spPr>
      </p:sp>
      <p:sp>
        <p:nvSpPr>
          <p:cNvPr id="327" name="Sel implikasi 3"/>
          <p:cNvSpPr/>
          <p:nvPr/>
        </p:nvSpPr>
        <p:spPr>
          <a:xfrm>
            <a:off x="8686800" y="4983480"/>
            <a:ext cx="3048000" cy="1143000"/>
          </a:xfrm>
          <a:prstGeom prst="rect">
            <a:avLst/>
          </a:prstGeom>
          <a:solidFill>
            <a:srgbClr val="E3EFEA"/>
          </a:solidFill>
          <a:ln w="9525">
            <a:solidFill>
              <a:srgbClr val="D5E2DD"/>
            </a:solidFill>
          </a:ln>
        </p:spPr>
      </p:sp>
      <p:sp>
        <p:nvSpPr>
          <p:cNvPr id="328" name="C30"/>
          <p:cNvSpPr txBox="1"/>
          <p:nvPr/>
        </p:nvSpPr>
        <p:spPr>
          <a:xfrm>
            <a:off x="548640" y="5029200"/>
            <a:ext cx="2011680" cy="1051560"/>
          </a:xfrm>
          <a:prstGeom prst="rect">
            <a:avLst/>
          </a:prstGeom>
          <a:noFill/>
          <a:ln/>
        </p:spPr>
        <p:txBody>
          <a:bodyPr wrap="square" lIns="0" tIns="0" rIns="0" bIns="0" rtlCol="0" anchor="ctr"/>
          <a:lstStyle/>
          <a:p>
            <a:pPr marL="0" indent="0" algn="l">
              <a:buNone/>
            </a:pPr>
            <a:r>
              <a:rPr lang="id-ID" sz="1200" b="1" dirty="0">
                <a:solidFill>
                  <a:srgbClr val="12302B"/>
                </a:solidFill>
                <a:latin typeface="Calibri" pitchFamily="34" charset="0"/>
                <a:ea typeface="Calibri" pitchFamily="34" charset="-122"/>
                <a:cs typeface="Calibri" pitchFamily="34" charset="-120"/>
              </a:rPr>
              <a:t>Apple (2024a) dan Zink dan Geyer (2017)</a:t>
            </a:r>
          </a:p>
        </p:txBody>
      </p:sp>
      <p:sp>
        <p:nvSpPr>
          <p:cNvPr id="329" name="C31"/>
          <p:cNvSpPr txBox="1"/>
          <p:nvPr/>
        </p:nvSpPr>
        <p:spPr>
          <a:xfrm>
            <a:off x="2834640" y="5029200"/>
            <a:ext cx="2697480" cy="1051560"/>
          </a:xfrm>
          <a:prstGeom prst="rect">
            <a:avLst/>
          </a:prstGeom>
          <a:noFill/>
          <a:ln/>
        </p:spPr>
        <p:txBody>
          <a:bodyPr wrap="square" lIns="0" tIns="0" rIns="0" bIns="0" rtlCol="0" anchor="ctr"/>
          <a:lstStyle/>
          <a:p>
            <a:pPr marL="0" indent="0" algn="l">
              <a:buNone/>
            </a:pPr>
            <a:r>
              <a:rPr lang="id-ID" sz="1200" dirty="0">
                <a:solidFill>
                  <a:srgbClr val="1B2B2A"/>
                </a:solidFill>
                <a:latin typeface="Calibri" pitchFamily="34" charset="0"/>
                <a:ea typeface="Calibri" pitchFamily="34" charset="-122"/>
                <a:cs typeface="Calibri" pitchFamily="34" charset="-120"/>
              </a:rPr>
              <a:t>Rebound: pemulihan dapat mendorong produksi baru.</a:t>
            </a:r>
          </a:p>
        </p:txBody>
      </p:sp>
      <p:sp>
        <p:nvSpPr>
          <p:cNvPr id="330" name="C32"/>
          <p:cNvSpPr txBox="1"/>
          <p:nvPr/>
        </p:nvSpPr>
        <p:spPr>
          <a:xfrm>
            <a:off x="5806440" y="5029200"/>
            <a:ext cx="2697480" cy="1051560"/>
          </a:xfrm>
          <a:prstGeom prst="rect">
            <a:avLst/>
          </a:prstGeom>
          <a:noFill/>
          <a:ln/>
        </p:spPr>
        <p:txBody>
          <a:bodyPr wrap="square" lIns="0" tIns="0" rIns="0" bIns="0" rtlCol="0" anchor="ctr"/>
          <a:lstStyle/>
          <a:p>
            <a:pPr marL="0" indent="0" algn="l">
              <a:buNone/>
            </a:pPr>
            <a:r>
              <a:rPr lang="id-ID" sz="1200" dirty="0">
                <a:solidFill>
                  <a:srgbClr val="1B2B2A"/>
                </a:solidFill>
                <a:latin typeface="Calibri" pitchFamily="34" charset="0"/>
                <a:ea typeface="Calibri" pitchFamily="34" charset="-122"/>
                <a:cs typeface="Calibri" pitchFamily="34" charset="-120"/>
              </a:rPr>
              <a:t>Produksi 79% jejak karbon; penurunan 30% terutama dari listrik pemasok (20%), bukan material (±8%).</a:t>
            </a:r>
          </a:p>
        </p:txBody>
      </p:sp>
      <p:sp>
        <p:nvSpPr>
          <p:cNvPr id="331" name="C33"/>
          <p:cNvSpPr txBox="1"/>
          <p:nvPr/>
        </p:nvSpPr>
        <p:spPr>
          <a:xfrm>
            <a:off x="8778240" y="5029200"/>
            <a:ext cx="2865120" cy="1051560"/>
          </a:xfrm>
          <a:prstGeom prst="rect">
            <a:avLst/>
          </a:prstGeom>
          <a:noFill/>
          <a:ln/>
        </p:spPr>
        <p:txBody>
          <a:bodyPr wrap="square" lIns="0" tIns="0" rIns="0" bIns="0" rtlCol="0" anchor="ctr"/>
          <a:lstStyle/>
          <a:p>
            <a:pPr marL="0" indent="0" algn="l">
              <a:buNone/>
            </a:pPr>
            <a:r>
              <a:rPr lang="id-ID" sz="1200" dirty="0">
                <a:solidFill>
                  <a:srgbClr val="12302B"/>
                </a:solidFill>
                <a:latin typeface="Calibri" pitchFamily="34" charset="0"/>
                <a:ea typeface="Calibri" pitchFamily="34" charset="-122"/>
                <a:cs typeface="Calibri" pitchFamily="34" charset="-120"/>
              </a:rPr>
              <a:t>Memperpanjang umur 3 → 5 tahun memangkas ±33% dampak per tahun (slide 8–9) → lebih kuat daripada mengganti material; Trade In perlu dipantau.</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4F8F6"/>
        </a:solidFill>
        <a:effectLst/>
      </p:bgPr>
    </p:bg>
    <p:spTree>
      <p:nvGrpSpPr>
        <p:cNvPr id="1" name=""/>
        <p:cNvGrpSpPr/>
        <p:nvPr/>
      </p:nvGrpSpPr>
      <p:grpSpPr>
        <a:xfrm>
          <a:off x="0" y="0"/>
          <a:ext cx="0" cy="0"/>
          <a:chOff x="0" y="0"/>
          <a:chExt cx="0" cy="0"/>
        </a:xfrm>
      </p:grpSpPr>
      <p:sp>
        <p:nvSpPr>
          <p:cNvPr id="2" name="badge"/>
          <p:cNvSpPr/>
          <p:nvPr/>
        </p:nvSpPr>
        <p:spPr>
          <a:xfrm>
            <a:off x="457200" y="384048"/>
            <a:ext cx="566928" cy="566928"/>
          </a:xfrm>
          <a:prstGeom prst="ellipse">
            <a:avLst/>
          </a:prstGeom>
          <a:solidFill>
            <a:srgbClr val="1F6F5C"/>
          </a:solidFill>
          <a:ln w="12700">
            <a:solidFill>
              <a:srgbClr val="1F6F5C"/>
            </a:solidFill>
            <a:prstDash val="solid"/>
          </a:ln>
        </p:spPr>
      </p:sp>
      <p:sp>
        <p:nvSpPr>
          <p:cNvPr id="3" name="Text 1"/>
          <p:cNvSpPr txBox="1"/>
          <p:nvPr/>
        </p:nvSpPr>
        <p:spPr>
          <a:xfrm>
            <a:off x="457200" y="384048"/>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4.3</a:t>
            </a:r>
            <a:endParaRPr lang="en-US" sz="2000" dirty="0"/>
          </a:p>
        </p:txBody>
      </p:sp>
      <p:sp>
        <p:nvSpPr>
          <p:cNvPr id="4" name="Text 2"/>
          <p:cNvSpPr txBox="1"/>
          <p:nvPr/>
        </p:nvSpPr>
        <p:spPr>
          <a:xfrm>
            <a:off x="1188720" y="292608"/>
            <a:ext cx="9692640" cy="457200"/>
          </a:xfrm>
          <a:prstGeom prst="rect">
            <a:avLst/>
          </a:prstGeom>
          <a:noFill/>
          <a:ln/>
        </p:spPr>
        <p:txBody>
          <a:bodyPr wrap="square" lIns="0" tIns="0" rIns="0" bIns="0" rtlCol="0" anchor="ctr"/>
          <a:lstStyle/>
          <a:p>
            <a:pPr marL="0" indent="0">
              <a:buNone/>
            </a:pPr>
            <a:r>
              <a:rPr lang="en-US" sz="3000" b="1" dirty="0" err="1">
                <a:solidFill>
                  <a:srgbClr val="12302B"/>
                </a:solidFill>
                <a:latin typeface="Cambria" pitchFamily="34" charset="0"/>
                <a:ea typeface="Cambria" pitchFamily="34" charset="-122"/>
                <a:cs typeface="Cambria" pitchFamily="34" charset="-120"/>
              </a:rPr>
              <a:t>Analisis</a:t>
            </a:r>
            <a:r>
              <a:rPr lang="en-US" sz="3000" b="1" dirty="0">
                <a:solidFill>
                  <a:srgbClr val="12302B"/>
                </a:solidFill>
                <a:latin typeface="Cambria" pitchFamily="34" charset="0"/>
                <a:ea typeface="Cambria" pitchFamily="34" charset="-122"/>
                <a:cs typeface="Cambria" pitchFamily="34" charset="-120"/>
              </a:rPr>
              <a:t> dua usulan redesain</a:t>
            </a:r>
            <a:endParaRPr lang="en-US" sz="3000" dirty="0"/>
          </a:p>
        </p:txBody>
      </p:sp>
      <p:sp>
        <p:nvSpPr>
          <p:cNvPr id="5" name="Text 3"/>
          <p:cNvSpPr txBox="1"/>
          <p:nvPr/>
        </p:nvSpPr>
        <p:spPr>
          <a:xfrm>
            <a:off x="1188720" y="768096"/>
            <a:ext cx="10424160" cy="292608"/>
          </a:xfrm>
          <a:prstGeom prst="rect">
            <a:avLst/>
          </a:prstGeom>
          <a:noFill/>
          <a:ln/>
        </p:spPr>
        <p:txBody>
          <a:bodyPr wrap="square" lIns="0" tIns="0" rIns="0" bIns="0" rtlCol="0" anchor="t"/>
          <a:lstStyle/>
          <a:p>
            <a:pPr marL="0" indent="0">
              <a:buNone/>
            </a:pPr>
            <a:r>
              <a:rPr lang="en-US" sz="1400" i="1" dirty="0">
                <a:solidFill>
                  <a:srgbClr val="5B6B68"/>
                </a:solidFill>
                <a:latin typeface="Calibri" pitchFamily="34" charset="0"/>
                <a:ea typeface="Calibri" pitchFamily="34" charset="-122"/>
                <a:cs typeface="Calibri" pitchFamily="34" charset="-120"/>
              </a:rPr>
              <a:t>Ringkasan dua usulan (detail sebelum–sesudah di slide 12 dan 13); konsep penulis, belum diuji teknis</a:t>
            </a:r>
            <a:endParaRPr lang="en-US" sz="1400" dirty="0"/>
          </a:p>
        </p:txBody>
      </p:sp>
      <p:sp>
        <p:nvSpPr>
          <p:cNvPr id="8" name="Shape 5"/>
          <p:cNvSpPr/>
          <p:nvPr/>
        </p:nvSpPr>
        <p:spPr>
          <a:xfrm>
            <a:off x="457200" y="1280160"/>
            <a:ext cx="5547360" cy="1417320"/>
          </a:xfrm>
          <a:prstGeom prst="roundRect">
            <a:avLst>
              <a:gd name="adj" fmla="val 6452"/>
            </a:avLst>
          </a:prstGeom>
          <a:solidFill>
            <a:srgbClr val="FFFFFF"/>
          </a:solidFill>
          <a:ln w="9525">
            <a:solidFill>
              <a:srgbClr val="D5E2DD"/>
            </a:solidFill>
            <a:prstDash val="solid"/>
          </a:ln>
          <a:effectLst>
            <a:outerShdw blurRad="76200" dist="25400" dir="5400000" algn="bl" rotWithShape="0">
              <a:srgbClr val="000000">
                <a:alpha val="12000"/>
              </a:srgbClr>
            </a:outerShdw>
          </a:effectLst>
        </p:spPr>
      </p:sp>
      <p:sp>
        <p:nvSpPr>
          <p:cNvPr id="9" name="Shape 6"/>
          <p:cNvSpPr/>
          <p:nvPr/>
        </p:nvSpPr>
        <p:spPr>
          <a:xfrm>
            <a:off x="640080" y="1435608"/>
            <a:ext cx="457200" cy="457200"/>
          </a:xfrm>
          <a:prstGeom prst="ellipse">
            <a:avLst/>
          </a:prstGeom>
          <a:solidFill>
            <a:srgbClr val="1F6F5C"/>
          </a:solidFill>
          <a:ln w="12700">
            <a:solidFill>
              <a:srgbClr val="1F6F5C"/>
            </a:solidFill>
            <a:prstDash val="solid"/>
          </a:ln>
        </p:spPr>
      </p:sp>
      <p:sp>
        <p:nvSpPr>
          <p:cNvPr id="10" name="Text 7"/>
          <p:cNvSpPr txBox="1"/>
          <p:nvPr/>
        </p:nvSpPr>
        <p:spPr>
          <a:xfrm>
            <a:off x="640080" y="1435608"/>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1" name="Text 8"/>
          <p:cNvSpPr txBox="1"/>
          <p:nvPr/>
        </p:nvSpPr>
        <p:spPr>
          <a:xfrm>
            <a:off x="1234440" y="1389888"/>
            <a:ext cx="4587240" cy="914400"/>
          </a:xfrm>
          <a:prstGeom prst="rect">
            <a:avLst/>
          </a:prstGeom>
          <a:noFill/>
          <a:ln/>
        </p:spPr>
        <p:txBody>
          <a:bodyPr wrap="square" lIns="0" tIns="0" rIns="0" bIns="0" rtlCol="0" anchor="t"/>
          <a:lstStyle/>
          <a:p>
            <a:pPr marL="0" indent="0">
              <a:buNone/>
            </a:pPr>
            <a:r>
              <a:rPr lang="en-US" sz="1600" b="1" dirty="0">
                <a:solidFill>
                  <a:srgbClr val="12302B"/>
                </a:solidFill>
                <a:latin typeface="Calibri" pitchFamily="34" charset="0"/>
                <a:ea typeface="Calibri" pitchFamily="34" charset="-122"/>
                <a:cs typeface="Calibri" pitchFamily="34" charset="-120"/>
              </a:rPr>
              <a:t>Baterai modul tanpa penyandingan</a:t>
            </a:r>
            <a:endParaRPr lang="en-US" sz="1600" dirty="0"/>
          </a:p>
          <a:p>
            <a:pPr marL="0" indent="0">
              <a:buNone/>
            </a:pPr>
            <a:r>
              <a:rPr lang="en-US" sz="1300" dirty="0">
                <a:solidFill>
                  <a:srgbClr val="1B2B2A"/>
                </a:solidFill>
                <a:latin typeface="Calibri" pitchFamily="34" charset="0"/>
                <a:ea typeface="Calibri" pitchFamily="34" charset="-122"/>
                <a:cs typeface="Calibri" pitchFamily="34" charset="-120"/>
              </a:rPr>
              <a:t>Modul baterai berdimensi tetap lintas generasi; hapus penyandingan serial untuk baterai, port, dan layar. Syarat: IP68 diuji ulang.</a:t>
            </a:r>
            <a:endParaRPr lang="en-US" sz="1600" dirty="0"/>
          </a:p>
        </p:txBody>
      </p:sp>
      <p:sp>
        <p:nvSpPr>
          <p:cNvPr id="12" name="Text 9"/>
          <p:cNvSpPr txBox="1"/>
          <p:nvPr/>
        </p:nvSpPr>
        <p:spPr>
          <a:xfrm>
            <a:off x="1234440" y="2331720"/>
            <a:ext cx="4587240" cy="274320"/>
          </a:xfrm>
          <a:prstGeom prst="rect">
            <a:avLst/>
          </a:prstGeom>
          <a:noFill/>
          <a:ln/>
        </p:spPr>
        <p:txBody>
          <a:bodyPr wrap="square" lIns="0" tIns="0" rIns="0" bIns="0" rtlCol="0" anchor="t"/>
          <a:lstStyle/>
          <a:p>
            <a:pPr marL="0" indent="0">
              <a:buNone/>
            </a:pPr>
            <a:r>
              <a:rPr lang="en-US" sz="1200" b="1" dirty="0">
                <a:solidFill>
                  <a:srgbClr val="1F6F5C"/>
                </a:solidFill>
                <a:latin typeface="Calibri" pitchFamily="34" charset="0"/>
                <a:ea typeface="Calibri" pitchFamily="34" charset="-122"/>
                <a:cs typeface="Calibri" pitchFamily="34" charset="-120"/>
              </a:rPr>
              <a:t>Memperlambat aliran</a:t>
            </a:r>
            <a:endParaRPr lang="en-US" sz="1200" dirty="0"/>
          </a:p>
        </p:txBody>
      </p:sp>
      <p:sp>
        <p:nvSpPr>
          <p:cNvPr id="13" name="Shape 10"/>
          <p:cNvSpPr/>
          <p:nvPr/>
        </p:nvSpPr>
        <p:spPr>
          <a:xfrm>
            <a:off x="6187440" y="1280160"/>
            <a:ext cx="5547360" cy="1417320"/>
          </a:xfrm>
          <a:prstGeom prst="roundRect">
            <a:avLst>
              <a:gd name="adj" fmla="val 6452"/>
            </a:avLst>
          </a:prstGeom>
          <a:solidFill>
            <a:srgbClr val="FFFFFF"/>
          </a:solidFill>
          <a:ln w="9525">
            <a:solidFill>
              <a:srgbClr val="D5E2DD"/>
            </a:solidFill>
            <a:prstDash val="solid"/>
          </a:ln>
          <a:effectLst>
            <a:outerShdw blurRad="76200" dist="25400" dir="5400000" algn="bl" rotWithShape="0">
              <a:srgbClr val="000000">
                <a:alpha val="12000"/>
              </a:srgbClr>
            </a:outerShdw>
          </a:effectLst>
        </p:spPr>
      </p:sp>
      <p:sp>
        <p:nvSpPr>
          <p:cNvPr id="14" name="Shape 11"/>
          <p:cNvSpPr/>
          <p:nvPr/>
        </p:nvSpPr>
        <p:spPr>
          <a:xfrm>
            <a:off x="6370320" y="1435608"/>
            <a:ext cx="457200" cy="457200"/>
          </a:xfrm>
          <a:prstGeom prst="ellipse">
            <a:avLst/>
          </a:prstGeom>
          <a:solidFill>
            <a:srgbClr val="B5651D"/>
          </a:solidFill>
          <a:ln w="12700">
            <a:solidFill>
              <a:srgbClr val="B5651D"/>
            </a:solidFill>
            <a:prstDash val="solid"/>
          </a:ln>
        </p:spPr>
      </p:sp>
      <p:sp>
        <p:nvSpPr>
          <p:cNvPr id="15" name="Text 12"/>
          <p:cNvSpPr txBox="1"/>
          <p:nvPr/>
        </p:nvSpPr>
        <p:spPr>
          <a:xfrm>
            <a:off x="6370320" y="1435608"/>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6" name="Text 13"/>
          <p:cNvSpPr txBox="1"/>
          <p:nvPr/>
        </p:nvSpPr>
        <p:spPr>
          <a:xfrm>
            <a:off x="6964680" y="1389888"/>
            <a:ext cx="4587240" cy="914400"/>
          </a:xfrm>
          <a:prstGeom prst="rect">
            <a:avLst/>
          </a:prstGeom>
          <a:noFill/>
          <a:ln/>
        </p:spPr>
        <p:txBody>
          <a:bodyPr wrap="square" lIns="0" tIns="0" rIns="0" bIns="0" rtlCol="0" anchor="t"/>
          <a:lstStyle/>
          <a:p>
            <a:pPr marL="0" indent="0">
              <a:buNone/>
            </a:pPr>
            <a:r>
              <a:rPr lang="en-US" sz="1600" b="1" dirty="0">
                <a:solidFill>
                  <a:srgbClr val="12302B"/>
                </a:solidFill>
                <a:latin typeface="Calibri" pitchFamily="34" charset="0"/>
                <a:ea typeface="Calibri" pitchFamily="34" charset="-122"/>
                <a:cs typeface="Calibri" pitchFamily="34" charset="-120"/>
              </a:rPr>
              <a:t>Paspor komposisi dan jalur pembongkaran</a:t>
            </a:r>
            <a:endParaRPr lang="en-US" sz="1600" dirty="0"/>
          </a:p>
          <a:p>
            <a:pPr marL="0" indent="0">
              <a:buNone/>
            </a:pPr>
            <a:r>
              <a:rPr lang="en-US" sz="1300" dirty="0">
                <a:solidFill>
                  <a:srgbClr val="1B2B2A"/>
                </a:solidFill>
                <a:latin typeface="Calibri" pitchFamily="34" charset="0"/>
                <a:ea typeface="Calibri" pitchFamily="34" charset="-122"/>
                <a:cs typeface="Calibri" pitchFamily="34" charset="-120"/>
              </a:rPr>
              <a:t>Kode QR komposisi material dan titik pembongkaran, selaras arah paspor produk digital UE.</a:t>
            </a:r>
            <a:endParaRPr lang="en-US" sz="1600" dirty="0"/>
          </a:p>
        </p:txBody>
      </p:sp>
      <p:sp>
        <p:nvSpPr>
          <p:cNvPr id="17" name="Text 14"/>
          <p:cNvSpPr txBox="1"/>
          <p:nvPr/>
        </p:nvSpPr>
        <p:spPr>
          <a:xfrm>
            <a:off x="6964680" y="2331720"/>
            <a:ext cx="4587240" cy="274320"/>
          </a:xfrm>
          <a:prstGeom prst="rect">
            <a:avLst/>
          </a:prstGeom>
          <a:noFill/>
          <a:ln/>
        </p:spPr>
        <p:txBody>
          <a:bodyPr wrap="square" lIns="0" tIns="0" rIns="0" bIns="0" rtlCol="0" anchor="t"/>
          <a:lstStyle/>
          <a:p>
            <a:pPr marL="0" indent="0">
              <a:buNone/>
            </a:pPr>
            <a:r>
              <a:rPr lang="en-US" sz="1200" b="1" dirty="0">
                <a:solidFill>
                  <a:srgbClr val="B5651D"/>
                </a:solidFill>
                <a:latin typeface="Calibri" pitchFamily="34" charset="0"/>
                <a:ea typeface="Calibri" pitchFamily="34" charset="-122"/>
                <a:cs typeface="Calibri" pitchFamily="34" charset="-120"/>
              </a:rPr>
              <a:t>Menutup aliran</a:t>
            </a:r>
            <a:endParaRPr lang="en-US" sz="1200" dirty="0"/>
          </a:p>
        </p:txBody>
      </p:sp>
      <p:sp>
        <p:nvSpPr>
          <p:cNvPr id="18" name="Text 15"/>
          <p:cNvSpPr txBox="1"/>
          <p:nvPr/>
        </p:nvSpPr>
        <p:spPr>
          <a:xfrm>
            <a:off x="457200" y="2971800"/>
            <a:ext cx="7315200" cy="347472"/>
          </a:xfrm>
          <a:prstGeom prst="rect">
            <a:avLst/>
          </a:prstGeom>
          <a:noFill/>
          <a:ln/>
        </p:spPr>
        <p:txBody>
          <a:bodyPr wrap="square" lIns="0" tIns="0" rIns="0" bIns="0" rtlCol="0" anchor="t"/>
          <a:lstStyle/>
          <a:p>
            <a:pPr marL="0" indent="0">
              <a:buNone/>
            </a:pPr>
            <a:r>
              <a:rPr lang="en-US" sz="1800" b="1" dirty="0">
                <a:solidFill>
                  <a:srgbClr val="12302B"/>
                </a:solidFill>
                <a:latin typeface="Cambria" pitchFamily="34" charset="0"/>
                <a:ea typeface="Cambria" pitchFamily="34" charset="-122"/>
                <a:cs typeface="Cambria" pitchFamily="34" charset="-120"/>
              </a:rPr>
              <a:t>Konsekuensi multi-pemangku kepentingan</a:t>
            </a:r>
            <a:endParaRPr lang="en-US" sz="1800" dirty="0"/>
          </a:p>
        </p:txBody>
      </p:sp>
      <p:sp>
        <p:nvSpPr>
          <p:cNvPr id="19" name="Shape 16"/>
          <p:cNvSpPr/>
          <p:nvPr/>
        </p:nvSpPr>
        <p:spPr>
          <a:xfrm>
            <a:off x="457200" y="3383280"/>
            <a:ext cx="2176272" cy="1417320"/>
          </a:xfrm>
          <a:prstGeom prst="roundRect">
            <a:avLst>
              <a:gd name="adj" fmla="val 6452"/>
            </a:avLst>
          </a:prstGeom>
          <a:solidFill>
            <a:srgbClr val="FFFFFF"/>
          </a:solidFill>
          <a:ln w="9525">
            <a:solidFill>
              <a:srgbClr val="D5E2DD"/>
            </a:solidFill>
            <a:prstDash val="solid"/>
          </a:ln>
          <a:effectLst>
            <a:outerShdw blurRad="76200" dist="25400" dir="5400000" algn="bl" rotWithShape="0">
              <a:srgbClr val="000000">
                <a:alpha val="12000"/>
              </a:srgbClr>
            </a:outerShdw>
          </a:effectLst>
        </p:spPr>
      </p:sp>
      <p:sp>
        <p:nvSpPr>
          <p:cNvPr id="20" name="Text 17"/>
          <p:cNvSpPr txBox="1"/>
          <p:nvPr/>
        </p:nvSpPr>
        <p:spPr>
          <a:xfrm>
            <a:off x="594360" y="3474720"/>
            <a:ext cx="1920240" cy="1280160"/>
          </a:xfrm>
          <a:prstGeom prst="rect">
            <a:avLst/>
          </a:prstGeom>
          <a:noFill/>
          <a:ln/>
        </p:spPr>
        <p:txBody>
          <a:bodyPr wrap="square" lIns="0" tIns="0" rIns="0" bIns="0" rtlCol="0" anchor="t"/>
          <a:lstStyle/>
          <a:p>
            <a:pPr marL="0" indent="0">
              <a:spcAft>
                <a:spcPts val="400"/>
              </a:spcAft>
              <a:buNone/>
            </a:pPr>
            <a:r>
              <a:rPr lang="en-US" sz="1500" b="1" dirty="0">
                <a:solidFill>
                  <a:srgbClr val="1F6F5C"/>
                </a:solidFill>
                <a:latin typeface="Calibri" pitchFamily="34" charset="0"/>
                <a:ea typeface="Calibri" pitchFamily="34" charset="-122"/>
                <a:cs typeface="Calibri" pitchFamily="34" charset="-120"/>
              </a:rPr>
              <a:t>Pemasok</a:t>
            </a:r>
            <a:endParaRPr lang="en-US" sz="1500" dirty="0"/>
          </a:p>
          <a:p>
            <a:pPr marL="0" indent="0">
              <a:spcAft>
                <a:spcPts val="400"/>
              </a:spcAft>
              <a:buNone/>
            </a:pPr>
            <a:r>
              <a:rPr lang="en-US" sz="1300" dirty="0">
                <a:solidFill>
                  <a:srgbClr val="1B2B2A"/>
                </a:solidFill>
                <a:latin typeface="Calibri" pitchFamily="34" charset="0"/>
                <a:ea typeface="Calibri" pitchFamily="34" charset="-122"/>
                <a:cs typeface="Calibri" pitchFamily="34" charset="-120"/>
              </a:rPr>
              <a:t>Modul dan data komposisi standar</a:t>
            </a:r>
            <a:endParaRPr lang="en-US" sz="1500" dirty="0"/>
          </a:p>
        </p:txBody>
      </p:sp>
      <p:sp>
        <p:nvSpPr>
          <p:cNvPr id="21" name="Shape 18"/>
          <p:cNvSpPr/>
          <p:nvPr/>
        </p:nvSpPr>
        <p:spPr>
          <a:xfrm>
            <a:off x="2743200" y="3383280"/>
            <a:ext cx="2176272" cy="1417320"/>
          </a:xfrm>
          <a:prstGeom prst="roundRect">
            <a:avLst>
              <a:gd name="adj" fmla="val 6452"/>
            </a:avLst>
          </a:prstGeom>
          <a:solidFill>
            <a:srgbClr val="FFFFFF"/>
          </a:solidFill>
          <a:ln w="9525">
            <a:solidFill>
              <a:srgbClr val="D5E2DD"/>
            </a:solidFill>
            <a:prstDash val="solid"/>
          </a:ln>
          <a:effectLst>
            <a:outerShdw blurRad="76200" dist="25400" dir="5400000" algn="bl" rotWithShape="0">
              <a:srgbClr val="000000">
                <a:alpha val="12000"/>
              </a:srgbClr>
            </a:outerShdw>
          </a:effectLst>
        </p:spPr>
      </p:sp>
      <p:sp>
        <p:nvSpPr>
          <p:cNvPr id="22" name="Text 19"/>
          <p:cNvSpPr txBox="1"/>
          <p:nvPr/>
        </p:nvSpPr>
        <p:spPr>
          <a:xfrm>
            <a:off x="2880360" y="3474720"/>
            <a:ext cx="1920240" cy="1280160"/>
          </a:xfrm>
          <a:prstGeom prst="rect">
            <a:avLst/>
          </a:prstGeom>
          <a:noFill/>
          <a:ln/>
        </p:spPr>
        <p:txBody>
          <a:bodyPr wrap="square" lIns="0" tIns="0" rIns="0" bIns="0" rtlCol="0" anchor="t"/>
          <a:lstStyle/>
          <a:p>
            <a:pPr marL="0" indent="0">
              <a:spcAft>
                <a:spcPts val="400"/>
              </a:spcAft>
              <a:buNone/>
            </a:pPr>
            <a:r>
              <a:rPr lang="en-US" sz="1500" b="1" dirty="0">
                <a:solidFill>
                  <a:srgbClr val="1F6F5C"/>
                </a:solidFill>
                <a:latin typeface="Calibri" pitchFamily="34" charset="0"/>
                <a:ea typeface="Calibri" pitchFamily="34" charset="-122"/>
                <a:cs typeface="Calibri" pitchFamily="34" charset="-120"/>
              </a:rPr>
              <a:t>Produksi</a:t>
            </a:r>
            <a:endParaRPr lang="en-US" sz="1500" dirty="0"/>
          </a:p>
          <a:p>
            <a:pPr marL="0" indent="0">
              <a:spcAft>
                <a:spcPts val="400"/>
              </a:spcAft>
              <a:buNone/>
            </a:pPr>
            <a:r>
              <a:rPr lang="en-US" sz="1300" dirty="0">
                <a:solidFill>
                  <a:srgbClr val="1B2B2A"/>
                </a:solidFill>
                <a:latin typeface="Calibri" pitchFamily="34" charset="0"/>
                <a:ea typeface="Calibri" pitchFamily="34" charset="-122"/>
                <a:cs typeface="Calibri" pitchFamily="34" charset="-120"/>
              </a:rPr>
              <a:t>Desain modul baru; uji air ulang</a:t>
            </a:r>
            <a:endParaRPr lang="en-US" sz="1500" dirty="0"/>
          </a:p>
        </p:txBody>
      </p:sp>
      <p:sp>
        <p:nvSpPr>
          <p:cNvPr id="23" name="Shape 20"/>
          <p:cNvSpPr/>
          <p:nvPr/>
        </p:nvSpPr>
        <p:spPr>
          <a:xfrm>
            <a:off x="5029200" y="3383280"/>
            <a:ext cx="2176272" cy="1417320"/>
          </a:xfrm>
          <a:prstGeom prst="roundRect">
            <a:avLst>
              <a:gd name="adj" fmla="val 6452"/>
            </a:avLst>
          </a:prstGeom>
          <a:solidFill>
            <a:srgbClr val="FFFFFF"/>
          </a:solidFill>
          <a:ln w="9525">
            <a:solidFill>
              <a:srgbClr val="D5E2DD"/>
            </a:solidFill>
            <a:prstDash val="solid"/>
          </a:ln>
          <a:effectLst>
            <a:outerShdw blurRad="76200" dist="25400" dir="5400000" algn="bl" rotWithShape="0">
              <a:srgbClr val="000000">
                <a:alpha val="12000"/>
              </a:srgbClr>
            </a:outerShdw>
          </a:effectLst>
        </p:spPr>
      </p:sp>
      <p:sp>
        <p:nvSpPr>
          <p:cNvPr id="24" name="Text 21"/>
          <p:cNvSpPr txBox="1"/>
          <p:nvPr/>
        </p:nvSpPr>
        <p:spPr>
          <a:xfrm>
            <a:off x="5166360" y="3474720"/>
            <a:ext cx="1920240" cy="1280160"/>
          </a:xfrm>
          <a:prstGeom prst="rect">
            <a:avLst/>
          </a:prstGeom>
          <a:noFill/>
          <a:ln/>
        </p:spPr>
        <p:txBody>
          <a:bodyPr wrap="square" lIns="0" tIns="0" rIns="0" bIns="0" rtlCol="0" anchor="t"/>
          <a:lstStyle/>
          <a:p>
            <a:pPr marL="0" indent="0">
              <a:spcAft>
                <a:spcPts val="400"/>
              </a:spcAft>
              <a:buNone/>
            </a:pPr>
            <a:r>
              <a:rPr lang="en-US" sz="1500" b="1" dirty="0">
                <a:solidFill>
                  <a:srgbClr val="1F6F5C"/>
                </a:solidFill>
                <a:latin typeface="Calibri" pitchFamily="34" charset="0"/>
                <a:ea typeface="Calibri" pitchFamily="34" charset="-122"/>
                <a:cs typeface="Calibri" pitchFamily="34" charset="-120"/>
              </a:rPr>
              <a:t>Logistik</a:t>
            </a:r>
            <a:endParaRPr lang="en-US" sz="1500" dirty="0"/>
          </a:p>
          <a:p>
            <a:pPr marL="0" indent="0">
              <a:spcAft>
                <a:spcPts val="400"/>
              </a:spcAft>
              <a:buNone/>
            </a:pPr>
            <a:r>
              <a:rPr lang="en-US" sz="1300" dirty="0">
                <a:solidFill>
                  <a:srgbClr val="1B2B2A"/>
                </a:solidFill>
                <a:latin typeface="Calibri" pitchFamily="34" charset="0"/>
                <a:ea typeface="Calibri" pitchFamily="34" charset="-122"/>
                <a:cs typeface="Calibri" pitchFamily="34" charset="-120"/>
              </a:rPr>
              <a:t>Stok suku cadang; aturan angkut baterai</a:t>
            </a:r>
            <a:endParaRPr lang="en-US" sz="1500" dirty="0"/>
          </a:p>
        </p:txBody>
      </p:sp>
      <p:sp>
        <p:nvSpPr>
          <p:cNvPr id="25" name="Shape 22"/>
          <p:cNvSpPr/>
          <p:nvPr/>
        </p:nvSpPr>
        <p:spPr>
          <a:xfrm>
            <a:off x="7315200" y="3383280"/>
            <a:ext cx="2176272" cy="1417320"/>
          </a:xfrm>
          <a:prstGeom prst="roundRect">
            <a:avLst>
              <a:gd name="adj" fmla="val 6452"/>
            </a:avLst>
          </a:prstGeom>
          <a:solidFill>
            <a:srgbClr val="FFFFFF"/>
          </a:solidFill>
          <a:ln w="9525">
            <a:solidFill>
              <a:srgbClr val="D5E2DD"/>
            </a:solidFill>
            <a:prstDash val="solid"/>
          </a:ln>
          <a:effectLst>
            <a:outerShdw blurRad="76200" dist="25400" dir="5400000" algn="bl" rotWithShape="0">
              <a:srgbClr val="000000">
                <a:alpha val="12000"/>
              </a:srgbClr>
            </a:outerShdw>
          </a:effectLst>
        </p:spPr>
      </p:sp>
      <p:sp>
        <p:nvSpPr>
          <p:cNvPr id="26" name="Text 23"/>
          <p:cNvSpPr txBox="1"/>
          <p:nvPr/>
        </p:nvSpPr>
        <p:spPr>
          <a:xfrm>
            <a:off x="7452360" y="3474720"/>
            <a:ext cx="1920240" cy="1280160"/>
          </a:xfrm>
          <a:prstGeom prst="rect">
            <a:avLst/>
          </a:prstGeom>
          <a:noFill/>
          <a:ln/>
        </p:spPr>
        <p:txBody>
          <a:bodyPr wrap="square" lIns="0" tIns="0" rIns="0" bIns="0" rtlCol="0" anchor="t"/>
          <a:lstStyle/>
          <a:p>
            <a:pPr marL="0" indent="0">
              <a:spcAft>
                <a:spcPts val="400"/>
              </a:spcAft>
              <a:buNone/>
            </a:pPr>
            <a:r>
              <a:rPr lang="en-US" sz="1500" b="1" dirty="0">
                <a:solidFill>
                  <a:srgbClr val="1F6F5C"/>
                </a:solidFill>
                <a:latin typeface="Calibri" pitchFamily="34" charset="0"/>
                <a:ea typeface="Calibri" pitchFamily="34" charset="-122"/>
                <a:cs typeface="Calibri" pitchFamily="34" charset="-120"/>
              </a:rPr>
              <a:t>Pelanggan</a:t>
            </a:r>
            <a:endParaRPr lang="en-US" sz="1500" dirty="0"/>
          </a:p>
          <a:p>
            <a:pPr marL="0" indent="0">
              <a:spcAft>
                <a:spcPts val="400"/>
              </a:spcAft>
              <a:buNone/>
            </a:pPr>
            <a:r>
              <a:rPr lang="en-US" sz="1300" dirty="0">
                <a:solidFill>
                  <a:srgbClr val="1B2B2A"/>
                </a:solidFill>
                <a:latin typeface="Calibri" pitchFamily="34" charset="0"/>
                <a:ea typeface="Calibri" pitchFamily="34" charset="-122"/>
                <a:cs typeface="Calibri" pitchFamily="34" charset="-120"/>
              </a:rPr>
              <a:t>Biaya servis turun; umur memanjang</a:t>
            </a:r>
            <a:endParaRPr lang="en-US" sz="1500" dirty="0"/>
          </a:p>
        </p:txBody>
      </p:sp>
      <p:sp>
        <p:nvSpPr>
          <p:cNvPr id="27" name="Shape 24"/>
          <p:cNvSpPr/>
          <p:nvPr/>
        </p:nvSpPr>
        <p:spPr>
          <a:xfrm>
            <a:off x="9601200" y="3383280"/>
            <a:ext cx="2176272" cy="1417320"/>
          </a:xfrm>
          <a:prstGeom prst="roundRect">
            <a:avLst>
              <a:gd name="adj" fmla="val 6452"/>
            </a:avLst>
          </a:prstGeom>
          <a:solidFill>
            <a:srgbClr val="FFFFFF"/>
          </a:solidFill>
          <a:ln w="9525">
            <a:solidFill>
              <a:srgbClr val="D5E2DD"/>
            </a:solidFill>
            <a:prstDash val="solid"/>
          </a:ln>
          <a:effectLst>
            <a:outerShdw blurRad="76200" dist="25400" dir="5400000" algn="bl" rotWithShape="0">
              <a:srgbClr val="000000">
                <a:alpha val="12000"/>
              </a:srgbClr>
            </a:outerShdw>
          </a:effectLst>
        </p:spPr>
      </p:sp>
      <p:sp>
        <p:nvSpPr>
          <p:cNvPr id="28" name="Text 25"/>
          <p:cNvSpPr txBox="1"/>
          <p:nvPr/>
        </p:nvSpPr>
        <p:spPr>
          <a:xfrm>
            <a:off x="9738360" y="3474720"/>
            <a:ext cx="1920240" cy="1280160"/>
          </a:xfrm>
          <a:prstGeom prst="rect">
            <a:avLst/>
          </a:prstGeom>
          <a:noFill/>
          <a:ln/>
        </p:spPr>
        <p:txBody>
          <a:bodyPr wrap="square" lIns="0" tIns="0" rIns="0" bIns="0" rtlCol="0" anchor="t"/>
          <a:lstStyle/>
          <a:p>
            <a:pPr marL="0" indent="0">
              <a:spcAft>
                <a:spcPts val="400"/>
              </a:spcAft>
              <a:buNone/>
            </a:pPr>
            <a:r>
              <a:rPr lang="en-US" sz="1500" b="1" dirty="0">
                <a:solidFill>
                  <a:srgbClr val="1F6F5C"/>
                </a:solidFill>
                <a:latin typeface="Calibri" pitchFamily="34" charset="0"/>
                <a:ea typeface="Calibri" pitchFamily="34" charset="-122"/>
                <a:cs typeface="Calibri" pitchFamily="34" charset="-120"/>
              </a:rPr>
              <a:t>Mitra pemulihan</a:t>
            </a:r>
            <a:endParaRPr lang="en-US" sz="1500" dirty="0"/>
          </a:p>
          <a:p>
            <a:pPr marL="0" indent="0">
              <a:spcAft>
                <a:spcPts val="400"/>
              </a:spcAft>
              <a:buNone/>
            </a:pPr>
            <a:r>
              <a:rPr lang="en-US" sz="1300" dirty="0">
                <a:solidFill>
                  <a:srgbClr val="1B2B2A"/>
                </a:solidFill>
                <a:latin typeface="Calibri" pitchFamily="34" charset="0"/>
                <a:ea typeface="Calibri" pitchFamily="34" charset="-122"/>
                <a:cs typeface="Calibri" pitchFamily="34" charset="-120"/>
              </a:rPr>
              <a:t>Bongkar lebih cepat; material lebih murni</a:t>
            </a:r>
            <a:endParaRPr lang="en-US" sz="1500" dirty="0"/>
          </a:p>
        </p:txBody>
      </p:sp>
      <p:sp>
        <p:nvSpPr>
          <p:cNvPr id="30" name="Text 27"/>
          <p:cNvSpPr txBox="1"/>
          <p:nvPr/>
        </p:nvSpPr>
        <p:spPr>
          <a:xfrm>
            <a:off x="11247120" y="6473952"/>
            <a:ext cx="457200" cy="228600"/>
          </a:xfrm>
          <a:prstGeom prst="rect">
            <a:avLst/>
          </a:prstGeom>
          <a:noFill/>
          <a:ln/>
        </p:spPr>
        <p:txBody>
          <a:bodyPr wrap="square" lIns="0" tIns="0" rIns="0" bIns="0" rtlCol="0" anchor="t"/>
          <a:lstStyle/>
          <a:p>
            <a:pPr marL="0" indent="0" algn="r">
              <a:buNone/>
            </a:pPr>
            <a:r>
              <a:rPr lang="en-US" sz="1000" dirty="0">
                <a:solidFill>
                  <a:srgbClr val="5B6B68"/>
                </a:solidFill>
                <a:latin typeface="Calibri" pitchFamily="34" charset="0"/>
                <a:ea typeface="Calibri" pitchFamily="34" charset="-122"/>
                <a:cs typeface="Calibri" pitchFamily="34" charset="-120"/>
              </a:rPr>
              <a:t>11</a:t>
            </a:r>
            <a:endParaRPr lang="en-US" sz="1000" dirty="0"/>
          </a:p>
        </p:txBody>
      </p:sp>
      <p:sp>
        <p:nvSpPr>
          <p:cNvPr id="101" name="Catatan rebound"/>
          <p:cNvSpPr txBox="1"/>
          <p:nvPr/>
        </p:nvSpPr>
        <p:spPr>
          <a:xfrm>
            <a:off x="457200" y="5029200"/>
            <a:ext cx="11277600" cy="640080"/>
          </a:xfrm>
          <a:prstGeom prst="rect">
            <a:avLst/>
          </a:prstGeom>
          <a:noFill/>
          <a:ln/>
        </p:spPr>
        <p:txBody>
          <a:bodyPr wrap="square" lIns="0" tIns="0" rIns="0" bIns="0" rtlCol="0" anchor="t"/>
          <a:lstStyle/>
          <a:p>
            <a:pPr marL="0" indent="0" algn="l">
              <a:buNone/>
            </a:pPr>
            <a:r>
              <a:rPr lang="id-ID" sz="1200" b="1" dirty="0">
                <a:solidFill>
                  <a:srgbClr val="B5651D"/>
                </a:solidFill>
                <a:latin typeface="Calibri" pitchFamily="34" charset="0"/>
                <a:ea typeface="Calibri" pitchFamily="34" charset="-122"/>
                <a:cs typeface="Calibri" pitchFamily="34" charset="-120"/>
              </a:rPr>
              <a:t>Konflik kepentingan: </a:t>
            </a:r>
            <a:r>
              <a:rPr lang="id-ID" sz="1200" i="1" dirty="0">
                <a:solidFill>
                  <a:srgbClr val="5B6B68"/>
                </a:solidFill>
                <a:latin typeface="Calibri" pitchFamily="34" charset="0"/>
                <a:ea typeface="Calibri" pitchFamily="34" charset="-122"/>
                <a:cs typeface="Calibri" pitchFamily="34" charset="-120"/>
              </a:rPr>
              <a:t>umur layanan yang lebih panjang dapat menurunkan penjualan unit baru; karena itu efek rebound tukar tambah tetap diawasi (lihat slide 8 dan 10).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4F8F6"/>
        </a:solidFill>
        <a:effectLst/>
      </p:bgPr>
    </p:bg>
    <p:spTree>
      <p:nvGrpSpPr>
        <p:cNvPr id="1" name=""/>
        <p:cNvGrpSpPr/>
        <p:nvPr/>
      </p:nvGrpSpPr>
      <p:grpSpPr>
        <a:xfrm>
          <a:off x="0" y="0"/>
          <a:ext cx="0" cy="0"/>
          <a:chOff x="0" y="0"/>
          <a:chExt cx="0" cy="0"/>
        </a:xfrm>
      </p:grpSpPr>
      <p:sp>
        <p:nvSpPr>
          <p:cNvPr id="2" name="badge"/>
          <p:cNvSpPr/>
          <p:nvPr/>
        </p:nvSpPr>
        <p:spPr>
          <a:xfrm>
            <a:off x="457200" y="384048"/>
            <a:ext cx="566928" cy="566928"/>
          </a:xfrm>
          <a:prstGeom prst="ellipse">
            <a:avLst/>
          </a:prstGeom>
          <a:solidFill>
            <a:srgbClr val="1F6F5C"/>
          </a:solidFill>
          <a:ln w="12700">
            <a:solidFill>
              <a:srgbClr val="1F6F5C"/>
            </a:solidFill>
            <a:prstDash val="solid"/>
          </a:ln>
        </p:spPr>
      </p:sp>
      <p:sp>
        <p:nvSpPr>
          <p:cNvPr id="3" name="Text 1"/>
          <p:cNvSpPr txBox="1"/>
          <p:nvPr/>
        </p:nvSpPr>
        <p:spPr>
          <a:xfrm>
            <a:off x="457200" y="384048"/>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4.4</a:t>
            </a:r>
            <a:endParaRPr lang="en-US" sz="2000" dirty="0"/>
          </a:p>
        </p:txBody>
      </p:sp>
      <p:sp>
        <p:nvSpPr>
          <p:cNvPr id="4" name="Text 2"/>
          <p:cNvSpPr txBox="1"/>
          <p:nvPr/>
        </p:nvSpPr>
        <p:spPr>
          <a:xfrm>
            <a:off x="1188720" y="292608"/>
            <a:ext cx="9692640" cy="457200"/>
          </a:xfrm>
          <a:prstGeom prst="rect">
            <a:avLst/>
          </a:prstGeom>
          <a:noFill/>
          <a:ln/>
        </p:spPr>
        <p:txBody>
          <a:bodyPr wrap="square" lIns="0" tIns="0" rIns="0" bIns="0" rtlCol="0" anchor="ctr"/>
          <a:lstStyle/>
          <a:p>
            <a:pPr marL="0" indent="0">
              <a:buNone/>
            </a:pPr>
            <a:r>
              <a:rPr lang="en-US" sz="3000" b="1" dirty="0" err="1">
                <a:solidFill>
                  <a:srgbClr val="12302B"/>
                </a:solidFill>
                <a:latin typeface="Cambria" pitchFamily="34" charset="0"/>
                <a:ea typeface="Cambria" pitchFamily="34" charset="-122"/>
                <a:cs typeface="Cambria" pitchFamily="34" charset="-120"/>
              </a:rPr>
              <a:t>Usulan #1: Modul baterai standar tanpa penyandingan</a:t>
            </a:r>
            <a:endParaRPr lang="en-US" sz="3000" dirty="0"/>
          </a:p>
        </p:txBody>
      </p:sp>
      <p:sp>
        <p:nvSpPr>
          <p:cNvPr id="5" name="Text 3"/>
          <p:cNvSpPr txBox="1"/>
          <p:nvPr/>
        </p:nvSpPr>
        <p:spPr>
          <a:xfrm>
            <a:off x="1188720" y="768096"/>
            <a:ext cx="10424160" cy="292608"/>
          </a:xfrm>
          <a:prstGeom prst="rect">
            <a:avLst/>
          </a:prstGeom>
          <a:noFill/>
          <a:ln/>
        </p:spPr>
        <p:txBody>
          <a:bodyPr wrap="square" lIns="0" tIns="0" rIns="0" bIns="0" rtlCol="0" anchor="t"/>
          <a:lstStyle/>
          <a:p>
            <a:pPr marL="0" indent="0">
              <a:buNone/>
            </a:pPr>
            <a:r>
              <a:rPr lang="en-US" sz="1400" i="1" dirty="0">
                <a:solidFill>
                  <a:srgbClr val="5B6B68"/>
                </a:solidFill>
                <a:latin typeface="Calibri" pitchFamily="34" charset="0"/>
                <a:ea typeface="Calibri" pitchFamily="34" charset="-122"/>
                <a:cs typeface="Calibri" pitchFamily="34" charset="-120"/>
              </a:rPr>
              <a:t>Menjawab skor audit terendah: modularitas (Rendah) dan reparasi/pembongkaran (Sedang)</a:t>
            </a:r>
            <a:endParaRPr lang="en-US" sz="1400" dirty="0"/>
          </a:p>
        </p:txBody>
      </p:sp>
      <p:sp>
        <p:nvSpPr>
          <p:cNvPr id="30" name="Text 27"/>
          <p:cNvSpPr txBox="1"/>
          <p:nvPr/>
        </p:nvSpPr>
        <p:spPr>
          <a:xfrm>
            <a:off x="11247120" y="6473952"/>
            <a:ext cx="457200" cy="228600"/>
          </a:xfrm>
          <a:prstGeom prst="rect">
            <a:avLst/>
          </a:prstGeom>
          <a:noFill/>
          <a:ln/>
        </p:spPr>
        <p:txBody>
          <a:bodyPr wrap="square" lIns="0" tIns="0" rIns="0" bIns="0" rtlCol="0" anchor="t"/>
          <a:lstStyle/>
          <a:p>
            <a:pPr marL="0" indent="0" algn="r">
              <a:buNone/>
            </a:pPr>
            <a:r>
              <a:rPr lang="en-US" sz="1000" dirty="0">
                <a:solidFill>
                  <a:srgbClr val="5B6B68"/>
                </a:solidFill>
                <a:latin typeface="Calibri" pitchFamily="34" charset="0"/>
                <a:ea typeface="Calibri" pitchFamily="34" charset="-122"/>
                <a:cs typeface="Calibri" pitchFamily="34" charset="-120"/>
              </a:rPr>
              <a:t>12</a:t>
            </a:r>
            <a:endParaRPr lang="en-US" sz="1000" dirty="0"/>
          </a:p>
        </p:txBody>
      </p:sp>
      <p:sp>
        <p:nvSpPr>
          <p:cNvPr id="201" name="Kartu Gap dari audit"/>
          <p:cNvSpPr/>
          <p:nvPr/>
        </p:nvSpPr>
        <p:spPr>
          <a:xfrm>
            <a:off x="457200" y="1188720"/>
            <a:ext cx="5547360" cy="868680"/>
          </a:xfrm>
          <a:prstGeom prst="roundRect">
            <a:avLst>
              <a:gd name="adj" fmla="val 6452"/>
            </a:avLst>
          </a:prstGeom>
          <a:solidFill>
            <a:srgbClr val="FFFFFF"/>
          </a:solidFill>
          <a:ln w="9525">
            <a:solidFill>
              <a:srgbClr val="D5E2DD"/>
            </a:solidFill>
          </a:ln>
          <a:effectLst>
            <a:outerShdw blurRad="76200" dist="25400" dir="5400000" algn="bl" rotWithShape="0">
              <a:srgbClr val="000000">
                <a:alpha val="12000"/>
              </a:srgbClr>
            </a:outerShdw>
          </a:effectLst>
        </p:spPr>
      </p:sp>
      <p:sp>
        <p:nvSpPr>
          <p:cNvPr id="202" name="Isi Gap dari audit"/>
          <p:cNvSpPr txBox="1"/>
          <p:nvPr/>
        </p:nvSpPr>
        <p:spPr>
          <a:xfrm>
            <a:off x="640080" y="1280160"/>
            <a:ext cx="5181600" cy="731520"/>
          </a:xfrm>
          <a:prstGeom prst="rect">
            <a:avLst/>
          </a:prstGeom>
          <a:noFill/>
          <a:ln/>
        </p:spPr>
        <p:txBody>
          <a:bodyPr wrap="square" lIns="0" tIns="0" rIns="0" bIns="0" rtlCol="0" anchor="ctr"/>
          <a:lstStyle/>
          <a:p>
            <a:pPr marL="0" indent="0" algn="l">
              <a:buNone/>
            </a:pPr>
            <a:r>
              <a:rPr lang="id-ID" sz="1200" b="1" dirty="0">
                <a:solidFill>
                  <a:srgbClr val="B3402F"/>
                </a:solidFill>
                <a:latin typeface="Calibri" pitchFamily="34" charset="0"/>
                <a:ea typeface="Calibri" pitchFamily="34" charset="-122"/>
                <a:cs typeface="Calibri" pitchFamily="34" charset="-120"/>
              </a:rPr>
              <a:t>Gap dari audit: </a:t>
            </a:r>
            <a:r>
              <a:rPr lang="id-ID" sz="1200" dirty="0">
                <a:solidFill>
                  <a:srgbClr val="1B2B2A"/>
                </a:solidFill>
                <a:latin typeface="Calibri" pitchFamily="34" charset="0"/>
                <a:ea typeface="Calibri" pitchFamily="34" charset="-122"/>
                <a:cs typeface="Calibri" pitchFamily="34" charset="-120"/>
              </a:rPr>
              <a:t>perekat baterai sudah dapat dilepas arus listrik, tetapi perangkat tetap tidak modular dan suku cadang baru wajib dikalibrasi/disandingkan.</a:t>
            </a:r>
          </a:p>
        </p:txBody>
      </p:sp>
      <p:sp>
        <p:nvSpPr>
          <p:cNvPr id="203" name="Kartu Usulan"/>
          <p:cNvSpPr/>
          <p:nvPr/>
        </p:nvSpPr>
        <p:spPr>
          <a:xfrm>
            <a:off x="6187440" y="1188720"/>
            <a:ext cx="5547360" cy="868680"/>
          </a:xfrm>
          <a:prstGeom prst="roundRect">
            <a:avLst>
              <a:gd name="adj" fmla="val 6452"/>
            </a:avLst>
          </a:prstGeom>
          <a:solidFill>
            <a:srgbClr val="FFFFFF"/>
          </a:solidFill>
          <a:ln w="9525">
            <a:solidFill>
              <a:srgbClr val="D5E2DD"/>
            </a:solidFill>
          </a:ln>
          <a:effectLst>
            <a:outerShdw blurRad="76200" dist="25400" dir="5400000" algn="bl" rotWithShape="0">
              <a:srgbClr val="000000">
                <a:alpha val="12000"/>
              </a:srgbClr>
            </a:outerShdw>
          </a:effectLst>
        </p:spPr>
      </p:sp>
      <p:sp>
        <p:nvSpPr>
          <p:cNvPr id="204" name="Isi Usulan"/>
          <p:cNvSpPr txBox="1"/>
          <p:nvPr/>
        </p:nvSpPr>
        <p:spPr>
          <a:xfrm>
            <a:off x="6370320" y="1280160"/>
            <a:ext cx="5181600" cy="731520"/>
          </a:xfrm>
          <a:prstGeom prst="rect">
            <a:avLst/>
          </a:prstGeom>
          <a:noFill/>
          <a:ln/>
        </p:spPr>
        <p:txBody>
          <a:bodyPr wrap="square" lIns="0" tIns="0" rIns="0" bIns="0" rtlCol="0" anchor="ctr"/>
          <a:lstStyle/>
          <a:p>
            <a:pPr marL="0" indent="0" algn="l">
              <a:buNone/>
            </a:pPr>
            <a:r>
              <a:rPr lang="id-ID" sz="1200" b="1" dirty="0">
                <a:solidFill>
                  <a:srgbClr val="1F6F5C"/>
                </a:solidFill>
                <a:latin typeface="Calibri" pitchFamily="34" charset="0"/>
                <a:ea typeface="Calibri" pitchFamily="34" charset="-122"/>
                <a:cs typeface="Calibri" pitchFamily="34" charset="-120"/>
              </a:rPr>
              <a:t>Usulan: </a:t>
            </a:r>
            <a:r>
              <a:rPr lang="id-ID" sz="1200" dirty="0">
                <a:solidFill>
                  <a:srgbClr val="1B2B2A"/>
                </a:solidFill>
                <a:latin typeface="Calibri" pitchFamily="34" charset="0"/>
                <a:ea typeface="Calibri" pitchFamily="34" charset="-122"/>
                <a:cs typeface="Calibri" pitchFamily="34" charset="-120"/>
              </a:rPr>
              <a:t>standarkan dimensi dan konektor modul baterai lintas generasi; hapus penyandingan serial untuk baterai, port, dan layar.</a:t>
            </a:r>
          </a:p>
        </p:txBody>
      </p:sp>
      <p:sp>
        <p:nvSpPr>
          <p:cNvPr id="205" name="Kartu Sebelum"/>
          <p:cNvSpPr/>
          <p:nvPr/>
        </p:nvSpPr>
        <p:spPr>
          <a:xfrm>
            <a:off x="457200" y="2194560"/>
            <a:ext cx="5341620" cy="4114800"/>
          </a:xfrm>
          <a:prstGeom prst="roundRect">
            <a:avLst>
              <a:gd name="adj" fmla="val 6452"/>
            </a:avLst>
          </a:prstGeom>
          <a:solidFill>
            <a:srgbClr val="FFFFFF"/>
          </a:solidFill>
          <a:ln w="9525">
            <a:solidFill>
              <a:srgbClr val="D5E2DD"/>
            </a:solidFill>
          </a:ln>
          <a:effectLst>
            <a:outerShdw blurRad="76200" dist="25400" dir="5400000" algn="bl" rotWithShape="0">
              <a:srgbClr val="000000">
                <a:alpha val="12000"/>
              </a:srgbClr>
            </a:outerShdw>
          </a:effectLst>
        </p:spPr>
      </p:sp>
      <p:sp>
        <p:nvSpPr>
          <p:cNvPr id="206" name="Diagram latar Sebelum"/>
          <p:cNvSpPr/>
          <p:nvPr/>
        </p:nvSpPr>
        <p:spPr>
          <a:xfrm>
            <a:off x="594360" y="2331720"/>
            <a:ext cx="5067300" cy="1600200"/>
          </a:xfrm>
          <a:prstGeom prst="roundRect">
            <a:avLst>
              <a:gd name="adj" fmla="val 6452"/>
            </a:avLst>
          </a:prstGeom>
          <a:solidFill>
            <a:srgbClr val="F4F8F6"/>
          </a:solidFill>
          <a:ln w="9525">
            <a:solidFill>
              <a:srgbClr val="D5E2DD"/>
            </a:solidFill>
          </a:ln>
        </p:spPr>
      </p:sp>
      <p:sp>
        <p:nvSpPr>
          <p:cNvPr id="207" name="Lapisan Kaca dan panel layar"/>
          <p:cNvSpPr/>
          <p:nvPr/>
        </p:nvSpPr>
        <p:spPr>
          <a:xfrm>
            <a:off x="999744" y="2491740"/>
            <a:ext cx="2128266" cy="208026"/>
          </a:xfrm>
          <a:prstGeom prst="parallelogram">
            <a:avLst/>
          </a:prstGeom>
          <a:solidFill>
            <a:srgbClr val="9FC3B6"/>
          </a:solidFill>
          <a:ln>
            <a:noFill/>
          </a:ln>
        </p:spPr>
        <p:txBody>
          <a:bodyPr wrap="square" lIns="45720" tIns="0" rIns="45720" bIns="0" rtlCol="0" anchor="ctr"/>
          <a:lstStyle/>
          <a:p>
            <a:pPr marL="0" indent="0" algn="ctr">
              <a:buNone/>
            </a:pPr>
            <a:r>
              <a:rPr lang="id-ID" sz="1000" b="1" dirty="0">
                <a:solidFill>
                  <a:srgbClr val="12302B"/>
                </a:solidFill>
                <a:latin typeface="Calibri" pitchFamily="34" charset="0"/>
                <a:ea typeface="Calibri" pitchFamily="34" charset="-122"/>
                <a:cs typeface="Calibri" pitchFamily="34" charset="-120"/>
              </a:rPr>
              <a:t>Kaca dan panel layar</a:t>
            </a:r>
          </a:p>
        </p:txBody>
      </p:sp>
      <p:sp>
        <p:nvSpPr>
          <p:cNvPr id="208" name="Ket Kaca dan panel layar"/>
          <p:cNvSpPr txBox="1"/>
          <p:nvPr/>
        </p:nvSpPr>
        <p:spPr>
          <a:xfrm>
            <a:off x="3432048" y="2485753"/>
            <a:ext cx="2229612" cy="220000"/>
          </a:xfrm>
          <a:prstGeom prst="rect">
            <a:avLst/>
          </a:prstGeom>
          <a:noFill/>
          <a:ln/>
        </p:spPr>
        <p:txBody>
          <a:bodyPr wrap="square" lIns="0" tIns="0" rIns="0" bIns="0" rtlCol="0" anchor="ctr"/>
          <a:lstStyle/>
          <a:p>
            <a:pPr marL="0" indent="0" algn="l">
              <a:buNone/>
            </a:pPr>
            <a:r>
              <a:rPr lang="id-ID" sz="1000" dirty="0">
                <a:solidFill>
                  <a:srgbClr val="5B6B68"/>
                </a:solidFill>
                <a:latin typeface="Calibri" pitchFamily="34" charset="0"/>
                <a:ea typeface="Calibri" pitchFamily="34" charset="-122"/>
                <a:cs typeface="Calibri" pitchFamily="34" charset="-120"/>
              </a:rPr>
              <a:t>disegel perekat (tahan air IP68)</a:t>
            </a:r>
          </a:p>
        </p:txBody>
      </p:sp>
      <p:sp>
        <p:nvSpPr>
          <p:cNvPr id="209" name="Lapisan Baterai"/>
          <p:cNvSpPr/>
          <p:nvPr/>
        </p:nvSpPr>
        <p:spPr>
          <a:xfrm>
            <a:off x="999744" y="2811780"/>
            <a:ext cx="2128266" cy="208026"/>
          </a:xfrm>
          <a:prstGeom prst="parallelogram">
            <a:avLst/>
          </a:prstGeom>
          <a:solidFill>
            <a:srgbClr val="E8B04B"/>
          </a:solidFill>
          <a:ln>
            <a:noFill/>
          </a:ln>
        </p:spPr>
        <p:txBody>
          <a:bodyPr wrap="square" lIns="45720" tIns="0" rIns="45720" bIns="0" rtlCol="0" anchor="ctr"/>
          <a:lstStyle/>
          <a:p>
            <a:pPr marL="0" indent="0" algn="ctr">
              <a:buNone/>
            </a:pPr>
            <a:r>
              <a:rPr lang="id-ID" sz="1000" b="1" dirty="0">
                <a:solidFill>
                  <a:srgbClr val="12302B"/>
                </a:solidFill>
                <a:latin typeface="Calibri" pitchFamily="34" charset="0"/>
                <a:ea typeface="Calibri" pitchFamily="34" charset="-122"/>
                <a:cs typeface="Calibri" pitchFamily="34" charset="-120"/>
              </a:rPr>
              <a:t>Baterai</a:t>
            </a:r>
          </a:p>
        </p:txBody>
      </p:sp>
      <p:sp>
        <p:nvSpPr>
          <p:cNvPr id="210" name="Ket Baterai"/>
          <p:cNvSpPr txBox="1"/>
          <p:nvPr/>
        </p:nvSpPr>
        <p:spPr>
          <a:xfrm>
            <a:off x="3432048" y="2805793"/>
            <a:ext cx="2229612" cy="220000"/>
          </a:xfrm>
          <a:prstGeom prst="rect">
            <a:avLst/>
          </a:prstGeom>
          <a:noFill/>
          <a:ln/>
        </p:spPr>
        <p:txBody>
          <a:bodyPr wrap="square" lIns="0" tIns="0" rIns="0" bIns="0" rtlCol="0" anchor="ctr"/>
          <a:lstStyle/>
          <a:p>
            <a:pPr marL="0" indent="0" algn="l">
              <a:buNone/>
            </a:pPr>
            <a:r>
              <a:rPr lang="id-ID" sz="1000" dirty="0">
                <a:solidFill>
                  <a:srgbClr val="5B6B68"/>
                </a:solidFill>
                <a:latin typeface="Calibri" pitchFamily="34" charset="0"/>
                <a:ea typeface="Calibri" pitchFamily="34" charset="-122"/>
                <a:cs typeface="Calibri" pitchFamily="34" charset="-120"/>
              </a:rPr>
              <a:t>perekat lepas-listrik ±90 detik</a:t>
            </a:r>
          </a:p>
        </p:txBody>
      </p:sp>
      <p:sp>
        <p:nvSpPr>
          <p:cNvPr id="211" name="Lapisan Papan logika"/>
          <p:cNvSpPr/>
          <p:nvPr/>
        </p:nvSpPr>
        <p:spPr>
          <a:xfrm>
            <a:off x="999744" y="3131820"/>
            <a:ext cx="2128266" cy="208026"/>
          </a:xfrm>
          <a:prstGeom prst="parallelogram">
            <a:avLst/>
          </a:prstGeom>
          <a:solidFill>
            <a:srgbClr val="1F6F5C"/>
          </a:solidFill>
          <a:ln>
            <a:noFill/>
          </a:ln>
        </p:spPr>
        <p:txBody>
          <a:bodyPr wrap="square" lIns="45720" tIns="0" rIns="45720" bIns="0" rtlCol="0" anchor="ctr"/>
          <a:lstStyle/>
          <a:p>
            <a:pPr marL="0" indent="0" algn="ctr">
              <a:buNone/>
            </a:pPr>
            <a:r>
              <a:rPr lang="id-ID" sz="1000" b="1" dirty="0">
                <a:solidFill>
                  <a:srgbClr val="FFFFFF"/>
                </a:solidFill>
                <a:latin typeface="Calibri" pitchFamily="34" charset="0"/>
                <a:ea typeface="Calibri" pitchFamily="34" charset="-122"/>
                <a:cs typeface="Calibri" pitchFamily="34" charset="-120"/>
              </a:rPr>
              <a:t>Papan logika</a:t>
            </a:r>
          </a:p>
        </p:txBody>
      </p:sp>
      <p:sp>
        <p:nvSpPr>
          <p:cNvPr id="212" name="Ket Papan logika"/>
          <p:cNvSpPr txBox="1"/>
          <p:nvPr/>
        </p:nvSpPr>
        <p:spPr>
          <a:xfrm>
            <a:off x="3432048" y="3125833"/>
            <a:ext cx="2229612" cy="220000"/>
          </a:xfrm>
          <a:prstGeom prst="rect">
            <a:avLst/>
          </a:prstGeom>
          <a:noFill/>
          <a:ln/>
        </p:spPr>
        <p:txBody>
          <a:bodyPr wrap="square" lIns="0" tIns="0" rIns="0" bIns="0" rtlCol="0" anchor="ctr"/>
          <a:lstStyle/>
          <a:p>
            <a:pPr marL="0" indent="0" algn="l">
              <a:buNone/>
            </a:pPr>
            <a:r>
              <a:rPr lang="id-ID" sz="1000" b="1" dirty="0">
                <a:solidFill>
                  <a:srgbClr val="B5651D"/>
                </a:solidFill>
                <a:latin typeface="Calibri" pitchFamily="34" charset="0"/>
                <a:ea typeface="Calibri" pitchFamily="34" charset="-122"/>
                <a:cs typeface="Calibri" pitchFamily="34" charset="-120"/>
              </a:rPr>
              <a:t>suku cadang disandingkan serial</a:t>
            </a:r>
          </a:p>
        </p:txBody>
      </p:sp>
      <p:sp>
        <p:nvSpPr>
          <p:cNvPr id="213" name="Lapisan Rangka aluminium"/>
          <p:cNvSpPr/>
          <p:nvPr/>
        </p:nvSpPr>
        <p:spPr>
          <a:xfrm>
            <a:off x="999744" y="3451860"/>
            <a:ext cx="2128266" cy="208026"/>
          </a:xfrm>
          <a:prstGeom prst="parallelogram">
            <a:avLst/>
          </a:prstGeom>
          <a:solidFill>
            <a:srgbClr val="12302B"/>
          </a:solidFill>
          <a:ln>
            <a:noFill/>
          </a:ln>
        </p:spPr>
        <p:txBody>
          <a:bodyPr wrap="square" lIns="45720" tIns="0" rIns="45720" bIns="0" rtlCol="0" anchor="ctr"/>
          <a:lstStyle/>
          <a:p>
            <a:pPr marL="0" indent="0" algn="ctr">
              <a:buNone/>
            </a:pPr>
            <a:r>
              <a:rPr lang="id-ID" sz="1000" b="1" dirty="0">
                <a:solidFill>
                  <a:srgbClr val="FFFFFF"/>
                </a:solidFill>
                <a:latin typeface="Calibri" pitchFamily="34" charset="0"/>
                <a:ea typeface="Calibri" pitchFamily="34" charset="-122"/>
                <a:cs typeface="Calibri" pitchFamily="34" charset="-120"/>
              </a:rPr>
              <a:t>Rangka aluminium</a:t>
            </a:r>
          </a:p>
        </p:txBody>
      </p:sp>
      <p:sp>
        <p:nvSpPr>
          <p:cNvPr id="214" name="Ket Rangka aluminium"/>
          <p:cNvSpPr txBox="1"/>
          <p:nvPr/>
        </p:nvSpPr>
        <p:spPr>
          <a:xfrm>
            <a:off x="3432048" y="3445873"/>
            <a:ext cx="2229612" cy="220000"/>
          </a:xfrm>
          <a:prstGeom prst="rect">
            <a:avLst/>
          </a:prstGeom>
          <a:noFill/>
          <a:ln/>
        </p:spPr>
        <p:txBody>
          <a:bodyPr wrap="square" lIns="0" tIns="0" rIns="0" bIns="0" rtlCol="0" anchor="ctr"/>
          <a:lstStyle/>
          <a:p>
            <a:pPr marL="0" indent="0" algn="l">
              <a:buNone/>
            </a:pPr>
            <a:r>
              <a:rPr lang="id-ID" sz="1000" dirty="0">
                <a:solidFill>
                  <a:srgbClr val="5B6B68"/>
                </a:solidFill>
                <a:latin typeface="Calibri" pitchFamily="34" charset="0"/>
                <a:ea typeface="Calibri" pitchFamily="34" charset="-122"/>
                <a:cs typeface="Calibri" pitchFamily="34" charset="-120"/>
              </a:rPr>
              <a:t>85% aluminium daur ulang</a:t>
            </a:r>
          </a:p>
        </p:txBody>
      </p:sp>
      <p:sp>
        <p:nvSpPr>
          <p:cNvPr id="215" name="Judul Sebelum"/>
          <p:cNvSpPr txBox="1"/>
          <p:nvPr/>
        </p:nvSpPr>
        <p:spPr>
          <a:xfrm>
            <a:off x="640080" y="4023360"/>
            <a:ext cx="4975860" cy="320040"/>
          </a:xfrm>
          <a:prstGeom prst="rect">
            <a:avLst/>
          </a:prstGeom>
          <a:noFill/>
          <a:ln/>
        </p:spPr>
        <p:txBody>
          <a:bodyPr wrap="square" lIns="0" tIns="0" rIns="0" bIns="0" rtlCol="0" anchor="t"/>
          <a:lstStyle/>
          <a:p>
            <a:pPr marL="0" indent="0" algn="l">
              <a:buNone/>
            </a:pPr>
            <a:r>
              <a:rPr lang="id-ID" sz="1600" b="1" dirty="0">
                <a:solidFill>
                  <a:srgbClr val="5B6B68"/>
                </a:solidFill>
                <a:latin typeface="Cambria" pitchFamily="34" charset="0"/>
                <a:ea typeface="Cambria" pitchFamily="34" charset="-122"/>
                <a:cs typeface="Cambria" pitchFamily="34" charset="-120"/>
              </a:rPr>
              <a:t>Sebelum</a:t>
            </a:r>
          </a:p>
        </p:txBody>
      </p:sp>
      <p:sp>
        <p:nvSpPr>
          <p:cNvPr id="216" name="Poin Sebelum"/>
          <p:cNvSpPr txBox="1"/>
          <p:nvPr/>
        </p:nvSpPr>
        <p:spPr>
          <a:xfrm>
            <a:off x="640080" y="4389120"/>
            <a:ext cx="4975860" cy="1874520"/>
          </a:xfrm>
          <a:prstGeom prst="rect">
            <a:avLst/>
          </a:prstGeom>
          <a:noFill/>
          <a:ln/>
        </p:spPr>
        <p:txBody>
          <a:bodyPr wrap="square" lIns="0" tIns="0" rIns="0" bIns="0" rtlCol="0" anchor="t"/>
          <a:lstStyle/>
          <a:p>
            <a:pPr marL="228600" indent="-228600" algn="l">
              <a:spcAft>
                <a:spcPts val="200"/>
              </a:spcAft>
              <a:buFont typeface="Arial"/>
              <a:buChar char="•"/>
            </a:pPr>
            <a:r>
              <a:rPr lang="id-ID" sz="1200" dirty="0">
                <a:solidFill>
                  <a:srgbClr val="1B2B2A"/>
                </a:solidFill>
                <a:latin typeface="Calibri" pitchFamily="34" charset="0"/>
                <a:ea typeface="Calibri" pitchFamily="34" charset="-122"/>
                <a:cs typeface="Calibri" pitchFamily="34" charset="-120"/>
              </a:rPr>
              <a:t>Baterai iPhone 16 dilepas dengan arus listrik ±90 detik (panduan reparasi Apple; iFixit, 2024).</a:t>
            </a:r>
          </a:p>
          <a:p>
            <a:pPr marL="228600" indent="-228600" algn="l">
              <a:spcAft>
                <a:spcPts val="200"/>
              </a:spcAft>
              <a:buFont typeface="Arial"/>
              <a:buChar char="•"/>
            </a:pPr>
            <a:r>
              <a:rPr lang="id-ID" sz="1200" dirty="0">
                <a:solidFill>
                  <a:srgbClr val="1B2B2A"/>
                </a:solidFill>
                <a:latin typeface="Calibri" pitchFamily="34" charset="0"/>
                <a:ea typeface="Calibri" pitchFamily="34" charset="-122"/>
                <a:cs typeface="Calibri" pitchFamily="34" charset="-120"/>
              </a:rPr>
              <a:t>Suku cadang dicocokkan ke nomor seri dan dikalibrasi lewat Repair Assistant; Oregon SB 1596 melarang praktik ini untuk perangkat produksi 2025 ke atas.</a:t>
            </a:r>
          </a:p>
          <a:p>
            <a:pPr marL="228600" indent="-228600" algn="l">
              <a:spcAft>
                <a:spcPts val="200"/>
              </a:spcAft>
              <a:buFont typeface="Arial"/>
              <a:buChar char="•"/>
            </a:pPr>
            <a:r>
              <a:rPr lang="id-ID" sz="1200" dirty="0">
                <a:solidFill>
                  <a:srgbClr val="1B2B2A"/>
                </a:solidFill>
                <a:latin typeface="Calibri" pitchFamily="34" charset="0"/>
                <a:ea typeface="Calibri" pitchFamily="34" charset="-122"/>
                <a:cs typeface="Calibri" pitchFamily="34" charset="-120"/>
              </a:rPr>
              <a:t>Ukuran baterai berubah tiap generasi, sehingga stok suku cadang lama cepat usang.</a:t>
            </a:r>
          </a:p>
          <a:p>
            <a:pPr marL="228600" indent="-228600" algn="l">
              <a:spcAft>
                <a:spcPts val="200"/>
              </a:spcAft>
              <a:buFont typeface="Arial"/>
              <a:buChar char="•"/>
            </a:pPr>
            <a:r>
              <a:rPr lang="id-ID" sz="1200" dirty="0">
                <a:solidFill>
                  <a:srgbClr val="1B2B2A"/>
                </a:solidFill>
                <a:latin typeface="Calibri" pitchFamily="34" charset="0"/>
                <a:ea typeface="Calibri" pitchFamily="34" charset="-122"/>
                <a:cs typeface="Calibri" pitchFamily="34" charset="-120"/>
              </a:rPr>
              <a:t>Waktu total penggantian dan rasio reparasi tidak dipublikasikan.</a:t>
            </a:r>
          </a:p>
        </p:txBody>
      </p:sp>
      <p:sp>
        <p:nvSpPr>
          <p:cNvPr id="217" name="Kartu Sesudah — usulan"/>
          <p:cNvSpPr/>
          <p:nvPr/>
        </p:nvSpPr>
        <p:spPr>
          <a:xfrm>
            <a:off x="6393180" y="2194560"/>
            <a:ext cx="5341620" cy="4114800"/>
          </a:xfrm>
          <a:prstGeom prst="roundRect">
            <a:avLst>
              <a:gd name="adj" fmla="val 6452"/>
            </a:avLst>
          </a:prstGeom>
          <a:solidFill>
            <a:srgbClr val="E3EFEA"/>
          </a:solidFill>
          <a:ln w="9525">
            <a:solidFill>
              <a:srgbClr val="1F6F5C"/>
            </a:solidFill>
          </a:ln>
          <a:effectLst>
            <a:outerShdw blurRad="76200" dist="25400" dir="5400000" algn="bl" rotWithShape="0">
              <a:srgbClr val="000000">
                <a:alpha val="12000"/>
              </a:srgbClr>
            </a:outerShdw>
          </a:effectLst>
        </p:spPr>
      </p:sp>
      <p:sp>
        <p:nvSpPr>
          <p:cNvPr id="218" name="Diagram latar Sesudah — usulan"/>
          <p:cNvSpPr/>
          <p:nvPr/>
        </p:nvSpPr>
        <p:spPr>
          <a:xfrm>
            <a:off x="6530340" y="2331720"/>
            <a:ext cx="5067300" cy="1600200"/>
          </a:xfrm>
          <a:prstGeom prst="roundRect">
            <a:avLst>
              <a:gd name="adj" fmla="val 6452"/>
            </a:avLst>
          </a:prstGeom>
          <a:solidFill>
            <a:srgbClr val="FFFFFF"/>
          </a:solidFill>
          <a:ln w="9525">
            <a:solidFill>
              <a:srgbClr val="D5E2DD"/>
            </a:solidFill>
          </a:ln>
        </p:spPr>
      </p:sp>
      <p:sp>
        <p:nvSpPr>
          <p:cNvPr id="219" name="Lapisan Kaca dan panel layar"/>
          <p:cNvSpPr/>
          <p:nvPr/>
        </p:nvSpPr>
        <p:spPr>
          <a:xfrm>
            <a:off x="6935724" y="2491740"/>
            <a:ext cx="2128266" cy="208026"/>
          </a:xfrm>
          <a:prstGeom prst="parallelogram">
            <a:avLst/>
          </a:prstGeom>
          <a:solidFill>
            <a:srgbClr val="9FC3B6"/>
          </a:solidFill>
          <a:ln>
            <a:noFill/>
          </a:ln>
        </p:spPr>
        <p:txBody>
          <a:bodyPr wrap="square" lIns="45720" tIns="0" rIns="45720" bIns="0" rtlCol="0" anchor="ctr"/>
          <a:lstStyle/>
          <a:p>
            <a:pPr marL="0" indent="0" algn="ctr">
              <a:buNone/>
            </a:pPr>
            <a:r>
              <a:rPr lang="id-ID" sz="1000" b="1" dirty="0">
                <a:solidFill>
                  <a:srgbClr val="12302B"/>
                </a:solidFill>
                <a:latin typeface="Calibri" pitchFamily="34" charset="0"/>
                <a:ea typeface="Calibri" pitchFamily="34" charset="-122"/>
                <a:cs typeface="Calibri" pitchFamily="34" charset="-120"/>
              </a:rPr>
              <a:t>Kaca dan panel layar</a:t>
            </a:r>
          </a:p>
        </p:txBody>
      </p:sp>
      <p:sp>
        <p:nvSpPr>
          <p:cNvPr id="220" name="Ket Kaca dan panel layar"/>
          <p:cNvSpPr txBox="1"/>
          <p:nvPr/>
        </p:nvSpPr>
        <p:spPr>
          <a:xfrm>
            <a:off x="9368028" y="2485753"/>
            <a:ext cx="2229612" cy="220000"/>
          </a:xfrm>
          <a:prstGeom prst="rect">
            <a:avLst/>
          </a:prstGeom>
          <a:noFill/>
          <a:ln/>
        </p:spPr>
        <p:txBody>
          <a:bodyPr wrap="square" lIns="0" tIns="0" rIns="0" bIns="0" rtlCol="0" anchor="ctr"/>
          <a:lstStyle/>
          <a:p>
            <a:pPr marL="0" indent="0" algn="l">
              <a:buNone/>
            </a:pPr>
            <a:r>
              <a:rPr lang="id-ID" sz="1000" b="1" dirty="0">
                <a:solidFill>
                  <a:srgbClr val="1F6F5C"/>
                </a:solidFill>
                <a:latin typeface="Calibri" pitchFamily="34" charset="0"/>
                <a:ea typeface="Calibri" pitchFamily="34" charset="-122"/>
                <a:cs typeface="Calibri" pitchFamily="34" charset="-120"/>
              </a:rPr>
              <a:t>segel tetap; uji IP diulang</a:t>
            </a:r>
          </a:p>
        </p:txBody>
      </p:sp>
      <p:sp>
        <p:nvSpPr>
          <p:cNvPr id="221" name="Lapisan Baterai"/>
          <p:cNvSpPr/>
          <p:nvPr/>
        </p:nvSpPr>
        <p:spPr>
          <a:xfrm>
            <a:off x="6935724" y="2811780"/>
            <a:ext cx="2128266" cy="208026"/>
          </a:xfrm>
          <a:prstGeom prst="parallelogram">
            <a:avLst/>
          </a:prstGeom>
          <a:solidFill>
            <a:srgbClr val="F2C66B"/>
          </a:solidFill>
          <a:ln>
            <a:noFill/>
          </a:ln>
        </p:spPr>
        <p:txBody>
          <a:bodyPr wrap="square" lIns="45720" tIns="0" rIns="45720" bIns="0" rtlCol="0" anchor="ctr"/>
          <a:lstStyle/>
          <a:p>
            <a:pPr marL="0" indent="0" algn="ctr">
              <a:buNone/>
            </a:pPr>
            <a:r>
              <a:rPr lang="id-ID" sz="1000" b="1" dirty="0">
                <a:solidFill>
                  <a:srgbClr val="12302B"/>
                </a:solidFill>
                <a:latin typeface="Calibri" pitchFamily="34" charset="0"/>
                <a:ea typeface="Calibri" pitchFamily="34" charset="-122"/>
                <a:cs typeface="Calibri" pitchFamily="34" charset="-120"/>
              </a:rPr>
              <a:t>Modul baterai</a:t>
            </a:r>
          </a:p>
        </p:txBody>
      </p:sp>
      <p:sp>
        <p:nvSpPr>
          <p:cNvPr id="223" name="Ket Baterai"/>
          <p:cNvSpPr txBox="1"/>
          <p:nvPr/>
        </p:nvSpPr>
        <p:spPr>
          <a:xfrm>
            <a:off x="9368028" y="2805793"/>
            <a:ext cx="2229612" cy="220000"/>
          </a:xfrm>
          <a:prstGeom prst="rect">
            <a:avLst/>
          </a:prstGeom>
          <a:noFill/>
          <a:ln/>
        </p:spPr>
        <p:txBody>
          <a:bodyPr wrap="square" lIns="0" tIns="0" rIns="0" bIns="0" rtlCol="0" anchor="ctr"/>
          <a:lstStyle/>
          <a:p>
            <a:pPr marL="0" indent="0" algn="l">
              <a:buNone/>
            </a:pPr>
            <a:r>
              <a:rPr lang="id-ID" sz="1000" b="1" dirty="0">
                <a:solidFill>
                  <a:srgbClr val="1F6F5C"/>
                </a:solidFill>
                <a:latin typeface="Calibri" pitchFamily="34" charset="0"/>
                <a:ea typeface="Calibri" pitchFamily="34" charset="-122"/>
                <a:cs typeface="Calibri" pitchFamily="34" charset="-120"/>
              </a:rPr>
              <a:t>dimensi dan konektor tetap lintas generasi</a:t>
            </a:r>
          </a:p>
        </p:txBody>
      </p:sp>
      <p:sp>
        <p:nvSpPr>
          <p:cNvPr id="224" name="Lapisan Papan logika"/>
          <p:cNvSpPr/>
          <p:nvPr/>
        </p:nvSpPr>
        <p:spPr>
          <a:xfrm>
            <a:off x="6935724" y="3131820"/>
            <a:ext cx="2128266" cy="208026"/>
          </a:xfrm>
          <a:prstGeom prst="parallelogram">
            <a:avLst/>
          </a:prstGeom>
          <a:solidFill>
            <a:srgbClr val="1F6F5C"/>
          </a:solidFill>
          <a:ln>
            <a:noFill/>
          </a:ln>
        </p:spPr>
        <p:txBody>
          <a:bodyPr wrap="square" lIns="45720" tIns="0" rIns="45720" bIns="0" rtlCol="0" anchor="ctr"/>
          <a:lstStyle/>
          <a:p>
            <a:pPr marL="0" indent="0" algn="ctr">
              <a:buNone/>
            </a:pPr>
            <a:r>
              <a:rPr lang="id-ID" sz="1000" b="1" dirty="0">
                <a:solidFill>
                  <a:srgbClr val="FFFFFF"/>
                </a:solidFill>
                <a:latin typeface="Calibri" pitchFamily="34" charset="0"/>
                <a:ea typeface="Calibri" pitchFamily="34" charset="-122"/>
                <a:cs typeface="Calibri" pitchFamily="34" charset="-120"/>
              </a:rPr>
              <a:t>Papan logika</a:t>
            </a:r>
          </a:p>
        </p:txBody>
      </p:sp>
      <p:sp>
        <p:nvSpPr>
          <p:cNvPr id="225" name="Ket Papan logika"/>
          <p:cNvSpPr txBox="1"/>
          <p:nvPr/>
        </p:nvSpPr>
        <p:spPr>
          <a:xfrm>
            <a:off x="9368028" y="3125833"/>
            <a:ext cx="2229612" cy="220000"/>
          </a:xfrm>
          <a:prstGeom prst="rect">
            <a:avLst/>
          </a:prstGeom>
          <a:noFill/>
          <a:ln/>
        </p:spPr>
        <p:txBody>
          <a:bodyPr wrap="square" lIns="0" tIns="0" rIns="0" bIns="0" rtlCol="0" anchor="ctr"/>
          <a:lstStyle/>
          <a:p>
            <a:pPr marL="0" indent="0" algn="l">
              <a:buNone/>
            </a:pPr>
            <a:r>
              <a:rPr lang="id-ID" sz="1000" b="1" dirty="0">
                <a:solidFill>
                  <a:srgbClr val="1F6F5C"/>
                </a:solidFill>
                <a:latin typeface="Calibri" pitchFamily="34" charset="0"/>
                <a:ea typeface="Calibri" pitchFamily="34" charset="-122"/>
                <a:cs typeface="Calibri" pitchFamily="34" charset="-120"/>
              </a:rPr>
              <a:t>penyandingan dihapus</a:t>
            </a:r>
          </a:p>
        </p:txBody>
      </p:sp>
      <p:sp>
        <p:nvSpPr>
          <p:cNvPr id="226" name="Lapisan Rangka aluminium"/>
          <p:cNvSpPr/>
          <p:nvPr/>
        </p:nvSpPr>
        <p:spPr>
          <a:xfrm>
            <a:off x="6935724" y="3451860"/>
            <a:ext cx="2128266" cy="208026"/>
          </a:xfrm>
          <a:prstGeom prst="parallelogram">
            <a:avLst/>
          </a:prstGeom>
          <a:solidFill>
            <a:srgbClr val="12302B"/>
          </a:solidFill>
          <a:ln>
            <a:noFill/>
          </a:ln>
        </p:spPr>
        <p:txBody>
          <a:bodyPr wrap="square" lIns="45720" tIns="0" rIns="45720" bIns="0" rtlCol="0" anchor="ctr"/>
          <a:lstStyle/>
          <a:p>
            <a:pPr marL="0" indent="0" algn="ctr">
              <a:buNone/>
            </a:pPr>
            <a:r>
              <a:rPr lang="id-ID" sz="1000" b="1" dirty="0">
                <a:solidFill>
                  <a:srgbClr val="FFFFFF"/>
                </a:solidFill>
                <a:latin typeface="Calibri" pitchFamily="34" charset="0"/>
                <a:ea typeface="Calibri" pitchFamily="34" charset="-122"/>
                <a:cs typeface="Calibri" pitchFamily="34" charset="-120"/>
              </a:rPr>
              <a:t>Rangka aluminium</a:t>
            </a:r>
          </a:p>
        </p:txBody>
      </p:sp>
      <p:sp>
        <p:nvSpPr>
          <p:cNvPr id="227" name="Ket Rangka aluminium"/>
          <p:cNvSpPr txBox="1"/>
          <p:nvPr/>
        </p:nvSpPr>
        <p:spPr>
          <a:xfrm>
            <a:off x="9368028" y="3445873"/>
            <a:ext cx="2229612" cy="220000"/>
          </a:xfrm>
          <a:prstGeom prst="rect">
            <a:avLst/>
          </a:prstGeom>
          <a:noFill/>
          <a:ln/>
        </p:spPr>
        <p:txBody>
          <a:bodyPr wrap="square" lIns="0" tIns="0" rIns="0" bIns="0" rtlCol="0" anchor="ctr"/>
          <a:lstStyle/>
          <a:p>
            <a:pPr marL="0" indent="0" algn="l">
              <a:buNone/>
            </a:pPr>
            <a:r>
              <a:rPr lang="id-ID" sz="1000" dirty="0">
                <a:solidFill>
                  <a:srgbClr val="5B6B68"/>
                </a:solidFill>
                <a:latin typeface="Calibri" pitchFamily="34" charset="0"/>
                <a:ea typeface="Calibri" pitchFamily="34" charset="-122"/>
                <a:cs typeface="Calibri" pitchFamily="34" charset="-120"/>
              </a:rPr>
              <a:t>tetap</a:t>
            </a:r>
          </a:p>
        </p:txBody>
      </p:sp>
      <p:sp>
        <p:nvSpPr>
          <p:cNvPr id="228" name="Judul Sesudah — usulan"/>
          <p:cNvSpPr txBox="1"/>
          <p:nvPr/>
        </p:nvSpPr>
        <p:spPr>
          <a:xfrm>
            <a:off x="6576060" y="4023360"/>
            <a:ext cx="4975860" cy="320040"/>
          </a:xfrm>
          <a:prstGeom prst="rect">
            <a:avLst/>
          </a:prstGeom>
          <a:noFill/>
          <a:ln/>
        </p:spPr>
        <p:txBody>
          <a:bodyPr wrap="square" lIns="0" tIns="0" rIns="0" bIns="0" rtlCol="0" anchor="t"/>
          <a:lstStyle/>
          <a:p>
            <a:pPr marL="0" indent="0" algn="l">
              <a:buNone/>
            </a:pPr>
            <a:r>
              <a:rPr lang="id-ID" sz="1600" b="1" dirty="0">
                <a:solidFill>
                  <a:srgbClr val="1F6F5C"/>
                </a:solidFill>
                <a:latin typeface="Cambria" pitchFamily="34" charset="0"/>
                <a:ea typeface="Cambria" pitchFamily="34" charset="-122"/>
                <a:cs typeface="Cambria" pitchFamily="34" charset="-120"/>
              </a:rPr>
              <a:t>Sesudah — usulan</a:t>
            </a:r>
          </a:p>
        </p:txBody>
      </p:sp>
      <p:sp>
        <p:nvSpPr>
          <p:cNvPr id="229" name="Poin Sesudah — usulan"/>
          <p:cNvSpPr txBox="1"/>
          <p:nvPr/>
        </p:nvSpPr>
        <p:spPr>
          <a:xfrm>
            <a:off x="6576060" y="4389120"/>
            <a:ext cx="4975860" cy="1874520"/>
          </a:xfrm>
          <a:prstGeom prst="rect">
            <a:avLst/>
          </a:prstGeom>
          <a:noFill/>
          <a:ln/>
        </p:spPr>
        <p:txBody>
          <a:bodyPr wrap="square" lIns="0" tIns="0" rIns="0" bIns="0" rtlCol="0" anchor="t"/>
          <a:lstStyle/>
          <a:p>
            <a:pPr marL="228600" indent="-228600" algn="l">
              <a:spcAft>
                <a:spcPts val="200"/>
              </a:spcAft>
              <a:buFont typeface="Arial"/>
              <a:buChar char="•"/>
            </a:pPr>
            <a:r>
              <a:rPr lang="id-ID" sz="1200" dirty="0">
                <a:solidFill>
                  <a:srgbClr val="12302B"/>
                </a:solidFill>
                <a:latin typeface="Calibri" pitchFamily="34" charset="0"/>
                <a:ea typeface="Calibri" pitchFamily="34" charset="-122"/>
                <a:cs typeface="Calibri" pitchFamily="34" charset="-120"/>
              </a:rPr>
              <a:t>Modul baterai dengan dimensi dan konektor tetap, tetap memakai perekat lepas-listrik.</a:t>
            </a:r>
          </a:p>
          <a:p>
            <a:pPr marL="228600" indent="-228600" algn="l">
              <a:spcAft>
                <a:spcPts val="200"/>
              </a:spcAft>
              <a:buFont typeface="Arial"/>
              <a:buChar char="•"/>
            </a:pPr>
            <a:r>
              <a:rPr lang="id-ID" sz="1200" dirty="0">
                <a:solidFill>
                  <a:srgbClr val="12302B"/>
                </a:solidFill>
                <a:latin typeface="Calibri" pitchFamily="34" charset="0"/>
                <a:ea typeface="Calibri" pitchFamily="34" charset="-122"/>
                <a:cs typeface="Calibri" pitchFamily="34" charset="-120"/>
              </a:rPr>
              <a:t>Suku cadang asli dan bekas dapat dipasang tanpa penyandingan; kalibrasi tetap tersedia.</a:t>
            </a:r>
          </a:p>
          <a:p>
            <a:pPr marL="228600" indent="-228600" algn="l">
              <a:spcAft>
                <a:spcPts val="200"/>
              </a:spcAft>
              <a:buFont typeface="Arial"/>
              <a:buChar char="•"/>
            </a:pPr>
            <a:r>
              <a:rPr lang="id-ID" sz="1200" dirty="0">
                <a:solidFill>
                  <a:srgbClr val="12302B"/>
                </a:solidFill>
                <a:latin typeface="Calibri" pitchFamily="34" charset="0"/>
                <a:ea typeface="Calibri" pitchFamily="34" charset="-122"/>
                <a:cs typeface="Calibri" pitchFamily="34" charset="-120"/>
              </a:rPr>
              <a:t>Syarat: rating IP68 diuji ulang dan tidak boleh menurun (Cordella dkk., 2021: keandalan dan reparabilitas dapat dicapai bersamaan).</a:t>
            </a:r>
          </a:p>
          <a:p>
            <a:pPr marL="228600" indent="-228600" algn="l">
              <a:spcAft>
                <a:spcPts val="200"/>
              </a:spcAft>
              <a:buFont typeface="Arial"/>
              <a:buChar char="•"/>
            </a:pPr>
            <a:r>
              <a:rPr lang="id-ID" sz="1200" dirty="0">
                <a:solidFill>
                  <a:srgbClr val="12302B"/>
                </a:solidFill>
                <a:latin typeface="Calibri" pitchFamily="34" charset="0"/>
                <a:ea typeface="Calibri" pitchFamily="34" charset="-122"/>
                <a:cs typeface="Calibri" pitchFamily="34" charset="-120"/>
              </a:rPr>
              <a:t>Dievaluasi dengan KPI waktu penggantian ≤ 5 menit dan rasio reparasi yang dilaporkan.</a:t>
            </a:r>
          </a:p>
        </p:txBody>
      </p:sp>
      <p:sp>
        <p:nvSpPr>
          <p:cNvPr id="230" name="Panah"/>
          <p:cNvSpPr/>
          <p:nvPr/>
        </p:nvSpPr>
        <p:spPr>
          <a:xfrm>
            <a:off x="5890260" y="4069080"/>
            <a:ext cx="411480" cy="365760"/>
          </a:xfrm>
          <a:prstGeom prst="rightArrow">
            <a:avLst/>
          </a:prstGeom>
          <a:solidFill>
            <a:srgbClr val="1F6F5C"/>
          </a:solidFill>
          <a:ln>
            <a:noFill/>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4F8F6"/>
        </a:solidFill>
        <a:effectLst/>
      </p:bgPr>
    </p:bg>
    <p:spTree>
      <p:nvGrpSpPr>
        <p:cNvPr id="1" name=""/>
        <p:cNvGrpSpPr/>
        <p:nvPr/>
      </p:nvGrpSpPr>
      <p:grpSpPr>
        <a:xfrm>
          <a:off x="0" y="0"/>
          <a:ext cx="0" cy="0"/>
          <a:chOff x="0" y="0"/>
          <a:chExt cx="0" cy="0"/>
        </a:xfrm>
      </p:grpSpPr>
      <p:sp>
        <p:nvSpPr>
          <p:cNvPr id="2" name="badge"/>
          <p:cNvSpPr/>
          <p:nvPr/>
        </p:nvSpPr>
        <p:spPr>
          <a:xfrm>
            <a:off x="457200" y="384048"/>
            <a:ext cx="566928" cy="566928"/>
          </a:xfrm>
          <a:prstGeom prst="ellipse">
            <a:avLst/>
          </a:prstGeom>
          <a:solidFill>
            <a:srgbClr val="1F6F5C"/>
          </a:solidFill>
          <a:ln w="12700">
            <a:solidFill>
              <a:srgbClr val="1F6F5C"/>
            </a:solidFill>
            <a:prstDash val="solid"/>
          </a:ln>
        </p:spPr>
      </p:sp>
      <p:sp>
        <p:nvSpPr>
          <p:cNvPr id="3" name="Text 1"/>
          <p:cNvSpPr txBox="1"/>
          <p:nvPr/>
        </p:nvSpPr>
        <p:spPr>
          <a:xfrm>
            <a:off x="457200" y="384048"/>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4.5</a:t>
            </a:r>
            <a:endParaRPr lang="en-US" sz="2000" dirty="0"/>
          </a:p>
        </p:txBody>
      </p:sp>
      <p:sp>
        <p:nvSpPr>
          <p:cNvPr id="4" name="Text 2"/>
          <p:cNvSpPr txBox="1"/>
          <p:nvPr/>
        </p:nvSpPr>
        <p:spPr>
          <a:xfrm>
            <a:off x="1188720" y="292608"/>
            <a:ext cx="9692640" cy="457200"/>
          </a:xfrm>
          <a:prstGeom prst="rect">
            <a:avLst/>
          </a:prstGeom>
          <a:noFill/>
          <a:ln/>
        </p:spPr>
        <p:txBody>
          <a:bodyPr wrap="square" lIns="0" tIns="0" rIns="0" bIns="0" rtlCol="0" anchor="ctr"/>
          <a:lstStyle/>
          <a:p>
            <a:pPr marL="0" indent="0">
              <a:buNone/>
            </a:pPr>
            <a:r>
              <a:rPr lang="en-US" sz="3000" b="1" dirty="0" err="1">
                <a:solidFill>
                  <a:srgbClr val="12302B"/>
                </a:solidFill>
                <a:latin typeface="Cambria" pitchFamily="34" charset="0"/>
                <a:ea typeface="Cambria" pitchFamily="34" charset="-122"/>
                <a:cs typeface="Cambria" pitchFamily="34" charset="-120"/>
              </a:rPr>
              <a:t>Usulan #2: Paspor komposisi dan jalur pembongkaran</a:t>
            </a:r>
            <a:endParaRPr lang="en-US" sz="3000" dirty="0"/>
          </a:p>
        </p:txBody>
      </p:sp>
      <p:sp>
        <p:nvSpPr>
          <p:cNvPr id="5" name="Text 3"/>
          <p:cNvSpPr txBox="1"/>
          <p:nvPr/>
        </p:nvSpPr>
        <p:spPr>
          <a:xfrm>
            <a:off x="1188720" y="768096"/>
            <a:ext cx="10424160" cy="292608"/>
          </a:xfrm>
          <a:prstGeom prst="rect">
            <a:avLst/>
          </a:prstGeom>
          <a:noFill/>
          <a:ln/>
        </p:spPr>
        <p:txBody>
          <a:bodyPr wrap="square" lIns="0" tIns="0" rIns="0" bIns="0" rtlCol="0" anchor="t"/>
          <a:lstStyle/>
          <a:p>
            <a:pPr marL="0" indent="0">
              <a:buNone/>
            </a:pPr>
            <a:r>
              <a:rPr lang="en-US" sz="1400" i="1" dirty="0">
                <a:solidFill>
                  <a:srgbClr val="5B6B68"/>
                </a:solidFill>
                <a:latin typeface="Calibri" pitchFamily="34" charset="0"/>
                <a:ea typeface="Calibri" pitchFamily="34" charset="-122"/>
                <a:cs typeface="Calibri" pitchFamily="34" charset="-120"/>
              </a:rPr>
              <a:t>Menjawab hambatan akhir masa pakai: data pengumpulan dan pemulihan tidak terbuka</a:t>
            </a:r>
            <a:endParaRPr lang="en-US" sz="1400" dirty="0"/>
          </a:p>
        </p:txBody>
      </p:sp>
      <p:sp>
        <p:nvSpPr>
          <p:cNvPr id="30" name="Text 27"/>
          <p:cNvSpPr txBox="1"/>
          <p:nvPr/>
        </p:nvSpPr>
        <p:spPr>
          <a:xfrm>
            <a:off x="11247120" y="6473952"/>
            <a:ext cx="457200" cy="228600"/>
          </a:xfrm>
          <a:prstGeom prst="rect">
            <a:avLst/>
          </a:prstGeom>
          <a:noFill/>
          <a:ln/>
        </p:spPr>
        <p:txBody>
          <a:bodyPr wrap="square" lIns="0" tIns="0" rIns="0" bIns="0" rtlCol="0" anchor="t"/>
          <a:lstStyle/>
          <a:p>
            <a:pPr marL="0" indent="0" algn="r">
              <a:buNone/>
            </a:pPr>
            <a:r>
              <a:rPr lang="en-US" sz="1000" dirty="0">
                <a:solidFill>
                  <a:srgbClr val="5B6B68"/>
                </a:solidFill>
                <a:latin typeface="Calibri" pitchFamily="34" charset="0"/>
                <a:ea typeface="Calibri" pitchFamily="34" charset="-122"/>
                <a:cs typeface="Calibri" pitchFamily="34" charset="-120"/>
              </a:rPr>
              <a:t>13</a:t>
            </a:r>
            <a:endParaRPr lang="en-US" sz="1000" dirty="0"/>
          </a:p>
        </p:txBody>
      </p:sp>
      <p:sp>
        <p:nvSpPr>
          <p:cNvPr id="231" name="Kartu Gap dari audit"/>
          <p:cNvSpPr/>
          <p:nvPr/>
        </p:nvSpPr>
        <p:spPr>
          <a:xfrm>
            <a:off x="457200" y="1188720"/>
            <a:ext cx="5547360" cy="868680"/>
          </a:xfrm>
          <a:prstGeom prst="roundRect">
            <a:avLst>
              <a:gd name="adj" fmla="val 6452"/>
            </a:avLst>
          </a:prstGeom>
          <a:solidFill>
            <a:srgbClr val="FFFFFF"/>
          </a:solidFill>
          <a:ln w="9525">
            <a:solidFill>
              <a:srgbClr val="D5E2DD"/>
            </a:solidFill>
          </a:ln>
          <a:effectLst>
            <a:outerShdw blurRad="76200" dist="25400" dir="5400000" algn="bl" rotWithShape="0">
              <a:srgbClr val="000000">
                <a:alpha val="12000"/>
              </a:srgbClr>
            </a:outerShdw>
          </a:effectLst>
        </p:spPr>
      </p:sp>
      <p:sp>
        <p:nvSpPr>
          <p:cNvPr id="232" name="Isi Gap dari audit"/>
          <p:cNvSpPr txBox="1"/>
          <p:nvPr/>
        </p:nvSpPr>
        <p:spPr>
          <a:xfrm>
            <a:off x="640080" y="1280160"/>
            <a:ext cx="5181600" cy="731520"/>
          </a:xfrm>
          <a:prstGeom prst="rect">
            <a:avLst/>
          </a:prstGeom>
          <a:noFill/>
          <a:ln/>
        </p:spPr>
        <p:txBody>
          <a:bodyPr wrap="square" lIns="0" tIns="0" rIns="0" bIns="0" rtlCol="0" anchor="ctr"/>
          <a:lstStyle/>
          <a:p>
            <a:pPr marL="0" indent="0" algn="l">
              <a:buNone/>
            </a:pPr>
            <a:r>
              <a:rPr lang="id-ID" sz="1200" b="1" dirty="0">
                <a:solidFill>
                  <a:srgbClr val="B3402F"/>
                </a:solidFill>
                <a:latin typeface="Calibri" pitchFamily="34" charset="0"/>
                <a:ea typeface="Calibri" pitchFamily="34" charset="-122"/>
                <a:cs typeface="Calibri" pitchFamily="34" charset="-120"/>
              </a:rPr>
              <a:t>Gap dari audit: </a:t>
            </a:r>
            <a:r>
              <a:rPr lang="id-ID" sz="1200" dirty="0">
                <a:solidFill>
                  <a:srgbClr val="1B2B2A"/>
                </a:solidFill>
                <a:latin typeface="Calibri" pitchFamily="34" charset="0"/>
                <a:ea typeface="Calibri" pitchFamily="34" charset="-122"/>
                <a:cs typeface="Calibri" pitchFamily="34" charset="-120"/>
              </a:rPr>
              <a:t>Trade In dan robot Daisy tersedia, tetapi data pengumpulan per negara tidak dibuka; Indonesia belum punya syarat pengambilan kembali.</a:t>
            </a:r>
          </a:p>
        </p:txBody>
      </p:sp>
      <p:sp>
        <p:nvSpPr>
          <p:cNvPr id="233" name="Kartu Usulan"/>
          <p:cNvSpPr/>
          <p:nvPr/>
        </p:nvSpPr>
        <p:spPr>
          <a:xfrm>
            <a:off x="6187440" y="1188720"/>
            <a:ext cx="5547360" cy="868680"/>
          </a:xfrm>
          <a:prstGeom prst="roundRect">
            <a:avLst>
              <a:gd name="adj" fmla="val 6452"/>
            </a:avLst>
          </a:prstGeom>
          <a:solidFill>
            <a:srgbClr val="FFFFFF"/>
          </a:solidFill>
          <a:ln w="9525">
            <a:solidFill>
              <a:srgbClr val="D5E2DD"/>
            </a:solidFill>
          </a:ln>
          <a:effectLst>
            <a:outerShdw blurRad="76200" dist="25400" dir="5400000" algn="bl" rotWithShape="0">
              <a:srgbClr val="000000">
                <a:alpha val="12000"/>
              </a:srgbClr>
            </a:outerShdw>
          </a:effectLst>
        </p:spPr>
      </p:sp>
      <p:sp>
        <p:nvSpPr>
          <p:cNvPr id="234" name="Isi Usulan"/>
          <p:cNvSpPr txBox="1"/>
          <p:nvPr/>
        </p:nvSpPr>
        <p:spPr>
          <a:xfrm>
            <a:off x="6370320" y="1280160"/>
            <a:ext cx="5181600" cy="731520"/>
          </a:xfrm>
          <a:prstGeom prst="rect">
            <a:avLst/>
          </a:prstGeom>
          <a:noFill/>
          <a:ln/>
        </p:spPr>
        <p:txBody>
          <a:bodyPr wrap="square" lIns="0" tIns="0" rIns="0" bIns="0" rtlCol="0" anchor="ctr"/>
          <a:lstStyle/>
          <a:p>
            <a:pPr marL="0" indent="0" algn="l">
              <a:buNone/>
            </a:pPr>
            <a:r>
              <a:rPr lang="id-ID" sz="1200" b="1" dirty="0">
                <a:solidFill>
                  <a:srgbClr val="1F6F5C"/>
                </a:solidFill>
                <a:latin typeface="Calibri" pitchFamily="34" charset="0"/>
                <a:ea typeface="Calibri" pitchFamily="34" charset="-122"/>
                <a:cs typeface="Calibri" pitchFamily="34" charset="-120"/>
              </a:rPr>
              <a:t>Usulan: </a:t>
            </a:r>
            <a:r>
              <a:rPr lang="id-ID" sz="1200" dirty="0">
                <a:solidFill>
                  <a:srgbClr val="1B2B2A"/>
                </a:solidFill>
                <a:latin typeface="Calibri" pitchFamily="34" charset="0"/>
                <a:ea typeface="Calibri" pitchFamily="34" charset="-122"/>
                <a:cs typeface="Calibri" pitchFamily="34" charset="-120"/>
              </a:rPr>
              <a:t>kode QR berisi komposisi material dan urutan pembongkaran, terbuka bagi mitra daur ulang, selaras paspor produk digital UE.</a:t>
            </a:r>
          </a:p>
        </p:txBody>
      </p:sp>
      <p:sp>
        <p:nvSpPr>
          <p:cNvPr id="235" name="Kartu Sebelum"/>
          <p:cNvSpPr/>
          <p:nvPr/>
        </p:nvSpPr>
        <p:spPr>
          <a:xfrm>
            <a:off x="457200" y="2194560"/>
            <a:ext cx="5341620" cy="4114800"/>
          </a:xfrm>
          <a:prstGeom prst="roundRect">
            <a:avLst>
              <a:gd name="adj" fmla="val 6452"/>
            </a:avLst>
          </a:prstGeom>
          <a:solidFill>
            <a:srgbClr val="FFFFFF"/>
          </a:solidFill>
          <a:ln w="9525">
            <a:solidFill>
              <a:srgbClr val="D5E2DD"/>
            </a:solidFill>
          </a:ln>
          <a:effectLst>
            <a:outerShdw blurRad="76200" dist="25400" dir="5400000" algn="bl" rotWithShape="0">
              <a:srgbClr val="000000">
                <a:alpha val="12000"/>
              </a:srgbClr>
            </a:outerShdw>
          </a:effectLst>
        </p:spPr>
      </p:sp>
      <p:sp>
        <p:nvSpPr>
          <p:cNvPr id="236" name="Diagram latar Sebelum"/>
          <p:cNvSpPr/>
          <p:nvPr/>
        </p:nvSpPr>
        <p:spPr>
          <a:xfrm>
            <a:off x="594360" y="2331720"/>
            <a:ext cx="5067300" cy="1600200"/>
          </a:xfrm>
          <a:prstGeom prst="roundRect">
            <a:avLst>
              <a:gd name="adj" fmla="val 6452"/>
            </a:avLst>
          </a:prstGeom>
          <a:solidFill>
            <a:srgbClr val="F4F8F6"/>
          </a:solidFill>
          <a:ln w="9525">
            <a:solidFill>
              <a:srgbClr val="D5E2DD"/>
            </a:solidFill>
          </a:ln>
        </p:spPr>
      </p:sp>
      <p:sp>
        <p:nvSpPr>
          <p:cNvPr id="237" name="Ponsel"/>
          <p:cNvSpPr/>
          <p:nvPr/>
        </p:nvSpPr>
        <p:spPr>
          <a:xfrm>
            <a:off x="898398" y="2491740"/>
            <a:ext cx="1114806" cy="1248156"/>
          </a:xfrm>
          <a:prstGeom prst="roundRect">
            <a:avLst>
              <a:gd name="adj" fmla="val 6452"/>
            </a:avLst>
          </a:prstGeom>
          <a:solidFill>
            <a:srgbClr val="2B3A38"/>
          </a:solidFill>
          <a:ln w="9525">
            <a:solidFill>
              <a:srgbClr val="12302B"/>
            </a:solidFill>
          </a:ln>
        </p:spPr>
      </p:sp>
      <p:sp>
        <p:nvSpPr>
          <p:cNvPr id="238" name="Layar"/>
          <p:cNvSpPr/>
          <p:nvPr/>
        </p:nvSpPr>
        <p:spPr>
          <a:xfrm>
            <a:off x="958398" y="2551740"/>
            <a:ext cx="994806" cy="1128156"/>
          </a:xfrm>
          <a:prstGeom prst="roundRect">
            <a:avLst>
              <a:gd name="adj" fmla="val 6452"/>
            </a:avLst>
          </a:prstGeom>
          <a:solidFill>
            <a:srgbClr val="6F7F7C"/>
          </a:solidFill>
          <a:ln>
            <a:noFill/>
          </a:ln>
        </p:spPr>
      </p:sp>
      <p:sp>
        <p:nvSpPr>
          <p:cNvPr id="239" name="Tanya"/>
          <p:cNvSpPr txBox="1"/>
          <p:nvPr/>
        </p:nvSpPr>
        <p:spPr>
          <a:xfrm>
            <a:off x="898398" y="2815818"/>
            <a:ext cx="1114806" cy="600000"/>
          </a:xfrm>
          <a:prstGeom prst="rect">
            <a:avLst/>
          </a:prstGeom>
          <a:noFill/>
          <a:ln/>
        </p:spPr>
        <p:txBody>
          <a:bodyPr wrap="square" lIns="0" tIns="0" rIns="0" bIns="0" rtlCol="0" anchor="ctr"/>
          <a:lstStyle/>
          <a:p>
            <a:pPr marL="0" indent="0" algn="ctr">
              <a:buNone/>
            </a:pPr>
            <a:r>
              <a:rPr lang="id-ID" sz="3600" b="1" dirty="0">
                <a:solidFill>
                  <a:srgbClr val="FFFFFF"/>
                </a:solidFill>
                <a:latin typeface="Calibri" pitchFamily="34" charset="0"/>
                <a:ea typeface="Calibri" pitchFamily="34" charset="-122"/>
                <a:cs typeface="Calibri" pitchFamily="34" charset="-120"/>
              </a:rPr>
              <a:t>?</a:t>
            </a:r>
          </a:p>
        </p:txBody>
      </p:sp>
      <p:sp>
        <p:nvSpPr>
          <p:cNvPr id="240" name="Campur"/>
          <p:cNvSpPr/>
          <p:nvPr/>
        </p:nvSpPr>
        <p:spPr>
          <a:xfrm>
            <a:off x="3128010" y="2731770"/>
            <a:ext cx="2229612" cy="800100"/>
          </a:xfrm>
          <a:prstGeom prst="roundRect">
            <a:avLst/>
          </a:prstGeom>
          <a:solidFill>
            <a:srgbClr val="EDEDED"/>
          </a:solidFill>
          <a:ln w="12700">
            <a:solidFill>
              <a:srgbClr val="B8B8B8"/>
            </a:solidFill>
            <a:prstDash val="dash"/>
          </a:ln>
        </p:spPr>
        <p:txBody>
          <a:bodyPr wrap="square" lIns="45720" tIns="0" rIns="45720" bIns="0" rtlCol="0" anchor="ctr"/>
          <a:lstStyle/>
          <a:p>
            <a:pPr marL="0" indent="0" algn="ctr">
              <a:buNone/>
            </a:pPr>
            <a:r>
              <a:rPr lang="id-ID" sz="1000" b="1" dirty="0">
                <a:solidFill>
                  <a:srgbClr val="5B6B68"/>
                </a:solidFill>
                <a:latin typeface="Calibri" pitchFamily="34" charset="0"/>
                <a:ea typeface="Calibri" pitchFamily="34" charset="-122"/>
                <a:cs typeface="Calibri" pitchFamily="34" charset="-120"/>
              </a:rPr>
              <a:t>Material tercampur, urutan bongkar ditebak</a:t>
            </a:r>
          </a:p>
        </p:txBody>
      </p:sp>
      <p:cxnSp>
        <p:nvCxnSpPr>
          <p:cNvPr id="241" name="ke campur"/>
          <p:cNvCxnSpPr/>
          <p:nvPr/>
        </p:nvCxnSpPr>
        <p:spPr>
          <a:xfrm>
            <a:off x="2053204" y="3115818"/>
            <a:ext cx="1034806" cy="0"/>
          </a:xfrm>
          <a:prstGeom prst="straightConnector1">
            <a:avLst/>
          </a:prstGeom>
          <a:ln w="12700">
            <a:solidFill>
              <a:srgbClr val="5B6B68"/>
            </a:solidFill>
            <a:prstDash val="dash"/>
            <a:tailEnd type="triangle"/>
          </a:ln>
        </p:spPr>
      </p:cxnSp>
      <p:sp>
        <p:nvSpPr>
          <p:cNvPr id="242" name="Judul Sebelum"/>
          <p:cNvSpPr txBox="1"/>
          <p:nvPr/>
        </p:nvSpPr>
        <p:spPr>
          <a:xfrm>
            <a:off x="640080" y="4023360"/>
            <a:ext cx="4975860" cy="320040"/>
          </a:xfrm>
          <a:prstGeom prst="rect">
            <a:avLst/>
          </a:prstGeom>
          <a:noFill/>
          <a:ln/>
        </p:spPr>
        <p:txBody>
          <a:bodyPr wrap="square" lIns="0" tIns="0" rIns="0" bIns="0" rtlCol="0" anchor="t"/>
          <a:lstStyle/>
          <a:p>
            <a:pPr marL="0" indent="0" algn="l">
              <a:buNone/>
            </a:pPr>
            <a:r>
              <a:rPr lang="id-ID" sz="1600" b="1" dirty="0">
                <a:solidFill>
                  <a:srgbClr val="5B6B68"/>
                </a:solidFill>
                <a:latin typeface="Cambria" pitchFamily="34" charset="0"/>
                <a:ea typeface="Cambria" pitchFamily="34" charset="-122"/>
                <a:cs typeface="Cambria" pitchFamily="34" charset="-120"/>
              </a:rPr>
              <a:t>Sebelum</a:t>
            </a:r>
          </a:p>
        </p:txBody>
      </p:sp>
      <p:sp>
        <p:nvSpPr>
          <p:cNvPr id="243" name="Poin Sebelum"/>
          <p:cNvSpPr txBox="1"/>
          <p:nvPr/>
        </p:nvSpPr>
        <p:spPr>
          <a:xfrm>
            <a:off x="640080" y="4389120"/>
            <a:ext cx="4975860" cy="1874520"/>
          </a:xfrm>
          <a:prstGeom prst="rect">
            <a:avLst/>
          </a:prstGeom>
          <a:noFill/>
          <a:ln/>
        </p:spPr>
        <p:txBody>
          <a:bodyPr wrap="square" lIns="0" tIns="0" rIns="0" bIns="0" rtlCol="0" anchor="t"/>
          <a:lstStyle/>
          <a:p>
            <a:pPr marL="228600" indent="-228600" algn="l">
              <a:spcAft>
                <a:spcPts val="200"/>
              </a:spcAft>
              <a:buFont typeface="Arial"/>
              <a:buChar char="•"/>
            </a:pPr>
            <a:r>
              <a:rPr lang="id-ID" sz="1200" dirty="0">
                <a:solidFill>
                  <a:srgbClr val="1B2B2A"/>
                </a:solidFill>
                <a:latin typeface="Calibri" pitchFamily="34" charset="0"/>
                <a:ea typeface="Calibri" pitchFamily="34" charset="-122"/>
                <a:cs typeface="Calibri" pitchFamily="34" charset="-120"/>
              </a:rPr>
              <a:t>Daisy membongkar 36 model iPhone, tetapi hanya di fasilitas Apple (Apple, 2026).</a:t>
            </a:r>
          </a:p>
          <a:p>
            <a:pPr marL="228600" indent="-228600" algn="l">
              <a:spcAft>
                <a:spcPts val="200"/>
              </a:spcAft>
              <a:buFont typeface="Arial"/>
              <a:buChar char="•"/>
            </a:pPr>
            <a:r>
              <a:rPr lang="id-ID" sz="1200" dirty="0">
                <a:solidFill>
                  <a:srgbClr val="1B2B2A"/>
                </a:solidFill>
                <a:latin typeface="Calibri" pitchFamily="34" charset="0"/>
                <a:ea typeface="Calibri" pitchFamily="34" charset="-122"/>
                <a:cs typeface="Calibri" pitchFamily="34" charset="-120"/>
              </a:rPr>
              <a:t>Mitra daur ulang lain tidak punya data komposisi dan urutan bongkar.</a:t>
            </a:r>
          </a:p>
          <a:p>
            <a:pPr marL="228600" indent="-228600" algn="l">
              <a:spcAft>
                <a:spcPts val="200"/>
              </a:spcAft>
              <a:buFont typeface="Arial"/>
              <a:buChar char="•"/>
            </a:pPr>
            <a:r>
              <a:rPr lang="id-ID" sz="1200" dirty="0">
                <a:solidFill>
                  <a:srgbClr val="1B2B2A"/>
                </a:solidFill>
                <a:latin typeface="Calibri" pitchFamily="34" charset="0"/>
                <a:ea typeface="Calibri" pitchFamily="34" charset="-122"/>
                <a:cs typeface="Calibri" pitchFamily="34" charset="-120"/>
              </a:rPr>
              <a:t>Global: hanya 22,3% e-waste terdokumentasi dikumpulkan dan didaur ulang; Indonesia menghasilkan ±1,9 miliar kg (ITU dan UNITAR, 2024).</a:t>
            </a:r>
          </a:p>
          <a:p>
            <a:pPr marL="228600" indent="-228600" algn="l">
              <a:spcAft>
                <a:spcPts val="200"/>
              </a:spcAft>
              <a:buFont typeface="Arial"/>
              <a:buChar char="•"/>
            </a:pPr>
            <a:r>
              <a:rPr lang="id-ID" sz="1200" dirty="0">
                <a:solidFill>
                  <a:srgbClr val="1B2B2A"/>
                </a:solidFill>
                <a:latin typeface="Calibri" pitchFamily="34" charset="0"/>
                <a:ea typeface="Calibri" pitchFamily="34" charset="-122"/>
                <a:cs typeface="Calibri" pitchFamily="34" charset="-120"/>
              </a:rPr>
              <a:t>Belum ada bukti terbuka bahwa Trade In menaikkan tingkat pengumpulan.</a:t>
            </a:r>
          </a:p>
        </p:txBody>
      </p:sp>
      <p:sp>
        <p:nvSpPr>
          <p:cNvPr id="244" name="Kartu Sesudah — usulan"/>
          <p:cNvSpPr/>
          <p:nvPr/>
        </p:nvSpPr>
        <p:spPr>
          <a:xfrm>
            <a:off x="6393180" y="2194560"/>
            <a:ext cx="5341620" cy="4114800"/>
          </a:xfrm>
          <a:prstGeom prst="roundRect">
            <a:avLst>
              <a:gd name="adj" fmla="val 6452"/>
            </a:avLst>
          </a:prstGeom>
          <a:solidFill>
            <a:srgbClr val="E3EFEA"/>
          </a:solidFill>
          <a:ln w="9525">
            <a:solidFill>
              <a:srgbClr val="1F6F5C"/>
            </a:solidFill>
          </a:ln>
          <a:effectLst>
            <a:outerShdw blurRad="76200" dist="25400" dir="5400000" algn="bl" rotWithShape="0">
              <a:srgbClr val="000000">
                <a:alpha val="12000"/>
              </a:srgbClr>
            </a:outerShdw>
          </a:effectLst>
        </p:spPr>
      </p:sp>
      <p:sp>
        <p:nvSpPr>
          <p:cNvPr id="245" name="Diagram latar Sesudah — usulan"/>
          <p:cNvSpPr/>
          <p:nvPr/>
        </p:nvSpPr>
        <p:spPr>
          <a:xfrm>
            <a:off x="6530340" y="2331720"/>
            <a:ext cx="5067300" cy="1600200"/>
          </a:xfrm>
          <a:prstGeom prst="roundRect">
            <a:avLst>
              <a:gd name="adj" fmla="val 6452"/>
            </a:avLst>
          </a:prstGeom>
          <a:solidFill>
            <a:srgbClr val="FFFFFF"/>
          </a:solidFill>
          <a:ln w="9525">
            <a:solidFill>
              <a:srgbClr val="D5E2DD"/>
            </a:solidFill>
          </a:ln>
        </p:spPr>
      </p:sp>
      <p:sp>
        <p:nvSpPr>
          <p:cNvPr id="246" name="Ponsel"/>
          <p:cNvSpPr/>
          <p:nvPr/>
        </p:nvSpPr>
        <p:spPr>
          <a:xfrm>
            <a:off x="6834378" y="2491740"/>
            <a:ext cx="1114806" cy="1248156"/>
          </a:xfrm>
          <a:prstGeom prst="roundRect">
            <a:avLst>
              <a:gd name="adj" fmla="val 6452"/>
            </a:avLst>
          </a:prstGeom>
          <a:solidFill>
            <a:srgbClr val="2B3A38"/>
          </a:solidFill>
          <a:ln w="9525">
            <a:solidFill>
              <a:srgbClr val="12302B"/>
            </a:solidFill>
          </a:ln>
        </p:spPr>
      </p:sp>
      <p:sp>
        <p:nvSpPr>
          <p:cNvPr id="247" name="Layar"/>
          <p:cNvSpPr/>
          <p:nvPr/>
        </p:nvSpPr>
        <p:spPr>
          <a:xfrm>
            <a:off x="6894378" y="2551740"/>
            <a:ext cx="994806" cy="1128156"/>
          </a:xfrm>
          <a:prstGeom prst="roundRect">
            <a:avLst>
              <a:gd name="adj" fmla="val 6452"/>
            </a:avLst>
          </a:prstGeom>
          <a:solidFill>
            <a:srgbClr val="9FC3B6"/>
          </a:solidFill>
          <a:ln>
            <a:noFill/>
          </a:ln>
        </p:spPr>
      </p:sp>
      <p:sp>
        <p:nvSpPr>
          <p:cNvPr id="248" name="QR latar"/>
          <p:cNvSpPr/>
          <p:nvPr/>
        </p:nvSpPr>
        <p:spPr>
          <a:xfrm>
            <a:off x="7191781" y="2855818"/>
            <a:ext cx="400000" cy="400000"/>
          </a:xfrm>
          <a:prstGeom prst="rect">
            <a:avLst/>
          </a:prstGeom>
          <a:solidFill>
            <a:srgbClr val="FFFFFF"/>
          </a:solidFill>
          <a:ln w="9525">
            <a:solidFill>
              <a:srgbClr val="12302B"/>
            </a:solidFill>
          </a:ln>
        </p:spPr>
      </p:sp>
      <p:sp>
        <p:nvSpPr>
          <p:cNvPr id="249" name="QR"/>
          <p:cNvSpPr/>
          <p:nvPr/>
        </p:nvSpPr>
        <p:spPr>
          <a:xfrm>
            <a:off x="7191781" y="2855818"/>
            <a:ext cx="57142" cy="57142"/>
          </a:xfrm>
          <a:prstGeom prst="rect">
            <a:avLst/>
          </a:prstGeom>
          <a:solidFill>
            <a:srgbClr val="12302B"/>
          </a:solidFill>
          <a:ln>
            <a:noFill/>
          </a:ln>
        </p:spPr>
      </p:sp>
      <p:sp>
        <p:nvSpPr>
          <p:cNvPr id="250" name="QR"/>
          <p:cNvSpPr/>
          <p:nvPr/>
        </p:nvSpPr>
        <p:spPr>
          <a:xfrm>
            <a:off x="7248923" y="2855818"/>
            <a:ext cx="57142" cy="57142"/>
          </a:xfrm>
          <a:prstGeom prst="rect">
            <a:avLst/>
          </a:prstGeom>
          <a:solidFill>
            <a:srgbClr val="12302B"/>
          </a:solidFill>
          <a:ln>
            <a:noFill/>
          </a:ln>
        </p:spPr>
      </p:sp>
      <p:sp>
        <p:nvSpPr>
          <p:cNvPr id="251" name="QR"/>
          <p:cNvSpPr/>
          <p:nvPr/>
        </p:nvSpPr>
        <p:spPr>
          <a:xfrm>
            <a:off x="7306065" y="2855818"/>
            <a:ext cx="57142" cy="57142"/>
          </a:xfrm>
          <a:prstGeom prst="rect">
            <a:avLst/>
          </a:prstGeom>
          <a:solidFill>
            <a:srgbClr val="12302B"/>
          </a:solidFill>
          <a:ln>
            <a:noFill/>
          </a:ln>
        </p:spPr>
      </p:sp>
      <p:sp>
        <p:nvSpPr>
          <p:cNvPr id="252" name="QR"/>
          <p:cNvSpPr/>
          <p:nvPr/>
        </p:nvSpPr>
        <p:spPr>
          <a:xfrm>
            <a:off x="7363207" y="2855818"/>
            <a:ext cx="57142" cy="57142"/>
          </a:xfrm>
          <a:prstGeom prst="rect">
            <a:avLst/>
          </a:prstGeom>
          <a:solidFill>
            <a:srgbClr val="12302B"/>
          </a:solidFill>
          <a:ln>
            <a:noFill/>
          </a:ln>
        </p:spPr>
      </p:sp>
      <p:sp>
        <p:nvSpPr>
          <p:cNvPr id="253" name="QR"/>
          <p:cNvSpPr/>
          <p:nvPr/>
        </p:nvSpPr>
        <p:spPr>
          <a:xfrm>
            <a:off x="7477491" y="2855818"/>
            <a:ext cx="57142" cy="57142"/>
          </a:xfrm>
          <a:prstGeom prst="rect">
            <a:avLst/>
          </a:prstGeom>
          <a:solidFill>
            <a:srgbClr val="12302B"/>
          </a:solidFill>
          <a:ln>
            <a:noFill/>
          </a:ln>
        </p:spPr>
      </p:sp>
      <p:sp>
        <p:nvSpPr>
          <p:cNvPr id="254" name="QR"/>
          <p:cNvSpPr/>
          <p:nvPr/>
        </p:nvSpPr>
        <p:spPr>
          <a:xfrm>
            <a:off x="7534633" y="2855818"/>
            <a:ext cx="57142" cy="57142"/>
          </a:xfrm>
          <a:prstGeom prst="rect">
            <a:avLst/>
          </a:prstGeom>
          <a:solidFill>
            <a:srgbClr val="12302B"/>
          </a:solidFill>
          <a:ln>
            <a:noFill/>
          </a:ln>
        </p:spPr>
      </p:sp>
      <p:sp>
        <p:nvSpPr>
          <p:cNvPr id="255" name="QR"/>
          <p:cNvSpPr/>
          <p:nvPr/>
        </p:nvSpPr>
        <p:spPr>
          <a:xfrm>
            <a:off x="7191781" y="2912960"/>
            <a:ext cx="57142" cy="57142"/>
          </a:xfrm>
          <a:prstGeom prst="rect">
            <a:avLst/>
          </a:prstGeom>
          <a:solidFill>
            <a:srgbClr val="12302B"/>
          </a:solidFill>
          <a:ln>
            <a:noFill/>
          </a:ln>
        </p:spPr>
      </p:sp>
      <p:sp>
        <p:nvSpPr>
          <p:cNvPr id="256" name="QR"/>
          <p:cNvSpPr/>
          <p:nvPr/>
        </p:nvSpPr>
        <p:spPr>
          <a:xfrm>
            <a:off x="7248923" y="2912960"/>
            <a:ext cx="57142" cy="57142"/>
          </a:xfrm>
          <a:prstGeom prst="rect">
            <a:avLst/>
          </a:prstGeom>
          <a:solidFill>
            <a:srgbClr val="12302B"/>
          </a:solidFill>
          <a:ln>
            <a:noFill/>
          </a:ln>
        </p:spPr>
      </p:sp>
      <p:sp>
        <p:nvSpPr>
          <p:cNvPr id="257" name="QR"/>
          <p:cNvSpPr/>
          <p:nvPr/>
        </p:nvSpPr>
        <p:spPr>
          <a:xfrm>
            <a:off x="7306065" y="2912960"/>
            <a:ext cx="57142" cy="57142"/>
          </a:xfrm>
          <a:prstGeom prst="rect">
            <a:avLst/>
          </a:prstGeom>
          <a:solidFill>
            <a:srgbClr val="12302B"/>
          </a:solidFill>
          <a:ln>
            <a:noFill/>
          </a:ln>
        </p:spPr>
      </p:sp>
      <p:sp>
        <p:nvSpPr>
          <p:cNvPr id="258" name="QR"/>
          <p:cNvSpPr/>
          <p:nvPr/>
        </p:nvSpPr>
        <p:spPr>
          <a:xfrm>
            <a:off x="7420349" y="2912960"/>
            <a:ext cx="57142" cy="57142"/>
          </a:xfrm>
          <a:prstGeom prst="rect">
            <a:avLst/>
          </a:prstGeom>
          <a:solidFill>
            <a:srgbClr val="12302B"/>
          </a:solidFill>
          <a:ln>
            <a:noFill/>
          </a:ln>
        </p:spPr>
      </p:sp>
      <p:sp>
        <p:nvSpPr>
          <p:cNvPr id="259" name="QR"/>
          <p:cNvSpPr/>
          <p:nvPr/>
        </p:nvSpPr>
        <p:spPr>
          <a:xfrm>
            <a:off x="7477491" y="2912960"/>
            <a:ext cx="57142" cy="57142"/>
          </a:xfrm>
          <a:prstGeom prst="rect">
            <a:avLst/>
          </a:prstGeom>
          <a:solidFill>
            <a:srgbClr val="12302B"/>
          </a:solidFill>
          <a:ln>
            <a:noFill/>
          </a:ln>
        </p:spPr>
      </p:sp>
      <p:sp>
        <p:nvSpPr>
          <p:cNvPr id="260" name="QR"/>
          <p:cNvSpPr/>
          <p:nvPr/>
        </p:nvSpPr>
        <p:spPr>
          <a:xfrm>
            <a:off x="7534633" y="2912960"/>
            <a:ext cx="57142" cy="57142"/>
          </a:xfrm>
          <a:prstGeom prst="rect">
            <a:avLst/>
          </a:prstGeom>
          <a:solidFill>
            <a:srgbClr val="12302B"/>
          </a:solidFill>
          <a:ln>
            <a:noFill/>
          </a:ln>
        </p:spPr>
      </p:sp>
      <p:sp>
        <p:nvSpPr>
          <p:cNvPr id="261" name="QR"/>
          <p:cNvSpPr/>
          <p:nvPr/>
        </p:nvSpPr>
        <p:spPr>
          <a:xfrm>
            <a:off x="7191781" y="2970102"/>
            <a:ext cx="57142" cy="57142"/>
          </a:xfrm>
          <a:prstGeom prst="rect">
            <a:avLst/>
          </a:prstGeom>
          <a:solidFill>
            <a:srgbClr val="12302B"/>
          </a:solidFill>
          <a:ln>
            <a:noFill/>
          </a:ln>
        </p:spPr>
      </p:sp>
      <p:sp>
        <p:nvSpPr>
          <p:cNvPr id="262" name="QR"/>
          <p:cNvSpPr/>
          <p:nvPr/>
        </p:nvSpPr>
        <p:spPr>
          <a:xfrm>
            <a:off x="7306065" y="2970102"/>
            <a:ext cx="57142" cy="57142"/>
          </a:xfrm>
          <a:prstGeom prst="rect">
            <a:avLst/>
          </a:prstGeom>
          <a:solidFill>
            <a:srgbClr val="12302B"/>
          </a:solidFill>
          <a:ln>
            <a:noFill/>
          </a:ln>
        </p:spPr>
      </p:sp>
      <p:sp>
        <p:nvSpPr>
          <p:cNvPr id="263" name="QR"/>
          <p:cNvSpPr/>
          <p:nvPr/>
        </p:nvSpPr>
        <p:spPr>
          <a:xfrm>
            <a:off x="7363207" y="2970102"/>
            <a:ext cx="57142" cy="57142"/>
          </a:xfrm>
          <a:prstGeom prst="rect">
            <a:avLst/>
          </a:prstGeom>
          <a:solidFill>
            <a:srgbClr val="12302B"/>
          </a:solidFill>
          <a:ln>
            <a:noFill/>
          </a:ln>
        </p:spPr>
      </p:sp>
      <p:sp>
        <p:nvSpPr>
          <p:cNvPr id="264" name="QR"/>
          <p:cNvSpPr/>
          <p:nvPr/>
        </p:nvSpPr>
        <p:spPr>
          <a:xfrm>
            <a:off x="7420349" y="2970102"/>
            <a:ext cx="57142" cy="57142"/>
          </a:xfrm>
          <a:prstGeom prst="rect">
            <a:avLst/>
          </a:prstGeom>
          <a:solidFill>
            <a:srgbClr val="12302B"/>
          </a:solidFill>
          <a:ln>
            <a:noFill/>
          </a:ln>
        </p:spPr>
      </p:sp>
      <p:sp>
        <p:nvSpPr>
          <p:cNvPr id="265" name="QR"/>
          <p:cNvSpPr/>
          <p:nvPr/>
        </p:nvSpPr>
        <p:spPr>
          <a:xfrm>
            <a:off x="7477491" y="2970102"/>
            <a:ext cx="57142" cy="57142"/>
          </a:xfrm>
          <a:prstGeom prst="rect">
            <a:avLst/>
          </a:prstGeom>
          <a:solidFill>
            <a:srgbClr val="12302B"/>
          </a:solidFill>
          <a:ln>
            <a:noFill/>
          </a:ln>
        </p:spPr>
      </p:sp>
      <p:sp>
        <p:nvSpPr>
          <p:cNvPr id="266" name="QR"/>
          <p:cNvSpPr/>
          <p:nvPr/>
        </p:nvSpPr>
        <p:spPr>
          <a:xfrm>
            <a:off x="7534633" y="2970102"/>
            <a:ext cx="57142" cy="57142"/>
          </a:xfrm>
          <a:prstGeom prst="rect">
            <a:avLst/>
          </a:prstGeom>
          <a:solidFill>
            <a:srgbClr val="12302B"/>
          </a:solidFill>
          <a:ln>
            <a:noFill/>
          </a:ln>
        </p:spPr>
      </p:sp>
      <p:sp>
        <p:nvSpPr>
          <p:cNvPr id="267" name="QR"/>
          <p:cNvSpPr/>
          <p:nvPr/>
        </p:nvSpPr>
        <p:spPr>
          <a:xfrm>
            <a:off x="7248923" y="3027244"/>
            <a:ext cx="57142" cy="57142"/>
          </a:xfrm>
          <a:prstGeom prst="rect">
            <a:avLst/>
          </a:prstGeom>
          <a:solidFill>
            <a:srgbClr val="12302B"/>
          </a:solidFill>
          <a:ln>
            <a:noFill/>
          </a:ln>
        </p:spPr>
      </p:sp>
      <p:sp>
        <p:nvSpPr>
          <p:cNvPr id="268" name="QR"/>
          <p:cNvSpPr/>
          <p:nvPr/>
        </p:nvSpPr>
        <p:spPr>
          <a:xfrm>
            <a:off x="7306065" y="3027244"/>
            <a:ext cx="57142" cy="57142"/>
          </a:xfrm>
          <a:prstGeom prst="rect">
            <a:avLst/>
          </a:prstGeom>
          <a:solidFill>
            <a:srgbClr val="12302B"/>
          </a:solidFill>
          <a:ln>
            <a:noFill/>
          </a:ln>
        </p:spPr>
      </p:sp>
      <p:sp>
        <p:nvSpPr>
          <p:cNvPr id="269" name="QR"/>
          <p:cNvSpPr/>
          <p:nvPr/>
        </p:nvSpPr>
        <p:spPr>
          <a:xfrm>
            <a:off x="7534633" y="3027244"/>
            <a:ext cx="57142" cy="57142"/>
          </a:xfrm>
          <a:prstGeom prst="rect">
            <a:avLst/>
          </a:prstGeom>
          <a:solidFill>
            <a:srgbClr val="12302B"/>
          </a:solidFill>
          <a:ln>
            <a:noFill/>
          </a:ln>
        </p:spPr>
      </p:sp>
      <p:sp>
        <p:nvSpPr>
          <p:cNvPr id="270" name="QR"/>
          <p:cNvSpPr/>
          <p:nvPr/>
        </p:nvSpPr>
        <p:spPr>
          <a:xfrm>
            <a:off x="7248923" y="3084386"/>
            <a:ext cx="57142" cy="57142"/>
          </a:xfrm>
          <a:prstGeom prst="rect">
            <a:avLst/>
          </a:prstGeom>
          <a:solidFill>
            <a:srgbClr val="12302B"/>
          </a:solidFill>
          <a:ln>
            <a:noFill/>
          </a:ln>
        </p:spPr>
      </p:sp>
      <p:sp>
        <p:nvSpPr>
          <p:cNvPr id="271" name="QR"/>
          <p:cNvSpPr/>
          <p:nvPr/>
        </p:nvSpPr>
        <p:spPr>
          <a:xfrm>
            <a:off x="7363207" y="3084386"/>
            <a:ext cx="57142" cy="57142"/>
          </a:xfrm>
          <a:prstGeom prst="rect">
            <a:avLst/>
          </a:prstGeom>
          <a:solidFill>
            <a:srgbClr val="12302B"/>
          </a:solidFill>
          <a:ln>
            <a:noFill/>
          </a:ln>
        </p:spPr>
      </p:sp>
      <p:sp>
        <p:nvSpPr>
          <p:cNvPr id="272" name="QR"/>
          <p:cNvSpPr/>
          <p:nvPr/>
        </p:nvSpPr>
        <p:spPr>
          <a:xfrm>
            <a:off x="7420349" y="3084386"/>
            <a:ext cx="57142" cy="57142"/>
          </a:xfrm>
          <a:prstGeom prst="rect">
            <a:avLst/>
          </a:prstGeom>
          <a:solidFill>
            <a:srgbClr val="12302B"/>
          </a:solidFill>
          <a:ln>
            <a:noFill/>
          </a:ln>
        </p:spPr>
      </p:sp>
      <p:sp>
        <p:nvSpPr>
          <p:cNvPr id="273" name="QR"/>
          <p:cNvSpPr/>
          <p:nvPr/>
        </p:nvSpPr>
        <p:spPr>
          <a:xfrm>
            <a:off x="7477491" y="3084386"/>
            <a:ext cx="57142" cy="57142"/>
          </a:xfrm>
          <a:prstGeom prst="rect">
            <a:avLst/>
          </a:prstGeom>
          <a:solidFill>
            <a:srgbClr val="12302B"/>
          </a:solidFill>
          <a:ln>
            <a:noFill/>
          </a:ln>
        </p:spPr>
      </p:sp>
      <p:sp>
        <p:nvSpPr>
          <p:cNvPr id="274" name="QR"/>
          <p:cNvSpPr/>
          <p:nvPr/>
        </p:nvSpPr>
        <p:spPr>
          <a:xfrm>
            <a:off x="7534633" y="3084386"/>
            <a:ext cx="57142" cy="57142"/>
          </a:xfrm>
          <a:prstGeom prst="rect">
            <a:avLst/>
          </a:prstGeom>
          <a:solidFill>
            <a:srgbClr val="12302B"/>
          </a:solidFill>
          <a:ln>
            <a:noFill/>
          </a:ln>
        </p:spPr>
      </p:sp>
      <p:sp>
        <p:nvSpPr>
          <p:cNvPr id="275" name="QR"/>
          <p:cNvSpPr/>
          <p:nvPr/>
        </p:nvSpPr>
        <p:spPr>
          <a:xfrm>
            <a:off x="7191781" y="3141528"/>
            <a:ext cx="57142" cy="57142"/>
          </a:xfrm>
          <a:prstGeom prst="rect">
            <a:avLst/>
          </a:prstGeom>
          <a:solidFill>
            <a:srgbClr val="12302B"/>
          </a:solidFill>
          <a:ln>
            <a:noFill/>
          </a:ln>
        </p:spPr>
      </p:sp>
      <p:sp>
        <p:nvSpPr>
          <p:cNvPr id="276" name="QR"/>
          <p:cNvSpPr/>
          <p:nvPr/>
        </p:nvSpPr>
        <p:spPr>
          <a:xfrm>
            <a:off x="7248923" y="3141528"/>
            <a:ext cx="57142" cy="57142"/>
          </a:xfrm>
          <a:prstGeom prst="rect">
            <a:avLst/>
          </a:prstGeom>
          <a:solidFill>
            <a:srgbClr val="12302B"/>
          </a:solidFill>
          <a:ln>
            <a:noFill/>
          </a:ln>
        </p:spPr>
      </p:sp>
      <p:sp>
        <p:nvSpPr>
          <p:cNvPr id="277" name="QR"/>
          <p:cNvSpPr/>
          <p:nvPr/>
        </p:nvSpPr>
        <p:spPr>
          <a:xfrm>
            <a:off x="7363207" y="3141528"/>
            <a:ext cx="57142" cy="57142"/>
          </a:xfrm>
          <a:prstGeom prst="rect">
            <a:avLst/>
          </a:prstGeom>
          <a:solidFill>
            <a:srgbClr val="12302B"/>
          </a:solidFill>
          <a:ln>
            <a:noFill/>
          </a:ln>
        </p:spPr>
      </p:sp>
      <p:sp>
        <p:nvSpPr>
          <p:cNvPr id="278" name="QR"/>
          <p:cNvSpPr/>
          <p:nvPr/>
        </p:nvSpPr>
        <p:spPr>
          <a:xfrm>
            <a:off x="7534633" y="3141528"/>
            <a:ext cx="57142" cy="57142"/>
          </a:xfrm>
          <a:prstGeom prst="rect">
            <a:avLst/>
          </a:prstGeom>
          <a:solidFill>
            <a:srgbClr val="12302B"/>
          </a:solidFill>
          <a:ln>
            <a:noFill/>
          </a:ln>
        </p:spPr>
      </p:sp>
      <p:sp>
        <p:nvSpPr>
          <p:cNvPr id="279" name="QR"/>
          <p:cNvSpPr/>
          <p:nvPr/>
        </p:nvSpPr>
        <p:spPr>
          <a:xfrm>
            <a:off x="7191781" y="3198670"/>
            <a:ext cx="57142" cy="57142"/>
          </a:xfrm>
          <a:prstGeom prst="rect">
            <a:avLst/>
          </a:prstGeom>
          <a:solidFill>
            <a:srgbClr val="12302B"/>
          </a:solidFill>
          <a:ln>
            <a:noFill/>
          </a:ln>
        </p:spPr>
      </p:sp>
      <p:sp>
        <p:nvSpPr>
          <p:cNvPr id="280" name="QR"/>
          <p:cNvSpPr/>
          <p:nvPr/>
        </p:nvSpPr>
        <p:spPr>
          <a:xfrm>
            <a:off x="7248923" y="3198670"/>
            <a:ext cx="57142" cy="57142"/>
          </a:xfrm>
          <a:prstGeom prst="rect">
            <a:avLst/>
          </a:prstGeom>
          <a:solidFill>
            <a:srgbClr val="12302B"/>
          </a:solidFill>
          <a:ln>
            <a:noFill/>
          </a:ln>
        </p:spPr>
      </p:sp>
      <p:sp>
        <p:nvSpPr>
          <p:cNvPr id="281" name="QR"/>
          <p:cNvSpPr/>
          <p:nvPr/>
        </p:nvSpPr>
        <p:spPr>
          <a:xfrm>
            <a:off x="7363207" y="3198670"/>
            <a:ext cx="57142" cy="57142"/>
          </a:xfrm>
          <a:prstGeom prst="rect">
            <a:avLst/>
          </a:prstGeom>
          <a:solidFill>
            <a:srgbClr val="12302B"/>
          </a:solidFill>
          <a:ln>
            <a:noFill/>
          </a:ln>
        </p:spPr>
      </p:sp>
      <p:sp>
        <p:nvSpPr>
          <p:cNvPr id="282" name="QR"/>
          <p:cNvSpPr/>
          <p:nvPr/>
        </p:nvSpPr>
        <p:spPr>
          <a:xfrm>
            <a:off x="7420349" y="3198670"/>
            <a:ext cx="57142" cy="57142"/>
          </a:xfrm>
          <a:prstGeom prst="rect">
            <a:avLst/>
          </a:prstGeom>
          <a:solidFill>
            <a:srgbClr val="12302B"/>
          </a:solidFill>
          <a:ln>
            <a:noFill/>
          </a:ln>
        </p:spPr>
      </p:sp>
      <p:sp>
        <p:nvSpPr>
          <p:cNvPr id="283" name="QR"/>
          <p:cNvSpPr/>
          <p:nvPr/>
        </p:nvSpPr>
        <p:spPr>
          <a:xfrm>
            <a:off x="7477491" y="3198670"/>
            <a:ext cx="57142" cy="57142"/>
          </a:xfrm>
          <a:prstGeom prst="rect">
            <a:avLst/>
          </a:prstGeom>
          <a:solidFill>
            <a:srgbClr val="12302B"/>
          </a:solidFill>
          <a:ln>
            <a:noFill/>
          </a:ln>
        </p:spPr>
      </p:sp>
      <p:sp>
        <p:nvSpPr>
          <p:cNvPr id="284" name="QR teks"/>
          <p:cNvSpPr txBox="1"/>
          <p:nvPr/>
        </p:nvSpPr>
        <p:spPr>
          <a:xfrm>
            <a:off x="6834378" y="3305818"/>
            <a:ext cx="1114806" cy="200000"/>
          </a:xfrm>
          <a:prstGeom prst="rect">
            <a:avLst/>
          </a:prstGeom>
          <a:noFill/>
          <a:ln/>
        </p:spPr>
        <p:txBody>
          <a:bodyPr wrap="square" lIns="0" tIns="0" rIns="0" bIns="0" rtlCol="0" anchor="t"/>
          <a:lstStyle/>
          <a:p>
            <a:pPr marL="0" indent="0" algn="ctr">
              <a:buNone/>
            </a:pPr>
            <a:r>
              <a:rPr lang="id-ID" sz="900" b="1" dirty="0">
                <a:solidFill>
                  <a:srgbClr val="12302B"/>
                </a:solidFill>
                <a:latin typeface="Calibri" pitchFamily="34" charset="0"/>
                <a:ea typeface="Calibri" pitchFamily="34" charset="-122"/>
                <a:cs typeface="Calibri" pitchFamily="34" charset="-120"/>
              </a:rPr>
              <a:t>paspor digital</a:t>
            </a:r>
          </a:p>
        </p:txBody>
      </p:sp>
      <p:sp>
        <p:nvSpPr>
          <p:cNvPr id="285" name="Bin Aluminium"/>
          <p:cNvSpPr/>
          <p:nvPr/>
        </p:nvSpPr>
        <p:spPr>
          <a:xfrm>
            <a:off x="9063990" y="2571750"/>
            <a:ext cx="2229612" cy="304038"/>
          </a:xfrm>
          <a:prstGeom prst="roundRect">
            <a:avLst/>
          </a:prstGeom>
          <a:solidFill>
            <a:srgbClr val="E3EFEA"/>
          </a:solidFill>
          <a:ln w="12700">
            <a:solidFill>
              <a:srgbClr val="1F6F5C"/>
            </a:solidFill>
          </a:ln>
        </p:spPr>
        <p:txBody>
          <a:bodyPr wrap="square" lIns="45720" tIns="0" rIns="45720" bIns="0" rtlCol="0" anchor="ctr"/>
          <a:lstStyle/>
          <a:p>
            <a:pPr marL="0" indent="0" algn="ctr">
              <a:buNone/>
            </a:pPr>
            <a:r>
              <a:rPr lang="id-ID" sz="1000" b="1" dirty="0">
                <a:solidFill>
                  <a:srgbClr val="12302B"/>
                </a:solidFill>
                <a:latin typeface="Calibri" pitchFamily="34" charset="0"/>
                <a:ea typeface="Calibri" pitchFamily="34" charset="-122"/>
                <a:cs typeface="Calibri" pitchFamily="34" charset="-120"/>
              </a:rPr>
              <a:t>Aluminium</a:t>
            </a:r>
          </a:p>
        </p:txBody>
      </p:sp>
      <p:cxnSp>
        <p:nvCxnSpPr>
          <p:cNvPr id="286" name="ke Aluminium"/>
          <p:cNvCxnSpPr/>
          <p:nvPr/>
        </p:nvCxnSpPr>
        <p:spPr>
          <a:xfrm flipV="1">
            <a:off x="7989184" y="2723769"/>
            <a:ext cx="1034806" cy="392049"/>
          </a:xfrm>
          <a:prstGeom prst="straightConnector1">
            <a:avLst/>
          </a:prstGeom>
          <a:ln w="12700">
            <a:solidFill>
              <a:srgbClr val="1F6F5C"/>
            </a:solidFill>
            <a:tailEnd type="triangle"/>
          </a:ln>
        </p:spPr>
      </p:cxnSp>
      <p:sp>
        <p:nvSpPr>
          <p:cNvPr id="287" name="Bin Baterai (kobalt, litium)"/>
          <p:cNvSpPr/>
          <p:nvPr/>
        </p:nvSpPr>
        <p:spPr>
          <a:xfrm>
            <a:off x="9063990" y="2987802"/>
            <a:ext cx="2229612" cy="304038"/>
          </a:xfrm>
          <a:prstGeom prst="roundRect">
            <a:avLst/>
          </a:prstGeom>
          <a:solidFill>
            <a:srgbClr val="E3EFEA"/>
          </a:solidFill>
          <a:ln w="12700">
            <a:solidFill>
              <a:srgbClr val="C98A12"/>
            </a:solidFill>
          </a:ln>
        </p:spPr>
        <p:txBody>
          <a:bodyPr wrap="square" lIns="45720" tIns="0" rIns="45720" bIns="0" rtlCol="0" anchor="ctr"/>
          <a:lstStyle/>
          <a:p>
            <a:pPr marL="0" indent="0" algn="ctr">
              <a:buNone/>
            </a:pPr>
            <a:r>
              <a:rPr lang="id-ID" sz="1000" b="1" dirty="0">
                <a:solidFill>
                  <a:srgbClr val="12302B"/>
                </a:solidFill>
                <a:latin typeface="Calibri" pitchFamily="34" charset="0"/>
                <a:ea typeface="Calibri" pitchFamily="34" charset="-122"/>
                <a:cs typeface="Calibri" pitchFamily="34" charset="-120"/>
              </a:rPr>
              <a:t>Baterai (kobalt, litium)</a:t>
            </a:r>
          </a:p>
        </p:txBody>
      </p:sp>
      <p:cxnSp>
        <p:nvCxnSpPr>
          <p:cNvPr id="288" name="ke Baterai (kobalt, litium)"/>
          <p:cNvCxnSpPr/>
          <p:nvPr/>
        </p:nvCxnSpPr>
        <p:spPr>
          <a:xfrm>
            <a:off x="7989184" y="3115818"/>
            <a:ext cx="1034806" cy="24003"/>
          </a:xfrm>
          <a:prstGeom prst="straightConnector1">
            <a:avLst/>
          </a:prstGeom>
          <a:ln w="12700">
            <a:solidFill>
              <a:srgbClr val="1F6F5C"/>
            </a:solidFill>
            <a:tailEnd type="triangle"/>
          </a:ln>
        </p:spPr>
      </p:cxnSp>
      <p:sp>
        <p:nvSpPr>
          <p:cNvPr id="289" name="Bin Papan logika (emas, timah)"/>
          <p:cNvSpPr/>
          <p:nvPr/>
        </p:nvSpPr>
        <p:spPr>
          <a:xfrm>
            <a:off x="9063990" y="3403854"/>
            <a:ext cx="2229612" cy="304038"/>
          </a:xfrm>
          <a:prstGeom prst="roundRect">
            <a:avLst/>
          </a:prstGeom>
          <a:solidFill>
            <a:srgbClr val="E3EFEA"/>
          </a:solidFill>
          <a:ln w="12700">
            <a:solidFill>
              <a:srgbClr val="1F6F5C"/>
            </a:solidFill>
          </a:ln>
        </p:spPr>
        <p:txBody>
          <a:bodyPr wrap="square" lIns="45720" tIns="0" rIns="45720" bIns="0" rtlCol="0" anchor="ctr"/>
          <a:lstStyle/>
          <a:p>
            <a:pPr marL="0" indent="0" algn="ctr">
              <a:buNone/>
            </a:pPr>
            <a:r>
              <a:rPr lang="id-ID" sz="1000" b="1" dirty="0">
                <a:solidFill>
                  <a:srgbClr val="12302B"/>
                </a:solidFill>
                <a:latin typeface="Calibri" pitchFamily="34" charset="0"/>
                <a:ea typeface="Calibri" pitchFamily="34" charset="-122"/>
                <a:cs typeface="Calibri" pitchFamily="34" charset="-120"/>
              </a:rPr>
              <a:t>Papan logika (emas, timah)</a:t>
            </a:r>
          </a:p>
        </p:txBody>
      </p:sp>
      <p:cxnSp>
        <p:nvCxnSpPr>
          <p:cNvPr id="290" name="ke Papan logika (emas, timah)"/>
          <p:cNvCxnSpPr/>
          <p:nvPr/>
        </p:nvCxnSpPr>
        <p:spPr>
          <a:xfrm>
            <a:off x="7989184" y="3115818"/>
            <a:ext cx="1034806" cy="440055"/>
          </a:xfrm>
          <a:prstGeom prst="straightConnector1">
            <a:avLst/>
          </a:prstGeom>
          <a:ln w="12700">
            <a:solidFill>
              <a:srgbClr val="1F6F5C"/>
            </a:solidFill>
            <a:tailEnd type="triangle"/>
          </a:ln>
        </p:spPr>
      </p:cxnSp>
      <p:sp>
        <p:nvSpPr>
          <p:cNvPr id="291" name="Judul Sesudah — usulan"/>
          <p:cNvSpPr txBox="1"/>
          <p:nvPr/>
        </p:nvSpPr>
        <p:spPr>
          <a:xfrm>
            <a:off x="6576060" y="4023360"/>
            <a:ext cx="4975860" cy="320040"/>
          </a:xfrm>
          <a:prstGeom prst="rect">
            <a:avLst/>
          </a:prstGeom>
          <a:noFill/>
          <a:ln/>
        </p:spPr>
        <p:txBody>
          <a:bodyPr wrap="square" lIns="0" tIns="0" rIns="0" bIns="0" rtlCol="0" anchor="t"/>
          <a:lstStyle/>
          <a:p>
            <a:pPr marL="0" indent="0" algn="l">
              <a:buNone/>
            </a:pPr>
            <a:r>
              <a:rPr lang="id-ID" sz="1600" b="1" dirty="0">
                <a:solidFill>
                  <a:srgbClr val="1F6F5C"/>
                </a:solidFill>
                <a:latin typeface="Cambria" pitchFamily="34" charset="0"/>
                <a:ea typeface="Cambria" pitchFamily="34" charset="-122"/>
                <a:cs typeface="Cambria" pitchFamily="34" charset="-120"/>
              </a:rPr>
              <a:t>Sesudah — usulan</a:t>
            </a:r>
          </a:p>
        </p:txBody>
      </p:sp>
      <p:sp>
        <p:nvSpPr>
          <p:cNvPr id="292" name="Poin Sesudah — usulan"/>
          <p:cNvSpPr txBox="1"/>
          <p:nvPr/>
        </p:nvSpPr>
        <p:spPr>
          <a:xfrm>
            <a:off x="6576060" y="4389120"/>
            <a:ext cx="4975860" cy="1874520"/>
          </a:xfrm>
          <a:prstGeom prst="rect">
            <a:avLst/>
          </a:prstGeom>
          <a:noFill/>
          <a:ln/>
        </p:spPr>
        <p:txBody>
          <a:bodyPr wrap="square" lIns="0" tIns="0" rIns="0" bIns="0" rtlCol="0" anchor="t"/>
          <a:lstStyle/>
          <a:p>
            <a:pPr marL="228600" indent="-228600" algn="l">
              <a:spcAft>
                <a:spcPts val="200"/>
              </a:spcAft>
              <a:buFont typeface="Arial"/>
              <a:buChar char="•"/>
            </a:pPr>
            <a:r>
              <a:rPr lang="id-ID" sz="1200" dirty="0">
                <a:solidFill>
                  <a:srgbClr val="12302B"/>
                </a:solidFill>
                <a:latin typeface="Calibri" pitchFamily="34" charset="0"/>
                <a:ea typeface="Calibri" pitchFamily="34" charset="-122"/>
                <a:cs typeface="Calibri" pitchFamily="34" charset="-120"/>
              </a:rPr>
              <a:t>Setiap unit membawa paspor digital (QR) berisi komposisi dan urutan bongkar.</a:t>
            </a:r>
          </a:p>
          <a:p>
            <a:pPr marL="228600" indent="-228600" algn="l">
              <a:spcAft>
                <a:spcPts val="200"/>
              </a:spcAft>
              <a:buFont typeface="Arial"/>
              <a:buChar char="•"/>
            </a:pPr>
            <a:r>
              <a:rPr lang="id-ID" sz="1200" dirty="0">
                <a:solidFill>
                  <a:srgbClr val="12302B"/>
                </a:solidFill>
                <a:latin typeface="Calibri" pitchFamily="34" charset="0"/>
                <a:ea typeface="Calibri" pitchFamily="34" charset="-122"/>
                <a:cs typeface="Calibri" pitchFamily="34" charset="-120"/>
              </a:rPr>
              <a:t>Mitra pemulihan memilah modul untuk pakai ulang, perbaikan, atau daur ulang.</a:t>
            </a:r>
          </a:p>
          <a:p>
            <a:pPr marL="228600" indent="-228600" algn="l">
              <a:spcAft>
                <a:spcPts val="200"/>
              </a:spcAft>
              <a:buFont typeface="Arial"/>
              <a:buChar char="•"/>
            </a:pPr>
            <a:r>
              <a:rPr lang="id-ID" sz="1200" dirty="0">
                <a:solidFill>
                  <a:srgbClr val="12302B"/>
                </a:solidFill>
                <a:latin typeface="Calibri" pitchFamily="34" charset="0"/>
                <a:ea typeface="Calibri" pitchFamily="34" charset="-122"/>
                <a:cs typeface="Calibri" pitchFamily="34" charset="-120"/>
              </a:rPr>
              <a:t>Dihubungkan dengan program pengembalian di pasar berkembang, termasuk Indonesia.</a:t>
            </a:r>
          </a:p>
          <a:p>
            <a:pPr marL="228600" indent="-228600" algn="l">
              <a:spcAft>
                <a:spcPts val="200"/>
              </a:spcAft>
              <a:buFont typeface="Arial"/>
              <a:buChar char="•"/>
            </a:pPr>
            <a:r>
              <a:rPr lang="id-ID" sz="1200" dirty="0">
                <a:solidFill>
                  <a:srgbClr val="12302B"/>
                </a:solidFill>
                <a:latin typeface="Calibri" pitchFamily="34" charset="0"/>
                <a:ea typeface="Calibri" pitchFamily="34" charset="-122"/>
                <a:cs typeface="Calibri" pitchFamily="34" charset="-120"/>
              </a:rPr>
              <a:t>Dievaluasi dengan KPI yang ditetapkan sebelum uji coba: tingkat pengumpulan per negara dan kemurnian material.</a:t>
            </a:r>
          </a:p>
        </p:txBody>
      </p:sp>
      <p:sp>
        <p:nvSpPr>
          <p:cNvPr id="293" name="Panah"/>
          <p:cNvSpPr/>
          <p:nvPr/>
        </p:nvSpPr>
        <p:spPr>
          <a:xfrm>
            <a:off x="5890260" y="4069080"/>
            <a:ext cx="411480" cy="365760"/>
          </a:xfrm>
          <a:prstGeom prst="rightArrow">
            <a:avLst/>
          </a:prstGeom>
          <a:solidFill>
            <a:srgbClr val="1F6F5C"/>
          </a:solidFill>
          <a:ln>
            <a:no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7">
    <p:bg>
      <p:bgPr>
        <a:solidFill>
          <a:srgbClr val="F4F8F6"/>
        </a:solidFill>
        <a:effectLst/>
      </p:bgPr>
    </p:bg>
    <p:spTree>
      <p:nvGrpSpPr>
        <p:cNvPr id="1" name=""/>
        <p:cNvGrpSpPr/>
        <p:nvPr/>
      </p:nvGrpSpPr>
      <p:grpSpPr>
        <a:xfrm>
          <a:off x="0" y="0"/>
          <a:ext cx="0" cy="0"/>
          <a:chOff x="0" y="0"/>
          <a:chExt cx="0" cy="0"/>
        </a:xfrm>
      </p:grpSpPr>
      <p:sp>
        <p:nvSpPr>
          <p:cNvPr id="2" name="badge"/>
          <p:cNvSpPr/>
          <p:nvPr/>
        </p:nvSpPr>
        <p:spPr>
          <a:xfrm>
            <a:off x="457200" y="384048"/>
            <a:ext cx="566928" cy="566928"/>
          </a:xfrm>
          <a:prstGeom prst="ellipse">
            <a:avLst/>
          </a:prstGeom>
          <a:solidFill>
            <a:srgbClr val="1F6F5C"/>
          </a:solidFill>
          <a:ln w="12700">
            <a:solidFill>
              <a:srgbClr val="1F6F5C"/>
            </a:solidFill>
            <a:prstDash val="solid"/>
          </a:ln>
        </p:spPr>
      </p:sp>
      <p:sp>
        <p:nvSpPr>
          <p:cNvPr id="3" name="Text 1"/>
          <p:cNvSpPr txBox="1"/>
          <p:nvPr/>
        </p:nvSpPr>
        <p:spPr>
          <a:xfrm>
            <a:off x="457200" y="384048"/>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4" name="Text 2"/>
          <p:cNvSpPr txBox="1"/>
          <p:nvPr/>
        </p:nvSpPr>
        <p:spPr>
          <a:xfrm>
            <a:off x="1188720" y="292608"/>
            <a:ext cx="9692640" cy="457200"/>
          </a:xfrm>
          <a:prstGeom prst="rect">
            <a:avLst/>
          </a:prstGeom>
          <a:noFill/>
          <a:ln/>
        </p:spPr>
        <p:txBody>
          <a:bodyPr wrap="square" lIns="0" tIns="0" rIns="0" bIns="0" rtlCol="0" anchor="ctr"/>
          <a:lstStyle/>
          <a:p>
            <a:pPr marL="0" indent="0">
              <a:buNone/>
            </a:pPr>
            <a:r>
              <a:rPr lang="en-US" sz="3000" b="1" dirty="0">
                <a:solidFill>
                  <a:srgbClr val="12302B"/>
                </a:solidFill>
                <a:latin typeface="Cambria" pitchFamily="34" charset="0"/>
                <a:ea typeface="Cambria" pitchFamily="34" charset="-122"/>
                <a:cs typeface="Cambria" pitchFamily="34" charset="-120"/>
              </a:rPr>
              <a:t>Rekomendasi dan KPI</a:t>
            </a:r>
            <a:endParaRPr lang="en-US" sz="3000" dirty="0"/>
          </a:p>
        </p:txBody>
      </p:sp>
      <p:sp>
        <p:nvSpPr>
          <p:cNvPr id="5" name="Text 3"/>
          <p:cNvSpPr txBox="1"/>
          <p:nvPr/>
        </p:nvSpPr>
        <p:spPr>
          <a:xfrm>
            <a:off x="1188720" y="768096"/>
            <a:ext cx="10424160" cy="292608"/>
          </a:xfrm>
          <a:prstGeom prst="rect">
            <a:avLst/>
          </a:prstGeom>
          <a:noFill/>
          <a:ln/>
        </p:spPr>
        <p:txBody>
          <a:bodyPr wrap="square" lIns="0" tIns="0" rIns="0" bIns="0" rtlCol="0" anchor="t"/>
          <a:lstStyle/>
          <a:p>
            <a:pPr marL="0" indent="0">
              <a:buNone/>
            </a:pPr>
            <a:r>
              <a:rPr lang="en-US" sz="1400" i="1" dirty="0">
                <a:solidFill>
                  <a:srgbClr val="5B6B68"/>
                </a:solidFill>
                <a:latin typeface="Calibri" pitchFamily="34" charset="0"/>
                <a:ea typeface="Calibri" pitchFamily="34" charset="-122"/>
                <a:cs typeface="Calibri" pitchFamily="34" charset="-120"/>
              </a:rPr>
              <a:t>Menuju iPhone yang lebih mudah dibongkar, lebih bernilai, dan lebih sirkular</a:t>
            </a:r>
            <a:endParaRPr lang="en-US" sz="1400" dirty="0"/>
          </a:p>
        </p:txBody>
      </p:sp>
      <p:sp>
        <p:nvSpPr>
          <p:cNvPr id="6" name="Shape 4"/>
          <p:cNvSpPr/>
          <p:nvPr/>
        </p:nvSpPr>
        <p:spPr>
          <a:xfrm>
            <a:off x="457200" y="1280160"/>
            <a:ext cx="4937760" cy="4937760"/>
          </a:xfrm>
          <a:prstGeom prst="roundRect">
            <a:avLst>
              <a:gd name="adj" fmla="val 1852"/>
            </a:avLst>
          </a:prstGeom>
          <a:solidFill>
            <a:srgbClr val="FFFFFF"/>
          </a:solidFill>
          <a:ln w="9525">
            <a:solidFill>
              <a:srgbClr val="D5E2DD"/>
            </a:solidFill>
            <a:prstDash val="solid"/>
          </a:ln>
          <a:effectLst>
            <a:outerShdw blurRad="76200" dist="25400" dir="5400000" algn="bl" rotWithShape="0">
              <a:srgbClr val="000000">
                <a:alpha val="12000"/>
              </a:srgbClr>
            </a:outerShdw>
          </a:effectLst>
        </p:spPr>
      </p:sp>
      <p:sp>
        <p:nvSpPr>
          <p:cNvPr id="7" name="Text 5"/>
          <p:cNvSpPr txBox="1"/>
          <p:nvPr/>
        </p:nvSpPr>
        <p:spPr>
          <a:xfrm>
            <a:off x="685800" y="1417320"/>
            <a:ext cx="4572000" cy="347472"/>
          </a:xfrm>
          <a:prstGeom prst="rect">
            <a:avLst/>
          </a:prstGeom>
          <a:noFill/>
          <a:ln/>
        </p:spPr>
        <p:txBody>
          <a:bodyPr wrap="square" lIns="0" tIns="0" rIns="0" bIns="0" rtlCol="0" anchor="t"/>
          <a:lstStyle/>
          <a:p>
            <a:pPr marL="0" indent="0">
              <a:buNone/>
            </a:pPr>
            <a:r>
              <a:rPr lang="en-US" sz="2000" b="1" dirty="0">
                <a:solidFill>
                  <a:srgbClr val="1F6F5C"/>
                </a:solidFill>
                <a:latin typeface="Cambria" pitchFamily="34" charset="0"/>
                <a:ea typeface="Cambria" pitchFamily="34" charset="-122"/>
                <a:cs typeface="Cambria" pitchFamily="34" charset="-120"/>
              </a:rPr>
              <a:t>Arah perbaikan</a:t>
            </a:r>
            <a:endParaRPr lang="en-US" sz="2000" dirty="0"/>
          </a:p>
        </p:txBody>
      </p:sp>
      <p:sp>
        <p:nvSpPr>
          <p:cNvPr id="8" name="Text 6"/>
          <p:cNvSpPr txBox="1"/>
          <p:nvPr/>
        </p:nvSpPr>
        <p:spPr>
          <a:xfrm>
            <a:off x="685800" y="1874520"/>
            <a:ext cx="4526280" cy="420624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rgbClr val="1B2B2A"/>
                </a:solidFill>
                <a:latin typeface="Calibri" pitchFamily="34" charset="0"/>
                <a:ea typeface="Calibri" pitchFamily="34" charset="-122"/>
                <a:cs typeface="Calibri" pitchFamily="34" charset="-120"/>
              </a:rPr>
              <a:t>Samakan dukungan suku cadang dan perangkat lunak di semua pasar setara standar UE</a:t>
            </a:r>
            <a:endParaRPr lang="en-US" sz="1400" dirty="0"/>
          </a:p>
          <a:p>
            <a:pPr marL="342900" indent="-342900">
              <a:spcAft>
                <a:spcPts val="900"/>
              </a:spcAft>
              <a:buSzPct val="100000"/>
              <a:buChar char="•"/>
            </a:pPr>
            <a:r>
              <a:rPr lang="en-US" sz="1400" dirty="0">
                <a:solidFill>
                  <a:srgbClr val="1B2B2A"/>
                </a:solidFill>
                <a:latin typeface="Calibri" pitchFamily="34" charset="0"/>
                <a:ea typeface="Calibri" pitchFamily="34" charset="-122"/>
                <a:cs typeface="Calibri" pitchFamily="34" charset="-120"/>
              </a:rPr>
              <a:t>Ukur dan umumkan umur layanan aktual serta rasio reparasi</a:t>
            </a:r>
            <a:endParaRPr lang="en-US" sz="1400" dirty="0"/>
          </a:p>
          <a:p>
            <a:pPr marL="342900" indent="-342900">
              <a:spcAft>
                <a:spcPts val="900"/>
              </a:spcAft>
              <a:buSzPct val="100000"/>
              <a:buChar char="•"/>
            </a:pPr>
            <a:r>
              <a:rPr lang="en-US" sz="1400" dirty="0">
                <a:solidFill>
                  <a:srgbClr val="1B2B2A"/>
                </a:solidFill>
                <a:latin typeface="Calibri" pitchFamily="34" charset="0"/>
                <a:ea typeface="Calibri" pitchFamily="34" charset="-122"/>
                <a:cs typeface="Calibri" pitchFamily="34" charset="-120"/>
              </a:rPr>
              <a:t>Hapus hambatan penyandingan suku cadang pada model baru</a:t>
            </a:r>
            <a:endParaRPr lang="en-US" sz="1400" dirty="0"/>
          </a:p>
          <a:p>
            <a:pPr marL="342900" indent="-342900">
              <a:spcAft>
                <a:spcPts val="900"/>
              </a:spcAft>
              <a:buSzPct val="100000"/>
              <a:buChar char="•"/>
            </a:pPr>
            <a:r>
              <a:rPr lang="en-US" sz="1400" dirty="0">
                <a:solidFill>
                  <a:srgbClr val="1B2B2A"/>
                </a:solidFill>
                <a:latin typeface="Calibri" pitchFamily="34" charset="0"/>
                <a:ea typeface="Calibri" pitchFamily="34" charset="-122"/>
                <a:cs typeface="Calibri" pitchFamily="34" charset="-120"/>
              </a:rPr>
              <a:t>Bangun pengambilan kembali di pasar berkembang, termasuk Indonesia</a:t>
            </a:r>
            <a:endParaRPr lang="en-US" sz="1400" dirty="0"/>
          </a:p>
          <a:p>
            <a:pPr marL="342900" indent="-342900">
              <a:spcAft>
                <a:spcPts val="900"/>
              </a:spcAft>
              <a:buSzPct val="100000"/>
              <a:buChar char="•"/>
            </a:pPr>
            <a:r>
              <a:rPr lang="en-US" sz="1400" dirty="0">
                <a:solidFill>
                  <a:srgbClr val="1B2B2A"/>
                </a:solidFill>
                <a:latin typeface="Calibri" pitchFamily="34" charset="0"/>
                <a:ea typeface="Calibri" pitchFamily="34" charset="-122"/>
                <a:cs typeface="Calibri" pitchFamily="34" charset="-120"/>
              </a:rPr>
              <a:t>Awasi rebound tukar tambah dan publikasikan kepatuhan jam kerja pemasok</a:t>
            </a:r>
            <a:endParaRPr lang="en-US" sz="1400" dirty="0"/>
          </a:p>
        </p:txBody>
      </p:sp>
      <p:sp>
        <p:nvSpPr>
          <p:cNvPr id="9" name="Text 7"/>
          <p:cNvSpPr txBox="1"/>
          <p:nvPr/>
        </p:nvSpPr>
        <p:spPr>
          <a:xfrm>
            <a:off x="5669280" y="1280160"/>
            <a:ext cx="6035040" cy="347472"/>
          </a:xfrm>
          <a:prstGeom prst="rect">
            <a:avLst/>
          </a:prstGeom>
          <a:noFill/>
          <a:ln/>
        </p:spPr>
        <p:txBody>
          <a:bodyPr wrap="square" lIns="0" tIns="0" rIns="0" bIns="0" rtlCol="0" anchor="t"/>
          <a:lstStyle/>
          <a:p>
            <a:pPr marL="0" indent="0">
              <a:buNone/>
            </a:pPr>
            <a:r>
              <a:rPr lang="en-US" sz="2000" b="1" dirty="0">
                <a:solidFill>
                  <a:srgbClr val="12302B"/>
                </a:solidFill>
                <a:latin typeface="Cambria" pitchFamily="34" charset="0"/>
                <a:ea typeface="Cambria" pitchFamily="34" charset="-122"/>
                <a:cs typeface="Cambria" pitchFamily="34" charset="-120"/>
              </a:rPr>
              <a:t>KPI keberhasilan</a:t>
            </a:r>
            <a:endParaRPr lang="en-US" sz="2000" dirty="0"/>
          </a:p>
        </p:txBody>
      </p:sp>
      <p:sp>
        <p:nvSpPr>
          <p:cNvPr id="10" name="Shape 8"/>
          <p:cNvSpPr/>
          <p:nvPr/>
        </p:nvSpPr>
        <p:spPr>
          <a:xfrm>
            <a:off x="5669280" y="1737360"/>
            <a:ext cx="6062472" cy="987552"/>
          </a:xfrm>
          <a:prstGeom prst="roundRect">
            <a:avLst>
              <a:gd name="adj" fmla="val 9259"/>
            </a:avLst>
          </a:prstGeom>
          <a:solidFill>
            <a:srgbClr val="FFFFFF"/>
          </a:solidFill>
          <a:ln w="9525">
            <a:solidFill>
              <a:srgbClr val="D5E2DD"/>
            </a:solidFill>
            <a:prstDash val="solid"/>
          </a:ln>
          <a:effectLst>
            <a:outerShdw blurRad="76200" dist="25400" dir="5400000" algn="bl" rotWithShape="0">
              <a:srgbClr val="000000">
                <a:alpha val="12000"/>
              </a:srgbClr>
            </a:outerShdw>
          </a:effectLst>
        </p:spPr>
      </p:sp>
      <p:sp>
        <p:nvSpPr>
          <p:cNvPr id="11" name="Text 9"/>
          <p:cNvSpPr txBox="1"/>
          <p:nvPr/>
        </p:nvSpPr>
        <p:spPr>
          <a:xfrm>
            <a:off x="5852160" y="1828800"/>
            <a:ext cx="5669280" cy="320040"/>
          </a:xfrm>
          <a:prstGeom prst="rect">
            <a:avLst/>
          </a:prstGeom>
          <a:noFill/>
          <a:ln/>
        </p:spPr>
        <p:txBody>
          <a:bodyPr wrap="square" lIns="0" tIns="0" rIns="0" bIns="0" rtlCol="0" anchor="t"/>
          <a:lstStyle/>
          <a:p>
            <a:pPr marL="0" indent="0">
              <a:buNone/>
            </a:pPr>
            <a:r>
              <a:rPr lang="en-US" sz="1600" b="1" dirty="0">
                <a:solidFill>
                  <a:srgbClr val="12302B"/>
                </a:solidFill>
                <a:latin typeface="Calibri" pitchFamily="34" charset="0"/>
                <a:ea typeface="Calibri" pitchFamily="34" charset="-122"/>
                <a:cs typeface="Calibri" pitchFamily="34" charset="-120"/>
              </a:rPr>
              <a:t>Waktu penggantian baterai</a:t>
            </a:r>
            <a:endParaRPr lang="en-US" sz="1600" dirty="0"/>
          </a:p>
        </p:txBody>
      </p:sp>
      <p:sp>
        <p:nvSpPr>
          <p:cNvPr id="12" name="Text 10"/>
          <p:cNvSpPr txBox="1"/>
          <p:nvPr/>
        </p:nvSpPr>
        <p:spPr>
          <a:xfrm>
            <a:off x="5852160" y="2240280"/>
            <a:ext cx="5760720" cy="365760"/>
          </a:xfrm>
          <a:prstGeom prst="rect">
            <a:avLst/>
          </a:prstGeom>
          <a:noFill/>
          <a:ln/>
        </p:spPr>
        <p:txBody>
          <a:bodyPr wrap="square" lIns="0" tIns="0" rIns="0" bIns="0" rtlCol="0" anchor="t"/>
          <a:lstStyle/>
          <a:p>
            <a:pPr marL="0" indent="0">
              <a:buNone/>
            </a:pPr>
            <a:r>
              <a:rPr lang="en-US" sz="1400" dirty="0">
                <a:solidFill>
                  <a:srgbClr val="5B6B68"/>
                </a:solidFill>
                <a:latin typeface="Calibri" pitchFamily="34" charset="0"/>
                <a:ea typeface="Calibri" pitchFamily="34" charset="-122"/>
                <a:cs typeface="Calibri" pitchFamily="34" charset="-120"/>
              </a:rPr>
              <a:t>Baseline: total belum dipublikasikan</a:t>
            </a:r>
            <a:r>
              <a:rPr lang="en-US" sz="1400" b="1" dirty="0">
                <a:solidFill>
                  <a:srgbClr val="B5651D"/>
                </a:solidFill>
                <a:latin typeface="Calibri" pitchFamily="34" charset="0"/>
                <a:ea typeface="Calibri" pitchFamily="34" charset="-122"/>
                <a:cs typeface="Calibri" pitchFamily="34" charset="-120"/>
              </a:rPr>
              <a:t>   →   </a:t>
            </a:r>
            <a:r>
              <a:rPr lang="en-US" sz="1400" b="1" dirty="0">
                <a:solidFill>
                  <a:srgbClr val="1F6F5C"/>
                </a:solidFill>
                <a:latin typeface="Calibri" pitchFamily="34" charset="0"/>
                <a:ea typeface="Calibri" pitchFamily="34" charset="-122"/>
                <a:cs typeface="Calibri" pitchFamily="34" charset="-120"/>
              </a:rPr>
              <a:t>Target: ≤ 5 menit</a:t>
            </a:r>
            <a:endParaRPr lang="en-US" sz="1400" dirty="0"/>
          </a:p>
        </p:txBody>
      </p:sp>
      <p:sp>
        <p:nvSpPr>
          <p:cNvPr id="13" name="Shape 11"/>
          <p:cNvSpPr/>
          <p:nvPr/>
        </p:nvSpPr>
        <p:spPr>
          <a:xfrm>
            <a:off x="5669280" y="2834640"/>
            <a:ext cx="6062472" cy="987552"/>
          </a:xfrm>
          <a:prstGeom prst="roundRect">
            <a:avLst>
              <a:gd name="adj" fmla="val 9259"/>
            </a:avLst>
          </a:prstGeom>
          <a:solidFill>
            <a:srgbClr val="FFFFFF"/>
          </a:solidFill>
          <a:ln w="9525">
            <a:solidFill>
              <a:srgbClr val="D5E2DD"/>
            </a:solidFill>
            <a:prstDash val="solid"/>
          </a:ln>
          <a:effectLst>
            <a:outerShdw blurRad="76200" dist="25400" dir="5400000" algn="bl" rotWithShape="0">
              <a:srgbClr val="000000">
                <a:alpha val="12000"/>
              </a:srgbClr>
            </a:outerShdw>
          </a:effectLst>
        </p:spPr>
      </p:sp>
      <p:sp>
        <p:nvSpPr>
          <p:cNvPr id="14" name="Text 12"/>
          <p:cNvSpPr txBox="1"/>
          <p:nvPr/>
        </p:nvSpPr>
        <p:spPr>
          <a:xfrm>
            <a:off x="5852160" y="2926080"/>
            <a:ext cx="5669280" cy="320040"/>
          </a:xfrm>
          <a:prstGeom prst="rect">
            <a:avLst/>
          </a:prstGeom>
          <a:noFill/>
          <a:ln/>
        </p:spPr>
        <p:txBody>
          <a:bodyPr wrap="square" lIns="0" tIns="0" rIns="0" bIns="0" rtlCol="0" anchor="t"/>
          <a:lstStyle/>
          <a:p>
            <a:pPr marL="0" indent="0">
              <a:buNone/>
            </a:pPr>
            <a:r>
              <a:rPr lang="en-US" sz="1600" b="1" dirty="0">
                <a:solidFill>
                  <a:srgbClr val="12302B"/>
                </a:solidFill>
                <a:latin typeface="Calibri" pitchFamily="34" charset="0"/>
                <a:ea typeface="Calibri" pitchFamily="34" charset="-122"/>
                <a:cs typeface="Calibri" pitchFamily="34" charset="-120"/>
              </a:rPr>
              <a:t>Dampak per pengguna-tahun</a:t>
            </a:r>
            <a:endParaRPr lang="en-US" sz="1600" dirty="0"/>
          </a:p>
        </p:txBody>
      </p:sp>
      <p:sp>
        <p:nvSpPr>
          <p:cNvPr id="15" name="Text 13"/>
          <p:cNvSpPr txBox="1"/>
          <p:nvPr/>
        </p:nvSpPr>
        <p:spPr>
          <a:xfrm>
            <a:off x="5852160" y="3337560"/>
            <a:ext cx="5760720" cy="365760"/>
          </a:xfrm>
          <a:prstGeom prst="rect">
            <a:avLst/>
          </a:prstGeom>
          <a:noFill/>
          <a:ln/>
        </p:spPr>
        <p:txBody>
          <a:bodyPr wrap="square" lIns="0" tIns="0" rIns="0" bIns="0" rtlCol="0" anchor="t"/>
          <a:lstStyle/>
          <a:p>
            <a:pPr marL="0" indent="0">
              <a:buNone/>
            </a:pPr>
            <a:r>
              <a:rPr lang="en-US" sz="1400" dirty="0">
                <a:solidFill>
                  <a:srgbClr val="5B6B68"/>
                </a:solidFill>
                <a:latin typeface="Calibri" pitchFamily="34" charset="0"/>
                <a:ea typeface="Calibri" pitchFamily="34" charset="-122"/>
                <a:cs typeface="Calibri" pitchFamily="34" charset="-120"/>
              </a:rPr>
              <a:t>Baseline: 20 kg CO2e (3 tahun)</a:t>
            </a:r>
            <a:r>
              <a:rPr lang="en-US" sz="1400" b="1" dirty="0">
                <a:solidFill>
                  <a:srgbClr val="B5651D"/>
                </a:solidFill>
                <a:latin typeface="Calibri" pitchFamily="34" charset="0"/>
                <a:ea typeface="Calibri" pitchFamily="34" charset="-122"/>
                <a:cs typeface="Calibri" pitchFamily="34" charset="-120"/>
              </a:rPr>
              <a:t>   →   </a:t>
            </a:r>
            <a:r>
              <a:rPr lang="en-US" sz="1400" b="1" dirty="0">
                <a:solidFill>
                  <a:srgbClr val="1F6F5C"/>
                </a:solidFill>
                <a:latin typeface="Calibri" pitchFamily="34" charset="0"/>
                <a:ea typeface="Calibri" pitchFamily="34" charset="-122"/>
                <a:cs typeface="Calibri" pitchFamily="34" charset="-120"/>
              </a:rPr>
              <a:t>Target: 13 kg atau lebih rendah (5 tahun)</a:t>
            </a:r>
            <a:endParaRPr lang="en-US" sz="1400" dirty="0"/>
          </a:p>
        </p:txBody>
      </p:sp>
      <p:sp>
        <p:nvSpPr>
          <p:cNvPr id="16" name="Shape 14"/>
          <p:cNvSpPr/>
          <p:nvPr/>
        </p:nvSpPr>
        <p:spPr>
          <a:xfrm>
            <a:off x="5669280" y="3931920"/>
            <a:ext cx="6062472" cy="987552"/>
          </a:xfrm>
          <a:prstGeom prst="roundRect">
            <a:avLst>
              <a:gd name="adj" fmla="val 9259"/>
            </a:avLst>
          </a:prstGeom>
          <a:solidFill>
            <a:srgbClr val="FFFFFF"/>
          </a:solidFill>
          <a:ln w="9525">
            <a:solidFill>
              <a:srgbClr val="D5E2DD"/>
            </a:solidFill>
            <a:prstDash val="solid"/>
          </a:ln>
          <a:effectLst>
            <a:outerShdw blurRad="76200" dist="25400" dir="5400000" algn="bl" rotWithShape="0">
              <a:srgbClr val="000000">
                <a:alpha val="12000"/>
              </a:srgbClr>
            </a:outerShdw>
          </a:effectLst>
        </p:spPr>
      </p:sp>
      <p:sp>
        <p:nvSpPr>
          <p:cNvPr id="17" name="Text 15"/>
          <p:cNvSpPr txBox="1"/>
          <p:nvPr/>
        </p:nvSpPr>
        <p:spPr>
          <a:xfrm>
            <a:off x="5852160" y="4023360"/>
            <a:ext cx="5669280" cy="320040"/>
          </a:xfrm>
          <a:prstGeom prst="rect">
            <a:avLst/>
          </a:prstGeom>
          <a:noFill/>
          <a:ln/>
        </p:spPr>
        <p:txBody>
          <a:bodyPr wrap="square" lIns="0" tIns="0" rIns="0" bIns="0" rtlCol="0" anchor="t"/>
          <a:lstStyle/>
          <a:p>
            <a:pPr marL="0" indent="0">
              <a:buNone/>
            </a:pPr>
            <a:r>
              <a:rPr lang="en-US" sz="1600" b="1" dirty="0">
                <a:solidFill>
                  <a:srgbClr val="12302B"/>
                </a:solidFill>
                <a:latin typeface="Calibri" pitchFamily="34" charset="0"/>
                <a:ea typeface="Calibri" pitchFamily="34" charset="-122"/>
                <a:cs typeface="Calibri" pitchFamily="34" charset="-120"/>
              </a:rPr>
              <a:t>Tingkat pengumpulan per negara</a:t>
            </a:r>
            <a:endParaRPr lang="en-US" sz="1600" dirty="0"/>
          </a:p>
        </p:txBody>
      </p:sp>
      <p:sp>
        <p:nvSpPr>
          <p:cNvPr id="18" name="Text 16"/>
          <p:cNvSpPr txBox="1"/>
          <p:nvPr/>
        </p:nvSpPr>
        <p:spPr>
          <a:xfrm>
            <a:off x="5852160" y="4434840"/>
            <a:ext cx="5760720" cy="365760"/>
          </a:xfrm>
          <a:prstGeom prst="rect">
            <a:avLst/>
          </a:prstGeom>
          <a:noFill/>
          <a:ln/>
        </p:spPr>
        <p:txBody>
          <a:bodyPr wrap="square" lIns="0" tIns="0" rIns="0" bIns="0" rtlCol="0" anchor="t"/>
          <a:lstStyle/>
          <a:p>
            <a:pPr marL="0" indent="0">
              <a:buNone/>
            </a:pPr>
            <a:r>
              <a:rPr lang="en-US" sz="1400" dirty="0">
                <a:solidFill>
                  <a:srgbClr val="5B6B68"/>
                </a:solidFill>
                <a:latin typeface="Calibri" pitchFamily="34" charset="0"/>
                <a:ea typeface="Calibri" pitchFamily="34" charset="-122"/>
                <a:cs typeface="Calibri" pitchFamily="34" charset="-120"/>
              </a:rPr>
              <a:t>Baseline: 22,3% (e-waste global)</a:t>
            </a:r>
            <a:r>
              <a:rPr lang="en-US" sz="1400" b="1" dirty="0">
                <a:solidFill>
                  <a:srgbClr val="B5651D"/>
                </a:solidFill>
                <a:latin typeface="Calibri" pitchFamily="34" charset="0"/>
                <a:ea typeface="Calibri" pitchFamily="34" charset="-122"/>
                <a:cs typeface="Calibri" pitchFamily="34" charset="-120"/>
              </a:rPr>
              <a:t>   →   </a:t>
            </a:r>
            <a:r>
              <a:rPr lang="en-US" sz="1400" b="1" dirty="0">
                <a:solidFill>
                  <a:srgbClr val="1F6F5C"/>
                </a:solidFill>
                <a:latin typeface="Calibri" pitchFamily="34" charset="0"/>
                <a:ea typeface="Calibri" pitchFamily="34" charset="-122"/>
                <a:cs typeface="Calibri" pitchFamily="34" charset="-120"/>
              </a:rPr>
              <a:t>Target: dilaporkan per negara</a:t>
            </a:r>
            <a:endParaRPr lang="en-US" sz="1400" dirty="0"/>
          </a:p>
        </p:txBody>
      </p:sp>
      <p:sp>
        <p:nvSpPr>
          <p:cNvPr id="19" name="Shape 17"/>
          <p:cNvSpPr/>
          <p:nvPr/>
        </p:nvSpPr>
        <p:spPr>
          <a:xfrm>
            <a:off x="5669280" y="5029200"/>
            <a:ext cx="6062472" cy="987552"/>
          </a:xfrm>
          <a:prstGeom prst="roundRect">
            <a:avLst>
              <a:gd name="adj" fmla="val 9259"/>
            </a:avLst>
          </a:prstGeom>
          <a:solidFill>
            <a:srgbClr val="FFFFFF"/>
          </a:solidFill>
          <a:ln w="9525">
            <a:solidFill>
              <a:srgbClr val="D5E2DD"/>
            </a:solidFill>
            <a:prstDash val="solid"/>
          </a:ln>
          <a:effectLst>
            <a:outerShdw blurRad="76200" dist="25400" dir="5400000" algn="bl" rotWithShape="0">
              <a:srgbClr val="000000">
                <a:alpha val="12000"/>
              </a:srgbClr>
            </a:outerShdw>
          </a:effectLst>
        </p:spPr>
      </p:sp>
      <p:sp>
        <p:nvSpPr>
          <p:cNvPr id="20" name="Text 18"/>
          <p:cNvSpPr txBox="1"/>
          <p:nvPr/>
        </p:nvSpPr>
        <p:spPr>
          <a:xfrm>
            <a:off x="5852160" y="5120640"/>
            <a:ext cx="5669280" cy="320040"/>
          </a:xfrm>
          <a:prstGeom prst="rect">
            <a:avLst/>
          </a:prstGeom>
          <a:noFill/>
          <a:ln/>
        </p:spPr>
        <p:txBody>
          <a:bodyPr wrap="square" lIns="0" tIns="0" rIns="0" bIns="0" rtlCol="0" anchor="t"/>
          <a:lstStyle/>
          <a:p>
            <a:pPr marL="0" indent="0">
              <a:buNone/>
            </a:pPr>
            <a:r>
              <a:rPr lang="en-US" sz="1600" b="1" dirty="0">
                <a:solidFill>
                  <a:srgbClr val="12302B"/>
                </a:solidFill>
                <a:latin typeface="Calibri" pitchFamily="34" charset="0"/>
                <a:ea typeface="Calibri" pitchFamily="34" charset="-122"/>
                <a:cs typeface="Calibri" pitchFamily="34" charset="-120"/>
              </a:rPr>
              <a:t>Ketahanan air setelah redesain</a:t>
            </a:r>
            <a:endParaRPr lang="en-US" sz="1600" dirty="0"/>
          </a:p>
        </p:txBody>
      </p:sp>
      <p:sp>
        <p:nvSpPr>
          <p:cNvPr id="21" name="Text 19"/>
          <p:cNvSpPr txBox="1"/>
          <p:nvPr/>
        </p:nvSpPr>
        <p:spPr>
          <a:xfrm>
            <a:off x="5852160" y="5532120"/>
            <a:ext cx="5760720" cy="365760"/>
          </a:xfrm>
          <a:prstGeom prst="rect">
            <a:avLst/>
          </a:prstGeom>
          <a:noFill/>
          <a:ln/>
        </p:spPr>
        <p:txBody>
          <a:bodyPr wrap="square" lIns="0" tIns="0" rIns="0" bIns="0" rtlCol="0" anchor="t"/>
          <a:lstStyle/>
          <a:p>
            <a:pPr marL="0" indent="0">
              <a:buNone/>
            </a:pPr>
            <a:r>
              <a:rPr lang="en-US" sz="1400" dirty="0">
                <a:solidFill>
                  <a:srgbClr val="5B6B68"/>
                </a:solidFill>
                <a:latin typeface="Calibri" pitchFamily="34" charset="0"/>
                <a:ea typeface="Calibri" pitchFamily="34" charset="-122"/>
                <a:cs typeface="Calibri" pitchFamily="34" charset="-120"/>
              </a:rPr>
              <a:t>Baseline: rating eksisting</a:t>
            </a:r>
            <a:r>
              <a:rPr lang="en-US" sz="1400" b="1" dirty="0">
                <a:solidFill>
                  <a:srgbClr val="B5651D"/>
                </a:solidFill>
                <a:latin typeface="Calibri" pitchFamily="34" charset="0"/>
                <a:ea typeface="Calibri" pitchFamily="34" charset="-122"/>
                <a:cs typeface="Calibri" pitchFamily="34" charset="-120"/>
              </a:rPr>
              <a:t>   →   </a:t>
            </a:r>
            <a:r>
              <a:rPr lang="en-US" sz="1400" b="1" dirty="0">
                <a:solidFill>
                  <a:srgbClr val="1F6F5C"/>
                </a:solidFill>
                <a:latin typeface="Calibri" pitchFamily="34" charset="0"/>
                <a:ea typeface="Calibri" pitchFamily="34" charset="-122"/>
                <a:cs typeface="Calibri" pitchFamily="34" charset="-120"/>
              </a:rPr>
              <a:t>Target: tidak menurun</a:t>
            </a:r>
            <a:endParaRPr lang="en-US" sz="1400" dirty="0"/>
          </a:p>
        </p:txBody>
      </p:sp>
      <p:sp>
        <p:nvSpPr>
          <p:cNvPr id="24" name="Text 22"/>
          <p:cNvSpPr txBox="1"/>
          <p:nvPr/>
        </p:nvSpPr>
        <p:spPr>
          <a:xfrm>
            <a:off x="11247120" y="6473952"/>
            <a:ext cx="457200" cy="228600"/>
          </a:xfrm>
          <a:prstGeom prst="rect">
            <a:avLst/>
          </a:prstGeom>
          <a:noFill/>
          <a:ln/>
        </p:spPr>
        <p:txBody>
          <a:bodyPr wrap="square" lIns="0" tIns="0" rIns="0" bIns="0" rtlCol="0" anchor="t"/>
          <a:lstStyle/>
          <a:p>
            <a:pPr marL="0" indent="0" algn="r">
              <a:buNone/>
            </a:pPr>
            <a:r>
              <a:rPr lang="en-US" sz="1000" dirty="0">
                <a:solidFill>
                  <a:srgbClr val="5B6B68"/>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4F8F6"/>
        </a:solidFill>
        <a:effectLst/>
      </p:bgPr>
    </p:bg>
    <p:spTree>
      <p:nvGrpSpPr>
        <p:cNvPr id="1" name=""/>
        <p:cNvGrpSpPr/>
        <p:nvPr/>
      </p:nvGrpSpPr>
      <p:grpSpPr>
        <a:xfrm>
          <a:off x="0" y="0"/>
          <a:ext cx="0" cy="0"/>
          <a:chOff x="0" y="0"/>
          <a:chExt cx="0" cy="0"/>
        </a:xfrm>
      </p:grpSpPr>
      <p:sp>
        <p:nvSpPr>
          <p:cNvPr id="2" name="badge"/>
          <p:cNvSpPr/>
          <p:nvPr/>
        </p:nvSpPr>
        <p:spPr>
          <a:xfrm>
            <a:off x="457200" y="384048"/>
            <a:ext cx="566928" cy="566928"/>
          </a:xfrm>
          <a:prstGeom prst="ellipse">
            <a:avLst/>
          </a:prstGeom>
          <a:solidFill>
            <a:srgbClr val="1F6F5C"/>
          </a:solidFill>
          <a:ln w="12700">
            <a:solidFill>
              <a:srgbClr val="1F6F5C"/>
            </a:solidFill>
            <a:prstDash val="solid"/>
          </a:ln>
        </p:spPr>
      </p:sp>
      <p:sp>
        <p:nvSpPr>
          <p:cNvPr id="3" name="Text 1"/>
          <p:cNvSpPr txBox="1"/>
          <p:nvPr/>
        </p:nvSpPr>
        <p:spPr>
          <a:xfrm>
            <a:off x="457200" y="384048"/>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6</a:t>
            </a:r>
            <a:endParaRPr lang="en-US" sz="2000" dirty="0"/>
          </a:p>
        </p:txBody>
      </p:sp>
      <p:sp>
        <p:nvSpPr>
          <p:cNvPr id="4" name="Text 2"/>
          <p:cNvSpPr txBox="1"/>
          <p:nvPr/>
        </p:nvSpPr>
        <p:spPr>
          <a:xfrm>
            <a:off x="1188720" y="292608"/>
            <a:ext cx="9692640" cy="457200"/>
          </a:xfrm>
          <a:prstGeom prst="rect">
            <a:avLst/>
          </a:prstGeom>
          <a:noFill/>
          <a:ln/>
        </p:spPr>
        <p:txBody>
          <a:bodyPr wrap="square" lIns="0" tIns="0" rIns="0" bIns="0" rtlCol="0" anchor="ctr"/>
          <a:lstStyle/>
          <a:p>
            <a:pPr marL="0" indent="0">
              <a:buNone/>
            </a:pPr>
            <a:r>
              <a:rPr lang="en-US" sz="3000" b="1" dirty="0" err="1">
                <a:solidFill>
                  <a:srgbClr val="12302B"/>
                </a:solidFill>
                <a:latin typeface="Cambria" pitchFamily="34" charset="0"/>
                <a:ea typeface="Cambria" pitchFamily="34" charset="-122"/>
                <a:cs typeface="Cambria" pitchFamily="34" charset="-120"/>
              </a:rPr>
              <a:t>Kesimpulan</a:t>
            </a:r>
            <a:endParaRPr lang="en-US" sz="3000" dirty="0"/>
          </a:p>
        </p:txBody>
      </p:sp>
      <p:sp>
        <p:nvSpPr>
          <p:cNvPr id="5" name="Text 3"/>
          <p:cNvSpPr txBox="1"/>
          <p:nvPr/>
        </p:nvSpPr>
        <p:spPr>
          <a:xfrm>
            <a:off x="1188720" y="768096"/>
            <a:ext cx="10424160" cy="292608"/>
          </a:xfrm>
          <a:prstGeom prst="rect">
            <a:avLst/>
          </a:prstGeom>
          <a:noFill/>
          <a:ln/>
        </p:spPr>
        <p:txBody>
          <a:bodyPr wrap="square" lIns="0" tIns="0" rIns="0" bIns="0" rtlCol="0" anchor="t"/>
          <a:lstStyle/>
          <a:p>
            <a:pPr marL="0" indent="0">
              <a:buNone/>
            </a:pPr>
            <a:r>
              <a:rPr lang="en-US" sz="1400" i="1" dirty="0">
                <a:solidFill>
                  <a:srgbClr val="5B6B68"/>
                </a:solidFill>
                <a:latin typeface="Calibri" pitchFamily="34" charset="0"/>
                <a:ea typeface="Calibri" pitchFamily="34" charset="-122"/>
                <a:cs typeface="Calibri" pitchFamily="34" charset="-120"/>
              </a:rPr>
              <a:t>Jawaban atas pertanyaan audit: seberapa sirkular desain iPhone saat ini, dan apa yang perlu diubah?</a:t>
            </a:r>
            <a:endParaRPr lang="en-US" sz="1400" dirty="0"/>
          </a:p>
        </p:txBody>
      </p:sp>
      <p:sp>
        <p:nvSpPr>
          <p:cNvPr id="30" name="Text 27"/>
          <p:cNvSpPr txBox="1"/>
          <p:nvPr/>
        </p:nvSpPr>
        <p:spPr>
          <a:xfrm>
            <a:off x="11247120" y="6473952"/>
            <a:ext cx="457200" cy="228600"/>
          </a:xfrm>
          <a:prstGeom prst="rect">
            <a:avLst/>
          </a:prstGeom>
          <a:noFill/>
          <a:ln/>
        </p:spPr>
        <p:txBody>
          <a:bodyPr wrap="square" lIns="0" tIns="0" rIns="0" bIns="0" rtlCol="0" anchor="t"/>
          <a:lstStyle/>
          <a:p>
            <a:pPr marL="0" indent="0" algn="r">
              <a:buNone/>
            </a:pPr>
            <a:r>
              <a:rPr lang="en-US" sz="1000" dirty="0">
                <a:solidFill>
                  <a:srgbClr val="5B6B68"/>
                </a:solidFill>
                <a:latin typeface="Calibri" pitchFamily="34" charset="0"/>
                <a:ea typeface="Calibri" pitchFamily="34" charset="-122"/>
                <a:cs typeface="Calibri" pitchFamily="34" charset="-120"/>
              </a:rPr>
              <a:t>15</a:t>
            </a:r>
            <a:endParaRPr lang="en-US" sz="1000" dirty="0"/>
          </a:p>
        </p:txBody>
      </p:sp>
      <p:sp>
        <p:nvSpPr>
          <p:cNvPr id="319" name="Kesimpulan 1"/>
          <p:cNvSpPr/>
          <p:nvPr/>
        </p:nvSpPr>
        <p:spPr>
          <a:xfrm>
            <a:off x="457200" y="1188720"/>
            <a:ext cx="5547360" cy="2011680"/>
          </a:xfrm>
          <a:prstGeom prst="roundRect">
            <a:avLst>
              <a:gd name="adj" fmla="val 6452"/>
            </a:avLst>
          </a:prstGeom>
          <a:solidFill>
            <a:srgbClr val="FFFFFF"/>
          </a:solidFill>
          <a:ln w="9525">
            <a:solidFill>
              <a:srgbClr val="D5E2DD"/>
            </a:solidFill>
          </a:ln>
          <a:effectLst>
            <a:outerShdw blurRad="76200" dist="25400" dir="5400000" algn="bl" rotWithShape="0">
              <a:srgbClr val="000000">
                <a:alpha val="12000"/>
              </a:srgbClr>
            </a:outerShdw>
          </a:effectLst>
        </p:spPr>
      </p:sp>
      <p:sp>
        <p:nvSpPr>
          <p:cNvPr id="320" name="Nomor 1"/>
          <p:cNvSpPr/>
          <p:nvPr/>
        </p:nvSpPr>
        <p:spPr>
          <a:xfrm>
            <a:off x="640080" y="1371600"/>
            <a:ext cx="411480" cy="411480"/>
          </a:xfrm>
          <a:prstGeom prst="ellipse">
            <a:avLst/>
          </a:prstGeom>
          <a:solidFill>
            <a:srgbClr val="1F6F5C"/>
          </a:solidFill>
          <a:ln>
            <a:noFill/>
          </a:ln>
        </p:spPr>
        <p:txBody>
          <a:bodyPr wrap="square" lIns="45720" tIns="0" rIns="45720" bIns="0" rtlCol="0" anchor="ctr"/>
          <a:lstStyle/>
          <a:p>
            <a:pPr marL="0" indent="0" algn="ctr">
              <a:buNone/>
            </a:pPr>
            <a:r>
              <a:rPr lang="id-ID" sz="1400" b="1" dirty="0">
                <a:solidFill>
                  <a:srgbClr val="FFFFFF"/>
                </a:solidFill>
                <a:latin typeface="Calibri" pitchFamily="34" charset="0"/>
                <a:ea typeface="Calibri" pitchFamily="34" charset="-122"/>
                <a:cs typeface="Calibri" pitchFamily="34" charset="-120"/>
              </a:rPr>
              <a:t>1</a:t>
            </a:r>
          </a:p>
        </p:txBody>
      </p:sp>
      <p:sp>
        <p:nvSpPr>
          <p:cNvPr id="321" name="Judul kes 1"/>
          <p:cNvSpPr txBox="1"/>
          <p:nvPr/>
        </p:nvSpPr>
        <p:spPr>
          <a:xfrm>
            <a:off x="1188720" y="1371600"/>
            <a:ext cx="4632960" cy="411480"/>
          </a:xfrm>
          <a:prstGeom prst="rect">
            <a:avLst/>
          </a:prstGeom>
          <a:noFill/>
          <a:ln/>
        </p:spPr>
        <p:txBody>
          <a:bodyPr wrap="square" lIns="0" tIns="0" rIns="0" bIns="0" rtlCol="0" anchor="ctr"/>
          <a:lstStyle/>
          <a:p>
            <a:pPr marL="0" indent="0" algn="l">
              <a:buNone/>
            </a:pPr>
            <a:r>
              <a:rPr lang="id-ID" sz="1500" b="1" dirty="0">
                <a:solidFill>
                  <a:srgbClr val="1F6F5C"/>
                </a:solidFill>
                <a:latin typeface="Cambria" pitchFamily="34" charset="0"/>
                <a:ea typeface="Cambria" pitchFamily="34" charset="-122"/>
                <a:cs typeface="Cambria" pitchFamily="34" charset="-120"/>
              </a:rPr>
              <a:t>Kekuatan: menutup aliran</a:t>
            </a:r>
          </a:p>
        </p:txBody>
      </p:sp>
      <p:sp>
        <p:nvSpPr>
          <p:cNvPr id="322" name="Isi kes 1"/>
          <p:cNvSpPr txBox="1"/>
          <p:nvPr/>
        </p:nvSpPr>
        <p:spPr>
          <a:xfrm>
            <a:off x="640080" y="1920240"/>
            <a:ext cx="5181600" cy="1188720"/>
          </a:xfrm>
          <a:prstGeom prst="rect">
            <a:avLst/>
          </a:prstGeom>
          <a:noFill/>
          <a:ln/>
        </p:spPr>
        <p:txBody>
          <a:bodyPr wrap="square" lIns="0" tIns="0" rIns="0" bIns="0" rtlCol="0" anchor="t"/>
          <a:lstStyle/>
          <a:p>
            <a:pPr marL="0" indent="0" algn="l">
              <a:buNone/>
            </a:pPr>
            <a:r>
              <a:rPr lang="id-ID" sz="1400" dirty="0">
                <a:solidFill>
                  <a:srgbClr val="1B2B2A"/>
                </a:solidFill>
                <a:latin typeface="Calibri" pitchFamily="34" charset="0"/>
                <a:ea typeface="Calibri" pitchFamily="34" charset="-122"/>
                <a:cs typeface="Calibri" pitchFamily="34" charset="-120"/>
              </a:rPr>
              <a:t>Material daur ulang tinggi (85% aluminium, 100% kobalt) dan emisi turun 30% dari skenario business-as-usual, terutama berkat listrik rendah karbon pemasok (Apple, 2024a).</a:t>
            </a:r>
          </a:p>
        </p:txBody>
      </p:sp>
      <p:sp>
        <p:nvSpPr>
          <p:cNvPr id="323" name="Kesimpulan 2"/>
          <p:cNvSpPr/>
          <p:nvPr/>
        </p:nvSpPr>
        <p:spPr>
          <a:xfrm>
            <a:off x="6187440" y="1188720"/>
            <a:ext cx="5547360" cy="2011680"/>
          </a:xfrm>
          <a:prstGeom prst="roundRect">
            <a:avLst>
              <a:gd name="adj" fmla="val 6452"/>
            </a:avLst>
          </a:prstGeom>
          <a:solidFill>
            <a:srgbClr val="FFFFFF"/>
          </a:solidFill>
          <a:ln w="9525">
            <a:solidFill>
              <a:srgbClr val="D5E2DD"/>
            </a:solidFill>
          </a:ln>
          <a:effectLst>
            <a:outerShdw blurRad="76200" dist="25400" dir="5400000" algn="bl" rotWithShape="0">
              <a:srgbClr val="000000">
                <a:alpha val="12000"/>
              </a:srgbClr>
            </a:outerShdw>
          </a:effectLst>
        </p:spPr>
      </p:sp>
      <p:sp>
        <p:nvSpPr>
          <p:cNvPr id="324" name="Nomor 2"/>
          <p:cNvSpPr/>
          <p:nvPr/>
        </p:nvSpPr>
        <p:spPr>
          <a:xfrm>
            <a:off x="6370320" y="1371600"/>
            <a:ext cx="411480" cy="411480"/>
          </a:xfrm>
          <a:prstGeom prst="ellipse">
            <a:avLst/>
          </a:prstGeom>
          <a:solidFill>
            <a:srgbClr val="B3402F"/>
          </a:solidFill>
          <a:ln>
            <a:noFill/>
          </a:ln>
        </p:spPr>
        <p:txBody>
          <a:bodyPr wrap="square" lIns="45720" tIns="0" rIns="45720" bIns="0" rtlCol="0" anchor="ctr"/>
          <a:lstStyle/>
          <a:p>
            <a:pPr marL="0" indent="0" algn="ctr">
              <a:buNone/>
            </a:pPr>
            <a:r>
              <a:rPr lang="id-ID" sz="1400" b="1" dirty="0">
                <a:solidFill>
                  <a:srgbClr val="FFFFFF"/>
                </a:solidFill>
                <a:latin typeface="Calibri" pitchFamily="34" charset="0"/>
                <a:ea typeface="Calibri" pitchFamily="34" charset="-122"/>
                <a:cs typeface="Calibri" pitchFamily="34" charset="-120"/>
              </a:rPr>
              <a:t>2</a:t>
            </a:r>
          </a:p>
        </p:txBody>
      </p:sp>
      <p:sp>
        <p:nvSpPr>
          <p:cNvPr id="325" name="Judul kes 2"/>
          <p:cNvSpPr txBox="1"/>
          <p:nvPr/>
        </p:nvSpPr>
        <p:spPr>
          <a:xfrm>
            <a:off x="6918960" y="1371600"/>
            <a:ext cx="4632960" cy="411480"/>
          </a:xfrm>
          <a:prstGeom prst="rect">
            <a:avLst/>
          </a:prstGeom>
          <a:noFill/>
          <a:ln/>
        </p:spPr>
        <p:txBody>
          <a:bodyPr wrap="square" lIns="0" tIns="0" rIns="0" bIns="0" rtlCol="0" anchor="ctr"/>
          <a:lstStyle/>
          <a:p>
            <a:pPr marL="0" indent="0" algn="l">
              <a:buNone/>
            </a:pPr>
            <a:r>
              <a:rPr lang="id-ID" sz="1500" b="1" dirty="0">
                <a:solidFill>
                  <a:srgbClr val="B3402F"/>
                </a:solidFill>
                <a:latin typeface="Cambria" pitchFamily="34" charset="0"/>
                <a:ea typeface="Cambria" pitchFamily="34" charset="-122"/>
                <a:cs typeface="Cambria" pitchFamily="34" charset="-120"/>
              </a:rPr>
              <a:t>Kelemahan: memperlambat aliran</a:t>
            </a:r>
          </a:p>
        </p:txBody>
      </p:sp>
      <p:sp>
        <p:nvSpPr>
          <p:cNvPr id="326" name="Isi kes 2"/>
          <p:cNvSpPr txBox="1"/>
          <p:nvPr/>
        </p:nvSpPr>
        <p:spPr>
          <a:xfrm>
            <a:off x="6370320" y="1920240"/>
            <a:ext cx="5181600" cy="1188720"/>
          </a:xfrm>
          <a:prstGeom prst="rect">
            <a:avLst/>
          </a:prstGeom>
          <a:noFill/>
          <a:ln/>
        </p:spPr>
        <p:txBody>
          <a:bodyPr wrap="square" lIns="0" tIns="0" rIns="0" bIns="0" rtlCol="0" anchor="t"/>
          <a:lstStyle/>
          <a:p>
            <a:pPr marL="0" indent="0" algn="l">
              <a:buNone/>
            </a:pPr>
            <a:r>
              <a:rPr lang="id-ID" sz="1400" dirty="0">
                <a:solidFill>
                  <a:srgbClr val="1B2B2A"/>
                </a:solidFill>
                <a:latin typeface="Calibri" pitchFamily="34" charset="0"/>
                <a:ea typeface="Calibri" pitchFamily="34" charset="-122"/>
                <a:cs typeface="Calibri" pitchFamily="34" charset="-120"/>
              </a:rPr>
              <a:t>Tidak modular, suku cadang disandingkan, dan umur layanan aktual tidak dibuka. Padahal produksi menyumbang 79% jejak karbon, sehingga umur pakai adalah tuas terbesar (−33% per tahun pada 5 tahun).</a:t>
            </a:r>
          </a:p>
        </p:txBody>
      </p:sp>
      <p:sp>
        <p:nvSpPr>
          <p:cNvPr id="327" name="Kesimpulan 3"/>
          <p:cNvSpPr/>
          <p:nvPr/>
        </p:nvSpPr>
        <p:spPr>
          <a:xfrm>
            <a:off x="457200" y="3383280"/>
            <a:ext cx="5547360" cy="2011680"/>
          </a:xfrm>
          <a:prstGeom prst="roundRect">
            <a:avLst>
              <a:gd name="adj" fmla="val 6452"/>
            </a:avLst>
          </a:prstGeom>
          <a:solidFill>
            <a:srgbClr val="FFFFFF"/>
          </a:solidFill>
          <a:ln w="9525">
            <a:solidFill>
              <a:srgbClr val="D5E2DD"/>
            </a:solidFill>
          </a:ln>
          <a:effectLst>
            <a:outerShdw blurRad="76200" dist="25400" dir="5400000" algn="bl" rotWithShape="0">
              <a:srgbClr val="000000">
                <a:alpha val="12000"/>
              </a:srgbClr>
            </a:outerShdw>
          </a:effectLst>
        </p:spPr>
      </p:sp>
      <p:sp>
        <p:nvSpPr>
          <p:cNvPr id="328" name="Nomor 3"/>
          <p:cNvSpPr/>
          <p:nvPr/>
        </p:nvSpPr>
        <p:spPr>
          <a:xfrm>
            <a:off x="640080" y="3566160"/>
            <a:ext cx="411480" cy="411480"/>
          </a:xfrm>
          <a:prstGeom prst="ellipse">
            <a:avLst/>
          </a:prstGeom>
          <a:solidFill>
            <a:srgbClr val="B5651D"/>
          </a:solidFill>
          <a:ln>
            <a:noFill/>
          </a:ln>
        </p:spPr>
        <p:txBody>
          <a:bodyPr wrap="square" lIns="45720" tIns="0" rIns="45720" bIns="0" rtlCol="0" anchor="ctr"/>
          <a:lstStyle/>
          <a:p>
            <a:pPr marL="0" indent="0" algn="ctr">
              <a:buNone/>
            </a:pPr>
            <a:r>
              <a:rPr lang="id-ID" sz="1400" b="1" dirty="0">
                <a:solidFill>
                  <a:srgbClr val="FFFFFF"/>
                </a:solidFill>
                <a:latin typeface="Calibri" pitchFamily="34" charset="0"/>
                <a:ea typeface="Calibri" pitchFamily="34" charset="-122"/>
                <a:cs typeface="Calibri" pitchFamily="34" charset="-120"/>
              </a:rPr>
              <a:t>3</a:t>
            </a:r>
          </a:p>
        </p:txBody>
      </p:sp>
      <p:sp>
        <p:nvSpPr>
          <p:cNvPr id="329" name="Judul kes 3"/>
          <p:cNvSpPr txBox="1"/>
          <p:nvPr/>
        </p:nvSpPr>
        <p:spPr>
          <a:xfrm>
            <a:off x="1188720" y="3566160"/>
            <a:ext cx="4632960" cy="411480"/>
          </a:xfrm>
          <a:prstGeom prst="rect">
            <a:avLst/>
          </a:prstGeom>
          <a:noFill/>
          <a:ln/>
        </p:spPr>
        <p:txBody>
          <a:bodyPr wrap="square" lIns="0" tIns="0" rIns="0" bIns="0" rtlCol="0" anchor="ctr"/>
          <a:lstStyle/>
          <a:p>
            <a:pPr marL="0" indent="0" algn="l">
              <a:buNone/>
            </a:pPr>
            <a:r>
              <a:rPr lang="id-ID" sz="1500" b="1" dirty="0">
                <a:solidFill>
                  <a:srgbClr val="B5651D"/>
                </a:solidFill>
                <a:latin typeface="Cambria" pitchFamily="34" charset="0"/>
                <a:ea typeface="Cambria" pitchFamily="34" charset="-122"/>
                <a:cs typeface="Cambria" pitchFamily="34" charset="-120"/>
              </a:rPr>
              <a:t>Dua usulan saling melengkapi</a:t>
            </a:r>
          </a:p>
        </p:txBody>
      </p:sp>
      <p:sp>
        <p:nvSpPr>
          <p:cNvPr id="330" name="Isi kes 3"/>
          <p:cNvSpPr txBox="1"/>
          <p:nvPr/>
        </p:nvSpPr>
        <p:spPr>
          <a:xfrm>
            <a:off x="640080" y="4114800"/>
            <a:ext cx="5181600" cy="1188720"/>
          </a:xfrm>
          <a:prstGeom prst="rect">
            <a:avLst/>
          </a:prstGeom>
          <a:noFill/>
          <a:ln/>
        </p:spPr>
        <p:txBody>
          <a:bodyPr wrap="square" lIns="0" tIns="0" rIns="0" bIns="0" rtlCol="0" anchor="t"/>
          <a:lstStyle/>
          <a:p>
            <a:pPr marL="0" indent="0" algn="l">
              <a:buNone/>
            </a:pPr>
            <a:r>
              <a:rPr lang="id-ID" sz="1400" dirty="0">
                <a:solidFill>
                  <a:srgbClr val="1B2B2A"/>
                </a:solidFill>
                <a:latin typeface="Calibri" pitchFamily="34" charset="0"/>
                <a:ea typeface="Calibri" pitchFamily="34" charset="-122"/>
                <a:cs typeface="Calibri" pitchFamily="34" charset="-120"/>
              </a:rPr>
              <a:t>Modul baterai standar tanpa penyandingan (memperlambat) dan paspor komposisi (menutup), dengan syarat IP68 tidak menurun dan efek rebound Trade In dipantau.</a:t>
            </a:r>
          </a:p>
        </p:txBody>
      </p:sp>
      <p:sp>
        <p:nvSpPr>
          <p:cNvPr id="331" name="Kesimpulan 4"/>
          <p:cNvSpPr/>
          <p:nvPr/>
        </p:nvSpPr>
        <p:spPr>
          <a:xfrm>
            <a:off x="6187440" y="3383280"/>
            <a:ext cx="5547360" cy="2011680"/>
          </a:xfrm>
          <a:prstGeom prst="roundRect">
            <a:avLst>
              <a:gd name="adj" fmla="val 6452"/>
            </a:avLst>
          </a:prstGeom>
          <a:solidFill>
            <a:srgbClr val="FFFFFF"/>
          </a:solidFill>
          <a:ln w="9525">
            <a:solidFill>
              <a:srgbClr val="D5E2DD"/>
            </a:solidFill>
          </a:ln>
          <a:effectLst>
            <a:outerShdw blurRad="76200" dist="25400" dir="5400000" algn="bl" rotWithShape="0">
              <a:srgbClr val="000000">
                <a:alpha val="12000"/>
              </a:srgbClr>
            </a:outerShdw>
          </a:effectLst>
        </p:spPr>
      </p:sp>
      <p:sp>
        <p:nvSpPr>
          <p:cNvPr id="332" name="Nomor 4"/>
          <p:cNvSpPr/>
          <p:nvPr/>
        </p:nvSpPr>
        <p:spPr>
          <a:xfrm>
            <a:off x="6370320" y="3566160"/>
            <a:ext cx="411480" cy="411480"/>
          </a:xfrm>
          <a:prstGeom prst="ellipse">
            <a:avLst/>
          </a:prstGeom>
          <a:solidFill>
            <a:srgbClr val="12302B"/>
          </a:solidFill>
          <a:ln>
            <a:noFill/>
          </a:ln>
        </p:spPr>
        <p:txBody>
          <a:bodyPr wrap="square" lIns="45720" tIns="0" rIns="45720" bIns="0" rtlCol="0" anchor="ctr"/>
          <a:lstStyle/>
          <a:p>
            <a:pPr marL="0" indent="0" algn="ctr">
              <a:buNone/>
            </a:pPr>
            <a:r>
              <a:rPr lang="id-ID" sz="1400" b="1" dirty="0">
                <a:solidFill>
                  <a:srgbClr val="FFFFFF"/>
                </a:solidFill>
                <a:latin typeface="Calibri" pitchFamily="34" charset="0"/>
                <a:ea typeface="Calibri" pitchFamily="34" charset="-122"/>
                <a:cs typeface="Calibri" pitchFamily="34" charset="-120"/>
              </a:rPr>
              <a:t>4</a:t>
            </a:r>
          </a:p>
        </p:txBody>
      </p:sp>
      <p:sp>
        <p:nvSpPr>
          <p:cNvPr id="333" name="Judul kes 4"/>
          <p:cNvSpPr txBox="1"/>
          <p:nvPr/>
        </p:nvSpPr>
        <p:spPr>
          <a:xfrm>
            <a:off x="6918960" y="3566160"/>
            <a:ext cx="4632960" cy="411480"/>
          </a:xfrm>
          <a:prstGeom prst="rect">
            <a:avLst/>
          </a:prstGeom>
          <a:noFill/>
          <a:ln/>
        </p:spPr>
        <p:txBody>
          <a:bodyPr wrap="square" lIns="0" tIns="0" rIns="0" bIns="0" rtlCol="0" anchor="ctr"/>
          <a:lstStyle/>
          <a:p>
            <a:pPr marL="0" indent="0" algn="l">
              <a:buNone/>
            </a:pPr>
            <a:r>
              <a:rPr lang="id-ID" sz="1500" b="1" dirty="0">
                <a:solidFill>
                  <a:srgbClr val="12302B"/>
                </a:solidFill>
                <a:latin typeface="Cambria" pitchFamily="34" charset="0"/>
                <a:ea typeface="Cambria" pitchFamily="34" charset="-122"/>
                <a:cs typeface="Cambria" pitchFamily="34" charset="-120"/>
              </a:rPr>
              <a:t>Implikasi untuk Indonesia</a:t>
            </a:r>
          </a:p>
        </p:txBody>
      </p:sp>
      <p:sp>
        <p:nvSpPr>
          <p:cNvPr id="334" name="Isi kes 4"/>
          <p:cNvSpPr txBox="1"/>
          <p:nvPr/>
        </p:nvSpPr>
        <p:spPr>
          <a:xfrm>
            <a:off x="6370320" y="4114800"/>
            <a:ext cx="5181600" cy="1188720"/>
          </a:xfrm>
          <a:prstGeom prst="rect">
            <a:avLst/>
          </a:prstGeom>
          <a:noFill/>
          <a:ln/>
        </p:spPr>
        <p:txBody>
          <a:bodyPr wrap="square" lIns="0" tIns="0" rIns="0" bIns="0" rtlCol="0" anchor="t"/>
          <a:lstStyle/>
          <a:p>
            <a:pPr marL="0" indent="0" algn="l">
              <a:buNone/>
            </a:pPr>
            <a:r>
              <a:rPr lang="id-ID" sz="1400" dirty="0">
                <a:solidFill>
                  <a:srgbClr val="1B2B2A"/>
                </a:solidFill>
                <a:latin typeface="Calibri" pitchFamily="34" charset="0"/>
                <a:ea typeface="Calibri" pitchFamily="34" charset="-122"/>
                <a:cs typeface="Calibri" pitchFamily="34" charset="-120"/>
              </a:rPr>
              <a:t>Tanpa syarat umur pakai dan pengambilan kembali, manfaat sirkular iPhone di Indonesia bergantung pada kebijakan sukarela Apple. Usulan penulis: aturan TKDN dapat diperluas dengan kriteria reparasi dan pengembalian.</a:t>
            </a:r>
          </a:p>
        </p:txBody>
      </p:sp>
      <p:sp>
        <p:nvSpPr>
          <p:cNvPr id="335" name="Keterbatasan"/>
          <p:cNvSpPr txBox="1"/>
          <p:nvPr/>
        </p:nvSpPr>
        <p:spPr>
          <a:xfrm>
            <a:off x="457200" y="5577840"/>
            <a:ext cx="11277600" cy="731520"/>
          </a:xfrm>
          <a:prstGeom prst="rect">
            <a:avLst/>
          </a:prstGeom>
          <a:noFill/>
          <a:ln/>
        </p:spPr>
        <p:txBody>
          <a:bodyPr wrap="square" lIns="0" tIns="0" rIns="0" bIns="0" rtlCol="0" anchor="ctr"/>
          <a:lstStyle/>
          <a:p>
            <a:pPr marL="0" indent="0" algn="l">
              <a:buNone/>
            </a:pPr>
            <a:r>
              <a:rPr lang="id-ID" sz="1150" b="1" dirty="0">
                <a:solidFill>
                  <a:srgbClr val="B5651D"/>
                </a:solidFill>
                <a:latin typeface="Calibri" pitchFamily="34" charset="0"/>
                <a:ea typeface="Calibri" pitchFamily="34" charset="-122"/>
                <a:cs typeface="Calibri" pitchFamily="34" charset="-120"/>
              </a:rPr>
              <a:t>Keterbatasan: </a:t>
            </a:r>
            <a:r>
              <a:rPr lang="id-ID" sz="1150" i="1" dirty="0">
                <a:solidFill>
                  <a:srgbClr val="5B6B68"/>
                </a:solidFill>
                <a:latin typeface="Calibri" pitchFamily="34" charset="0"/>
                <a:ea typeface="Calibri" pitchFamily="34" charset="-122"/>
                <a:cs typeface="Calibri" pitchFamily="34" charset="-120"/>
              </a:rPr>
              <a:t>data sebagian besar dilaporkan sendiri oleh Apple dan usulan belum diuji teknis. </a:t>
            </a:r>
            <a:r>
              <a:rPr lang="id-ID" sz="1150" b="1" dirty="0">
                <a:solidFill>
                  <a:srgbClr val="B5651D"/>
                </a:solidFill>
                <a:latin typeface="Calibri" pitchFamily="34" charset="0"/>
                <a:ea typeface="Calibri" pitchFamily="34" charset="-122"/>
                <a:cs typeface="Calibri" pitchFamily="34" charset="-120"/>
              </a:rPr>
              <a:t>Langkah lanjut: </a:t>
            </a:r>
            <a:r>
              <a:rPr lang="id-ID" sz="1150" i="1" dirty="0">
                <a:solidFill>
                  <a:srgbClr val="5B6B68"/>
                </a:solidFill>
                <a:latin typeface="Calibri" pitchFamily="34" charset="0"/>
                <a:ea typeface="Calibri" pitchFamily="34" charset="-122"/>
                <a:cs typeface="Calibri" pitchFamily="34" charset="-120"/>
              </a:rPr>
              <a:t>verifikasi melalui uji pembongkaran fisik dan permintaan data pengumpulan per negara.</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8">
    <p:bg>
      <p:bgPr>
        <a:solidFill>
          <a:srgbClr val="F4F8F6"/>
        </a:solidFill>
        <a:effectLst/>
      </p:bgPr>
    </p:bg>
    <p:spTree>
      <p:nvGrpSpPr>
        <p:cNvPr id="1" name=""/>
        <p:cNvGrpSpPr/>
        <p:nvPr/>
      </p:nvGrpSpPr>
      <p:grpSpPr>
        <a:xfrm>
          <a:off x="0" y="0"/>
          <a:ext cx="0" cy="0"/>
          <a:chOff x="0" y="0"/>
          <a:chExt cx="0" cy="0"/>
        </a:xfrm>
      </p:grpSpPr>
      <p:sp>
        <p:nvSpPr>
          <p:cNvPr id="2" name="Text 0"/>
          <p:cNvSpPr txBox="1"/>
          <p:nvPr/>
        </p:nvSpPr>
        <p:spPr>
          <a:xfrm>
            <a:off x="457200" y="292608"/>
            <a:ext cx="9692640" cy="548640"/>
          </a:xfrm>
          <a:prstGeom prst="rect">
            <a:avLst/>
          </a:prstGeom>
          <a:noFill/>
          <a:ln/>
        </p:spPr>
        <p:txBody>
          <a:bodyPr wrap="square" lIns="0" tIns="0" rIns="0" bIns="0" rtlCol="0" anchor="t"/>
          <a:lstStyle/>
          <a:p>
            <a:pPr marL="0" indent="0">
              <a:buNone/>
            </a:pPr>
            <a:r>
              <a:rPr lang="en-US" sz="3000" b="1" dirty="0">
                <a:solidFill>
                  <a:srgbClr val="12302B"/>
                </a:solidFill>
                <a:latin typeface="Cambria" pitchFamily="34" charset="0"/>
                <a:ea typeface="Cambria" pitchFamily="34" charset="-122"/>
                <a:cs typeface="Cambria" pitchFamily="34" charset="-120"/>
              </a:rPr>
              <a:t>Daftar Pustaka</a:t>
            </a:r>
            <a:endParaRPr lang="en-US" sz="3000" dirty="0"/>
          </a:p>
        </p:txBody>
      </p:sp>
      <p:sp>
        <p:nvSpPr>
          <p:cNvPr id="3" name="Text 1"/>
          <p:cNvSpPr txBox="1"/>
          <p:nvPr/>
        </p:nvSpPr>
        <p:spPr>
          <a:xfrm>
            <a:off x="457199" y="1097280"/>
            <a:ext cx="11646131" cy="5120640"/>
          </a:xfrm>
          <a:prstGeom prst="rect">
            <a:avLst/>
          </a:prstGeom>
          <a:noFill/>
          <a:ln/>
        </p:spPr>
        <p:txBody>
          <a:bodyPr wrap="square" lIns="0" tIns="0" rIns="0" bIns="0" rtlCol="0" anchor="t"/>
          <a:lstStyle/>
          <a:p>
            <a:pPr marL="0" indent="0" algn="l">
              <a:spcAft>
                <a:spcPts val="450"/>
              </a:spcAft>
              <a:buNone/>
            </a:pPr>
            <a:r>
              <a:rPr lang="en-US" sz="1200" dirty="0">
                <a:solidFill>
                  <a:srgbClr val="1B2B2A"/>
                </a:solidFill>
                <a:latin typeface="Calibri" pitchFamily="34" charset="0"/>
                <a:ea typeface="Calibri" pitchFamily="34" charset="-122"/>
                <a:cs typeface="Calibri" pitchFamily="34" charset="-120"/>
              </a:rPr>
              <a:t>Apple Inc. (2017). Raising the bar: 11th annual Supplier Responsibility Progress Report. Apple Newsroom.</a:t>
            </a:r>
            <a:endParaRPr lang="en-US" sz="1200" dirty="0"/>
          </a:p>
          <a:p>
            <a:pPr marL="0" indent="0" algn="l">
              <a:spcAft>
                <a:spcPts val="450"/>
              </a:spcAft>
              <a:buNone/>
            </a:pPr>
            <a:r>
              <a:rPr lang="en-US" sz="1200" dirty="0">
                <a:solidFill>
                  <a:srgbClr val="1B2B2A"/>
                </a:solidFill>
                <a:latin typeface="Calibri" pitchFamily="34" charset="0"/>
                <a:ea typeface="Calibri" pitchFamily="34" charset="-122"/>
                <a:cs typeface="Calibri" pitchFamily="34" charset="-120"/>
              </a:rPr>
              <a:t>Apple Inc. (2024a). Product Environmental Report: iPhone 16 and iPhone 16 Plus. Cupertino: Apple.</a:t>
            </a:r>
            <a:endParaRPr lang="en-US" sz="1200" dirty="0"/>
          </a:p>
          <a:p>
            <a:pPr marL="0" indent="0" algn="l">
              <a:spcAft>
                <a:spcPts val="450"/>
              </a:spcAft>
              <a:buNone/>
            </a:pPr>
            <a:r>
              <a:rPr lang="en-US" sz="1200" dirty="0">
                <a:solidFill>
                  <a:srgbClr val="1B2B2A"/>
                </a:solidFill>
                <a:latin typeface="Calibri" pitchFamily="34" charset="0"/>
                <a:ea typeface="Calibri" pitchFamily="34" charset="-122"/>
                <a:cs typeface="Calibri" pitchFamily="34" charset="-120"/>
              </a:rPr>
              <a:t>Apple Inc. (2024b). iPhone defined support period statement under the UK PSTI regulations. Apple.</a:t>
            </a:r>
            <a:endParaRPr lang="en-US" sz="1200" dirty="0"/>
          </a:p>
          <a:p>
            <a:pPr marL="0" indent="0" algn="l">
              <a:spcAft>
                <a:spcPts val="450"/>
              </a:spcAft>
              <a:buNone/>
            </a:pPr>
            <a:r>
              <a:rPr lang="en-US" sz="1200" dirty="0">
                <a:solidFill>
                  <a:srgbClr val="1B2B2A"/>
                </a:solidFill>
                <a:latin typeface="Calibri" pitchFamily="34" charset="0"/>
                <a:ea typeface="Calibri" pitchFamily="34" charset="-122"/>
                <a:cs typeface="Calibri" pitchFamily="34" charset="-120"/>
              </a:rPr>
              <a:t>Apple Inc. (2026). Environmental Progress Report (covering fiscal year 2025). Cupertino: Apple.</a:t>
            </a:r>
            <a:endParaRPr lang="en-US" sz="1200" dirty="0"/>
          </a:p>
          <a:p>
            <a:pPr marL="0" indent="0" algn="l">
              <a:spcAft>
                <a:spcPts val="450"/>
              </a:spcAft>
              <a:buNone/>
            </a:pPr>
            <a:r>
              <a:rPr lang="en-US" sz="1200" dirty="0">
                <a:solidFill>
                  <a:srgbClr val="1B2B2A"/>
                </a:solidFill>
                <a:latin typeface="Calibri" pitchFamily="34" charset="0"/>
                <a:ea typeface="Calibri" pitchFamily="34" charset="-122"/>
                <a:cs typeface="Calibri" pitchFamily="34" charset="-120"/>
              </a:rPr>
              <a:t>Bocken, N. M. P., de Pauw, I., Bakker, C., &amp; van der Grinten, B. (2016). Product design and business model strategies for a circular economy. J. Ind. Prod. Eng., 33(5), 308-320.</a:t>
            </a:r>
            <a:endParaRPr lang="en-US" sz="1200" dirty="0"/>
          </a:p>
          <a:p>
            <a:pPr marL="0" indent="0" algn="l">
              <a:spcAft>
                <a:spcPts val="450"/>
              </a:spcAft>
              <a:buNone/>
            </a:pPr>
            <a:r>
              <a:rPr lang="en-US" sz="1200" dirty="0">
                <a:solidFill>
                  <a:srgbClr val="1B2B2A"/>
                </a:solidFill>
                <a:latin typeface="Calibri" pitchFamily="34" charset="0"/>
                <a:ea typeface="Calibri" pitchFamily="34" charset="-122"/>
                <a:cs typeface="Calibri" pitchFamily="34" charset="-120"/>
              </a:rPr>
              <a:t>Cordella, M., Alfieri, F., Clemm, C., &amp; Berwald, A. (2021). Durability of smartphones: A technical analysis of reliability and repairability aspects. J. Clean. Prod., 286, 125388.</a:t>
            </a:r>
            <a:endParaRPr lang="en-US" sz="1200" dirty="0"/>
          </a:p>
          <a:p>
            <a:pPr marL="0" indent="0" algn="l">
              <a:spcAft>
                <a:spcPts val="450"/>
              </a:spcAft>
              <a:buNone/>
            </a:pPr>
            <a:r>
              <a:rPr lang="en-US" sz="1200" dirty="0">
                <a:solidFill>
                  <a:srgbClr val="1B2B2A"/>
                </a:solidFill>
                <a:latin typeface="Calibri" pitchFamily="34" charset="0"/>
                <a:ea typeface="Calibri" pitchFamily="34" charset="-122"/>
                <a:cs typeface="Calibri" pitchFamily="34" charset="-120"/>
              </a:rPr>
              <a:t>den Hollander, M. C., Bakker, C. A., &amp; Hultink, E. J. (2017). Product design in a circular economy. J. Ind. Ecol., 21(3), 517-525.</a:t>
            </a:r>
            <a:endParaRPr lang="en-US" sz="1200" dirty="0"/>
          </a:p>
          <a:p>
            <a:pPr marL="0" indent="0" algn="l">
              <a:spcAft>
                <a:spcPts val="450"/>
              </a:spcAft>
              <a:buNone/>
            </a:pPr>
            <a:r>
              <a:rPr lang="en-US" sz="1200" dirty="0">
                <a:solidFill>
                  <a:srgbClr val="1B2B2A"/>
                </a:solidFill>
                <a:latin typeface="Calibri" pitchFamily="34" charset="0"/>
                <a:ea typeface="Calibri" pitchFamily="34" charset="-122"/>
                <a:cs typeface="Calibri" pitchFamily="34" charset="-120"/>
              </a:rPr>
              <a:t>European Commission. (2023). Commission Regulation (EU) 2023/1670 laying down ecodesign requirements for smartphones and tablets. OJ L 214.</a:t>
            </a:r>
            <a:endParaRPr lang="en-US" sz="1200" dirty="0"/>
          </a:p>
          <a:p>
            <a:pPr marL="0" indent="0" algn="l">
              <a:spcAft>
                <a:spcPts val="450"/>
              </a:spcAft>
              <a:buNone/>
            </a:pPr>
            <a:r>
              <a:rPr lang="en-US" sz="1200" dirty="0">
                <a:solidFill>
                  <a:srgbClr val="1B2B2A"/>
                </a:solidFill>
                <a:latin typeface="Calibri" pitchFamily="34" charset="0"/>
                <a:ea typeface="Calibri" pitchFamily="34" charset="-122"/>
                <a:cs typeface="Calibri" pitchFamily="34" charset="-120"/>
              </a:rPr>
              <a:t>European Commission. (2025). New EU rules for durable, energy-efficient and repairable smartphones and tablets start applying.</a:t>
            </a:r>
            <a:endParaRPr lang="en-US" sz="1200" dirty="0"/>
          </a:p>
          <a:p>
            <a:pPr marL="0" indent="0" algn="l">
              <a:spcAft>
                <a:spcPts val="450"/>
              </a:spcAft>
              <a:buNone/>
            </a:pPr>
            <a:r>
              <a:rPr lang="en-US" sz="1200" dirty="0">
                <a:solidFill>
                  <a:srgbClr val="1B2B2A"/>
                </a:solidFill>
                <a:latin typeface="Calibri" pitchFamily="34" charset="0"/>
                <a:ea typeface="Calibri" pitchFamily="34" charset="-122"/>
                <a:cs typeface="Calibri" pitchFamily="34" charset="-120"/>
              </a:rPr>
              <a:t>Fortune. (2025). Indonesia iPhone ban, Apple deal and investment in AirTag plant.</a:t>
            </a:r>
            <a:endParaRPr lang="en-US" sz="1200" dirty="0"/>
          </a:p>
          <a:p>
            <a:pPr marL="0" indent="0" algn="l">
              <a:spcAft>
                <a:spcPts val="450"/>
              </a:spcAft>
              <a:buNone/>
            </a:pPr>
            <a:r>
              <a:rPr lang="en-US" sz="1200" dirty="0">
                <a:solidFill>
                  <a:srgbClr val="1B2B2A"/>
                </a:solidFill>
                <a:latin typeface="Calibri" pitchFamily="34" charset="0"/>
                <a:ea typeface="Calibri" pitchFamily="34" charset="-122"/>
                <a:cs typeface="Calibri" pitchFamily="34" charset="-120"/>
              </a:rPr>
              <a:t>Geissdoerfer, M., Savaget, P., Bocken, N. M. P., &amp; Hultink, E. J. (2017). The circular economy: A new sustainability paradigm? J. Clean. Prod., 143, 757-768.</a:t>
            </a:r>
            <a:endParaRPr lang="en-US" sz="1200" dirty="0"/>
          </a:p>
          <a:p>
            <a:pPr marL="0" indent="0" algn="l">
              <a:spcAft>
                <a:spcPts val="450"/>
              </a:spcAft>
              <a:buNone/>
            </a:pPr>
            <a:r>
              <a:rPr lang="en-US" sz="1200" dirty="0">
                <a:solidFill>
                  <a:srgbClr val="1B2B2A"/>
                </a:solidFill>
                <a:latin typeface="Calibri" pitchFamily="34" charset="0"/>
                <a:ea typeface="Calibri" pitchFamily="34" charset="-122"/>
                <a:cs typeface="Calibri" pitchFamily="34" charset="-120"/>
              </a:rPr>
              <a:t>iFixit. (2024). iPhone 16 teardown and repairability score. iFixit News.</a:t>
            </a:r>
            <a:endParaRPr lang="en-US" sz="1200" dirty="0"/>
          </a:p>
          <a:p>
            <a:pPr marL="0" indent="0" algn="l">
              <a:spcAft>
                <a:spcPts val="450"/>
              </a:spcAft>
              <a:buNone/>
            </a:pPr>
            <a:r>
              <a:rPr lang="en-US" sz="1200" dirty="0">
                <a:solidFill>
                  <a:srgbClr val="1B2B2A"/>
                </a:solidFill>
                <a:latin typeface="Calibri" pitchFamily="34" charset="0"/>
                <a:ea typeface="Calibri" pitchFamily="34" charset="-122"/>
                <a:cs typeface="Calibri" pitchFamily="34" charset="-120"/>
              </a:rPr>
              <a:t>ITU &amp; UNITAR. (2024). The Global E-waste Monitor 2024. Geneva/Bonn: ITU &amp; UNITAR.</a:t>
            </a:r>
            <a:endParaRPr lang="en-US" sz="1200" dirty="0"/>
          </a:p>
          <a:p>
            <a:pPr marL="0" indent="0" algn="l">
              <a:spcAft>
                <a:spcPts val="450"/>
              </a:spcAft>
              <a:buNone/>
            </a:pPr>
            <a:r>
              <a:rPr lang="en-US" sz="1200" dirty="0">
                <a:solidFill>
                  <a:srgbClr val="1B2B2A"/>
                </a:solidFill>
                <a:latin typeface="Calibri" pitchFamily="34" charset="0"/>
                <a:ea typeface="Calibri" pitchFamily="34" charset="-122"/>
                <a:cs typeface="Calibri" pitchFamily="34" charset="-120"/>
              </a:rPr>
              <a:t>Makov, T., &amp; Fitzpatrick, C. (2021). Is repairability enough? Big data insights into smartphone obsolescence and consumer interest in repair. J. Clean. Prod., 313, 127561.</a:t>
            </a:r>
            <a:endParaRPr lang="en-US" sz="1200" dirty="0"/>
          </a:p>
          <a:p>
            <a:pPr marL="0" indent="0" algn="l">
              <a:spcAft>
                <a:spcPts val="450"/>
              </a:spcAft>
              <a:buNone/>
            </a:pPr>
            <a:r>
              <a:rPr lang="en-US" sz="1200" dirty="0">
                <a:solidFill>
                  <a:srgbClr val="1B2B2A"/>
                </a:solidFill>
                <a:latin typeface="Calibri" pitchFamily="34" charset="0"/>
                <a:ea typeface="Calibri" pitchFamily="34" charset="-122"/>
                <a:cs typeface="Calibri" pitchFamily="34" charset="-120"/>
              </a:rPr>
              <a:t>Oregon Legislative Assembly. (2024). Senate Bill 1596 (right to repair).</a:t>
            </a:r>
            <a:endParaRPr lang="en-US" sz="1200" dirty="0"/>
          </a:p>
          <a:p>
            <a:pPr marL="0" indent="0" algn="l">
              <a:spcAft>
                <a:spcPts val="450"/>
              </a:spcAft>
              <a:buNone/>
            </a:pPr>
            <a:r>
              <a:rPr lang="en-US" sz="1200" dirty="0">
                <a:solidFill>
                  <a:srgbClr val="1B2B2A"/>
                </a:solidFill>
                <a:latin typeface="Calibri" pitchFamily="34" charset="0"/>
                <a:ea typeface="Calibri" pitchFamily="34" charset="-122"/>
                <a:cs typeface="Calibri" pitchFamily="34" charset="-120"/>
              </a:rPr>
              <a:t>Proske, M., &amp; Jaeger-Erben, M. (2019). Decreasing obsolescence with modular smartphones? An interdisciplinary perspective on lifecycles. J. Clean. Prod. https://doi.org/10.1016/j.jclepro.2019.03.116</a:t>
            </a:r>
            <a:endParaRPr lang="en-US" sz="1200" dirty="0"/>
          </a:p>
          <a:p>
            <a:pPr marL="0" indent="0" algn="l">
              <a:spcAft>
                <a:spcPts val="450"/>
              </a:spcAft>
              <a:buNone/>
            </a:pPr>
            <a:r>
              <a:rPr lang="en-US" sz="1200" dirty="0">
                <a:solidFill>
                  <a:srgbClr val="1B2B2A"/>
                </a:solidFill>
                <a:latin typeface="Calibri" pitchFamily="34" charset="0"/>
                <a:ea typeface="Calibri" pitchFamily="34" charset="-122"/>
                <a:cs typeface="Calibri" pitchFamily="34" charset="-120"/>
              </a:rPr>
              <a:t>Tukker, A. (2004). Eight types of product-service system. Bus. Strategy Environ., 13(4), 246-260.</a:t>
            </a:r>
            <a:endParaRPr lang="en-US" sz="1200" dirty="0"/>
          </a:p>
          <a:p>
            <a:pPr marL="0" indent="0" algn="l">
              <a:spcAft>
                <a:spcPts val="450"/>
              </a:spcAft>
              <a:buNone/>
            </a:pPr>
            <a:r>
              <a:rPr lang="en-US" sz="1200" dirty="0">
                <a:solidFill>
                  <a:srgbClr val="1B2B2A"/>
                </a:solidFill>
                <a:latin typeface="Calibri" pitchFamily="34" charset="0"/>
                <a:ea typeface="Calibri" pitchFamily="34" charset="-122"/>
                <a:cs typeface="Calibri" pitchFamily="34" charset="-120"/>
              </a:rPr>
              <a:t>Zink, T., &amp; Geyer, R. (2017). Circular economy rebound. J. Ind. Ecol., 21(3), 593-602.</a:t>
            </a:r>
            <a:endParaRPr lang="en-US" sz="1200" dirty="0"/>
          </a:p>
        </p:txBody>
      </p:sp>
      <p:sp>
        <p:nvSpPr>
          <p:cNvPr id="6" name="Text 4"/>
          <p:cNvSpPr txBox="1"/>
          <p:nvPr/>
        </p:nvSpPr>
        <p:spPr>
          <a:xfrm>
            <a:off x="11247120" y="6473952"/>
            <a:ext cx="457200" cy="228600"/>
          </a:xfrm>
          <a:prstGeom prst="rect">
            <a:avLst/>
          </a:prstGeom>
          <a:noFill/>
          <a:ln/>
        </p:spPr>
        <p:txBody>
          <a:bodyPr wrap="square" lIns="0" tIns="0" rIns="0" bIns="0" rtlCol="0" anchor="t"/>
          <a:lstStyle/>
          <a:p>
            <a:pPr marL="0" indent="0" algn="r">
              <a:buNone/>
            </a:pPr>
            <a:r>
              <a:rPr lang="en-US" sz="1000" dirty="0">
                <a:solidFill>
                  <a:srgbClr val="5B6B68"/>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12302B"/>
        </a:solidFill>
        <a:effectLst/>
      </p:bgPr>
    </p:bg>
    <p:spTree>
      <p:nvGrpSpPr>
        <p:cNvPr id="1" name=""/>
        <p:cNvGrpSpPr/>
        <p:nvPr/>
      </p:nvGrpSpPr>
      <p:grpSpPr>
        <a:xfrm>
          <a:off x="0" y="0"/>
          <a:ext cx="0" cy="0"/>
          <a:chOff x="0" y="0"/>
          <a:chExt cx="0" cy="0"/>
        </a:xfrm>
      </p:grpSpPr>
      <p:sp>
        <p:nvSpPr>
          <p:cNvPr id="2" name="Shape 0"/>
          <p:cNvSpPr/>
          <p:nvPr/>
        </p:nvSpPr>
        <p:spPr>
          <a:xfrm>
            <a:off x="8503920" y="-1097280"/>
            <a:ext cx="4572000" cy="4572000"/>
          </a:xfrm>
          <a:prstGeom prst="ellipse">
            <a:avLst/>
          </a:prstGeom>
          <a:solidFill>
            <a:srgbClr val="1A4A40"/>
          </a:solidFill>
          <a:ln w="12700">
            <a:solidFill>
              <a:srgbClr val="6FB8A3"/>
            </a:solidFill>
            <a:prstDash val="solid"/>
          </a:ln>
        </p:spPr>
      </p:sp>
      <p:sp>
        <p:nvSpPr>
          <p:cNvPr id="3" name="Text 1"/>
          <p:cNvSpPr txBox="1"/>
          <p:nvPr/>
        </p:nvSpPr>
        <p:spPr>
          <a:xfrm>
            <a:off x="731520" y="1097280"/>
            <a:ext cx="7315200" cy="1005840"/>
          </a:xfrm>
          <a:prstGeom prst="rect">
            <a:avLst/>
          </a:prstGeom>
          <a:noFill/>
          <a:ln/>
        </p:spPr>
        <p:txBody>
          <a:bodyPr wrap="square" lIns="0" tIns="0" rIns="0" bIns="0" rtlCol="0" anchor="t"/>
          <a:lstStyle/>
          <a:p>
            <a:pPr marL="0" indent="0">
              <a:buNone/>
            </a:pPr>
            <a:r>
              <a:rPr lang="en-US" sz="5400" b="1" dirty="0">
                <a:solidFill>
                  <a:srgbClr val="FFFFFF"/>
                </a:solidFill>
                <a:latin typeface="Cambria" pitchFamily="34" charset="0"/>
                <a:ea typeface="Cambria" pitchFamily="34" charset="-122"/>
                <a:cs typeface="Cambria" pitchFamily="34" charset="-120"/>
              </a:rPr>
              <a:t>Terima kasih</a:t>
            </a:r>
            <a:endParaRPr lang="en-US" sz="5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403</TotalTime>
  <Words>1375</Words>
  <Application>Microsoft Office PowerPoint</Application>
  <PresentationFormat>Widescreen</PresentationFormat>
  <Paragraphs>180</Paragraphs>
  <Slides>9</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Calibri Light</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Audit Desain dan Redesain Sirkular pada Apple iPhone</dc:title>
  <dc:subject>PptxGenJS Presentation</dc:subject>
  <dc:creator>Millah Karimah Maulidah</dc:creator>
  <cp:lastModifiedBy>Frans Correia Soares</cp:lastModifiedBy>
  <cp:revision>14</cp:revision>
  <dcterms:created xsi:type="dcterms:W3CDTF">2026-10-07T17:27:57Z</dcterms:created>
  <dcterms:modified xsi:type="dcterms:W3CDTF">2026-10-08T14:47:51Z</dcterms:modified>
</cp:coreProperties>
</file>