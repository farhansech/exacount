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2ad1426f-f470-a1b6-d9b0-0dc34888477c}">
          <p14:sldIdLst>
            <p14:sldId id="256"/>
          </p14:sldIdLst>
        </p14:section>
        <p14:section name="Isi" id="{144d26a2-e997-bc7c-147b-a91a995d5170}">
          <p14:sldIdLst>
            <p14:sldId id="257"/>
            <p14:sldId id="258"/>
            <p14:sldId id="259"/>
            <p14:sldId id="260"/>
            <p14:sldId id="261"/>
          </p14:sldIdLst>
        </p14:section>
        <p14:section name="Referensi" id="{47a51412-1207-9ae9-0e6e-f57e41fd143a}">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(±20 detik). Perkenalkan diri dan objek: iPhone, Apple. Jelaskan bahwa minggu lalu (W5) saya mengaudit desain dan suku cadang iPhone; minggu ini saya menilai bagaimana Apple memilih, mengaudit, dan membina pemasok suku cadang tersebut.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(±1 menit). Objek: iPhone 17 dari Apple. Jaringan: perakitan di Tiongkok dan India, plus pemasok material baterai, PCB, dan casing — suku cadang yang sama dengan audit desain W5. Batas sistem cradle-to-gate: dari material sampai perakitan; distribusi, pemakaian, dan end-of-life tidak dibahas karena menjadi topik W7–W8. Masalahnya: jejak karbon iPhone 17 sekitar 55 kg CO2e, dan sebagian besar dampak terjadi di pabrik pemasok. Karena Apple tidak memproduksi sendiri, procurement dan kolaborasi pemasok menjadi tuas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(±1 menit). Definisi green procurement dan green supplier development mengikuti Ref [2] Sarkis &amp; Dou (2018); tiga pilar sustainable procurement dari Ref [3] Grant et al. (2017). Suku cadang dari W5 saya petakan dengan matriks Kraljic: chip dan layar strategic, baterai dan magnet bottleneck karena material kritis, casing leverage. Pagell et al. (2010) menunjukkan bahwa dalam sourcing berkelanjutan, item leverage seperti aluminium bisa dikelola secara strategis demi kandungan daur ulang. Lima indikator di bawah menjadi kerangka penilaian slide berikutnya. [Sesuaikan klasifikasi Kraljic dengan hasil W5.]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(±1,5 menit). Bedakan tiga status. Yang sudah dijalankan: Code of Conduct, audit pihak ketiga dengan 1.856 asesmen, 155 fasilitas baru dinilai sebelum masuk rantai pasok, dan 230 audit smelter. Pengembangan pemasok nyata: Supplier Clean Energy Program lebih dari 20 GW, dana energi bersih China US$300 juta bersama pemasok, dan investasi CleanMax di India. Jurnal Lessard et al. (2025) dari tim Apple menunjukkan kerja sama dengan pemasok aluminium untuk menurunkan emisi paduan casing. Target: netral karbon 2030. Klaim kobalt 100% memakai metode mass balance, jadi saya catat sebagai klaim perusahaan. Mekanisme berbagi data belum rinci di sumber publik, sehingga saya tandai perlu 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(±1,5 menit) — keluaran 1. Matriks memakai 8 kriteria; bobot lingkungan 40% dan biaya-kualitas-risiko 40%, sisanya data dan kemauan berkembang. X lolos sebagai preferred, Y conditional, Z gugur walau termurah. Dilemanya: Apple butuh Y untuk diversifikasi di India, tetapi listrik di sana padat karbon. Risiko burden shifting: klaim mass balance, sertifikat energi tanpa additionality, dan beban biaya ke pemasok kecil. Mubarik et al. (2025) menemukan kolaborasi saja tidak cukup; yang berpengaruh adalah pemetaan rantai pasok. Ini dasar rekomendasi saya.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(±1,5 menit) — keluaran 2. Siklus kolaborasi enam langkah: spesifikasi hijau, seleksi dan audit, alokasi volume dengan klausul hijau, pengembangan dan berbagi data, scorecard kuartalan, lalu review tahunan yang memperbarui spesifikasi. Kuncinya di langkah 3 dan 4: alokasi volume dipakai sebagai insentif. Tiga rekomendasi: volume India naik bertahap sesuai tonggak energi terbarukan, pemetaan digital tier-2, dan PPA kolektif. KPI di kanan beserta data yang dibutuhkan agar setiap target bisa diverifikasi.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referensi. Format APA 7. Lengkapi URL penuh dan tanggal akses sesuai versi laporan yang Anda baca. Sesuaikan pernyataan AI bila penggunaannya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_GELAP">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SI">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chemeClr val="accent6"/>
                </a:solidFill>
              </a:rPr>
              <a:t>W6 · Green Procurement &amp; Pengembangan Pemasok — Apple iPhone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nchor="b"/>
          <a:lstStyle/>
          <a:p>
            <a:pPr algn="l" indent="0" marL="0">
              <a:buNone/>
            </a:pPr>
            <a:r>
              <a:rPr lang="en-US" sz="4000" b="1" dirty="0">
                <a:solidFill>
                  <a:schemeClr val="bg1"/>
                </a:solidFill>
              </a:rPr>
              <a:t>Green Procurement &amp; Pengembangan Pemasok: Apple iPhone</a:t>
            </a:r>
            <a:endParaRPr lang="en-US" sz="4000" dirty="0"/>
          </a:p>
        </p:txBody>
      </p:sp>
      <p:sp>
        <p:nvSpPr>
          <p:cNvPr id="3" name="Text 0"/>
          <p:cNvSpPr/>
          <p:nvPr>
            <p:ph idx="101" type="body" hasCustomPrompt="1"/>
          </p:nvPr>
        </p:nvSpPr>
        <p:spPr>
          <a:xfrm>
            <a:off x="731520" y="3657600"/>
            <a:ext cx="10698480" cy="1463040"/>
          </a:xfrm>
          <a:prstGeom prst="rect">
            <a:avLst/>
          </a:prstGeom>
          <a:noFill/>
          <a:ln/>
        </p:spPr>
        <p:txBody>
          <a:bodyPr wrap="square" rtlCol="0" anchor="t"/>
          <a:lstStyle/>
          <a:p>
            <a:pPr indent="0" marL="0">
              <a:buNone/>
            </a:pPr>
            <a:r>
              <a:rPr lang="en-US" sz="1800" dirty="0">
                <a:solidFill>
                  <a:schemeClr val="bg2"/>
                </a:solidFill>
              </a:rPr>
              <a:t>Tugas W6 · Sustainable and Circular Supply Chain (1641B101)</a:t>
            </a:r>
            <a:endParaRPr lang="en-US" sz="1800" dirty="0"/>
          </a:p>
          <a:p>
            <a:pPr indent="0" marL="0">
              <a:buNone/>
            </a:pPr>
            <a:r>
              <a:rPr lang="en-US" sz="1800" dirty="0">
                <a:solidFill>
                  <a:schemeClr val="bg2"/>
                </a:solidFill>
              </a:rPr>
              <a:t>Dasar: materi W5 Green Procurement &amp; Supplier Collaboration · lanjutan audit desain iPhone (W5)</a:t>
            </a:r>
            <a:endParaRPr lang="en-US" sz="1800" dirty="0"/>
          </a:p>
          <a:p>
            <a:pPr indent="0" marL="0">
              <a:buNone/>
            </a:pPr>
            <a:r>
              <a:rPr lang="en-US" sz="1800" dirty="0">
                <a:solidFill>
                  <a:schemeClr val="bg2"/>
                </a:solidFill>
              </a:rPr>
              <a:t>[Nama Mahasiswa] · [NRP] · Magister Teknik Industri Ubaya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Objek, Masalah, dan Batas Sistem</a:t>
            </a:r>
            <a:endParaRPr lang="en-US" sz="3200" dirty="0"/>
          </a:p>
        </p:txBody>
      </p:sp>
      <p:sp>
        <p:nvSpPr>
          <p:cNvPr id="3" name="kartu-objek-1"/>
          <p:cNvSpPr/>
          <p:nvPr/>
        </p:nvSpPr>
        <p:spPr>
          <a:xfrm>
            <a:off x="548640" y="1325880"/>
            <a:ext cx="6766560" cy="914400"/>
          </a:xfrm>
          <a:prstGeom prst="roundRect">
            <a:avLst>
              <a:gd name="adj" fmla="val 8000"/>
            </a:avLst>
          </a:prstGeom>
          <a:solidFill>
            <a:schemeClr val="bg2"/>
          </a:solidFill>
          <a:ln/>
        </p:spPr>
      </p:sp>
      <p:sp>
        <p:nvSpPr>
          <p:cNvPr id="4" name="nomor-1"/>
          <p:cNvSpPr/>
          <p:nvPr/>
        </p:nvSpPr>
        <p:spPr>
          <a:xfrm>
            <a:off x="731520" y="1572768"/>
            <a:ext cx="411480" cy="411480"/>
          </a:xfrm>
          <a:prstGeom prst="ellipse">
            <a:avLst/>
          </a:prstGeom>
          <a:solidFill>
            <a:schemeClr val="accent1"/>
          </a:solidFill>
          <a:ln/>
        </p:spPr>
      </p:sp>
      <p:sp>
        <p:nvSpPr>
          <p:cNvPr id="5" name="Text 3"/>
          <p:cNvSpPr txBox="1"/>
          <p:nvPr/>
        </p:nvSpPr>
        <p:spPr>
          <a:xfrm>
            <a:off x="731520" y="157276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25880" y="1371600"/>
            <a:ext cx="5852160" cy="822960"/>
          </a:xfrm>
          <a:prstGeom prst="rect">
            <a:avLst/>
          </a:prstGeom>
          <a:noFill/>
          <a:ln/>
        </p:spPr>
        <p:txBody>
          <a:bodyPr wrap="square" lIns="0" tIns="0" rIns="0" bIns="0" rtlCol="0" anchor="ctr"/>
          <a:lstStyle/>
          <a:p>
            <a:pPr indent="0" marL="0">
              <a:buNone/>
            </a:pPr>
            <a:r>
              <a:rPr lang="en-US" sz="1400" b="1" dirty="0">
                <a:solidFill>
                  <a:schemeClr val="tx2"/>
                </a:solidFill>
              </a:rPr>
              <a:t>Produk &amp; perusahaan</a:t>
            </a:r>
            <a:endParaRPr lang="en-US" sz="1400" dirty="0"/>
          </a:p>
          <a:p>
            <a:pPr indent="0" marL="0">
              <a:buNone/>
            </a:pPr>
            <a:r>
              <a:rPr lang="en-US" sz="1400" dirty="0">
                <a:solidFill>
                  <a:schemeClr val="tx1"/>
                </a:solidFill>
              </a:rPr>
              <a:t>iPhone 17 — Apple Inc. Lanjutan audit desain &amp; suku cadang pada W5</a:t>
            </a:r>
            <a:endParaRPr lang="en-US" sz="1400" dirty="0"/>
          </a:p>
        </p:txBody>
      </p:sp>
      <p:sp>
        <p:nvSpPr>
          <p:cNvPr id="7" name="kartu-objek-2"/>
          <p:cNvSpPr/>
          <p:nvPr/>
        </p:nvSpPr>
        <p:spPr>
          <a:xfrm>
            <a:off x="548640" y="2377440"/>
            <a:ext cx="6766560" cy="914400"/>
          </a:xfrm>
          <a:prstGeom prst="roundRect">
            <a:avLst>
              <a:gd name="adj" fmla="val 8000"/>
            </a:avLst>
          </a:prstGeom>
          <a:solidFill>
            <a:schemeClr val="bg2"/>
          </a:solidFill>
          <a:ln/>
        </p:spPr>
      </p:sp>
      <p:sp>
        <p:nvSpPr>
          <p:cNvPr id="8" name="nomor-2"/>
          <p:cNvSpPr/>
          <p:nvPr/>
        </p:nvSpPr>
        <p:spPr>
          <a:xfrm>
            <a:off x="731520" y="2624328"/>
            <a:ext cx="411480" cy="411480"/>
          </a:xfrm>
          <a:prstGeom prst="ellipse">
            <a:avLst/>
          </a:prstGeom>
          <a:solidFill>
            <a:schemeClr val="accent1"/>
          </a:solidFill>
          <a:ln/>
        </p:spPr>
      </p:sp>
      <p:sp>
        <p:nvSpPr>
          <p:cNvPr id="9" name="Text 7"/>
          <p:cNvSpPr txBox="1"/>
          <p:nvPr/>
        </p:nvSpPr>
        <p:spPr>
          <a:xfrm>
            <a:off x="731520" y="262432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325880" y="2423160"/>
            <a:ext cx="5852160" cy="822960"/>
          </a:xfrm>
          <a:prstGeom prst="rect">
            <a:avLst/>
          </a:prstGeom>
          <a:noFill/>
          <a:ln/>
        </p:spPr>
        <p:txBody>
          <a:bodyPr wrap="square" lIns="0" tIns="0" rIns="0" bIns="0" rtlCol="0" anchor="ctr"/>
          <a:lstStyle/>
          <a:p>
            <a:pPr indent="0" marL="0">
              <a:buNone/>
            </a:pPr>
            <a:r>
              <a:rPr lang="en-US" sz="1400" b="1" dirty="0">
                <a:solidFill>
                  <a:schemeClr val="tx2"/>
                </a:solidFill>
              </a:rPr>
              <a:t>Jaringan pemasok</a:t>
            </a:r>
            <a:endParaRPr lang="en-US" sz="1400" dirty="0"/>
          </a:p>
          <a:p>
            <a:pPr indent="0" marL="0">
              <a:buNone/>
            </a:pPr>
            <a:r>
              <a:rPr lang="en-US" sz="1400" dirty="0">
                <a:solidFill>
                  <a:schemeClr val="tx1"/>
                </a:solidFill>
              </a:rPr>
              <a:t>Perakitan akhir di Tiongkok &amp; India; pemasok material baterai (kobalt), PCB (emas, timah), casing (aluminium)</a:t>
            </a:r>
            <a:endParaRPr lang="en-US" sz="1400" dirty="0"/>
          </a:p>
        </p:txBody>
      </p:sp>
      <p:sp>
        <p:nvSpPr>
          <p:cNvPr id="11" name="kartu-objek-3"/>
          <p:cNvSpPr/>
          <p:nvPr/>
        </p:nvSpPr>
        <p:spPr>
          <a:xfrm>
            <a:off x="548640" y="3429000"/>
            <a:ext cx="6766560" cy="914400"/>
          </a:xfrm>
          <a:prstGeom prst="roundRect">
            <a:avLst>
              <a:gd name="adj" fmla="val 8000"/>
            </a:avLst>
          </a:prstGeom>
          <a:solidFill>
            <a:schemeClr val="bg2"/>
          </a:solidFill>
          <a:ln/>
        </p:spPr>
      </p:sp>
      <p:sp>
        <p:nvSpPr>
          <p:cNvPr id="12" name="nomor-3"/>
          <p:cNvSpPr/>
          <p:nvPr/>
        </p:nvSpPr>
        <p:spPr>
          <a:xfrm>
            <a:off x="731520" y="3675888"/>
            <a:ext cx="411480" cy="411480"/>
          </a:xfrm>
          <a:prstGeom prst="ellipse">
            <a:avLst/>
          </a:prstGeom>
          <a:solidFill>
            <a:schemeClr val="accent1"/>
          </a:solidFill>
          <a:ln/>
        </p:spPr>
      </p:sp>
      <p:sp>
        <p:nvSpPr>
          <p:cNvPr id="13" name="Text 11"/>
          <p:cNvSpPr txBox="1"/>
          <p:nvPr/>
        </p:nvSpPr>
        <p:spPr>
          <a:xfrm>
            <a:off x="731520" y="367588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1325880" y="3474720"/>
            <a:ext cx="5852160" cy="822960"/>
          </a:xfrm>
          <a:prstGeom prst="rect">
            <a:avLst/>
          </a:prstGeom>
          <a:noFill/>
          <a:ln/>
        </p:spPr>
        <p:txBody>
          <a:bodyPr wrap="square" lIns="0" tIns="0" rIns="0" bIns="0" rtlCol="0" anchor="ctr"/>
          <a:lstStyle/>
          <a:p>
            <a:pPr indent="0" marL="0">
              <a:buNone/>
            </a:pPr>
            <a:r>
              <a:rPr lang="en-US" sz="1400" b="1" dirty="0">
                <a:solidFill>
                  <a:schemeClr val="tx2"/>
                </a:solidFill>
              </a:rPr>
              <a:t>Masalah</a:t>
            </a:r>
            <a:endParaRPr lang="en-US" sz="1400" dirty="0"/>
          </a:p>
          <a:p>
            <a:pPr indent="0" marL="0">
              <a:buNone/>
            </a:pPr>
            <a:r>
              <a:rPr lang="en-US" sz="1400" dirty="0">
                <a:solidFill>
                  <a:schemeClr val="tx1"/>
                </a:solidFill>
              </a:rPr>
              <a:t>Dampak material &amp; energi terkonsentrasi di pabrik pemasok, bukan operasi Apple → procurement adalah tuas utama</a:t>
            </a:r>
            <a:endParaRPr lang="en-US" sz="1400" dirty="0"/>
          </a:p>
        </p:txBody>
      </p:sp>
      <p:sp>
        <p:nvSpPr>
          <p:cNvPr id="15" name="kartu-statistik"/>
          <p:cNvSpPr/>
          <p:nvPr/>
        </p:nvSpPr>
        <p:spPr>
          <a:xfrm>
            <a:off x="7680960" y="1325880"/>
            <a:ext cx="3931920" cy="3017520"/>
          </a:xfrm>
          <a:prstGeom prst="roundRect">
            <a:avLst>
              <a:gd name="adj" fmla="val 2424"/>
            </a:avLst>
          </a:prstGeom>
          <a:solidFill>
            <a:schemeClr val="tx2"/>
          </a:solidFill>
          <a:ln/>
        </p:spPr>
      </p:sp>
      <p:sp>
        <p:nvSpPr>
          <p:cNvPr id="16" name="Text 14"/>
          <p:cNvSpPr txBox="1"/>
          <p:nvPr/>
        </p:nvSpPr>
        <p:spPr>
          <a:xfrm>
            <a:off x="7955280" y="1463040"/>
            <a:ext cx="3383280" cy="2743200"/>
          </a:xfrm>
          <a:prstGeom prst="rect">
            <a:avLst/>
          </a:prstGeom>
          <a:noFill/>
          <a:ln/>
        </p:spPr>
        <p:txBody>
          <a:bodyPr wrap="square" lIns="0" tIns="0" rIns="0" bIns="0" rtlCol="0" anchor="ctr"/>
          <a:lstStyle/>
          <a:p>
            <a:pPr indent="0" marL="0">
              <a:buNone/>
            </a:pPr>
            <a:r>
              <a:rPr lang="en-US" sz="7200" b="1" dirty="0">
                <a:solidFill>
                  <a:schemeClr val="bg1"/>
                </a:solidFill>
              </a:rPr>
              <a:t>55</a:t>
            </a:r>
            <a:endParaRPr lang="en-US" sz="7200" dirty="0"/>
          </a:p>
          <a:p>
            <a:pPr indent="0" marL="0">
              <a:buNone/>
            </a:pPr>
            <a:r>
              <a:rPr lang="en-US" sz="2200" b="1" dirty="0">
                <a:solidFill>
                  <a:schemeClr val="accent2"/>
                </a:solidFill>
              </a:rPr>
              <a:t>kg CO₂e</a:t>
            </a:r>
            <a:endParaRPr lang="en-US" sz="7200" dirty="0"/>
          </a:p>
          <a:p>
            <a:pPr indent="0" marL="0">
              <a:buNone/>
            </a:pPr>
            <a:r>
              <a:rPr lang="en-US" sz="1400" dirty="0">
                <a:solidFill>
                  <a:schemeClr val="bg2"/>
                </a:solidFill>
              </a:rPr>
              <a:t>Jejak karbon iPhone 17 (256 GB) sepanjang siklus hidup (Apple, 2025)</a:t>
            </a:r>
            <a:endParaRPr lang="en-US" sz="7200" dirty="0"/>
          </a:p>
        </p:txBody>
      </p:sp>
      <p:sp>
        <p:nvSpPr>
          <p:cNvPr id="17" name="Text 15"/>
          <p:cNvSpPr txBox="1"/>
          <p:nvPr/>
        </p:nvSpPr>
        <p:spPr>
          <a:xfrm>
            <a:off x="548640" y="4526280"/>
            <a:ext cx="11064240" cy="320040"/>
          </a:xfrm>
          <a:prstGeom prst="rect">
            <a:avLst/>
          </a:prstGeom>
          <a:noFill/>
          <a:ln/>
        </p:spPr>
        <p:txBody>
          <a:bodyPr wrap="square" lIns="0" tIns="0" rIns="0" bIns="0" rtlCol="0" anchor="ctr"/>
          <a:lstStyle/>
          <a:p>
            <a:pPr indent="0" marL="0">
              <a:buNone/>
            </a:pPr>
            <a:r>
              <a:rPr lang="en-US" sz="1400" b="1" dirty="0">
                <a:solidFill>
                  <a:schemeClr val="tx2"/>
                </a:solidFill>
              </a:rPr>
              <a:t>Batas sistem: cradle-to-gate (material → perakitan)</a:t>
            </a:r>
            <a:endParaRPr lang="en-US" sz="1400" dirty="0"/>
          </a:p>
        </p:txBody>
      </p:sp>
      <p:sp>
        <p:nvSpPr>
          <p:cNvPr id="18" name="tahap-Material"/>
          <p:cNvSpPr/>
          <p:nvPr/>
        </p:nvSpPr>
        <p:spPr>
          <a:xfrm>
            <a:off x="548640" y="4937760"/>
            <a:ext cx="1737360" cy="548640"/>
          </a:xfrm>
          <a:prstGeom prst="roundRect">
            <a:avLst>
              <a:gd name="adj" fmla="val 13333"/>
            </a:avLst>
          </a:prstGeom>
          <a:solidFill>
            <a:schemeClr val="accent1"/>
          </a:solidFill>
          <a:ln/>
        </p:spPr>
      </p:sp>
      <p:sp>
        <p:nvSpPr>
          <p:cNvPr id="19" name="Text 17"/>
          <p:cNvSpPr txBox="1"/>
          <p:nvPr/>
        </p:nvSpPr>
        <p:spPr>
          <a:xfrm>
            <a:off x="548640" y="4937760"/>
            <a:ext cx="1737360" cy="548640"/>
          </a:xfrm>
          <a:prstGeom prst="rect">
            <a:avLst/>
          </a:prstGeom>
          <a:noFill/>
          <a:ln/>
        </p:spPr>
        <p:txBody>
          <a:bodyPr wrap="square" lIns="0" tIns="0" rIns="0" bIns="0" rtlCol="0" anchor="ctr"/>
          <a:lstStyle/>
          <a:p>
            <a:pPr algn="ctr" indent="0" marL="0">
              <a:buNone/>
            </a:pPr>
            <a:r>
              <a:rPr lang="en-US" sz="1400" b="1" dirty="0">
                <a:solidFill>
                  <a:schemeClr val="bg1"/>
                </a:solidFill>
              </a:rPr>
              <a:t>Material</a:t>
            </a:r>
            <a:endParaRPr lang="en-US" sz="1400" dirty="0"/>
          </a:p>
        </p:txBody>
      </p:sp>
      <p:sp>
        <p:nvSpPr>
          <p:cNvPr id="20" name="tahap-Komponen"/>
          <p:cNvSpPr/>
          <p:nvPr/>
        </p:nvSpPr>
        <p:spPr>
          <a:xfrm>
            <a:off x="2414016" y="4937760"/>
            <a:ext cx="1737360" cy="548640"/>
          </a:xfrm>
          <a:prstGeom prst="roundRect">
            <a:avLst>
              <a:gd name="adj" fmla="val 13333"/>
            </a:avLst>
          </a:prstGeom>
          <a:solidFill>
            <a:schemeClr val="accent1"/>
          </a:solidFill>
          <a:ln/>
        </p:spPr>
      </p:sp>
      <p:sp>
        <p:nvSpPr>
          <p:cNvPr id="21" name="Text 19"/>
          <p:cNvSpPr txBox="1"/>
          <p:nvPr/>
        </p:nvSpPr>
        <p:spPr>
          <a:xfrm>
            <a:off x="2414016" y="4937760"/>
            <a:ext cx="1737360" cy="548640"/>
          </a:xfrm>
          <a:prstGeom prst="rect">
            <a:avLst/>
          </a:prstGeom>
          <a:noFill/>
          <a:ln/>
        </p:spPr>
        <p:txBody>
          <a:bodyPr wrap="square" lIns="0" tIns="0" rIns="0" bIns="0" rtlCol="0" anchor="ctr"/>
          <a:lstStyle/>
          <a:p>
            <a:pPr algn="ctr" indent="0" marL="0">
              <a:buNone/>
            </a:pPr>
            <a:r>
              <a:rPr lang="en-US" sz="1400" b="1" dirty="0">
                <a:solidFill>
                  <a:schemeClr val="bg1"/>
                </a:solidFill>
              </a:rPr>
              <a:t>Komponen</a:t>
            </a:r>
            <a:endParaRPr lang="en-US" sz="1400" dirty="0"/>
          </a:p>
        </p:txBody>
      </p:sp>
      <p:sp>
        <p:nvSpPr>
          <p:cNvPr id="22" name="tahap-Perakitan"/>
          <p:cNvSpPr/>
          <p:nvPr/>
        </p:nvSpPr>
        <p:spPr>
          <a:xfrm>
            <a:off x="4279392" y="4937760"/>
            <a:ext cx="1737360" cy="548640"/>
          </a:xfrm>
          <a:prstGeom prst="roundRect">
            <a:avLst>
              <a:gd name="adj" fmla="val 13333"/>
            </a:avLst>
          </a:prstGeom>
          <a:solidFill>
            <a:schemeClr val="accent1"/>
          </a:solidFill>
          <a:ln/>
        </p:spPr>
      </p:sp>
      <p:sp>
        <p:nvSpPr>
          <p:cNvPr id="23" name="Text 21"/>
          <p:cNvSpPr txBox="1"/>
          <p:nvPr/>
        </p:nvSpPr>
        <p:spPr>
          <a:xfrm>
            <a:off x="4279392" y="4937760"/>
            <a:ext cx="1737360" cy="548640"/>
          </a:xfrm>
          <a:prstGeom prst="rect">
            <a:avLst/>
          </a:prstGeom>
          <a:noFill/>
          <a:ln/>
        </p:spPr>
        <p:txBody>
          <a:bodyPr wrap="square" lIns="0" tIns="0" rIns="0" bIns="0" rtlCol="0" anchor="ctr"/>
          <a:lstStyle/>
          <a:p>
            <a:pPr algn="ctr" indent="0" marL="0">
              <a:buNone/>
            </a:pPr>
            <a:r>
              <a:rPr lang="en-US" sz="1400" b="1" dirty="0">
                <a:solidFill>
                  <a:schemeClr val="bg1"/>
                </a:solidFill>
              </a:rPr>
              <a:t>Perakitan</a:t>
            </a:r>
            <a:endParaRPr lang="en-US" sz="1400" dirty="0"/>
          </a:p>
        </p:txBody>
      </p:sp>
      <p:sp>
        <p:nvSpPr>
          <p:cNvPr id="24" name="tahap-Distribusi"/>
          <p:cNvSpPr/>
          <p:nvPr/>
        </p:nvSpPr>
        <p:spPr>
          <a:xfrm>
            <a:off x="6144768" y="4937760"/>
            <a:ext cx="1737360" cy="548640"/>
          </a:xfrm>
          <a:prstGeom prst="roundRect">
            <a:avLst>
              <a:gd name="adj" fmla="val 13333"/>
            </a:avLst>
          </a:prstGeom>
          <a:solidFill>
            <a:schemeClr val="bg2"/>
          </a:solidFill>
          <a:ln/>
        </p:spPr>
      </p:sp>
      <p:sp>
        <p:nvSpPr>
          <p:cNvPr id="25" name="Text 23"/>
          <p:cNvSpPr txBox="1"/>
          <p:nvPr/>
        </p:nvSpPr>
        <p:spPr>
          <a:xfrm>
            <a:off x="6144768" y="4937760"/>
            <a:ext cx="1737360" cy="548640"/>
          </a:xfrm>
          <a:prstGeom prst="rect">
            <a:avLst/>
          </a:prstGeom>
          <a:noFill/>
          <a:ln/>
        </p:spPr>
        <p:txBody>
          <a:bodyPr wrap="square" lIns="0" tIns="0" rIns="0" bIns="0" rtlCol="0" anchor="ctr"/>
          <a:lstStyle/>
          <a:p>
            <a:pPr algn="ctr" indent="0" marL="0">
              <a:buNone/>
            </a:pPr>
            <a:r>
              <a:rPr lang="en-US" sz="1400" dirty="0">
                <a:solidFill>
                  <a:schemeClr val="accent6"/>
                </a:solidFill>
              </a:rPr>
              <a:t>Distribusi</a:t>
            </a:r>
            <a:endParaRPr lang="en-US" sz="1400" dirty="0"/>
          </a:p>
        </p:txBody>
      </p:sp>
      <p:sp>
        <p:nvSpPr>
          <p:cNvPr id="26" name="tahap-Pemakaian"/>
          <p:cNvSpPr/>
          <p:nvPr/>
        </p:nvSpPr>
        <p:spPr>
          <a:xfrm>
            <a:off x="8010144" y="4937760"/>
            <a:ext cx="1737360" cy="548640"/>
          </a:xfrm>
          <a:prstGeom prst="roundRect">
            <a:avLst>
              <a:gd name="adj" fmla="val 13333"/>
            </a:avLst>
          </a:prstGeom>
          <a:solidFill>
            <a:schemeClr val="bg2"/>
          </a:solidFill>
          <a:ln/>
        </p:spPr>
      </p:sp>
      <p:sp>
        <p:nvSpPr>
          <p:cNvPr id="27" name="Text 25"/>
          <p:cNvSpPr txBox="1"/>
          <p:nvPr/>
        </p:nvSpPr>
        <p:spPr>
          <a:xfrm>
            <a:off x="8010144" y="4937760"/>
            <a:ext cx="1737360" cy="548640"/>
          </a:xfrm>
          <a:prstGeom prst="rect">
            <a:avLst/>
          </a:prstGeom>
          <a:noFill/>
          <a:ln/>
        </p:spPr>
        <p:txBody>
          <a:bodyPr wrap="square" lIns="0" tIns="0" rIns="0" bIns="0" rtlCol="0" anchor="ctr"/>
          <a:lstStyle/>
          <a:p>
            <a:pPr algn="ctr" indent="0" marL="0">
              <a:buNone/>
            </a:pPr>
            <a:r>
              <a:rPr lang="en-US" sz="1400" dirty="0">
                <a:solidFill>
                  <a:schemeClr val="accent6"/>
                </a:solidFill>
              </a:rPr>
              <a:t>Pemakaian</a:t>
            </a:r>
            <a:endParaRPr lang="en-US" sz="1400" dirty="0"/>
          </a:p>
        </p:txBody>
      </p:sp>
      <p:sp>
        <p:nvSpPr>
          <p:cNvPr id="28" name="tahap-End-of-life"/>
          <p:cNvSpPr/>
          <p:nvPr/>
        </p:nvSpPr>
        <p:spPr>
          <a:xfrm>
            <a:off x="9875520" y="4937760"/>
            <a:ext cx="1737360" cy="548640"/>
          </a:xfrm>
          <a:prstGeom prst="roundRect">
            <a:avLst>
              <a:gd name="adj" fmla="val 13333"/>
            </a:avLst>
          </a:prstGeom>
          <a:solidFill>
            <a:schemeClr val="bg2"/>
          </a:solidFill>
          <a:ln/>
        </p:spPr>
      </p:sp>
      <p:sp>
        <p:nvSpPr>
          <p:cNvPr id="29" name="Text 27"/>
          <p:cNvSpPr txBox="1"/>
          <p:nvPr/>
        </p:nvSpPr>
        <p:spPr>
          <a:xfrm>
            <a:off x="9875520" y="4937760"/>
            <a:ext cx="1737360" cy="548640"/>
          </a:xfrm>
          <a:prstGeom prst="rect">
            <a:avLst/>
          </a:prstGeom>
          <a:noFill/>
          <a:ln/>
        </p:spPr>
        <p:txBody>
          <a:bodyPr wrap="square" lIns="0" tIns="0" rIns="0" bIns="0" rtlCol="0" anchor="ctr"/>
          <a:lstStyle/>
          <a:p>
            <a:pPr algn="ctr" indent="0" marL="0">
              <a:buNone/>
            </a:pPr>
            <a:r>
              <a:rPr lang="en-US" sz="1400" dirty="0">
                <a:solidFill>
                  <a:schemeClr val="accent6"/>
                </a:solidFill>
              </a:rPr>
              <a:t>End-of-life</a:t>
            </a:r>
            <a:endParaRPr lang="en-US" sz="1400" dirty="0"/>
          </a:p>
        </p:txBody>
      </p:sp>
      <p:sp>
        <p:nvSpPr>
          <p:cNvPr id="30" name="Text 28"/>
          <p:cNvSpPr txBox="1"/>
          <p:nvPr/>
        </p:nvSpPr>
        <p:spPr>
          <a:xfrm>
            <a:off x="548640" y="5577840"/>
            <a:ext cx="11064240" cy="274320"/>
          </a:xfrm>
          <a:prstGeom prst="rect">
            <a:avLst/>
          </a:prstGeom>
          <a:noFill/>
          <a:ln/>
        </p:spPr>
        <p:txBody>
          <a:bodyPr wrap="square" lIns="0" tIns="0" rIns="0" bIns="0" rtlCol="0" anchor="ctr"/>
          <a:lstStyle/>
          <a:p>
            <a:pPr indent="0" marL="0">
              <a:buNone/>
            </a:pPr>
            <a:r>
              <a:rPr lang="en-US" sz="1200" dirty="0">
                <a:solidFill>
                  <a:schemeClr val="accent6"/>
                </a:solidFill>
              </a:rPr>
              <a:t>Hijau = dianalisis · abu-abu = di luar batas (dibahas pada W7 transportasi &amp; W8 reverse flow)</a:t>
            </a:r>
            <a:endParaRPr lang="en-US" sz="1200" dirty="0"/>
          </a:p>
        </p:txBody>
      </p:sp>
      <p:sp>
        <p:nvSpPr>
          <p:cNvPr id="31" name="Text 29"/>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i="1" dirty="0">
                <a:solidFill>
                  <a:schemeClr val="accent6"/>
                </a:solidFill>
              </a:rPr>
              <a:t>Sumber: Apple (2025) iPhone 17 Product Environmental Report. [Verifikasi % emisi tahap produksi pada grafik PER sebelum dikutip]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Konsep: Green Procurement &amp; Supplier Collaboration</a:t>
            </a:r>
            <a:endParaRPr lang="en-US" sz="3200" dirty="0"/>
          </a:p>
        </p:txBody>
      </p:sp>
      <p:sp>
        <p:nvSpPr>
          <p:cNvPr id="3" name="kartu-definisi-1"/>
          <p:cNvSpPr/>
          <p:nvPr/>
        </p:nvSpPr>
        <p:spPr>
          <a:xfrm>
            <a:off x="548640" y="1325880"/>
            <a:ext cx="5577840" cy="1554480"/>
          </a:xfrm>
          <a:prstGeom prst="roundRect">
            <a:avLst>
              <a:gd name="adj" fmla="val 4706"/>
            </a:avLst>
          </a:prstGeom>
          <a:solidFill>
            <a:schemeClr val="bg2"/>
          </a:solidFill>
          <a:ln/>
        </p:spPr>
      </p:sp>
      <p:sp>
        <p:nvSpPr>
          <p:cNvPr id="4" name="Text 2"/>
          <p:cNvSpPr txBox="1"/>
          <p:nvPr/>
        </p:nvSpPr>
        <p:spPr>
          <a:xfrm>
            <a:off x="777240" y="1417320"/>
            <a:ext cx="5120640" cy="1371600"/>
          </a:xfrm>
          <a:prstGeom prst="rect">
            <a:avLst/>
          </a:prstGeom>
          <a:noFill/>
          <a:ln/>
        </p:spPr>
        <p:txBody>
          <a:bodyPr wrap="square" lIns="0" tIns="0" rIns="0" bIns="0" rtlCol="0" anchor="ctr"/>
          <a:lstStyle/>
          <a:p>
            <a:pPr indent="0" marL="0">
              <a:buNone/>
            </a:pPr>
            <a:r>
              <a:rPr lang="en-US" sz="1600" b="1" dirty="0">
                <a:solidFill>
                  <a:schemeClr val="tx2"/>
                </a:solidFill>
              </a:rPr>
              <a:t>Green procurement</a:t>
            </a:r>
            <a:endParaRPr lang="en-US" sz="1600" dirty="0"/>
          </a:p>
          <a:p>
            <a:pPr indent="0" marL="0">
              <a:buNone/>
            </a:pPr>
            <a:r>
              <a:rPr lang="en-US" sz="1400" dirty="0">
                <a:solidFill>
                  <a:schemeClr val="tx1"/>
                </a:solidFill>
              </a:rPr>
              <a:t>Kriteria lingkungan dimasukkan ke spesifikasi, seleksi, kontrak, dan evaluasi pemasok sepanjang siklus hidup produk (Sarkis &amp; Dou, 2018; Grant et al., 2017)</a:t>
            </a:r>
            <a:endParaRPr lang="en-US" sz="1600" dirty="0"/>
          </a:p>
        </p:txBody>
      </p:sp>
      <p:sp>
        <p:nvSpPr>
          <p:cNvPr id="5" name="kartu-definisi-2"/>
          <p:cNvSpPr/>
          <p:nvPr/>
        </p:nvSpPr>
        <p:spPr>
          <a:xfrm>
            <a:off x="548640" y="3017520"/>
            <a:ext cx="5577840" cy="1554480"/>
          </a:xfrm>
          <a:prstGeom prst="roundRect">
            <a:avLst>
              <a:gd name="adj" fmla="val 4706"/>
            </a:avLst>
          </a:prstGeom>
          <a:solidFill>
            <a:schemeClr val="bg2"/>
          </a:solidFill>
          <a:ln/>
        </p:spPr>
      </p:sp>
      <p:sp>
        <p:nvSpPr>
          <p:cNvPr id="6" name="Text 4"/>
          <p:cNvSpPr txBox="1"/>
          <p:nvPr/>
        </p:nvSpPr>
        <p:spPr>
          <a:xfrm>
            <a:off x="777240" y="3108960"/>
            <a:ext cx="5120640" cy="1371600"/>
          </a:xfrm>
          <a:prstGeom prst="rect">
            <a:avLst/>
          </a:prstGeom>
          <a:noFill/>
          <a:ln/>
        </p:spPr>
        <p:txBody>
          <a:bodyPr wrap="square" lIns="0" tIns="0" rIns="0" bIns="0" rtlCol="0" anchor="ctr"/>
          <a:lstStyle/>
          <a:p>
            <a:pPr indent="0" marL="0">
              <a:buNone/>
            </a:pPr>
            <a:r>
              <a:rPr lang="en-US" sz="1600" b="1" dirty="0">
                <a:solidFill>
                  <a:schemeClr val="tx2"/>
                </a:solidFill>
              </a:rPr>
              <a:t>Green supplier development &amp; collaboration</a:t>
            </a:r>
            <a:endParaRPr lang="en-US" sz="1600" dirty="0"/>
          </a:p>
          <a:p>
            <a:pPr indent="0" marL="0">
              <a:buNone/>
            </a:pPr>
            <a:r>
              <a:rPr lang="en-US" sz="1400" dirty="0">
                <a:solidFill>
                  <a:schemeClr val="tx1"/>
                </a:solidFill>
              </a:rPr>
              <a:t>Pembeli berinvestasi dan bekerja sama untuk menaikkan kapabilitas lingkungan pemasok: pelatihan, bantuan teknis, insentif, berbagi data (Sarkis &amp; Dou, 2018)</a:t>
            </a:r>
            <a:endParaRPr lang="en-US" sz="1600" dirty="0"/>
          </a:p>
        </p:txBody>
      </p:sp>
      <p:sp>
        <p:nvSpPr>
          <p:cNvPr id="7" name="Text 5"/>
          <p:cNvSpPr txBox="1"/>
          <p:nvPr/>
        </p:nvSpPr>
        <p:spPr>
          <a:xfrm>
            <a:off x="6400800" y="1325880"/>
            <a:ext cx="5212080" cy="365760"/>
          </a:xfrm>
          <a:prstGeom prst="rect">
            <a:avLst/>
          </a:prstGeom>
          <a:noFill/>
          <a:ln/>
        </p:spPr>
        <p:txBody>
          <a:bodyPr wrap="square" lIns="0" tIns="0" rIns="0" bIns="0" rtlCol="0" anchor="ctr"/>
          <a:lstStyle/>
          <a:p>
            <a:pPr indent="0" marL="0">
              <a:buNone/>
            </a:pPr>
            <a:r>
              <a:rPr lang="en-US" sz="1600" b="1" dirty="0">
                <a:solidFill>
                  <a:schemeClr val="tx2"/>
                </a:solidFill>
              </a:rPr>
              <a:t>Matriks Kraljic: suku cadang iPhone dari W5</a:t>
            </a:r>
            <a:endParaRPr lang="en-US" sz="1600" dirty="0"/>
          </a:p>
        </p:txBody>
      </p:sp>
      <p:sp>
        <p:nvSpPr>
          <p:cNvPr id="8" name="kraljic-Leverage"/>
          <p:cNvSpPr/>
          <p:nvPr/>
        </p:nvSpPr>
        <p:spPr>
          <a:xfrm>
            <a:off x="6400800" y="1783080"/>
            <a:ext cx="2560320" cy="1234440"/>
          </a:xfrm>
          <a:prstGeom prst="roundRect">
            <a:avLst>
              <a:gd name="adj" fmla="val 5926"/>
            </a:avLst>
          </a:prstGeom>
          <a:solidFill>
            <a:schemeClr val="bg2"/>
          </a:solidFill>
          <a:ln/>
        </p:spPr>
      </p:sp>
      <p:sp>
        <p:nvSpPr>
          <p:cNvPr id="9" name="Text 7"/>
          <p:cNvSpPr txBox="1"/>
          <p:nvPr/>
        </p:nvSpPr>
        <p:spPr>
          <a:xfrm>
            <a:off x="6537960" y="1856232"/>
            <a:ext cx="2286000" cy="1097280"/>
          </a:xfrm>
          <a:prstGeom prst="rect">
            <a:avLst/>
          </a:prstGeom>
          <a:noFill/>
          <a:ln/>
        </p:spPr>
        <p:txBody>
          <a:bodyPr wrap="square" lIns="0" tIns="0" rIns="0" bIns="0" rtlCol="0" anchor="ctr"/>
          <a:lstStyle/>
          <a:p>
            <a:pPr indent="0" marL="0">
              <a:buNone/>
            </a:pPr>
            <a:r>
              <a:rPr lang="en-US" sz="1500" b="1" dirty="0">
                <a:solidFill>
                  <a:schemeClr val="tx2"/>
                </a:solidFill>
              </a:rPr>
              <a:t>Leverage</a:t>
            </a:r>
            <a:endParaRPr lang="en-US" sz="1500" dirty="0"/>
          </a:p>
          <a:p>
            <a:pPr indent="0" marL="0">
              <a:buNone/>
            </a:pPr>
            <a:r>
              <a:rPr lang="en-US" sz="1300" dirty="0">
                <a:solidFill>
                  <a:schemeClr val="tx1"/>
                </a:solidFill>
              </a:rPr>
              <a:t>Casing aluminium, konektor</a:t>
            </a:r>
            <a:endParaRPr lang="en-US" sz="1500" dirty="0"/>
          </a:p>
        </p:txBody>
      </p:sp>
      <p:sp>
        <p:nvSpPr>
          <p:cNvPr id="10" name="kraljic-Strategic"/>
          <p:cNvSpPr/>
          <p:nvPr/>
        </p:nvSpPr>
        <p:spPr>
          <a:xfrm>
            <a:off x="9052560" y="1783080"/>
            <a:ext cx="2560320" cy="1234440"/>
          </a:xfrm>
          <a:prstGeom prst="roundRect">
            <a:avLst>
              <a:gd name="adj" fmla="val 5926"/>
            </a:avLst>
          </a:prstGeom>
          <a:solidFill>
            <a:schemeClr val="tx2"/>
          </a:solidFill>
          <a:ln/>
        </p:spPr>
      </p:sp>
      <p:sp>
        <p:nvSpPr>
          <p:cNvPr id="11" name="Text 9"/>
          <p:cNvSpPr txBox="1"/>
          <p:nvPr/>
        </p:nvSpPr>
        <p:spPr>
          <a:xfrm>
            <a:off x="9189720" y="1856232"/>
            <a:ext cx="2286000" cy="1097280"/>
          </a:xfrm>
          <a:prstGeom prst="rect">
            <a:avLst/>
          </a:prstGeom>
          <a:noFill/>
          <a:ln/>
        </p:spPr>
        <p:txBody>
          <a:bodyPr wrap="square" lIns="0" tIns="0" rIns="0" bIns="0" rtlCol="0" anchor="ctr"/>
          <a:lstStyle/>
          <a:p>
            <a:pPr indent="0" marL="0">
              <a:buNone/>
            </a:pPr>
            <a:r>
              <a:rPr lang="en-US" sz="1500" b="1" dirty="0">
                <a:solidFill>
                  <a:schemeClr val="accent2"/>
                </a:solidFill>
              </a:rPr>
              <a:t>Strategic</a:t>
            </a:r>
            <a:endParaRPr lang="en-US" sz="1500" dirty="0"/>
          </a:p>
          <a:p>
            <a:pPr indent="0" marL="0">
              <a:buNone/>
            </a:pPr>
            <a:r>
              <a:rPr lang="en-US" sz="1300" dirty="0">
                <a:solidFill>
                  <a:schemeClr val="bg1"/>
                </a:solidFill>
              </a:rPr>
              <a:t>Chip prosesor, layar OLED</a:t>
            </a:r>
            <a:endParaRPr lang="en-US" sz="1500" dirty="0"/>
          </a:p>
        </p:txBody>
      </p:sp>
      <p:sp>
        <p:nvSpPr>
          <p:cNvPr id="12" name="kraljic-Non-critical"/>
          <p:cNvSpPr/>
          <p:nvPr/>
        </p:nvSpPr>
        <p:spPr>
          <a:xfrm>
            <a:off x="6400800" y="3108960"/>
            <a:ext cx="2560320" cy="1234440"/>
          </a:xfrm>
          <a:prstGeom prst="roundRect">
            <a:avLst>
              <a:gd name="adj" fmla="val 5926"/>
            </a:avLst>
          </a:prstGeom>
          <a:solidFill>
            <a:schemeClr val="bg2"/>
          </a:solidFill>
          <a:ln/>
        </p:spPr>
      </p:sp>
      <p:sp>
        <p:nvSpPr>
          <p:cNvPr id="13" name="Text 11"/>
          <p:cNvSpPr txBox="1"/>
          <p:nvPr/>
        </p:nvSpPr>
        <p:spPr>
          <a:xfrm>
            <a:off x="6537960" y="3182112"/>
            <a:ext cx="2286000" cy="1097280"/>
          </a:xfrm>
          <a:prstGeom prst="rect">
            <a:avLst/>
          </a:prstGeom>
          <a:noFill/>
          <a:ln/>
        </p:spPr>
        <p:txBody>
          <a:bodyPr wrap="square" lIns="0" tIns="0" rIns="0" bIns="0" rtlCol="0" anchor="ctr"/>
          <a:lstStyle/>
          <a:p>
            <a:pPr indent="0" marL="0">
              <a:buNone/>
            </a:pPr>
            <a:r>
              <a:rPr lang="en-US" sz="1500" b="1" dirty="0">
                <a:solidFill>
                  <a:schemeClr val="tx2"/>
                </a:solidFill>
              </a:rPr>
              <a:t>Non-critical</a:t>
            </a:r>
            <a:endParaRPr lang="en-US" sz="1500" dirty="0"/>
          </a:p>
          <a:p>
            <a:pPr indent="0" marL="0">
              <a:buNone/>
            </a:pPr>
            <a:r>
              <a:rPr lang="en-US" sz="1300" dirty="0">
                <a:solidFill>
                  <a:schemeClr val="tx1"/>
                </a:solidFill>
              </a:rPr>
              <a:t>Kemasan, sekrup</a:t>
            </a:r>
            <a:endParaRPr lang="en-US" sz="1500" dirty="0"/>
          </a:p>
        </p:txBody>
      </p:sp>
      <p:sp>
        <p:nvSpPr>
          <p:cNvPr id="14" name="kraljic-Bottleneck"/>
          <p:cNvSpPr/>
          <p:nvPr/>
        </p:nvSpPr>
        <p:spPr>
          <a:xfrm>
            <a:off x="9052560" y="3108960"/>
            <a:ext cx="2560320" cy="1234440"/>
          </a:xfrm>
          <a:prstGeom prst="roundRect">
            <a:avLst>
              <a:gd name="adj" fmla="val 5926"/>
            </a:avLst>
          </a:prstGeom>
          <a:solidFill>
            <a:schemeClr val="bg2"/>
          </a:solidFill>
          <a:ln/>
        </p:spPr>
      </p:sp>
      <p:sp>
        <p:nvSpPr>
          <p:cNvPr id="15" name="Text 13"/>
          <p:cNvSpPr txBox="1"/>
          <p:nvPr/>
        </p:nvSpPr>
        <p:spPr>
          <a:xfrm>
            <a:off x="9189720" y="3182112"/>
            <a:ext cx="2286000" cy="1097280"/>
          </a:xfrm>
          <a:prstGeom prst="rect">
            <a:avLst/>
          </a:prstGeom>
          <a:noFill/>
          <a:ln/>
        </p:spPr>
        <p:txBody>
          <a:bodyPr wrap="square" lIns="0" tIns="0" rIns="0" bIns="0" rtlCol="0" anchor="ctr"/>
          <a:lstStyle/>
          <a:p>
            <a:pPr indent="0" marL="0">
              <a:buNone/>
            </a:pPr>
            <a:r>
              <a:rPr lang="en-US" sz="1500" b="1" dirty="0">
                <a:solidFill>
                  <a:schemeClr val="tx2"/>
                </a:solidFill>
              </a:rPr>
              <a:t>Bottleneck</a:t>
            </a:r>
            <a:endParaRPr lang="en-US" sz="1500" dirty="0"/>
          </a:p>
          <a:p>
            <a:pPr indent="0" marL="0">
              <a:buNone/>
            </a:pPr>
            <a:r>
              <a:rPr lang="en-US" sz="1300" dirty="0">
                <a:solidFill>
                  <a:schemeClr val="tx1"/>
                </a:solidFill>
              </a:rPr>
              <a:t>Baterai (kobalt), magnet tanah jarang</a:t>
            </a:r>
            <a:endParaRPr lang="en-US" sz="1500" dirty="0"/>
          </a:p>
        </p:txBody>
      </p:sp>
      <p:sp>
        <p:nvSpPr>
          <p:cNvPr id="16" name="Text 14"/>
          <p:cNvSpPr txBox="1"/>
          <p:nvPr/>
        </p:nvSpPr>
        <p:spPr>
          <a:xfrm>
            <a:off x="6400800" y="4434840"/>
            <a:ext cx="5212080" cy="274320"/>
          </a:xfrm>
          <a:prstGeom prst="rect">
            <a:avLst/>
          </a:prstGeom>
          <a:noFill/>
          <a:ln/>
        </p:spPr>
        <p:txBody>
          <a:bodyPr wrap="square" lIns="0" tIns="0" rIns="0" bIns="0" rtlCol="0" anchor="ctr"/>
          <a:lstStyle/>
          <a:p>
            <a:pPr indent="0" marL="0">
              <a:buNone/>
            </a:pPr>
            <a:r>
              <a:rPr lang="en-US" sz="1100" i="1" dirty="0">
                <a:solidFill>
                  <a:schemeClr val="accent6"/>
                </a:solidFill>
              </a:rPr>
              <a:t>↑ dampak profit · risiko pasokan →  (Kraljic, 1983; Pagell et al., 2010)</a:t>
            </a:r>
            <a:endParaRPr lang="en-US" sz="1100" dirty="0"/>
          </a:p>
        </p:txBody>
      </p:sp>
      <p:sp>
        <p:nvSpPr>
          <p:cNvPr id="17" name="Text 15"/>
          <p:cNvSpPr txBox="1"/>
          <p:nvPr/>
        </p:nvSpPr>
        <p:spPr>
          <a:xfrm>
            <a:off x="548640" y="4846320"/>
            <a:ext cx="11064240" cy="320040"/>
          </a:xfrm>
          <a:prstGeom prst="rect">
            <a:avLst/>
          </a:prstGeom>
          <a:noFill/>
          <a:ln/>
        </p:spPr>
        <p:txBody>
          <a:bodyPr wrap="square" lIns="0" tIns="0" rIns="0" bIns="0" rtlCol="0" anchor="ctr"/>
          <a:lstStyle/>
          <a:p>
            <a:pPr indent="0" marL="0">
              <a:buNone/>
            </a:pPr>
            <a:r>
              <a:rPr lang="en-US" sz="1400" b="1" dirty="0">
                <a:solidFill>
                  <a:schemeClr val="tx2"/>
                </a:solidFill>
              </a:rPr>
              <a:t>Indikator implementasi yang dinilai</a:t>
            </a:r>
            <a:endParaRPr lang="en-US" sz="1400" dirty="0"/>
          </a:p>
        </p:txBody>
      </p:sp>
      <p:sp>
        <p:nvSpPr>
          <p:cNvPr id="18" name="indikator-1"/>
          <p:cNvSpPr/>
          <p:nvPr/>
        </p:nvSpPr>
        <p:spPr>
          <a:xfrm>
            <a:off x="548640" y="5257800"/>
            <a:ext cx="2103120" cy="548640"/>
          </a:xfrm>
          <a:prstGeom prst="roundRect">
            <a:avLst>
              <a:gd name="adj" fmla="val 13333"/>
            </a:avLst>
          </a:prstGeom>
          <a:solidFill>
            <a:schemeClr val="accent1"/>
          </a:solidFill>
          <a:ln/>
        </p:spPr>
      </p:sp>
      <p:sp>
        <p:nvSpPr>
          <p:cNvPr id="19" name="Text 17"/>
          <p:cNvSpPr txBox="1"/>
          <p:nvPr/>
        </p:nvSpPr>
        <p:spPr>
          <a:xfrm>
            <a:off x="548640" y="5257800"/>
            <a:ext cx="2103120" cy="548640"/>
          </a:xfrm>
          <a:prstGeom prst="rect">
            <a:avLst/>
          </a:prstGeom>
          <a:noFill/>
          <a:ln/>
        </p:spPr>
        <p:txBody>
          <a:bodyPr wrap="square" lIns="0" tIns="0" rIns="0" bIns="0" rtlCol="0" anchor="ctr"/>
          <a:lstStyle/>
          <a:p>
            <a:pPr algn="ctr" indent="0" marL="0">
              <a:buNone/>
            </a:pPr>
            <a:r>
              <a:rPr lang="en-US" sz="1400" b="1" dirty="0">
                <a:solidFill>
                  <a:schemeClr val="bg1"/>
                </a:solidFill>
              </a:rPr>
              <a:t>Kriteria hijau</a:t>
            </a:r>
            <a:endParaRPr lang="en-US" sz="1400" dirty="0"/>
          </a:p>
        </p:txBody>
      </p:sp>
      <p:sp>
        <p:nvSpPr>
          <p:cNvPr id="20" name="indikator-2"/>
          <p:cNvSpPr/>
          <p:nvPr/>
        </p:nvSpPr>
        <p:spPr>
          <a:xfrm>
            <a:off x="2779776" y="5257800"/>
            <a:ext cx="2103120" cy="548640"/>
          </a:xfrm>
          <a:prstGeom prst="roundRect">
            <a:avLst>
              <a:gd name="adj" fmla="val 13333"/>
            </a:avLst>
          </a:prstGeom>
          <a:solidFill>
            <a:schemeClr val="accent1"/>
          </a:solidFill>
          <a:ln/>
        </p:spPr>
      </p:sp>
      <p:sp>
        <p:nvSpPr>
          <p:cNvPr id="21" name="Text 19"/>
          <p:cNvSpPr txBox="1"/>
          <p:nvPr/>
        </p:nvSpPr>
        <p:spPr>
          <a:xfrm>
            <a:off x="2779776" y="5257800"/>
            <a:ext cx="2103120" cy="548640"/>
          </a:xfrm>
          <a:prstGeom prst="rect">
            <a:avLst/>
          </a:prstGeom>
          <a:noFill/>
          <a:ln/>
        </p:spPr>
        <p:txBody>
          <a:bodyPr wrap="square" lIns="0" tIns="0" rIns="0" bIns="0" rtlCol="0" anchor="ctr"/>
          <a:lstStyle/>
          <a:p>
            <a:pPr algn="ctr" indent="0" marL="0">
              <a:buNone/>
            </a:pPr>
            <a:r>
              <a:rPr lang="en-US" sz="1400" b="1" dirty="0">
                <a:solidFill>
                  <a:schemeClr val="bg1"/>
                </a:solidFill>
              </a:rPr>
              <a:t>Seleksi &amp; audit</a:t>
            </a:r>
            <a:endParaRPr lang="en-US" sz="1400" dirty="0"/>
          </a:p>
        </p:txBody>
      </p:sp>
      <p:sp>
        <p:nvSpPr>
          <p:cNvPr id="22" name="indikator-3"/>
          <p:cNvSpPr/>
          <p:nvPr/>
        </p:nvSpPr>
        <p:spPr>
          <a:xfrm>
            <a:off x="5010912" y="5257800"/>
            <a:ext cx="2103120" cy="548640"/>
          </a:xfrm>
          <a:prstGeom prst="roundRect">
            <a:avLst>
              <a:gd name="adj" fmla="val 13333"/>
            </a:avLst>
          </a:prstGeom>
          <a:solidFill>
            <a:schemeClr val="accent1"/>
          </a:solidFill>
          <a:ln/>
        </p:spPr>
      </p:sp>
      <p:sp>
        <p:nvSpPr>
          <p:cNvPr id="23" name="Text 21"/>
          <p:cNvSpPr txBox="1"/>
          <p:nvPr/>
        </p:nvSpPr>
        <p:spPr>
          <a:xfrm>
            <a:off x="5010912" y="5257800"/>
            <a:ext cx="2103120" cy="548640"/>
          </a:xfrm>
          <a:prstGeom prst="rect">
            <a:avLst/>
          </a:prstGeom>
          <a:noFill/>
          <a:ln/>
        </p:spPr>
        <p:txBody>
          <a:bodyPr wrap="square" lIns="0" tIns="0" rIns="0" bIns="0" rtlCol="0" anchor="ctr"/>
          <a:lstStyle/>
          <a:p>
            <a:pPr algn="ctr" indent="0" marL="0">
              <a:buNone/>
            </a:pPr>
            <a:r>
              <a:rPr lang="en-US" sz="1400" b="1" dirty="0">
                <a:solidFill>
                  <a:schemeClr val="bg1"/>
                </a:solidFill>
              </a:rPr>
              <a:t>Target lingkungan</a:t>
            </a:r>
            <a:endParaRPr lang="en-US" sz="1400" dirty="0"/>
          </a:p>
        </p:txBody>
      </p:sp>
      <p:sp>
        <p:nvSpPr>
          <p:cNvPr id="24" name="indikator-4"/>
          <p:cNvSpPr/>
          <p:nvPr/>
        </p:nvSpPr>
        <p:spPr>
          <a:xfrm>
            <a:off x="7242048" y="5257800"/>
            <a:ext cx="2103120" cy="548640"/>
          </a:xfrm>
          <a:prstGeom prst="roundRect">
            <a:avLst>
              <a:gd name="adj" fmla="val 13333"/>
            </a:avLst>
          </a:prstGeom>
          <a:solidFill>
            <a:schemeClr val="accent1"/>
          </a:solidFill>
          <a:ln/>
        </p:spPr>
      </p:sp>
      <p:sp>
        <p:nvSpPr>
          <p:cNvPr id="25" name="Text 23"/>
          <p:cNvSpPr txBox="1"/>
          <p:nvPr/>
        </p:nvSpPr>
        <p:spPr>
          <a:xfrm>
            <a:off x="7242048" y="5257800"/>
            <a:ext cx="2103120" cy="548640"/>
          </a:xfrm>
          <a:prstGeom prst="rect">
            <a:avLst/>
          </a:prstGeom>
          <a:noFill/>
          <a:ln/>
        </p:spPr>
        <p:txBody>
          <a:bodyPr wrap="square" lIns="0" tIns="0" rIns="0" bIns="0" rtlCol="0" anchor="ctr"/>
          <a:lstStyle/>
          <a:p>
            <a:pPr algn="ctr" indent="0" marL="0">
              <a:buNone/>
            </a:pPr>
            <a:r>
              <a:rPr lang="en-US" sz="1400" b="1" dirty="0">
                <a:solidFill>
                  <a:schemeClr val="bg1"/>
                </a:solidFill>
              </a:rPr>
              <a:t>Pengembangan pemasok</a:t>
            </a:r>
            <a:endParaRPr lang="en-US" sz="1400" dirty="0"/>
          </a:p>
        </p:txBody>
      </p:sp>
      <p:sp>
        <p:nvSpPr>
          <p:cNvPr id="26" name="indikator-5"/>
          <p:cNvSpPr/>
          <p:nvPr/>
        </p:nvSpPr>
        <p:spPr>
          <a:xfrm>
            <a:off x="9473184" y="5257800"/>
            <a:ext cx="2103120" cy="548640"/>
          </a:xfrm>
          <a:prstGeom prst="roundRect">
            <a:avLst>
              <a:gd name="adj" fmla="val 13333"/>
            </a:avLst>
          </a:prstGeom>
          <a:solidFill>
            <a:schemeClr val="accent1"/>
          </a:solidFill>
          <a:ln/>
        </p:spPr>
      </p:sp>
      <p:sp>
        <p:nvSpPr>
          <p:cNvPr id="27" name="Text 25"/>
          <p:cNvSpPr txBox="1"/>
          <p:nvPr/>
        </p:nvSpPr>
        <p:spPr>
          <a:xfrm>
            <a:off x="9473184" y="5257800"/>
            <a:ext cx="2103120" cy="548640"/>
          </a:xfrm>
          <a:prstGeom prst="rect">
            <a:avLst/>
          </a:prstGeom>
          <a:noFill/>
          <a:ln/>
        </p:spPr>
        <p:txBody>
          <a:bodyPr wrap="square" lIns="0" tIns="0" rIns="0" bIns="0" rtlCol="0" anchor="ctr"/>
          <a:lstStyle/>
          <a:p>
            <a:pPr algn="ctr" indent="0" marL="0">
              <a:buNone/>
            </a:pPr>
            <a:r>
              <a:rPr lang="en-US" sz="1400" b="1" dirty="0">
                <a:solidFill>
                  <a:schemeClr val="bg1"/>
                </a:solidFill>
              </a:rPr>
              <a:t>Berbagi data</a:t>
            </a:r>
            <a:endParaRPr lang="en-US" sz="1400" dirty="0"/>
          </a:p>
        </p:txBody>
      </p:sp>
      <p:sp>
        <p:nvSpPr>
          <p:cNvPr id="28" name="Text 26"/>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i="1" dirty="0">
                <a:solidFill>
                  <a:schemeClr val="accent6"/>
                </a:solidFill>
              </a:rPr>
              <a:t>Rujukan utama: Ref [2] Sarkis &amp; Dou (2018), Bab Green Procurement &amp; Purchasing serta Green Supplier Development &amp; Collaboration; Ref [3] Grant et al. (2017)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Bukti Implementasi di Rantai Pasok Apple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828800"/>
                <a:gridCol w="5486400"/>
                <a:gridCol w="2377440"/>
                <a:gridCol w="1371600"/>
              </a:tblGrid>
              <a:tr h="41148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Elemen</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Praktik nyata</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Aktor &amp; mitra</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r>
              <a:tr h="64008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Kriteria hijau</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Supplier Code of Conduct &amp; Regulated Substances Specification wajib bagi pemasok</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Apple; seluruh pemasok langsung</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Dijalankan</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r>
              <a:tr h="73152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Seleksi &amp; audit</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1.856 asesmen/audit; 155 fasilitas baru dinilai sebelum bergabung; 230 audit smelter, refiner &amp; pemroses material (Apple, 2026b)</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Auditor pihak ketiga independen</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Dijalankan</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r>
              <a:tr h="64008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Target lingkungan</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Apple 2030: netral karbon di seluruh jejak; emisi sudah turun &gt;60% vs 2015 (Apple, 2026a)</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Apple + seluruh rantai pasok</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2"/>
                    </a:solidFill>
                  </a:tcPr>
                </a:tc>
              </a:tr>
              <a:tr h="73152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Material daur ulang</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100% kobalt daur ulang pada baterai rancangan Apple (mass balance); ~30% material produk 2025 dari daur ulang (Apple, 2026a)</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Pemasok baterai, smelter, recycler</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Dijalankan</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r>
              <a:tr h="96012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Pengembangan pemasok</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Supplier Clean Energy Program &gt;20 GW; China Clean Energy Fund US$300 jt (2018); CleanMax India INR 100 crore, &gt;150 MW (2026); dekarbonisasi paduan aluminium (Lessard et al., 2025)</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Pemasok tier-1, CleanMax, smelter aluminium</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Dijalankan</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r>
              <a:tr h="73152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Berbagi data</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Pemasok melaporkan data energi untuk program energi bersih [cek detail mekanisme di Apple (2026a, 2026b)]</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Apple ↔ pemasok</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Perlu verifikasi</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6"/>
                    </a:solidFill>
                  </a:tcPr>
                </a:tc>
              </a:tr>
            </a:tbl>
          </a:graphicData>
        </a:graphic>
      </p:graphicFrame>
      <p:sp>
        <p:nvSpPr>
          <p:cNvPr id="4"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i="1" dirty="0">
                <a:solidFill>
                  <a:schemeClr val="accent6"/>
                </a:solidFill>
              </a:rPr>
              <a:t>Sumber: Apple (2026a) Environmental Progress Report; Apple (2026b) Supply Chain Progress Report; Apple Newsroom (2018, 2026); Lessard et al. (2025)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Analisis Kritis: Supplier Criteria Matrix &amp; Dilema</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852160" cy="914400"/>
        </p:xfrm>
        <a:graphic>
          <a:graphicData uri="http://schemas.openxmlformats.org/drawingml/2006/table">
            <a:tbl>
              <a:tblPr/>
              <a:tblGrid>
                <a:gridCol w="2926080"/>
                <a:gridCol w="731520"/>
                <a:gridCol w="731520"/>
                <a:gridCol w="731520"/>
                <a:gridCol w="731520"/>
              </a:tblGrid>
              <a:tr h="329184">
                <a:tc>
                  <a:txBody>
                    <a:bodyPr/>
                    <a:lstStyle/>
                    <a:p>
                      <a:pPr algn="l" indent="0" marL="0">
                        <a:buNone/>
                      </a:pPr>
                      <a:r>
                        <a:rPr lang="en-US" sz="1200" b="1" dirty="0">
                          <a:solidFill>
                            <a:schemeClr val="bg1"/>
                          </a:solidFill>
                          <a:latin typeface="Calibri" pitchFamily="34" charset="0"/>
                          <a:ea typeface="Calibri" pitchFamily="34" charset="-122"/>
                          <a:cs typeface="Calibri" pitchFamily="34" charset="-120"/>
                        </a:rPr>
                        <a:t>Kriteria</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Bobot</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X</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Z</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Harga &amp; total cost</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Kualitas &amp; yield</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Kapasitas &amp; ketahanan pasok</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Energi terbarukan</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Material daur ulang &amp; zat terbatas</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Limbah &amp; air</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Transparansi data</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Kemauan berkembang</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Skor tertimbang (0–100)</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82</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60</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2"/>
                    </a:solidFill>
                  </a:tcPr>
                </a:tc>
                <a:tc>
                  <a:txBody>
                    <a:bodyPr/>
                    <a:lstStyle/>
                    <a:p>
                      <a:pPr algn="ctr" indent="0" marL="0">
                        <a:buNone/>
                      </a:pPr>
                      <a:r>
                        <a:rPr lang="en-US" sz="1200" b="1" dirty="0">
                          <a:solidFill>
                            <a:schemeClr val="bg1"/>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4"/>
                    </a:solidFill>
                  </a:tcPr>
                </a:tc>
              </a:tr>
            </a:tbl>
          </a:graphicData>
        </a:graphic>
      </p:graphicFrame>
      <p:sp>
        <p:nvSpPr>
          <p:cNvPr id="4" name="Text 1"/>
          <p:cNvSpPr txBox="1"/>
          <p:nvPr/>
        </p:nvSpPr>
        <p:spPr>
          <a:xfrm>
            <a:off x="548640" y="4709160"/>
            <a:ext cx="5852160" cy="685800"/>
          </a:xfrm>
          <a:prstGeom prst="rect">
            <a:avLst/>
          </a:prstGeom>
          <a:noFill/>
          <a:ln/>
        </p:spPr>
        <p:txBody>
          <a:bodyPr wrap="square" lIns="0" tIns="0" rIns="0" bIns="0" rtlCol="0" anchor="ctr"/>
          <a:lstStyle/>
          <a:p>
            <a:pPr indent="0" marL="0">
              <a:buNone/>
            </a:pPr>
            <a:r>
              <a:rPr lang="en-US" sz="1100" i="1" dirty="0">
                <a:solidFill>
                  <a:schemeClr val="accent6"/>
                </a:solidFill>
              </a:rPr>
              <a:t>Skor 1–5; total = Σ(bobot × skor) ÷ 5. ≥70 preferred · 55–69 conditional · &lt;55 not approved.</a:t>
            </a:r>
            <a:endParaRPr lang="en-US" sz="1100" dirty="0"/>
          </a:p>
          <a:p>
            <a:pPr indent="0" marL="0">
              <a:buNone/>
            </a:pPr>
            <a:r>
              <a:rPr lang="en-US" sz="1100" i="1" dirty="0">
                <a:solidFill>
                  <a:schemeClr val="accent6"/>
                </a:solidFill>
              </a:rPr>
              <a:t>X = perakit mapan (Tiongkok) · Y = perakit baru (India) · Z = pemasok tier-2 termurah. Arketipe &amp; skor ilustratif.</a:t>
            </a:r>
            <a:endParaRPr lang="en-US" sz="1100" dirty="0"/>
          </a:p>
        </p:txBody>
      </p:sp>
      <p:sp>
        <p:nvSpPr>
          <p:cNvPr id="5" name="kartu-dilema"/>
          <p:cNvSpPr/>
          <p:nvPr/>
        </p:nvSpPr>
        <p:spPr>
          <a:xfrm>
            <a:off x="6675120" y="1234440"/>
            <a:ext cx="4937760" cy="1965960"/>
          </a:xfrm>
          <a:prstGeom prst="roundRect">
            <a:avLst>
              <a:gd name="adj" fmla="val 3721"/>
            </a:avLst>
          </a:prstGeom>
          <a:solidFill>
            <a:schemeClr val="tx2"/>
          </a:solidFill>
          <a:ln/>
        </p:spPr>
      </p:sp>
      <p:sp>
        <p:nvSpPr>
          <p:cNvPr id="6" name="Text 3"/>
          <p:cNvSpPr txBox="1"/>
          <p:nvPr/>
        </p:nvSpPr>
        <p:spPr>
          <a:xfrm>
            <a:off x="6903720" y="1325880"/>
            <a:ext cx="4480560" cy="1783080"/>
          </a:xfrm>
          <a:prstGeom prst="rect">
            <a:avLst/>
          </a:prstGeom>
          <a:noFill/>
          <a:ln/>
        </p:spPr>
        <p:txBody>
          <a:bodyPr wrap="square" lIns="0" tIns="0" rIns="0" bIns="0" rtlCol="0" anchor="ctr"/>
          <a:lstStyle/>
          <a:p>
            <a:pPr indent="0" marL="0">
              <a:buNone/>
            </a:pPr>
            <a:r>
              <a:rPr lang="en-US" sz="1500" b="1" dirty="0">
                <a:solidFill>
                  <a:schemeClr val="accent2"/>
                </a:solidFill>
              </a:rPr>
              <a:t>Dilema: kapasitas &amp; risiko vs emisi</a:t>
            </a:r>
            <a:endParaRPr lang="en-US" sz="1500" dirty="0"/>
          </a:p>
          <a:p>
            <a:pPr indent="0" marL="0">
              <a:buNone/>
            </a:pPr>
            <a:r>
              <a:rPr lang="en-US" sz="1300" dirty="0">
                <a:solidFill>
                  <a:schemeClr val="bg1"/>
                </a:solidFill>
              </a:rPr>
              <a:t>Diversifikasi perakitan ke India mengurangi risiko konsentrasi pasokan, tetapi listrik jaringan India padat karbon: 100 GWh × ~0,7 tCO₂/MWh ≈ 70.000 tCO₂/tahun (ilustrasi).</a:t>
            </a:r>
            <a:endParaRPr lang="en-US" sz="1500" dirty="0"/>
          </a:p>
        </p:txBody>
      </p:sp>
      <p:sp>
        <p:nvSpPr>
          <p:cNvPr id="7" name="kartu-burden"/>
          <p:cNvSpPr/>
          <p:nvPr/>
        </p:nvSpPr>
        <p:spPr>
          <a:xfrm>
            <a:off x="6675120" y="3337560"/>
            <a:ext cx="4937760" cy="1600200"/>
          </a:xfrm>
          <a:prstGeom prst="roundRect">
            <a:avLst>
              <a:gd name="adj" fmla="val 4571"/>
            </a:avLst>
          </a:prstGeom>
          <a:solidFill>
            <a:schemeClr val="bg2"/>
          </a:solidFill>
          <a:ln/>
        </p:spPr>
      </p:sp>
      <p:sp>
        <p:nvSpPr>
          <p:cNvPr id="8" name="Text 5"/>
          <p:cNvSpPr txBox="1"/>
          <p:nvPr/>
        </p:nvSpPr>
        <p:spPr>
          <a:xfrm>
            <a:off x="6858000" y="3401568"/>
            <a:ext cx="4572000" cy="1463040"/>
          </a:xfrm>
          <a:prstGeom prst="rect">
            <a:avLst/>
          </a:prstGeom>
          <a:noFill/>
          <a:ln/>
        </p:spPr>
        <p:txBody>
          <a:bodyPr wrap="square" lIns="0" tIns="0" rIns="0" bIns="0" rtlCol="0" anchor="ctr"/>
          <a:lstStyle/>
          <a:p>
            <a:pPr indent="0" marL="0">
              <a:buNone/>
            </a:pPr>
            <a:r>
              <a:rPr lang="en-US" sz="1500" b="1" dirty="0">
                <a:solidFill>
                  <a:schemeClr val="tx2"/>
                </a:solidFill>
              </a:rPr>
              <a:t>Risiko burden shifting</a:t>
            </a:r>
            <a:endParaRPr lang="en-US" sz="1500" dirty="0"/>
          </a:p>
          <a:p>
            <a:pPr marL="342900" indent="-342900">
              <a:buSzPct val="100000"/>
              <a:buChar char="•"/>
            </a:pPr>
            <a:r>
              <a:rPr lang="en-US" sz="1300" dirty="0">
                <a:solidFill>
                  <a:schemeClr val="tx1"/>
                </a:solidFill>
              </a:rPr>
              <a:t>Klaim mass balance ≠ material daur ulang fisik</a:t>
            </a:r>
            <a:endParaRPr lang="en-US" sz="1500" dirty="0"/>
          </a:p>
          <a:p>
            <a:pPr marL="342900" indent="-342900">
              <a:buSzPct val="100000"/>
              <a:buChar char="•"/>
            </a:pPr>
            <a:r>
              <a:rPr lang="en-US" sz="1300" dirty="0">
                <a:solidFill>
                  <a:schemeClr val="tx1"/>
                </a:solidFill>
              </a:rPr>
              <a:t>Sertifikat energi (REC) belum tentu menambah pembangkit baru</a:t>
            </a:r>
            <a:endParaRPr lang="en-US" sz="1500" dirty="0"/>
          </a:p>
          <a:p>
            <a:pPr marL="342900" indent="-342900">
              <a:buSzPct val="100000"/>
              <a:buChar char="•"/>
            </a:pPr>
            <a:r>
              <a:rPr lang="en-US" sz="1300" dirty="0">
                <a:solidFill>
                  <a:schemeClr val="tx1"/>
                </a:solidFill>
              </a:rPr>
              <a:t>Biaya kepatuhan menekan pemasok tier-2 yang kecil</a:t>
            </a:r>
            <a:endParaRPr lang="en-US" sz="1500" dirty="0"/>
          </a:p>
        </p:txBody>
      </p:sp>
      <p:sp>
        <p:nvSpPr>
          <p:cNvPr id="9" name="kartu-jurnal"/>
          <p:cNvSpPr/>
          <p:nvPr/>
        </p:nvSpPr>
        <p:spPr>
          <a:xfrm>
            <a:off x="6675120" y="5074920"/>
            <a:ext cx="4937760" cy="868680"/>
          </a:xfrm>
          <a:prstGeom prst="roundRect">
            <a:avLst>
              <a:gd name="adj" fmla="val 8421"/>
            </a:avLst>
          </a:prstGeom>
          <a:solidFill>
            <a:schemeClr val="bg2"/>
          </a:solidFill>
          <a:ln/>
        </p:spPr>
      </p:sp>
      <p:sp>
        <p:nvSpPr>
          <p:cNvPr id="10" name="Text 7"/>
          <p:cNvSpPr txBox="1"/>
          <p:nvPr/>
        </p:nvSpPr>
        <p:spPr>
          <a:xfrm>
            <a:off x="6858000" y="5120640"/>
            <a:ext cx="4572000" cy="777240"/>
          </a:xfrm>
          <a:prstGeom prst="rect">
            <a:avLst/>
          </a:prstGeom>
          <a:noFill/>
          <a:ln/>
        </p:spPr>
        <p:txBody>
          <a:bodyPr wrap="square" lIns="0" tIns="0" rIns="0" bIns="0" rtlCol="0" anchor="ctr"/>
          <a:lstStyle/>
          <a:p>
            <a:pPr indent="0" marL="0">
              <a:buNone/>
            </a:pPr>
            <a:r>
              <a:rPr lang="en-US" sz="1300" b="1" dirty="0">
                <a:solidFill>
                  <a:schemeClr val="tx2"/>
                </a:solidFill>
              </a:rPr>
              <a:t>Bukti jurnal: </a:t>
            </a:r>
            <a:pPr indent="0" marL="0">
              <a:buNone/>
            </a:pPr>
            <a:r>
              <a:rPr lang="en-US" sz="1300" dirty="0">
                <a:solidFill>
                  <a:schemeClr val="tx1"/>
                </a:solidFill>
              </a:rPr>
              <a:t>kolaborasi saja tidak signifikan memediasi dekarbonisasi; supply chain mapping signifikan (Mubarik et al., 2025)</a:t>
            </a:r>
            <a:endParaRPr lang="en-US" sz="1300" dirty="0"/>
          </a:p>
        </p:txBody>
      </p:sp>
      <p:sp>
        <p:nvSpPr>
          <p:cNvPr id="11" name="Text 8"/>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i="1" dirty="0">
                <a:solidFill>
                  <a:schemeClr val="accent6"/>
                </a:solidFill>
              </a:rPr>
              <a:t>Kerangka kriteria: Sarkis &amp; Dou (2018); Grant et al. (2017). Faktor emisi India adalah perkiraan — verifikasi ke data CEA India terbaru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Rekomendasi: Mekanisme Kolaborasi &amp; KPI</a:t>
            </a:r>
            <a:endParaRPr lang="en-US" sz="3200" dirty="0"/>
          </a:p>
        </p:txBody>
      </p:sp>
      <p:sp>
        <p:nvSpPr>
          <p:cNvPr id="3" name="Text 1"/>
          <p:cNvSpPr txBox="1"/>
          <p:nvPr/>
        </p:nvSpPr>
        <p:spPr>
          <a:xfrm>
            <a:off x="548640" y="1234440"/>
            <a:ext cx="5852160" cy="320040"/>
          </a:xfrm>
          <a:prstGeom prst="rect">
            <a:avLst/>
          </a:prstGeom>
          <a:noFill/>
          <a:ln/>
        </p:spPr>
        <p:txBody>
          <a:bodyPr wrap="square" lIns="0" tIns="0" rIns="0" bIns="0" rtlCol="0" anchor="ctr"/>
          <a:lstStyle/>
          <a:p>
            <a:pPr indent="0" marL="0">
              <a:buNone/>
            </a:pPr>
            <a:r>
              <a:rPr lang="en-US" sz="1500" b="1" dirty="0">
                <a:solidFill>
                  <a:schemeClr val="tx2"/>
                </a:solidFill>
              </a:rPr>
              <a:t>Siklus kolaborasi pemasok (keluaran 2)</a:t>
            </a:r>
            <a:endParaRPr lang="en-US" sz="1500" dirty="0"/>
          </a:p>
        </p:txBody>
      </p:sp>
      <p:sp>
        <p:nvSpPr>
          <p:cNvPr id="4" name="langkah-1"/>
          <p:cNvSpPr/>
          <p:nvPr/>
        </p:nvSpPr>
        <p:spPr>
          <a:xfrm>
            <a:off x="548640" y="1691640"/>
            <a:ext cx="1737360" cy="914400"/>
          </a:xfrm>
          <a:prstGeom prst="roundRect">
            <a:avLst>
              <a:gd name="adj" fmla="val 8000"/>
            </a:avLst>
          </a:prstGeom>
          <a:solidFill>
            <a:schemeClr val="bg2"/>
          </a:solidFill>
          <a:ln/>
        </p:spPr>
      </p:sp>
      <p:sp>
        <p:nvSpPr>
          <p:cNvPr id="5" name="Text 3"/>
          <p:cNvSpPr txBox="1"/>
          <p:nvPr/>
        </p:nvSpPr>
        <p:spPr>
          <a:xfrm>
            <a:off x="640080" y="1691640"/>
            <a:ext cx="1554480" cy="914400"/>
          </a:xfrm>
          <a:prstGeom prst="rect">
            <a:avLst/>
          </a:prstGeom>
          <a:noFill/>
          <a:ln/>
        </p:spPr>
        <p:txBody>
          <a:bodyPr wrap="square" lIns="0" tIns="0" rIns="0" bIns="0" rtlCol="0" anchor="ctr"/>
          <a:lstStyle/>
          <a:p>
            <a:pPr algn="ctr" indent="0" marL="0">
              <a:buNone/>
            </a:pPr>
            <a:r>
              <a:rPr lang="en-US" sz="1300" b="1" dirty="0">
                <a:solidFill>
                  <a:schemeClr val="accent1"/>
                </a:solidFill>
              </a:rPr>
              <a:t>1  </a:t>
            </a:r>
            <a:pPr algn="ctr" indent="0" marL="0">
              <a:buNone/>
            </a:pPr>
            <a:r>
              <a:rPr lang="en-US" sz="1300" b="1" dirty="0">
                <a:solidFill>
                  <a:schemeClr val="tx2"/>
                </a:solidFill>
              </a:rPr>
              <a:t>Spesifikasi hijau</a:t>
            </a:r>
            <a:endParaRPr lang="en-US" sz="1300" dirty="0"/>
          </a:p>
        </p:txBody>
      </p:sp>
      <p:sp>
        <p:nvSpPr>
          <p:cNvPr id="6" name="langkah-2"/>
          <p:cNvSpPr/>
          <p:nvPr/>
        </p:nvSpPr>
        <p:spPr>
          <a:xfrm>
            <a:off x="2606040" y="1691640"/>
            <a:ext cx="1737360" cy="914400"/>
          </a:xfrm>
          <a:prstGeom prst="roundRect">
            <a:avLst>
              <a:gd name="adj" fmla="val 8000"/>
            </a:avLst>
          </a:prstGeom>
          <a:solidFill>
            <a:schemeClr val="bg2"/>
          </a:solidFill>
          <a:ln/>
        </p:spPr>
      </p:sp>
      <p:sp>
        <p:nvSpPr>
          <p:cNvPr id="7" name="Text 5"/>
          <p:cNvSpPr txBox="1"/>
          <p:nvPr/>
        </p:nvSpPr>
        <p:spPr>
          <a:xfrm>
            <a:off x="2697480" y="1691640"/>
            <a:ext cx="1554480" cy="914400"/>
          </a:xfrm>
          <a:prstGeom prst="rect">
            <a:avLst/>
          </a:prstGeom>
          <a:noFill/>
          <a:ln/>
        </p:spPr>
        <p:txBody>
          <a:bodyPr wrap="square" lIns="0" tIns="0" rIns="0" bIns="0" rtlCol="0" anchor="ctr"/>
          <a:lstStyle/>
          <a:p>
            <a:pPr algn="ctr" indent="0" marL="0">
              <a:buNone/>
            </a:pPr>
            <a:r>
              <a:rPr lang="en-US" sz="1300" b="1" dirty="0">
                <a:solidFill>
                  <a:schemeClr val="accent1"/>
                </a:solidFill>
              </a:rPr>
              <a:t>2  </a:t>
            </a:r>
            <a:pPr algn="ctr" indent="0" marL="0">
              <a:buNone/>
            </a:pPr>
            <a:r>
              <a:rPr lang="en-US" sz="1300" b="1" dirty="0">
                <a:solidFill>
                  <a:schemeClr val="tx2"/>
                </a:solidFill>
              </a:rPr>
              <a:t>Seleksi &amp; audit</a:t>
            </a:r>
            <a:endParaRPr lang="en-US" sz="1300" dirty="0"/>
          </a:p>
        </p:txBody>
      </p:sp>
      <p:sp>
        <p:nvSpPr>
          <p:cNvPr id="8" name="langkah-3"/>
          <p:cNvSpPr/>
          <p:nvPr/>
        </p:nvSpPr>
        <p:spPr>
          <a:xfrm>
            <a:off x="4663440" y="1691640"/>
            <a:ext cx="1737360" cy="914400"/>
          </a:xfrm>
          <a:prstGeom prst="roundRect">
            <a:avLst>
              <a:gd name="adj" fmla="val 8000"/>
            </a:avLst>
          </a:prstGeom>
          <a:solidFill>
            <a:schemeClr val="bg2"/>
          </a:solidFill>
          <a:ln/>
        </p:spPr>
      </p:sp>
      <p:sp>
        <p:nvSpPr>
          <p:cNvPr id="9" name="Text 7"/>
          <p:cNvSpPr txBox="1"/>
          <p:nvPr/>
        </p:nvSpPr>
        <p:spPr>
          <a:xfrm>
            <a:off x="4754880" y="1691640"/>
            <a:ext cx="1554480" cy="914400"/>
          </a:xfrm>
          <a:prstGeom prst="rect">
            <a:avLst/>
          </a:prstGeom>
          <a:noFill/>
          <a:ln/>
        </p:spPr>
        <p:txBody>
          <a:bodyPr wrap="square" lIns="0" tIns="0" rIns="0" bIns="0" rtlCol="0" anchor="ctr"/>
          <a:lstStyle/>
          <a:p>
            <a:pPr algn="ctr" indent="0" marL="0">
              <a:buNone/>
            </a:pPr>
            <a:r>
              <a:rPr lang="en-US" sz="1300" b="1" dirty="0">
                <a:solidFill>
                  <a:schemeClr val="accent1"/>
                </a:solidFill>
              </a:rPr>
              <a:t>3  </a:t>
            </a:r>
            <a:pPr algn="ctr" indent="0" marL="0">
              <a:buNone/>
            </a:pPr>
            <a:r>
              <a:rPr lang="en-US" sz="1300" b="1" dirty="0">
                <a:solidFill>
                  <a:schemeClr val="tx2"/>
                </a:solidFill>
              </a:rPr>
              <a:t>Alokasi volume + klausul hijau</a:t>
            </a:r>
            <a:endParaRPr lang="en-US" sz="1300" dirty="0"/>
          </a:p>
        </p:txBody>
      </p:sp>
      <p:sp>
        <p:nvSpPr>
          <p:cNvPr id="10" name="langkah-4"/>
          <p:cNvSpPr/>
          <p:nvPr/>
        </p:nvSpPr>
        <p:spPr>
          <a:xfrm>
            <a:off x="4663440" y="3017520"/>
            <a:ext cx="1737360" cy="914400"/>
          </a:xfrm>
          <a:prstGeom prst="roundRect">
            <a:avLst>
              <a:gd name="adj" fmla="val 8000"/>
            </a:avLst>
          </a:prstGeom>
          <a:solidFill>
            <a:schemeClr val="accent1"/>
          </a:solidFill>
          <a:ln/>
        </p:spPr>
      </p:sp>
      <p:sp>
        <p:nvSpPr>
          <p:cNvPr id="11" name="Text 9"/>
          <p:cNvSpPr txBox="1"/>
          <p:nvPr/>
        </p:nvSpPr>
        <p:spPr>
          <a:xfrm>
            <a:off x="4754880" y="3017520"/>
            <a:ext cx="1554480" cy="914400"/>
          </a:xfrm>
          <a:prstGeom prst="rect">
            <a:avLst/>
          </a:prstGeom>
          <a:noFill/>
          <a:ln/>
        </p:spPr>
        <p:txBody>
          <a:bodyPr wrap="square" lIns="0" tIns="0" rIns="0" bIns="0" rtlCol="0" anchor="ctr"/>
          <a:lstStyle/>
          <a:p>
            <a:pPr algn="ctr" indent="0" marL="0">
              <a:buNone/>
            </a:pPr>
            <a:r>
              <a:rPr lang="en-US" sz="1300" b="1" dirty="0">
                <a:solidFill>
                  <a:schemeClr val="accent2"/>
                </a:solidFill>
              </a:rPr>
              <a:t>4  </a:t>
            </a:r>
            <a:pPr algn="ctr" indent="0" marL="0">
              <a:buNone/>
            </a:pPr>
            <a:r>
              <a:rPr lang="en-US" sz="1300" b="1" dirty="0">
                <a:solidFill>
                  <a:schemeClr val="bg1"/>
                </a:solidFill>
              </a:rPr>
              <a:t>Pengembangan &amp; berbagi data</a:t>
            </a:r>
            <a:endParaRPr lang="en-US" sz="1300" dirty="0"/>
          </a:p>
        </p:txBody>
      </p:sp>
      <p:sp>
        <p:nvSpPr>
          <p:cNvPr id="12" name="langkah-5"/>
          <p:cNvSpPr/>
          <p:nvPr/>
        </p:nvSpPr>
        <p:spPr>
          <a:xfrm>
            <a:off x="2606040" y="3017520"/>
            <a:ext cx="1737360" cy="914400"/>
          </a:xfrm>
          <a:prstGeom prst="roundRect">
            <a:avLst>
              <a:gd name="adj" fmla="val 8000"/>
            </a:avLst>
          </a:prstGeom>
          <a:solidFill>
            <a:schemeClr val="bg2"/>
          </a:solidFill>
          <a:ln/>
        </p:spPr>
      </p:sp>
      <p:sp>
        <p:nvSpPr>
          <p:cNvPr id="13" name="Text 11"/>
          <p:cNvSpPr txBox="1"/>
          <p:nvPr/>
        </p:nvSpPr>
        <p:spPr>
          <a:xfrm>
            <a:off x="2697480" y="3017520"/>
            <a:ext cx="1554480" cy="914400"/>
          </a:xfrm>
          <a:prstGeom prst="rect">
            <a:avLst/>
          </a:prstGeom>
          <a:noFill/>
          <a:ln/>
        </p:spPr>
        <p:txBody>
          <a:bodyPr wrap="square" lIns="0" tIns="0" rIns="0" bIns="0" rtlCol="0" anchor="ctr"/>
          <a:lstStyle/>
          <a:p>
            <a:pPr algn="ctr" indent="0" marL="0">
              <a:buNone/>
            </a:pPr>
            <a:r>
              <a:rPr lang="en-US" sz="1300" b="1" dirty="0">
                <a:solidFill>
                  <a:schemeClr val="accent1"/>
                </a:solidFill>
              </a:rPr>
              <a:t>5  </a:t>
            </a:r>
            <a:pPr algn="ctr" indent="0" marL="0">
              <a:buNone/>
            </a:pPr>
            <a:r>
              <a:rPr lang="en-US" sz="1300" b="1" dirty="0">
                <a:solidFill>
                  <a:schemeClr val="tx2"/>
                </a:solidFill>
              </a:rPr>
              <a:t>Scorecard kuartalan</a:t>
            </a:r>
            <a:endParaRPr lang="en-US" sz="1300" dirty="0"/>
          </a:p>
        </p:txBody>
      </p:sp>
      <p:sp>
        <p:nvSpPr>
          <p:cNvPr id="14" name="langkah-6"/>
          <p:cNvSpPr/>
          <p:nvPr/>
        </p:nvSpPr>
        <p:spPr>
          <a:xfrm>
            <a:off x="548640" y="3017520"/>
            <a:ext cx="1737360" cy="914400"/>
          </a:xfrm>
          <a:prstGeom prst="roundRect">
            <a:avLst>
              <a:gd name="adj" fmla="val 8000"/>
            </a:avLst>
          </a:prstGeom>
          <a:solidFill>
            <a:schemeClr val="bg2"/>
          </a:solidFill>
          <a:ln/>
        </p:spPr>
      </p:sp>
      <p:sp>
        <p:nvSpPr>
          <p:cNvPr id="15" name="Text 13"/>
          <p:cNvSpPr txBox="1"/>
          <p:nvPr/>
        </p:nvSpPr>
        <p:spPr>
          <a:xfrm>
            <a:off x="640080" y="3017520"/>
            <a:ext cx="1554480" cy="914400"/>
          </a:xfrm>
          <a:prstGeom prst="rect">
            <a:avLst/>
          </a:prstGeom>
          <a:noFill/>
          <a:ln/>
        </p:spPr>
        <p:txBody>
          <a:bodyPr wrap="square" lIns="0" tIns="0" rIns="0" bIns="0" rtlCol="0" anchor="ctr"/>
          <a:lstStyle/>
          <a:p>
            <a:pPr algn="ctr" indent="0" marL="0">
              <a:buNone/>
            </a:pPr>
            <a:r>
              <a:rPr lang="en-US" sz="1300" b="1" dirty="0">
                <a:solidFill>
                  <a:schemeClr val="accent1"/>
                </a:solidFill>
              </a:rPr>
              <a:t>6  </a:t>
            </a:r>
            <a:pPr algn="ctr" indent="0" marL="0">
              <a:buNone/>
            </a:pPr>
            <a:r>
              <a:rPr lang="en-US" sz="1300" b="1" dirty="0">
                <a:solidFill>
                  <a:schemeClr val="tx2"/>
                </a:solidFill>
              </a:rPr>
              <a:t>Review tahunan</a:t>
            </a:r>
            <a:endParaRPr lang="en-US" sz="1300" dirty="0"/>
          </a:p>
        </p:txBody>
      </p:sp>
      <p:sp>
        <p:nvSpPr>
          <p:cNvPr id="16" name="Shape 14"/>
          <p:cNvSpPr/>
          <p:nvPr/>
        </p:nvSpPr>
        <p:spPr>
          <a:xfrm>
            <a:off x="2331720" y="2148840"/>
            <a:ext cx="274320" cy="0"/>
          </a:xfrm>
          <a:prstGeom prst="line">
            <a:avLst/>
          </a:prstGeom>
          <a:noFill/>
          <a:ln w="25400">
            <a:solidFill>
              <a:srgbClr val="2E7D5B"/>
            </a:solidFill>
            <a:prstDash val="solid"/>
            <a:tailEnd type="triangle"/>
          </a:ln>
        </p:spPr>
      </p:sp>
      <p:sp>
        <p:nvSpPr>
          <p:cNvPr id="17" name="Shape 15"/>
          <p:cNvSpPr/>
          <p:nvPr/>
        </p:nvSpPr>
        <p:spPr>
          <a:xfrm>
            <a:off x="4389120" y="2148840"/>
            <a:ext cx="274320" cy="0"/>
          </a:xfrm>
          <a:prstGeom prst="line">
            <a:avLst/>
          </a:prstGeom>
          <a:noFill/>
          <a:ln w="25400">
            <a:solidFill>
              <a:srgbClr val="2E7D5B"/>
            </a:solidFill>
            <a:prstDash val="solid"/>
            <a:tailEnd type="triangle"/>
          </a:ln>
        </p:spPr>
      </p:sp>
      <p:sp>
        <p:nvSpPr>
          <p:cNvPr id="18" name="Shape 16"/>
          <p:cNvSpPr/>
          <p:nvPr/>
        </p:nvSpPr>
        <p:spPr>
          <a:xfrm>
            <a:off x="5486400" y="2651760"/>
            <a:ext cx="0" cy="365760"/>
          </a:xfrm>
          <a:prstGeom prst="line">
            <a:avLst/>
          </a:prstGeom>
          <a:noFill/>
          <a:ln w="25400">
            <a:solidFill>
              <a:srgbClr val="2E7D5B"/>
            </a:solidFill>
            <a:prstDash val="solid"/>
            <a:tailEnd type="triangle"/>
          </a:ln>
        </p:spPr>
      </p:sp>
      <p:sp>
        <p:nvSpPr>
          <p:cNvPr id="19" name="Shape 17"/>
          <p:cNvSpPr/>
          <p:nvPr/>
        </p:nvSpPr>
        <p:spPr>
          <a:xfrm flipH="1">
            <a:off x="4389120" y="3474720"/>
            <a:ext cx="274320" cy="0"/>
          </a:xfrm>
          <a:prstGeom prst="line">
            <a:avLst/>
          </a:prstGeom>
          <a:noFill/>
          <a:ln w="25400">
            <a:solidFill>
              <a:srgbClr val="2E7D5B"/>
            </a:solidFill>
            <a:prstDash val="solid"/>
            <a:tailEnd type="triangle"/>
          </a:ln>
        </p:spPr>
      </p:sp>
      <p:sp>
        <p:nvSpPr>
          <p:cNvPr id="20" name="Shape 18"/>
          <p:cNvSpPr/>
          <p:nvPr/>
        </p:nvSpPr>
        <p:spPr>
          <a:xfrm flipH="1">
            <a:off x="2331720" y="3474720"/>
            <a:ext cx="274320" cy="0"/>
          </a:xfrm>
          <a:prstGeom prst="line">
            <a:avLst/>
          </a:prstGeom>
          <a:noFill/>
          <a:ln w="25400">
            <a:solidFill>
              <a:srgbClr val="2E7D5B"/>
            </a:solidFill>
            <a:prstDash val="solid"/>
            <a:tailEnd type="triangle"/>
          </a:ln>
        </p:spPr>
      </p:sp>
      <p:sp>
        <p:nvSpPr>
          <p:cNvPr id="21" name="Shape 19"/>
          <p:cNvSpPr/>
          <p:nvPr/>
        </p:nvSpPr>
        <p:spPr>
          <a:xfrm flipV="1">
            <a:off x="1417320" y="2651760"/>
            <a:ext cx="0" cy="365760"/>
          </a:xfrm>
          <a:prstGeom prst="line">
            <a:avLst/>
          </a:prstGeom>
          <a:noFill/>
          <a:ln w="25400">
            <a:solidFill>
              <a:srgbClr val="2E7D5B"/>
            </a:solidFill>
            <a:prstDash val="solid"/>
            <a:tailEnd type="triangle"/>
          </a:ln>
        </p:spPr>
      </p:sp>
      <p:sp>
        <p:nvSpPr>
          <p:cNvPr id="22" name="kartu-rekomendasi"/>
          <p:cNvSpPr/>
          <p:nvPr/>
        </p:nvSpPr>
        <p:spPr>
          <a:xfrm>
            <a:off x="548640" y="4160520"/>
            <a:ext cx="5852160" cy="1737360"/>
          </a:xfrm>
          <a:prstGeom prst="roundRect">
            <a:avLst>
              <a:gd name="adj" fmla="val 4211"/>
            </a:avLst>
          </a:prstGeom>
          <a:solidFill>
            <a:schemeClr val="bg2"/>
          </a:solidFill>
          <a:ln/>
        </p:spPr>
      </p:sp>
      <p:sp>
        <p:nvSpPr>
          <p:cNvPr id="23" name="Text 21"/>
          <p:cNvSpPr txBox="1"/>
          <p:nvPr/>
        </p:nvSpPr>
        <p:spPr>
          <a:xfrm>
            <a:off x="731520" y="4206240"/>
            <a:ext cx="5486400" cy="1645920"/>
          </a:xfrm>
          <a:prstGeom prst="rect">
            <a:avLst/>
          </a:prstGeom>
          <a:noFill/>
          <a:ln/>
        </p:spPr>
        <p:txBody>
          <a:bodyPr wrap="square" lIns="0" tIns="0" rIns="0" bIns="0" rtlCol="0" anchor="ctr"/>
          <a:lstStyle/>
          <a:p>
            <a:pPr indent="0" marL="0">
              <a:buNone/>
            </a:pPr>
            <a:r>
              <a:rPr lang="en-US" sz="1500" b="1" dirty="0">
                <a:solidFill>
                  <a:schemeClr val="tx2"/>
                </a:solidFill>
              </a:rPr>
              <a:t>Rekomendasi</a:t>
            </a:r>
            <a:endParaRPr lang="en-US" sz="1300" dirty="0"/>
          </a:p>
          <a:p>
            <a:pPr marL="342900" indent="-342900">
              <a:buSzPct val="100000"/>
              <a:buFont typeface="+mj-lt"/>
              <a:buAutoNum type="arabicPeriod" startAt="1"/>
            </a:pPr>
            <a:r>
              <a:rPr lang="en-US" sz="1300" dirty="0">
                <a:solidFill>
                  <a:schemeClr val="tx1"/>
                </a:solidFill>
              </a:rPr>
              <a:t>Volume pemasok India dinaikkan bertahap sesuai tonggak % energi terbarukan</a:t>
            </a:r>
            <a:endParaRPr lang="en-US" sz="1300" dirty="0"/>
          </a:p>
          <a:p>
            <a:pPr marL="342900" indent="-342900">
              <a:buSzPct val="100000"/>
              <a:buFont typeface="+mj-lt"/>
              <a:buAutoNum type="arabicPeriod" startAt="1"/>
            </a:pPr>
            <a:r>
              <a:rPr lang="en-US" sz="1300" dirty="0">
                <a:solidFill>
                  <a:schemeClr val="tx1"/>
                </a:solidFill>
              </a:rPr>
              <a:t>Pemetaan digital pemasok tier-2 (energi &amp; material), menjawab Mubarik et al. (2025)</a:t>
            </a:r>
            <a:endParaRPr lang="en-US" sz="1300" dirty="0"/>
          </a:p>
          <a:p>
            <a:pPr marL="342900" indent="-342900">
              <a:buSzPct val="100000"/>
              <a:buFont typeface="+mj-lt"/>
              <a:buAutoNum type="arabicPeriod" startAt="1"/>
            </a:pPr>
            <a:r>
              <a:rPr lang="en-US" sz="1300" dirty="0">
                <a:solidFill>
                  <a:schemeClr val="tx1"/>
                </a:solidFill>
              </a:rPr>
              <a:t>PPA kolektif antarpemasok dalam satu kawasan industri</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75120" y="1234440"/>
          <a:ext cx="4937760" cy="914400"/>
        </p:xfrm>
        <a:graphic>
          <a:graphicData uri="http://schemas.openxmlformats.org/drawingml/2006/table">
            <a:tbl>
              <a:tblPr/>
              <a:tblGrid>
                <a:gridCol w="2560320"/>
                <a:gridCol w="2377440"/>
              </a:tblGrid>
              <a:tr h="65836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KPI</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Data yang dibutuhkan</a:t>
                      </a:r>
                      <a:endParaRPr lang="en-US" sz="13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r>
              <a:tr h="65836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 listrik terbarukan pemasok (MWh)</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Meter listrik pabrik, kontrak PPA / REC</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65836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tCO₂e per unit iPhone di tahap produksi</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Data energi pabrik, faktor emisi jaringan</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65836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 material daur ulang (fisik vs mass balance)</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Deklarasi material, rantai kustodi</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65836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 temuan audit ditutup tepat waktu</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Laporan CAP dari auditor pihak ketiga</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r>
              <a:tr h="658368">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 pemasok tier-2 terpetakan</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Daftar sub-pemasok, survei pemasok</a:t>
                      </a:r>
                      <a:endParaRPr lang="en-US" sz="1200" dirty="0">
                        <a:latin typeface="Calibri" charset="0"/>
                        <a:ea typeface="Calibri" charset="0"/>
                        <a:cs typeface="Calibri" charset="0"/>
                      </a:endParaRPr>
                    </a:p>
                  </a:txBody>
                  <a:tcPr marL="91440" marR="91440" marT="45720" marB="4572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Text 2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000" i="1" dirty="0">
                <a:solidFill>
                  <a:schemeClr val="accent6"/>
                </a:solidFill>
              </a:rPr>
              <a:t>Mekanisme kolaborasi diturunkan dari Sarkis &amp; Dou (2018) dan Grant et al. (2017); KPI adalah usulan penulis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indent="0" marL="0">
              <a:buNone/>
            </a:pPr>
            <a:r>
              <a:rPr lang="en-US" sz="3200" b="1" dirty="0">
                <a:solidFill>
                  <a:schemeClr val="tx2"/>
                </a:solidFill>
              </a:rPr>
              <a:t>Referensi &amp; Pernyataan Penggunaan AI</a:t>
            </a:r>
            <a:endParaRPr lang="en-US" sz="3200" dirty="0"/>
          </a:p>
        </p:txBody>
      </p:sp>
      <p:sp>
        <p:nvSpPr>
          <p:cNvPr id="3" name="Text 1"/>
          <p:cNvSpPr txBox="1"/>
          <p:nvPr/>
        </p:nvSpPr>
        <p:spPr>
          <a:xfrm>
            <a:off x="548640" y="1188720"/>
            <a:ext cx="5577840" cy="4846320"/>
          </a:xfrm>
          <a:prstGeom prst="rect">
            <a:avLst/>
          </a:prstGeom>
          <a:noFill/>
          <a:ln/>
        </p:spPr>
        <p:txBody>
          <a:bodyPr wrap="square" lIns="0" tIns="0" rIns="0" bIns="0" rtlCol="0" anchor="t"/>
          <a:lstStyle/>
          <a:p>
            <a:pPr indent="0" marL="0">
              <a:buNone/>
            </a:pPr>
            <a:r>
              <a:rPr lang="en-US" sz="1200" b="1" dirty="0">
                <a:solidFill>
                  <a:schemeClr val="tx2"/>
                </a:solidFill>
              </a:rPr>
              <a:t>Rujukan utama</a:t>
            </a:r>
            <a:endParaRPr lang="en-US" sz="1200" dirty="0"/>
          </a:p>
          <a:p>
            <a:pPr indent="0" marL="0">
              <a:spcAft>
                <a:spcPts val="300"/>
              </a:spcAft>
              <a:buNone/>
            </a:pPr>
            <a:r>
              <a:rPr lang="en-US" sz="1050" dirty="0">
                <a:solidFill>
                  <a:schemeClr val="tx1"/>
                </a:solidFill>
              </a:rPr>
              <a:t>[2] Sarkis, J., &amp; Dou, Y. (2018). Green supply chain management: A concise introduction. Routledge.</a:t>
            </a:r>
            <a:endParaRPr lang="en-US" sz="1200" dirty="0"/>
          </a:p>
          <a:p>
            <a:pPr indent="0" marL="0">
              <a:spcAft>
                <a:spcPts val="300"/>
              </a:spcAft>
              <a:buNone/>
            </a:pPr>
            <a:r>
              <a:rPr lang="en-US" sz="1050" dirty="0">
                <a:solidFill>
                  <a:schemeClr val="tx1"/>
                </a:solidFill>
              </a:rPr>
              <a:t>[3] Grant, D. B., Trautrims, A., &amp; Wong, C. Y. (2017). Sustainable logistics and supply chain management (Rev. ed.). Kogan Page.</a:t>
            </a:r>
            <a:endParaRPr lang="en-US" sz="1200" dirty="0"/>
          </a:p>
          <a:p>
            <a:pPr indent="0" marL="0">
              <a:spcBef>
                <a:spcPts val="600"/>
              </a:spcBef>
              <a:buNone/>
            </a:pPr>
            <a:r>
              <a:rPr lang="en-US" sz="1200" b="1" dirty="0">
                <a:solidFill>
                  <a:schemeClr val="tx2"/>
                </a:solidFill>
              </a:rPr>
              <a:t>Artikel jurnal</a:t>
            </a:r>
            <a:endParaRPr lang="en-US" sz="1200" dirty="0"/>
          </a:p>
          <a:p>
            <a:pPr indent="0" marL="0">
              <a:spcAft>
                <a:spcPts val="300"/>
              </a:spcAft>
              <a:buNone/>
            </a:pPr>
            <a:r>
              <a:rPr lang="en-US" sz="1050" dirty="0">
                <a:solidFill>
                  <a:schemeClr val="tx1"/>
                </a:solidFill>
              </a:rPr>
              <a:t>Kraljic, P. (1983). Purchasing must become supply management. Harvard Business Review, 61(5), 109–117.</a:t>
            </a:r>
            <a:endParaRPr lang="en-US" sz="1200" dirty="0"/>
          </a:p>
          <a:p>
            <a:pPr indent="0" marL="0">
              <a:spcAft>
                <a:spcPts val="300"/>
              </a:spcAft>
              <a:buNone/>
            </a:pPr>
            <a:r>
              <a:rPr lang="en-US" sz="1050" dirty="0">
                <a:solidFill>
                  <a:schemeClr val="tx1"/>
                </a:solidFill>
              </a:rPr>
              <a:t>Lessard, J., Darunte, L., &amp; Jayanathan, S. (2025). Decarbonizing structural alloys in consumer electronics: Case studies at Apple. Journal of Sustainable Metallurgy. https://doi.org/10.1007/s40831-025-01258-1</a:t>
            </a:r>
            <a:endParaRPr lang="en-US" sz="1200" dirty="0"/>
          </a:p>
          <a:p>
            <a:pPr indent="0" marL="0">
              <a:spcAft>
                <a:spcPts val="300"/>
              </a:spcAft>
              <a:buNone/>
            </a:pPr>
            <a:r>
              <a:rPr lang="en-US" sz="1050" dirty="0">
                <a:solidFill>
                  <a:schemeClr val="tx1"/>
                </a:solidFill>
              </a:rPr>
              <a:t>Mubarik, M. S., Gunasekaran, A., Khan, S. A., &amp; Mubarak, M. F. (2025). Decarbonization through supply chain innovation: Role of supply chain collaboration and mapping. Journal of Cleaner Production, 507, 145492. https://doi.org/10.1016/j.jclepro.2025.145492</a:t>
            </a:r>
            <a:endParaRPr lang="en-US" sz="1200" dirty="0"/>
          </a:p>
          <a:p>
            <a:pPr indent="0" marL="0">
              <a:spcAft>
                <a:spcPts val="300"/>
              </a:spcAft>
              <a:buNone/>
            </a:pPr>
            <a:r>
              <a:rPr lang="en-US" sz="1050" dirty="0">
                <a:solidFill>
                  <a:schemeClr val="tx1"/>
                </a:solidFill>
              </a:rPr>
              <a:t>Pagell, M., Wu, Z., &amp; Wasserman, M. E. (2010). Thinking differently about purchasing portfolios: An assessment of sustainable sourcing. Journal of Supply Chain Management, 46(1), 57–73.</a:t>
            </a:r>
            <a:endParaRPr lang="en-US" sz="1200" dirty="0"/>
          </a:p>
        </p:txBody>
      </p:sp>
      <p:sp>
        <p:nvSpPr>
          <p:cNvPr id="4" name="Text 2"/>
          <p:cNvSpPr txBox="1"/>
          <p:nvPr/>
        </p:nvSpPr>
        <p:spPr>
          <a:xfrm>
            <a:off x="6400800" y="1188720"/>
            <a:ext cx="5212080" cy="2743200"/>
          </a:xfrm>
          <a:prstGeom prst="rect">
            <a:avLst/>
          </a:prstGeom>
          <a:noFill/>
          <a:ln/>
        </p:spPr>
        <p:txBody>
          <a:bodyPr wrap="square" lIns="0" tIns="0" rIns="0" bIns="0" rtlCol="0" anchor="t"/>
          <a:lstStyle/>
          <a:p>
            <a:pPr indent="0" marL="0">
              <a:buNone/>
            </a:pPr>
            <a:r>
              <a:rPr lang="en-US" sz="1200" b="1" dirty="0">
                <a:solidFill>
                  <a:schemeClr val="tx2"/>
                </a:solidFill>
              </a:rPr>
              <a:t>Sumber perusahaan (diakses 12 Oktober 2026)</a:t>
            </a:r>
            <a:endParaRPr lang="en-US" sz="1200" dirty="0"/>
          </a:p>
          <a:p>
            <a:pPr indent="0" marL="0">
              <a:spcAft>
                <a:spcPts val="300"/>
              </a:spcAft>
              <a:buNone/>
            </a:pPr>
            <a:r>
              <a:rPr lang="en-US" sz="1050" dirty="0">
                <a:solidFill>
                  <a:schemeClr val="tx1"/>
                </a:solidFill>
              </a:rPr>
              <a:t>Apple Inc. (2018, Juli). Apple launches new clean energy fund in China [Siaran pers]. https://www.apple.com/newsroom/</a:t>
            </a:r>
            <a:endParaRPr lang="en-US" sz="1200" dirty="0"/>
          </a:p>
          <a:p>
            <a:pPr indent="0" marL="0">
              <a:spcAft>
                <a:spcPts val="300"/>
              </a:spcAft>
              <a:buNone/>
            </a:pPr>
            <a:r>
              <a:rPr lang="en-US" sz="1050" dirty="0">
                <a:solidFill>
                  <a:schemeClr val="tx1"/>
                </a:solidFill>
              </a:rPr>
              <a:t>Apple Inc. (2025). iPhone 17 product environmental report. https://www.apple.com/environment/</a:t>
            </a:r>
            <a:endParaRPr lang="en-US" sz="1200" dirty="0"/>
          </a:p>
          <a:p>
            <a:pPr indent="0" marL="0">
              <a:spcAft>
                <a:spcPts val="300"/>
              </a:spcAft>
              <a:buNone/>
            </a:pPr>
            <a:r>
              <a:rPr lang="en-US" sz="1050" dirty="0">
                <a:solidFill>
                  <a:schemeClr val="tx1"/>
                </a:solidFill>
              </a:rPr>
              <a:t>Apple Inc. (2026a). Environmental progress report. https://www.apple.com/environment/</a:t>
            </a:r>
            <a:endParaRPr lang="en-US" sz="1200" dirty="0"/>
          </a:p>
          <a:p>
            <a:pPr indent="0" marL="0">
              <a:spcAft>
                <a:spcPts val="300"/>
              </a:spcAft>
              <a:buNone/>
            </a:pPr>
            <a:r>
              <a:rPr lang="en-US" sz="1050" dirty="0">
                <a:solidFill>
                  <a:schemeClr val="tx1"/>
                </a:solidFill>
              </a:rPr>
              <a:t>Apple Inc. (2026b). Supply chain 2026 progress report. https://www.apple.com/supply-chain/</a:t>
            </a:r>
            <a:endParaRPr lang="en-US" sz="1200" dirty="0"/>
          </a:p>
          <a:p>
            <a:pPr indent="0" marL="0">
              <a:spcAft>
                <a:spcPts val="300"/>
              </a:spcAft>
              <a:buNone/>
            </a:pPr>
            <a:r>
              <a:rPr lang="en-US" sz="1050" dirty="0">
                <a:solidFill>
                  <a:schemeClr val="tx1"/>
                </a:solidFill>
              </a:rPr>
              <a:t>Apple Inc. (2026, Mei). Apple launches new clean energy and environmental initiatives in India [Siaran pers]. https://www.apple.com/in/newsroom/</a:t>
            </a:r>
            <a:endParaRPr lang="en-US" sz="1200" dirty="0"/>
          </a:p>
        </p:txBody>
      </p:sp>
      <p:sp>
        <p:nvSpPr>
          <p:cNvPr id="5" name="kartu-ai"/>
          <p:cNvSpPr/>
          <p:nvPr/>
        </p:nvSpPr>
        <p:spPr>
          <a:xfrm>
            <a:off x="6400800" y="3291840"/>
            <a:ext cx="5212080" cy="1783080"/>
          </a:xfrm>
          <a:prstGeom prst="roundRect">
            <a:avLst>
              <a:gd name="adj" fmla="val 4103"/>
            </a:avLst>
          </a:prstGeom>
          <a:solidFill>
            <a:schemeClr val="bg2"/>
          </a:solidFill>
          <a:ln/>
        </p:spPr>
      </p:sp>
      <p:sp>
        <p:nvSpPr>
          <p:cNvPr id="6" name="Text 4"/>
          <p:cNvSpPr txBox="1"/>
          <p:nvPr/>
        </p:nvSpPr>
        <p:spPr>
          <a:xfrm>
            <a:off x="6583680" y="3337560"/>
            <a:ext cx="4846320" cy="1691640"/>
          </a:xfrm>
          <a:prstGeom prst="rect">
            <a:avLst/>
          </a:prstGeom>
          <a:noFill/>
          <a:ln/>
        </p:spPr>
        <p:txBody>
          <a:bodyPr wrap="square" lIns="0" tIns="0" rIns="0" bIns="0" rtlCol="0" anchor="ctr"/>
          <a:lstStyle/>
          <a:p>
            <a:pPr indent="0" marL="0">
              <a:buNone/>
            </a:pPr>
            <a:r>
              <a:rPr lang="en-US" sz="1300" b="1" dirty="0">
                <a:solidFill>
                  <a:schemeClr val="tx2"/>
                </a:solidFill>
              </a:rPr>
              <a:t>Pernyataan penggunaan AI</a:t>
            </a:r>
            <a:endParaRPr lang="en-US" sz="1300" dirty="0"/>
          </a:p>
          <a:p>
            <a:pPr indent="0" marL="0">
              <a:buNone/>
            </a:pPr>
            <a:r>
              <a:rPr lang="en-US" sz="1150" dirty="0">
                <a:solidFill>
                  <a:schemeClr val="tx1"/>
                </a:solidFill>
              </a:rPr>
              <a:t>Generative AI (Claude) digunakan untuk membantu pencarian sumber, penyusunan struktur slide, dan penyuntingan bahasa. AI tidak digunakan sebagai sumber ilmiah; seluruh fakta dan angka telah diverifikasi pada sumber asli yang dicantumkan.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Green Procurement">
  <a:themeElements>
    <a:clrScheme name="Green Procurement">
      <a:dk1>
        <a:srgbClr val="1F2A24"/>
      </a:dk1>
      <a:lt1>
        <a:srgbClr val="FFFFFF"/>
      </a:lt1>
      <a:dk2>
        <a:srgbClr val="1E4D3A"/>
      </a:dk2>
      <a:lt2>
        <a:srgbClr val="EAF2ED"/>
      </a:lt2>
      <a:accent1>
        <a:srgbClr val="2E7D5B"/>
      </a:accent1>
      <a:accent2>
        <a:srgbClr val="D99A00"/>
      </a:accent2>
      <a:accent3>
        <a:srgbClr val="4F7CA8"/>
      </a:accent3>
      <a:accent4>
        <a:srgbClr val="B5473A"/>
      </a:accent4>
      <a:accent5>
        <a:srgbClr val="8AA899"/>
      </a:accent5>
      <a:accent6>
        <a:srgbClr val="6B6B6B"/>
      </a:accent6>
      <a:hlink>
        <a:srgbClr val="2E7D5B"/>
      </a:hlink>
      <a:folHlink>
        <a:srgbClr val="4F7CA8"/>
      </a:folHlink>
    </a:clrScheme>
    <a:fontScheme name="Green Procurem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Procurement &amp; Pengembangan Pemasok: Apple iPhone</dc:title>
  <dc:subject>PptxGenJS Presentation</dc:subject>
  <dc:creator>PptxGenJS</dc:creator>
  <cp:lastModifiedBy>PptxGenJS</cp:lastModifiedBy>
  <cp:revision>1</cp:revision>
  <dcterms:created xsi:type="dcterms:W3CDTF">2026-10-12T12:22:29Z</dcterms:created>
  <dcterms:modified xsi:type="dcterms:W3CDTF">2026-10-12T12:22:29Z</dcterms:modified>
</cp:coreProperties>
</file>