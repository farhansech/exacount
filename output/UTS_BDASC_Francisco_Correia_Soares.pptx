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2.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charts/chart3.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4.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Revenue</c:v>
                </c:pt>
              </c:strCache>
            </c:strRef>
          </c:tx>
          <c:spPr>
            <a:solidFill>
              <a:srgbClr val="1B9AAA"/>
            </a:solidFill>
            <a:ln w="38100" cap="flat">
              <a:solidFill>
                <a:srgbClr val="1B9AAA"/>
              </a:solidFill>
              <a:prstDash val="solid"/>
              <a:round/>
            </a:ln>
            <a:effectLst/>
          </c:spPr>
          <c:invertIfNegative val="0"/>
          <c:dLbls>
            <c:numFmt formatCode="#,##0" sourceLinked="0"/>
            <c:txPr>
              <a:bodyPr/>
              <a:lstStyle/>
              <a:p>
                <a:pPr>
                  <a:defRPr b="0" i="0" strike="noStrike" sz="1300" u="none">
                    <a:solidFill>
                      <a:srgbClr val="1E2A35"/>
                    </a:solidFill>
                    <a:latin typeface="Calibri"/>
                  </a:defRPr>
                </a:pPr>
              </a:p>
            </c:txPr>
            <c:dLblPos val="t"/>
            <c:showLegendKey val="0"/>
            <c:showVal val="1"/>
            <c:showCatName val="0"/>
            <c:showSerName val="0"/>
            <c:showPercent val="0"/>
            <c:showBubbleSize val="0"/>
            <c:showLeaderLines val="0"/>
          </c:dLbls>
          <c:marker>
            <c:symbol val="circle"/>
            <c:size val="8"/>
            <c:spPr>
              <a:solidFill>
                <a:srgbClr val="1B9AAA"/>
              </a:solidFill>
              <a:ln w="9525" cap="flat">
                <a:solidFill>
                  <a:srgbClr val="1B9AAA"/>
                </a:solidFill>
                <a:prstDash val="solid"/>
                <a:round/>
              </a:ln>
              <a:effectLst/>
            </c:spPr>
          </c:marker>
          <c:cat>
            <c:multiLvlStrRef>
              <c:f>Sheet1!$A$2:$A$13</c:f>
              <c:multiLvlStrCache>
                <c:ptCount val="12"/>
                <c:lvl>
                  <c:pt idx="0">
                    <c:v>Jan</c:v>
                  </c:pt>
                  <c:pt idx="1">
                    <c:v>Feb</c:v>
                  </c:pt>
                  <c:pt idx="2">
                    <c:v>Mar</c:v>
                  </c:pt>
                  <c:pt idx="3">
                    <c:v>Apr</c:v>
                  </c:pt>
                  <c:pt idx="4">
                    <c:v>Mei</c:v>
                  </c:pt>
                  <c:pt idx="5">
                    <c:v>Jun</c:v>
                  </c:pt>
                  <c:pt idx="6">
                    <c:v>Jul</c:v>
                  </c:pt>
                  <c:pt idx="7">
                    <c:v>Agu</c:v>
                  </c:pt>
                  <c:pt idx="8">
                    <c:v>Sep</c:v>
                  </c:pt>
                  <c:pt idx="9">
                    <c:v>Okt</c:v>
                  </c:pt>
                  <c:pt idx="10">
                    <c:v>Nov</c:v>
                  </c:pt>
                  <c:pt idx="11">
                    <c:v>Des</c:v>
                  </c:pt>
                </c:lvl>
              </c:multiLvlStrCache>
            </c:multiLvlStrRef>
          </c:cat>
          <c:val>
            <c:numRef>
              <c:f>Sheet1!$B$2:$B$13</c:f>
              <c:numCache>
                <c:formatCode>General</c:formatCode>
                <c:ptCount val="12"/>
                <c:pt idx="0">
                  <c:v>66376.39</c:v>
                </c:pt>
                <c:pt idx="1">
                  <c:v>51459.27</c:v>
                </c:pt>
                <c:pt idx="2">
                  <c:v>47828.73</c:v>
                </c:pt>
                <c:pt idx="3">
                  <c:v>57519.06</c:v>
                </c:pt>
                <c:pt idx="4">
                  <c:v>64527.74</c:v>
                </c:pt>
                <c:pt idx="5">
                  <c:v>48771.18</c:v>
                </c:pt>
                <c:pt idx="6">
                  <c:v>71366.39</c:v>
                </c:pt>
                <c:pt idx="7">
                  <c:v>63436.74</c:v>
                </c:pt>
                <c:pt idx="8">
                  <c:v>70603.75</c:v>
                </c:pt>
                <c:pt idx="9">
                  <c:v>47063.22</c:v>
                </c:pt>
                <c:pt idx="10">
                  <c:v>38224.37</c:v>
                </c:pt>
                <c:pt idx="11">
                  <c:v>59049.2</c:v>
                </c:pt>
              </c:numCache>
            </c:numRef>
          </c:val>
          <c:smooth val="0"/>
        </c:ser>
        <c:dLbls>
          <c:numFmt formatCode="#,##0" sourceLinked="0"/>
          <c:txPr>
            <a:bodyPr/>
            <a:lstStyle/>
            <a:p>
              <a:pPr>
                <a:defRPr b="0" i="0" strike="noStrike" sz="1300" u="none">
                  <a:solidFill>
                    <a:srgbClr val="1E2A35"/>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B6B79"/>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1B9AAA"/>
            </a:solidFill>
            <a:effectLst/>
          </c:spPr>
          <c:invertIfNegative val="0"/>
          <c:dLbls>
            <c:numFmt formatCode="#,##0" sourceLinked="0"/>
            <c:txPr>
              <a:bodyPr/>
              <a:lstStyle/>
              <a:p>
                <a:pPr>
                  <a:defRPr b="0" i="0" strike="noStrike" sz="1300" u="none">
                    <a:solidFill>
                      <a:srgbClr val="1E2A35"/>
                    </a:solidFill>
                    <a:latin typeface="Calibri"/>
                  </a:defRPr>
                </a:pPr>
              </a:p>
            </c:txPr>
            <c:showLegendKey val="0"/>
            <c:showVal val="1"/>
            <c:showCatName val="0"/>
            <c:showSerName val="0"/>
            <c:showPercent val="0"/>
            <c:showBubbleSize val="0"/>
            <c:showLeaderLines val="0"/>
          </c:dLbls>
          <c:cat>
            <c:multiLvlStrRef>
              <c:f>Sheet1!$A$2:$A$5</c:f>
              <c:multiLvlStrCache>
                <c:ptCount val="4"/>
                <c:lvl>
                  <c:pt idx="0">
                    <c:v>Books</c:v>
                  </c:pt>
                  <c:pt idx="1">
                    <c:v>Electronics</c:v>
                  </c:pt>
                  <c:pt idx="2">
                    <c:v>Clothing</c:v>
                  </c:pt>
                  <c:pt idx="3">
                    <c:v>Home Decor</c:v>
                  </c:pt>
                </c:lvl>
              </c:multiLvlStrCache>
            </c:multiLvlStrRef>
          </c:cat>
          <c:val>
            <c:numRef>
              <c:f>Sheet1!$B$2:$B$5</c:f>
              <c:numCache>
                <c:formatCode>General</c:formatCode>
                <c:ptCount val="4"/>
                <c:pt idx="0">
                  <c:v>192147.47</c:v>
                </c:pt>
                <c:pt idx="1">
                  <c:v>180783.5</c:v>
                </c:pt>
                <c:pt idx="2">
                  <c:v>166170.66</c:v>
                </c:pt>
                <c:pt idx="3">
                  <c:v>150893.93</c:v>
                </c:pt>
              </c:numCache>
            </c:numRef>
          </c:val>
        </c:ser>
        <c:dLbls>
          <c:numFmt formatCode="#,##0" sourceLinked="0"/>
          <c:txPr>
            <a:bodyPr/>
            <a:lstStyle/>
            <a:p>
              <a:pPr>
                <a:defRPr b="0" i="0" strike="noStrike" sz="1300" u="none">
                  <a:solidFill>
                    <a:srgbClr val="1E2A35"/>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B6B79"/>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E8832B"/>
            </a:solidFill>
            <a:effectLst/>
          </c:spPr>
          <c:invertIfNegative val="0"/>
          <c:dLbls>
            <c:numFmt formatCode="#,##0" sourceLinked="0"/>
            <c:txPr>
              <a:bodyPr/>
              <a:lstStyle/>
              <a:p>
                <a:pPr>
                  <a:defRPr b="0" i="0" strike="noStrike" sz="1300" u="none">
                    <a:solidFill>
                      <a:srgbClr val="1E2A35"/>
                    </a:solidFill>
                    <a:latin typeface="Calibri"/>
                  </a:defRPr>
                </a:pPr>
              </a:p>
            </c:txPr>
            <c:showLegendKey val="0"/>
            <c:showVal val="1"/>
            <c:showCatName val="0"/>
            <c:showSerName val="0"/>
            <c:showPercent val="0"/>
            <c:showBubbleSize val="0"/>
            <c:showLeaderLines val="0"/>
          </c:dLbls>
          <c:cat>
            <c:multiLvlStrRef>
              <c:f>Sheet1!$A$2:$A$5</c:f>
              <c:multiLvlStrCache>
                <c:ptCount val="4"/>
                <c:lvl>
                  <c:pt idx="0">
                    <c:v>South America</c:v>
                  </c:pt>
                  <c:pt idx="1">
                    <c:v>Europe</c:v>
                  </c:pt>
                  <c:pt idx="2">
                    <c:v>North America</c:v>
                  </c:pt>
                  <c:pt idx="3">
                    <c:v>Asia</c:v>
                  </c:pt>
                </c:lvl>
              </c:multiLvlStrCache>
            </c:multiLvlStrRef>
          </c:cat>
          <c:val>
            <c:numRef>
              <c:f>Sheet1!$B$2:$B$5</c:f>
              <c:numCache>
                <c:formatCode>General</c:formatCode>
                <c:ptCount val="4"/>
                <c:pt idx="0">
                  <c:v>219352.56</c:v>
                </c:pt>
                <c:pt idx="1">
                  <c:v>166254.63</c:v>
                </c:pt>
                <c:pt idx="2">
                  <c:v>152313.4</c:v>
                </c:pt>
                <c:pt idx="3">
                  <c:v>152074.97</c:v>
                </c:pt>
              </c:numCache>
            </c:numRef>
          </c:val>
        </c:ser>
        <c:dLbls>
          <c:numFmt formatCode="#,##0" sourceLinked="0"/>
          <c:txPr>
            <a:bodyPr/>
            <a:lstStyle/>
            <a:p>
              <a:pPr>
                <a:defRPr b="0" i="0" strike="noStrike" sz="1300" u="none">
                  <a:solidFill>
                    <a:srgbClr val="1E2A35"/>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B6B79"/>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c:v>
                </c:pt>
              </c:strCache>
            </c:strRef>
          </c:tx>
          <c:spPr>
            <a:solidFill>
              <a:srgbClr val="1B9AAA"/>
            </a:solidFill>
            <a:effectLst/>
          </c:spPr>
          <c:invertIfNegative val="0"/>
          <c:dLbls>
            <c:numFmt formatCode="#,##0" sourceLinked="0"/>
            <c:txPr>
              <a:bodyPr/>
              <a:lstStyle/>
              <a:p>
                <a:pPr>
                  <a:defRPr b="0" i="0" strike="noStrike" sz="1200" u="none">
                    <a:solidFill>
                      <a:srgbClr val="1E2A35"/>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ActiveWear Cookware Set</c:v>
                  </c:pt>
                  <c:pt idx="1">
                    <c:v>TechPro Textbook</c:v>
                  </c:pt>
                  <c:pt idx="2">
                    <c:v>BookWorld Sweater</c:v>
                  </c:pt>
                  <c:pt idx="3">
                    <c:v>BookWorld Cookbook</c:v>
                  </c:pt>
                  <c:pt idx="4">
                    <c:v>TechPro Headphones</c:v>
                  </c:pt>
                  <c:pt idx="5">
                    <c:v>ActiveWear Rug</c:v>
                  </c:pt>
                  <c:pt idx="6">
                    <c:v>ActiveWear Jacket</c:v>
                  </c:pt>
                  <c:pt idx="7">
                    <c:v>SoundWave Novel</c:v>
                  </c:pt>
                  <c:pt idx="8">
                    <c:v>SoundWave Headphones</c:v>
                  </c:pt>
                  <c:pt idx="9">
                    <c:v>ActiveWear Smartwatch</c:v>
                  </c:pt>
                </c:lvl>
              </c:multiLvlStrCache>
            </c:multiLvlStrRef>
          </c:cat>
          <c:val>
            <c:numRef>
              <c:f>Sheet1!$B$2:$B$11</c:f>
              <c:numCache>
                <c:formatCode>General</c:formatCode>
                <c:ptCount val="10"/>
                <c:pt idx="0">
                  <c:v>18083.73</c:v>
                </c:pt>
                <c:pt idx="1">
                  <c:v>18267.96</c:v>
                </c:pt>
                <c:pt idx="2">
                  <c:v>18743.79</c:v>
                </c:pt>
                <c:pt idx="3">
                  <c:v>19221.99</c:v>
                </c:pt>
                <c:pt idx="4">
                  <c:v>19513.8</c:v>
                </c:pt>
                <c:pt idx="5">
                  <c:v>22314.43</c:v>
                </c:pt>
                <c:pt idx="6">
                  <c:v>22712.56</c:v>
                </c:pt>
                <c:pt idx="7">
                  <c:v>24507.9</c:v>
                </c:pt>
                <c:pt idx="8">
                  <c:v>25211.64</c:v>
                </c:pt>
                <c:pt idx="9">
                  <c:v>39096.97</c:v>
                </c:pt>
              </c:numCache>
            </c:numRef>
          </c:val>
        </c:ser>
        <c:dLbls>
          <c:numFmt formatCode="#,##0" sourceLinked="0"/>
          <c:txPr>
            <a:bodyPr/>
            <a:lstStyle/>
            <a:p>
              <a:pPr>
                <a:defRPr b="0" i="0" strike="noStrike" sz="1200" u="none">
                  <a:solidFill>
                    <a:srgbClr val="1E2A35"/>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B79"/>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Pembukaan: sebutkan nama, NIM, mata kuliah, dan dataset yang dipilih (EverMart Online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urutan: tujuan, karakteristik, data awal, transformasi, model dan DAX, dashboard, interpretasi, rekomendasi. Urutan ini mengikuti lima poin soal 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tiga tujuan dan empat pertanyaan yang akan dijawab. EverMart dipilih karena memiliki tiga tabel yang berhubungan dan 1.000 transaksi.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terdiri dari 3 tabel dan 15 kolom. Karena CustomerID, ProductID, dan Price muncul di dua tabel, variabel unik berjumlah 12. Ada 1.000 transaksi pada periode 30 Desember 2023 sampai 28 Desember 2024. Pelanggan: 200 terdaftar, 199 bertransaksi, 1 belum (C0180).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arti tiap variabel. Region dan Category berkardinalitas rendah sehingga cocok sebagai slicer dan sumbu grafik. Price dipakai untuk menghitung TotalValue.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TransactionID unik. CustomerID dan ProductID adalah kunci tamu ke dua tabel dimensi. TotalValue sama dengan Quantity dikali Price pada seluruh 1.000 baris.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Jawab pertanyaan 200 atau 199: 200 terdaftar, 199 bertransaksi, 1 belum bertransaksi yaitu C0180 Amy Carpenter dari Asia (mendaftar 25 Oktober 2023). Kartu Total Unique Customers menampilkan 199 karena dihitung dari tabel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awal Customers: 200 baris, 4 kolom. Jelaskan arti tiap kolom. 200 adalah pelanggan terdaftar.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awal Products: 100 baris, 4 kolom.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awal Transactions: 1.000 baris, 7 kolom. Tunjukkan contoh satu transaksi dan rumus TotalValue.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empat langkah Applied Steps. Tidak ada pembersihan tambahan karena data sudah bersih; transformasi hanya memastikan header dan tipe data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Applied Steps dan katalog tiga sheet. Power BI membaca langsung dari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200 baris, 4 kolom. Tunjukkan Applied Steps dan profil kolom: 200 unique untuk ID dan nama.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Products 100 baris, 4 kolom. Catat 66 nama berbeda sehingga analisis produk memakai ProductID.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Transactions 1.000 baris, 7 kolom. CustomerID 199 distinct: bukti ada satu pelanggan yang belum bertransaksi.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view menunjukkan data sudah dimuat: 200 baris.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view Products: 100 baris.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view Transactions: 1.000 baris.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Angka nol berarti jumlah masalah yang ditemukan adalah nol, jadi data bersih. Satu catatan: nama produk tidak selalu sesuai kategori sehingga analisis produk memakai ProductID.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star schema: Transactions adalah tabel fakta, Customers dan Products tabel dimensi. Relasi banyak-ke-satu membuat slicer Region dan Category memfilter seluruh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Sebutkan enam measure beserta rumus lengkap. Semuanya dibuat dengan Home, New measure. Measure bersifat dinamis, berubah mengikuti filter slicer.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SUM dan DISTINCTCOUNT. Total Revenue 689.995,56; Total Transactions 1.000; Total Unique Customers 199 (bukan 200 karena C0180 belum bertransaksi).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DIVIDE dan perhitungan manual: 689.995,56 dibagi 1.000 = 690,00 dan dibagi 199 = 3.467,31.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langkah CALCULATE dan ALL. Tanpa ALL hasil selalu 100% per wilayah. Contoh South America 31,79%.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 tambahan menjawab pertanyaan soal: pelanggan terdaftar 200, bertransaksi 199, belum bertransaksi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rumus di formula bar Power BI. Jelaskan perbedaan measure dan kolom hitungan, fungsi DIVIDE, dan peran ALL pada konteks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tiga halaman. Lakukan demo langsung: pilih satu Region di slicer lalu tunjukkan kartu dan tabel ikut berubah.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tiap visual dan pertanyaan yang dijawabnya. Tunjukkan interaksi langsung di Power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per Customer menurut wilayah; Asia punya 44 pelanggan aktif karena C0180 belum bertransaksi.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kartu, tabel wilayah, dan dua grafik. Semua memakai measure DAX.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langsung: klik South America di slicer lalu klik lagi untuk membatalkan.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klik titik Oktober pada grafik garis.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Rata-rata pelanggan aktif bertransaksi sekitar 5 kali dan menghasilkan 3.467. Nilai transaksi rata-rata 690 dengan 2,5 unit per transaksi.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Q1 165.664, Q2 170.818, Q3 205.407, Q4 144.337. Puncak Juli 71.366, dasar November 38.224.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Selisih kategori tertinggi dan terendah sekitar 41 ribu. Books dan Electronics bersama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South America 219.353 (31,8%), Europe 166.255, North America 152.313, Asia 152.075. South America juga tertinggi per pelanggan.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 mengikuti bar chart di dashboard yang dikelompokkan per ProductName. Produk tunggal terlaris menurut ProductID adalah P029 TechPro Headphones (19.514).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Rata-rata 3.467 dan median 3.138. Transaksi per pelanggan 1 sampai 11, rata-rata 5,03. Pelanggan teratas C0141 dengan 10.674. 20 pelanggan teratas hanya 20%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Hubungkan angka dengan makna bisnis: musiman, dominasi dua kategori, dan South America sebagai wilayah terkuat. Pendapatan menyebar antar pelanggan.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rekomendasi berdasar data: South America 31,8%; Books dan Electronics 54%; Oktober dan November lemah; pelanggan C0180 belum bertransaksi.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kesimpulan singkat, lalu akui keterbatasan: satu tahun data, data sintetis, tanpa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4-1.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35-1.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36-1.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37-1.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683"/>
        </a:solidFill>
      </p:bgPr>
    </p:bg>
    <p:spTree>
      <p:nvGrpSpPr>
        <p:cNvPr id="1" name=""/>
        <p:cNvGrpSpPr/>
        <p:nvPr/>
      </p:nvGrpSpPr>
      <p:grpSpPr>
        <a:xfrm>
          <a:off x="0" y="0"/>
          <a:ext cx="0" cy="0"/>
          <a:chOff x="0" y="0"/>
          <a:chExt cx="0" cy="0"/>
        </a:xfrm>
      </p:grpSpPr>
      <p:sp>
        <p:nvSpPr>
          <p:cNvPr id="2" name="Shape 0"/>
          <p:cNvSpPr/>
          <p:nvPr/>
        </p:nvSpPr>
        <p:spPr>
          <a:xfrm>
            <a:off x="7498080" y="-1371600"/>
            <a:ext cx="5943600" cy="5943600"/>
          </a:xfrm>
          <a:prstGeom prst="ellipse">
            <a:avLst/>
          </a:prstGeom>
          <a:solidFill>
            <a:srgbClr val="E02F8A">
              <a:alpha val="45000"/>
            </a:srgbClr>
          </a:solidFill>
          <a:ln w="12700">
            <a:solidFill>
              <a:srgbClr val="E02F8A">
                <a:alpha val="45000"/>
              </a:srgbClr>
            </a:solidFill>
            <a:prstDash val="solid"/>
          </a:ln>
        </p:spPr>
      </p:sp>
      <p:sp>
        <p:nvSpPr>
          <p:cNvPr id="3" name="Shape 1"/>
          <p:cNvSpPr/>
          <p:nvPr/>
        </p:nvSpPr>
        <p:spPr>
          <a:xfrm>
            <a:off x="-2194560" y="5669280"/>
            <a:ext cx="3474720" cy="3474720"/>
          </a:xfrm>
          <a:prstGeom prst="ellipse">
            <a:avLst/>
          </a:prstGeom>
          <a:solidFill>
            <a:srgbClr val="FBB641">
              <a:alpha val="50000"/>
            </a:srgbClr>
          </a:solidFill>
          <a:ln w="12700">
            <a:solidFill>
              <a:srgbClr val="FBB641">
                <a:alpha val="50000"/>
              </a:srgbClr>
            </a:solidFill>
            <a:prstDash val="solid"/>
          </a:ln>
        </p:spPr>
      </p:sp>
      <p:sp>
        <p:nvSpPr>
          <p:cNvPr id="4" name="Shape 2"/>
          <p:cNvSpPr/>
          <p:nvPr/>
        </p:nvSpPr>
        <p:spPr>
          <a:xfrm>
            <a:off x="8229600" y="1188720"/>
            <a:ext cx="3383280" cy="3566160"/>
          </a:xfrm>
          <a:prstGeom prst="roundRect">
            <a:avLst>
              <a:gd name="adj" fmla="val 6757"/>
            </a:avLst>
          </a:prstGeom>
          <a:solidFill>
            <a:srgbClr val="FFFFFF"/>
          </a:solidFill>
          <a:ln w="12700">
            <a:solidFill>
              <a:srgbClr val="FFFFFF"/>
            </a:solidFill>
            <a:prstDash val="solid"/>
          </a:ln>
        </p:spPr>
      </p:sp>
      <p:pic>
        <p:nvPicPr>
          <p:cNvPr id="5" name="Image 0" descr="/tmp/claude-0/-home-user-EXACOUNT/b3a0efd5-5ef2-5930-a9ef-1d7b86874e77/scratchpad/rep/logo.png">    </p:cNvPr>
          <p:cNvPicPr>
            <a:picLocks noChangeAspect="1"/>
          </p:cNvPicPr>
          <p:nvPr/>
        </p:nvPicPr>
        <p:blipFill>
          <a:blip r:embed="rId1"/>
          <a:stretch>
            <a:fillRect/>
          </a:stretch>
        </p:blipFill>
        <p:spPr>
          <a:xfrm>
            <a:off x="8686800" y="1371600"/>
            <a:ext cx="2468880" cy="2847886"/>
          </a:xfrm>
          <a:prstGeom prst="rect">
            <a:avLst/>
          </a:prstGeom>
        </p:spPr>
      </p:pic>
      <p:sp>
        <p:nvSpPr>
          <p:cNvPr id="6" name="Text 3"/>
          <p:cNvSpPr txBox="1"/>
          <p:nvPr/>
        </p:nvSpPr>
        <p:spPr>
          <a:xfrm>
            <a:off x="640080" y="1280160"/>
            <a:ext cx="7315200" cy="1828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Analisis dan Visualisasi Data</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EverMart Online Transactions</a:t>
            </a:r>
            <a:endParaRPr lang="en-US" sz="4000" dirty="0"/>
          </a:p>
        </p:txBody>
      </p:sp>
      <p:sp>
        <p:nvSpPr>
          <p:cNvPr id="7" name="Shape 4"/>
          <p:cNvSpPr/>
          <p:nvPr/>
        </p:nvSpPr>
        <p:spPr>
          <a:xfrm>
            <a:off x="640080" y="3246120"/>
            <a:ext cx="1463040" cy="73152"/>
          </a:xfrm>
          <a:prstGeom prst="rect">
            <a:avLst/>
          </a:prstGeom>
          <a:solidFill>
            <a:srgbClr val="FBB641"/>
          </a:solidFill>
          <a:ln w="12700">
            <a:solidFill>
              <a:srgbClr val="FBB641"/>
            </a:solidFill>
            <a:prstDash val="solid"/>
          </a:ln>
        </p:spPr>
      </p:sp>
      <p:sp>
        <p:nvSpPr>
          <p:cNvPr id="8" name="Text 5"/>
          <p:cNvSpPr txBox="1"/>
          <p:nvPr/>
        </p:nvSpPr>
        <p:spPr>
          <a:xfrm>
            <a:off x="640080" y="3520440"/>
            <a:ext cx="7315200" cy="914400"/>
          </a:xfrm>
          <a:prstGeom prst="rect">
            <a:avLst/>
          </a:prstGeom>
          <a:noFill/>
          <a:ln/>
        </p:spPr>
        <p:txBody>
          <a:bodyPr wrap="square" lIns="0" tIns="0" rIns="0" bIns="0" rtlCol="0" anchor="ctr"/>
          <a:lstStyle/>
          <a:p>
            <a:pPr indent="0" marL="0">
              <a:buNone/>
            </a:pPr>
            <a:r>
              <a:rPr lang="en-US" sz="2000" dirty="0">
                <a:solidFill>
                  <a:srgbClr val="E6E0FF"/>
                </a:solidFill>
                <a:latin typeface="Calibri" pitchFamily="34" charset="0"/>
                <a:ea typeface="Calibri" pitchFamily="34" charset="-122"/>
                <a:cs typeface="Calibri" pitchFamily="34" charset="-120"/>
              </a:rPr>
              <a:t>UTS Analisis dan Visualisasi Big Data (BDASC)</a:t>
            </a:r>
            <a:endParaRPr lang="en-US" sz="2000" dirty="0"/>
          </a:p>
          <a:p>
            <a:pPr indent="0" marL="0">
              <a:buNone/>
            </a:pPr>
            <a:r>
              <a:rPr lang="en-US" sz="2000" dirty="0">
                <a:solidFill>
                  <a:srgbClr val="E6E0FF"/>
                </a:solidFill>
                <a:latin typeface="Calibri" pitchFamily="34" charset="0"/>
                <a:ea typeface="Calibri" pitchFamily="34" charset="-122"/>
                <a:cs typeface="Calibri" pitchFamily="34" charset="-120"/>
              </a:rPr>
              <a:t>Universitas Surabaya  |  19 Oktober 2026</a:t>
            </a:r>
            <a:endParaRPr lang="en-US" sz="2000" dirty="0"/>
          </a:p>
        </p:txBody>
      </p:sp>
      <p:sp>
        <p:nvSpPr>
          <p:cNvPr id="9" name="Text 6"/>
          <p:cNvSpPr txBox="1"/>
          <p:nvPr/>
        </p:nvSpPr>
        <p:spPr>
          <a:xfrm>
            <a:off x="640080" y="4846320"/>
            <a:ext cx="7315200" cy="822960"/>
          </a:xfrm>
          <a:prstGeom prst="rect">
            <a:avLst/>
          </a:prstGeom>
          <a:noFill/>
          <a:ln/>
        </p:spPr>
        <p:txBody>
          <a:bodyPr wrap="square" lIns="0" tIns="0" rIns="0" bIns="0" rtlCol="0" anchor="ctr"/>
          <a:lstStyle/>
          <a:p>
            <a:pPr indent="0" marL="0">
              <a:buNone/>
            </a:pPr>
            <a:r>
              <a:rPr lang="en-US" sz="1800" b="1" dirty="0">
                <a:solidFill>
                  <a:srgbClr val="FBB641"/>
                </a:solidFill>
                <a:latin typeface="Calibri" pitchFamily="34" charset="0"/>
                <a:ea typeface="Calibri" pitchFamily="34" charset="-122"/>
                <a:cs typeface="Calibri" pitchFamily="34" charset="-120"/>
              </a:rPr>
              <a:t>Disusun oleh: Francisco Correia Soares</a:t>
            </a:r>
            <a:endParaRPr lang="en-US" sz="1800" dirty="0"/>
          </a:p>
          <a:p>
            <a:pPr indent="0" marL="0">
              <a:buNone/>
            </a:pPr>
            <a:r>
              <a:rPr lang="en-US" sz="1800" b="1" dirty="0">
                <a:solidFill>
                  <a:srgbClr val="FBB641"/>
                </a:solidFill>
                <a:latin typeface="Calibri" pitchFamily="34" charset="0"/>
                <a:ea typeface="Calibri" pitchFamily="34" charset="-122"/>
                <a:cs typeface="Calibri" pitchFamily="34" charset="-120"/>
              </a:rPr>
              <a:t>NIM 164125002</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A0683"/>
          </a:solidFill>
          <a:ln w="12700">
            <a:solidFill>
              <a:srgbClr val="1A0683"/>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Alur presentasi</a:t>
            </a:r>
            <a:endParaRPr lang="en-US" sz="2800" dirty="0"/>
          </a:p>
        </p:txBody>
      </p:sp>
      <p:sp>
        <p:nvSpPr>
          <p:cNvPr id="5" name="Shape 3"/>
          <p:cNvSpPr/>
          <p:nvPr/>
        </p:nvSpPr>
        <p:spPr>
          <a:xfrm>
            <a:off x="10927080" y="91440"/>
            <a:ext cx="914400" cy="914400"/>
          </a:xfrm>
          <a:prstGeom prst="ellipse">
            <a:avLst/>
          </a:prstGeom>
          <a:solidFill>
            <a:srgbClr val="FFFFFF"/>
          </a:solidFill>
          <a:ln w="12700">
            <a:solidFill>
              <a:srgbClr val="FFFFFF"/>
            </a:solidFill>
            <a:prstDash val="solid"/>
          </a:ln>
        </p:spPr>
      </p:sp>
      <p:pic>
        <p:nvPicPr>
          <p:cNvPr id="6"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7" name="Shape 4"/>
          <p:cNvSpPr/>
          <p:nvPr/>
        </p:nvSpPr>
        <p:spPr>
          <a:xfrm>
            <a:off x="0" y="6675120"/>
            <a:ext cx="12188952" cy="182880"/>
          </a:xfrm>
          <a:prstGeom prst="rect">
            <a:avLst/>
          </a:prstGeom>
          <a:solidFill>
            <a:srgbClr val="1A0683"/>
          </a:solidFill>
          <a:ln w="12700">
            <a:solidFill>
              <a:srgbClr val="1A0683"/>
            </a:solidFill>
            <a:prstDash val="solid"/>
          </a:ln>
        </p:spPr>
      </p:sp>
      <p:sp>
        <p:nvSpPr>
          <p:cNvPr id="8" name="Text 5"/>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0" name="Shape 6"/>
          <p:cNvSpPr/>
          <p:nvPr/>
        </p:nvSpPr>
        <p:spPr>
          <a:xfrm>
            <a:off x="731520" y="1463040"/>
            <a:ext cx="731520" cy="731520"/>
          </a:xfrm>
          <a:prstGeom prst="ellipse">
            <a:avLst/>
          </a:prstGeom>
          <a:solidFill>
            <a:srgbClr val="1B9AAA"/>
          </a:solidFill>
          <a:ln w="12700">
            <a:solidFill>
              <a:srgbClr val="1B9AAA"/>
            </a:solidFill>
            <a:prstDash val="solid"/>
          </a:ln>
        </p:spPr>
      </p:sp>
      <p:sp>
        <p:nvSpPr>
          <p:cNvPr id="11" name="Text 7"/>
          <p:cNvSpPr txBox="1"/>
          <p:nvPr/>
        </p:nvSpPr>
        <p:spPr>
          <a:xfrm>
            <a:off x="731520" y="146304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2" name="Text 8"/>
          <p:cNvSpPr txBox="1"/>
          <p:nvPr/>
        </p:nvSpPr>
        <p:spPr>
          <a:xfrm>
            <a:off x="1645920" y="1463040"/>
            <a:ext cx="4389120" cy="731520"/>
          </a:xfrm>
          <a:prstGeom prst="rect">
            <a:avLst/>
          </a:prstGeom>
          <a:noFill/>
          <a:ln/>
        </p:spPr>
        <p:txBody>
          <a:bodyPr wrap="square" lIns="0" tIns="0" rIns="0" bIns="0" rtlCol="0" anchor="ctr"/>
          <a:lstStyle/>
          <a:p>
            <a:pPr indent="0" marL="0">
              <a:buNone/>
            </a:pPr>
            <a:r>
              <a:rPr lang="en-US" sz="2200" dirty="0">
                <a:solidFill>
                  <a:srgbClr val="1E2A35"/>
                </a:solidFill>
                <a:latin typeface="Calibri" pitchFamily="34" charset="0"/>
                <a:ea typeface="Calibri" pitchFamily="34" charset="-122"/>
                <a:cs typeface="Calibri" pitchFamily="34" charset="-120"/>
              </a:rPr>
              <a:t>Tujuan analisis</a:t>
            </a:r>
            <a:endParaRPr lang="en-US" sz="2200" dirty="0"/>
          </a:p>
        </p:txBody>
      </p:sp>
      <p:sp>
        <p:nvSpPr>
          <p:cNvPr id="13" name="Shape 9"/>
          <p:cNvSpPr/>
          <p:nvPr/>
        </p:nvSpPr>
        <p:spPr>
          <a:xfrm>
            <a:off x="6309360" y="1463040"/>
            <a:ext cx="731520" cy="731520"/>
          </a:xfrm>
          <a:prstGeom prst="ellipse">
            <a:avLst/>
          </a:prstGeom>
          <a:solidFill>
            <a:srgbClr val="E8832B"/>
          </a:solidFill>
          <a:ln w="12700">
            <a:solidFill>
              <a:srgbClr val="E8832B"/>
            </a:solidFill>
            <a:prstDash val="solid"/>
          </a:ln>
        </p:spPr>
      </p:sp>
      <p:sp>
        <p:nvSpPr>
          <p:cNvPr id="14" name="Text 10"/>
          <p:cNvSpPr txBox="1"/>
          <p:nvPr/>
        </p:nvSpPr>
        <p:spPr>
          <a:xfrm>
            <a:off x="6309360" y="146304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Text 11"/>
          <p:cNvSpPr txBox="1"/>
          <p:nvPr/>
        </p:nvSpPr>
        <p:spPr>
          <a:xfrm>
            <a:off x="7223760" y="1463040"/>
            <a:ext cx="4389120" cy="731520"/>
          </a:xfrm>
          <a:prstGeom prst="rect">
            <a:avLst/>
          </a:prstGeom>
          <a:noFill/>
          <a:ln/>
        </p:spPr>
        <p:txBody>
          <a:bodyPr wrap="square" lIns="0" tIns="0" rIns="0" bIns="0" rtlCol="0" anchor="ctr"/>
          <a:lstStyle/>
          <a:p>
            <a:pPr indent="0" marL="0">
              <a:buNone/>
            </a:pPr>
            <a:r>
              <a:rPr lang="en-US" sz="2200" dirty="0">
                <a:solidFill>
                  <a:srgbClr val="1E2A35"/>
                </a:solidFill>
                <a:latin typeface="Calibri" pitchFamily="34" charset="0"/>
                <a:ea typeface="Calibri" pitchFamily="34" charset="-122"/>
                <a:cs typeface="Calibri" pitchFamily="34" charset="-120"/>
              </a:rPr>
              <a:t>Karakteristik dataset</a:t>
            </a:r>
            <a:endParaRPr lang="en-US" sz="2200" dirty="0"/>
          </a:p>
        </p:txBody>
      </p:sp>
      <p:sp>
        <p:nvSpPr>
          <p:cNvPr id="16" name="Shape 12"/>
          <p:cNvSpPr/>
          <p:nvPr/>
        </p:nvSpPr>
        <p:spPr>
          <a:xfrm>
            <a:off x="731520" y="2651760"/>
            <a:ext cx="731520" cy="731520"/>
          </a:xfrm>
          <a:prstGeom prst="ellipse">
            <a:avLst/>
          </a:prstGeom>
          <a:solidFill>
            <a:srgbClr val="1B9AAA"/>
          </a:solidFill>
          <a:ln w="12700">
            <a:solidFill>
              <a:srgbClr val="1B9AAA"/>
            </a:solidFill>
            <a:prstDash val="solid"/>
          </a:ln>
        </p:spPr>
      </p:sp>
      <p:sp>
        <p:nvSpPr>
          <p:cNvPr id="17" name="Text 13"/>
          <p:cNvSpPr txBox="1"/>
          <p:nvPr/>
        </p:nvSpPr>
        <p:spPr>
          <a:xfrm>
            <a:off x="731520" y="26517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Text 14"/>
          <p:cNvSpPr txBox="1"/>
          <p:nvPr/>
        </p:nvSpPr>
        <p:spPr>
          <a:xfrm>
            <a:off x="1645920" y="2651760"/>
            <a:ext cx="4389120" cy="731520"/>
          </a:xfrm>
          <a:prstGeom prst="rect">
            <a:avLst/>
          </a:prstGeom>
          <a:noFill/>
          <a:ln/>
        </p:spPr>
        <p:txBody>
          <a:bodyPr wrap="square" lIns="0" tIns="0" rIns="0" bIns="0" rtlCol="0" anchor="ctr"/>
          <a:lstStyle/>
          <a:p>
            <a:pPr indent="0" marL="0">
              <a:buNone/>
            </a:pPr>
            <a:r>
              <a:rPr lang="en-US" sz="2200" dirty="0">
                <a:solidFill>
                  <a:srgbClr val="1E2A35"/>
                </a:solidFill>
                <a:latin typeface="Calibri" pitchFamily="34" charset="0"/>
                <a:ea typeface="Calibri" pitchFamily="34" charset="-122"/>
                <a:cs typeface="Calibri" pitchFamily="34" charset="-120"/>
              </a:rPr>
              <a:t>Data awal</a:t>
            </a:r>
            <a:endParaRPr lang="en-US" sz="2200" dirty="0"/>
          </a:p>
        </p:txBody>
      </p:sp>
      <p:sp>
        <p:nvSpPr>
          <p:cNvPr id="19" name="Shape 15"/>
          <p:cNvSpPr/>
          <p:nvPr/>
        </p:nvSpPr>
        <p:spPr>
          <a:xfrm>
            <a:off x="6309360" y="2651760"/>
            <a:ext cx="731520" cy="731520"/>
          </a:xfrm>
          <a:prstGeom prst="ellipse">
            <a:avLst/>
          </a:prstGeom>
          <a:solidFill>
            <a:srgbClr val="E8832B"/>
          </a:solidFill>
          <a:ln w="12700">
            <a:solidFill>
              <a:srgbClr val="E8832B"/>
            </a:solidFill>
            <a:prstDash val="solid"/>
          </a:ln>
        </p:spPr>
      </p:sp>
      <p:sp>
        <p:nvSpPr>
          <p:cNvPr id="20" name="Text 16"/>
          <p:cNvSpPr txBox="1"/>
          <p:nvPr/>
        </p:nvSpPr>
        <p:spPr>
          <a:xfrm>
            <a:off x="6309360" y="26517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21" name="Text 17"/>
          <p:cNvSpPr txBox="1"/>
          <p:nvPr/>
        </p:nvSpPr>
        <p:spPr>
          <a:xfrm>
            <a:off x="7223760" y="2651760"/>
            <a:ext cx="4389120" cy="731520"/>
          </a:xfrm>
          <a:prstGeom prst="rect">
            <a:avLst/>
          </a:prstGeom>
          <a:noFill/>
          <a:ln/>
        </p:spPr>
        <p:txBody>
          <a:bodyPr wrap="square" lIns="0" tIns="0" rIns="0" bIns="0" rtlCol="0" anchor="ctr"/>
          <a:lstStyle/>
          <a:p>
            <a:pPr indent="0" marL="0">
              <a:buNone/>
            </a:pPr>
            <a:r>
              <a:rPr lang="en-US" sz="2200" dirty="0">
                <a:solidFill>
                  <a:srgbClr val="1E2A35"/>
                </a:solidFill>
                <a:latin typeface="Calibri" pitchFamily="34" charset="0"/>
                <a:ea typeface="Calibri" pitchFamily="34" charset="-122"/>
                <a:cs typeface="Calibri" pitchFamily="34" charset="-120"/>
              </a:rPr>
              <a:t>Transformasi data</a:t>
            </a:r>
            <a:endParaRPr lang="en-US" sz="2200" dirty="0"/>
          </a:p>
        </p:txBody>
      </p:sp>
      <p:sp>
        <p:nvSpPr>
          <p:cNvPr id="22" name="Shape 18"/>
          <p:cNvSpPr/>
          <p:nvPr/>
        </p:nvSpPr>
        <p:spPr>
          <a:xfrm>
            <a:off x="731520" y="3840480"/>
            <a:ext cx="731520" cy="731520"/>
          </a:xfrm>
          <a:prstGeom prst="ellipse">
            <a:avLst/>
          </a:prstGeom>
          <a:solidFill>
            <a:srgbClr val="1B9AAA"/>
          </a:solidFill>
          <a:ln w="12700">
            <a:solidFill>
              <a:srgbClr val="1B9AAA"/>
            </a:solidFill>
            <a:prstDash val="solid"/>
          </a:ln>
        </p:spPr>
      </p:sp>
      <p:sp>
        <p:nvSpPr>
          <p:cNvPr id="23" name="Text 19"/>
          <p:cNvSpPr txBox="1"/>
          <p:nvPr/>
        </p:nvSpPr>
        <p:spPr>
          <a:xfrm>
            <a:off x="731520" y="384048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5</a:t>
            </a:r>
            <a:endParaRPr lang="en-US" sz="2400" dirty="0"/>
          </a:p>
        </p:txBody>
      </p:sp>
      <p:sp>
        <p:nvSpPr>
          <p:cNvPr id="24" name="Text 20"/>
          <p:cNvSpPr txBox="1"/>
          <p:nvPr/>
        </p:nvSpPr>
        <p:spPr>
          <a:xfrm>
            <a:off x="1645920" y="3840480"/>
            <a:ext cx="4389120" cy="731520"/>
          </a:xfrm>
          <a:prstGeom prst="rect">
            <a:avLst/>
          </a:prstGeom>
          <a:noFill/>
          <a:ln/>
        </p:spPr>
        <p:txBody>
          <a:bodyPr wrap="square" lIns="0" tIns="0" rIns="0" bIns="0" rtlCol="0" anchor="ctr"/>
          <a:lstStyle/>
          <a:p>
            <a:pPr indent="0" marL="0">
              <a:buNone/>
            </a:pPr>
            <a:r>
              <a:rPr lang="en-US" sz="2200" dirty="0">
                <a:solidFill>
                  <a:srgbClr val="1E2A35"/>
                </a:solidFill>
                <a:latin typeface="Calibri" pitchFamily="34" charset="0"/>
                <a:ea typeface="Calibri" pitchFamily="34" charset="-122"/>
                <a:cs typeface="Calibri" pitchFamily="34" charset="-120"/>
              </a:rPr>
              <a:t>Model data dan DAX</a:t>
            </a:r>
            <a:endParaRPr lang="en-US" sz="2200" dirty="0"/>
          </a:p>
        </p:txBody>
      </p:sp>
      <p:sp>
        <p:nvSpPr>
          <p:cNvPr id="25" name="Shape 21"/>
          <p:cNvSpPr/>
          <p:nvPr/>
        </p:nvSpPr>
        <p:spPr>
          <a:xfrm>
            <a:off x="6309360" y="3840480"/>
            <a:ext cx="731520" cy="731520"/>
          </a:xfrm>
          <a:prstGeom prst="ellipse">
            <a:avLst/>
          </a:prstGeom>
          <a:solidFill>
            <a:srgbClr val="E8832B"/>
          </a:solidFill>
          <a:ln w="12700">
            <a:solidFill>
              <a:srgbClr val="E8832B"/>
            </a:solidFill>
            <a:prstDash val="solid"/>
          </a:ln>
        </p:spPr>
      </p:sp>
      <p:sp>
        <p:nvSpPr>
          <p:cNvPr id="26" name="Text 22"/>
          <p:cNvSpPr txBox="1"/>
          <p:nvPr/>
        </p:nvSpPr>
        <p:spPr>
          <a:xfrm>
            <a:off x="6309360" y="384048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6</a:t>
            </a:r>
            <a:endParaRPr lang="en-US" sz="2400" dirty="0"/>
          </a:p>
        </p:txBody>
      </p:sp>
      <p:sp>
        <p:nvSpPr>
          <p:cNvPr id="27" name="Text 23"/>
          <p:cNvSpPr txBox="1"/>
          <p:nvPr/>
        </p:nvSpPr>
        <p:spPr>
          <a:xfrm>
            <a:off x="7223760" y="3840480"/>
            <a:ext cx="4389120" cy="731520"/>
          </a:xfrm>
          <a:prstGeom prst="rect">
            <a:avLst/>
          </a:prstGeom>
          <a:noFill/>
          <a:ln/>
        </p:spPr>
        <p:txBody>
          <a:bodyPr wrap="square" lIns="0" tIns="0" rIns="0" bIns="0" rtlCol="0" anchor="ctr"/>
          <a:lstStyle/>
          <a:p>
            <a:pPr indent="0" marL="0">
              <a:buNone/>
            </a:pPr>
            <a:r>
              <a:rPr lang="en-US" sz="2200" dirty="0">
                <a:solidFill>
                  <a:srgbClr val="1E2A35"/>
                </a:solidFill>
                <a:latin typeface="Calibri" pitchFamily="34" charset="0"/>
                <a:ea typeface="Calibri" pitchFamily="34" charset="-122"/>
                <a:cs typeface="Calibri" pitchFamily="34" charset="-120"/>
              </a:rPr>
              <a:t>Dashboard interaktif</a:t>
            </a:r>
            <a:endParaRPr lang="en-US" sz="2200" dirty="0"/>
          </a:p>
        </p:txBody>
      </p:sp>
      <p:sp>
        <p:nvSpPr>
          <p:cNvPr id="28" name="Shape 24"/>
          <p:cNvSpPr/>
          <p:nvPr/>
        </p:nvSpPr>
        <p:spPr>
          <a:xfrm>
            <a:off x="731520" y="5029200"/>
            <a:ext cx="731520" cy="731520"/>
          </a:xfrm>
          <a:prstGeom prst="ellipse">
            <a:avLst/>
          </a:prstGeom>
          <a:solidFill>
            <a:srgbClr val="1B9AAA"/>
          </a:solidFill>
          <a:ln w="12700">
            <a:solidFill>
              <a:srgbClr val="1B9AAA"/>
            </a:solidFill>
            <a:prstDash val="solid"/>
          </a:ln>
        </p:spPr>
      </p:sp>
      <p:sp>
        <p:nvSpPr>
          <p:cNvPr id="29" name="Text 25"/>
          <p:cNvSpPr txBox="1"/>
          <p:nvPr/>
        </p:nvSpPr>
        <p:spPr>
          <a:xfrm>
            <a:off x="731520" y="50292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7</a:t>
            </a:r>
            <a:endParaRPr lang="en-US" sz="2400" dirty="0"/>
          </a:p>
        </p:txBody>
      </p:sp>
      <p:sp>
        <p:nvSpPr>
          <p:cNvPr id="30" name="Text 26"/>
          <p:cNvSpPr txBox="1"/>
          <p:nvPr/>
        </p:nvSpPr>
        <p:spPr>
          <a:xfrm>
            <a:off x="1645920" y="5029200"/>
            <a:ext cx="4389120" cy="731520"/>
          </a:xfrm>
          <a:prstGeom prst="rect">
            <a:avLst/>
          </a:prstGeom>
          <a:noFill/>
          <a:ln/>
        </p:spPr>
        <p:txBody>
          <a:bodyPr wrap="square" lIns="0" tIns="0" rIns="0" bIns="0" rtlCol="0" anchor="ctr"/>
          <a:lstStyle/>
          <a:p>
            <a:pPr indent="0" marL="0">
              <a:buNone/>
            </a:pPr>
            <a:r>
              <a:rPr lang="en-US" sz="2200" dirty="0">
                <a:solidFill>
                  <a:srgbClr val="1E2A35"/>
                </a:solidFill>
                <a:latin typeface="Calibri" pitchFamily="34" charset="0"/>
                <a:ea typeface="Calibri" pitchFamily="34" charset="-122"/>
                <a:cs typeface="Calibri" pitchFamily="34" charset="-120"/>
              </a:rPr>
              <a:t>Interpretasi hasil</a:t>
            </a:r>
            <a:endParaRPr lang="en-US" sz="2200" dirty="0"/>
          </a:p>
        </p:txBody>
      </p:sp>
      <p:sp>
        <p:nvSpPr>
          <p:cNvPr id="31" name="Shape 27"/>
          <p:cNvSpPr/>
          <p:nvPr/>
        </p:nvSpPr>
        <p:spPr>
          <a:xfrm>
            <a:off x="6309360" y="5029200"/>
            <a:ext cx="731520" cy="731520"/>
          </a:xfrm>
          <a:prstGeom prst="ellipse">
            <a:avLst/>
          </a:prstGeom>
          <a:solidFill>
            <a:srgbClr val="E8832B"/>
          </a:solidFill>
          <a:ln w="12700">
            <a:solidFill>
              <a:srgbClr val="E8832B"/>
            </a:solidFill>
            <a:prstDash val="solid"/>
          </a:ln>
        </p:spPr>
      </p:sp>
      <p:sp>
        <p:nvSpPr>
          <p:cNvPr id="32" name="Text 28"/>
          <p:cNvSpPr txBox="1"/>
          <p:nvPr/>
        </p:nvSpPr>
        <p:spPr>
          <a:xfrm>
            <a:off x="6309360" y="502920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8</a:t>
            </a:r>
            <a:endParaRPr lang="en-US" sz="2400" dirty="0"/>
          </a:p>
        </p:txBody>
      </p:sp>
      <p:sp>
        <p:nvSpPr>
          <p:cNvPr id="33" name="Text 29"/>
          <p:cNvSpPr txBox="1"/>
          <p:nvPr/>
        </p:nvSpPr>
        <p:spPr>
          <a:xfrm>
            <a:off x="7223760" y="5029200"/>
            <a:ext cx="4389120" cy="731520"/>
          </a:xfrm>
          <a:prstGeom prst="rect">
            <a:avLst/>
          </a:prstGeom>
          <a:noFill/>
          <a:ln/>
        </p:spPr>
        <p:txBody>
          <a:bodyPr wrap="square" lIns="0" tIns="0" rIns="0" bIns="0" rtlCol="0" anchor="ctr"/>
          <a:lstStyle/>
          <a:p>
            <a:pPr indent="0" marL="0">
              <a:buNone/>
            </a:pPr>
            <a:r>
              <a:rPr lang="en-US" sz="2200" dirty="0">
                <a:solidFill>
                  <a:srgbClr val="1E2A35"/>
                </a:solidFill>
                <a:latin typeface="Calibri" pitchFamily="34" charset="0"/>
                <a:ea typeface="Calibri" pitchFamily="34" charset="-122"/>
                <a:cs typeface="Calibri" pitchFamily="34" charset="-120"/>
              </a:rPr>
              <a:t>Rekomendasi dan kesimpulan</a:t>
            </a:r>
            <a:endParaRPr lang="en-US" sz="22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A0683"/>
          </a:solidFill>
          <a:ln w="12700">
            <a:solidFill>
              <a:srgbClr val="1A0683"/>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Tujuan analisis</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TUJUAN</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1A0683"/>
          </a:solidFill>
          <a:ln w="12700">
            <a:solidFill>
              <a:srgbClr val="1A0683"/>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371600"/>
            <a:ext cx="3566160" cy="2468880"/>
          </a:xfrm>
          <a:prstGeom prst="roundRect">
            <a:avLst>
              <a:gd name="adj" fmla="val 3704"/>
            </a:avLst>
          </a:prstGeom>
          <a:solidFill>
            <a:srgbClr val="E8E6F3"/>
          </a:solidFill>
          <a:ln w="12700">
            <a:solidFill>
              <a:srgbClr val="E8E6F3"/>
            </a:solidFill>
            <a:prstDash val="solid"/>
          </a:ln>
        </p:spPr>
      </p:sp>
      <p:sp>
        <p:nvSpPr>
          <p:cNvPr id="12" name="Shape 8"/>
          <p:cNvSpPr/>
          <p:nvPr/>
        </p:nvSpPr>
        <p:spPr>
          <a:xfrm>
            <a:off x="548640" y="1463040"/>
            <a:ext cx="82296" cy="2286000"/>
          </a:xfrm>
          <a:prstGeom prst="rect">
            <a:avLst/>
          </a:prstGeom>
          <a:solidFill>
            <a:srgbClr val="1A0683"/>
          </a:solidFill>
          <a:ln w="12700">
            <a:solidFill>
              <a:srgbClr val="1A0683"/>
            </a:solidFill>
            <a:prstDash val="solid"/>
          </a:ln>
        </p:spPr>
      </p:sp>
      <p:sp>
        <p:nvSpPr>
          <p:cNvPr id="13" name="Text 9"/>
          <p:cNvSpPr txBox="1"/>
          <p:nvPr/>
        </p:nvSpPr>
        <p:spPr>
          <a:xfrm>
            <a:off x="777240" y="1508760"/>
            <a:ext cx="3154680" cy="411480"/>
          </a:xfrm>
          <a:prstGeom prst="rect">
            <a:avLst/>
          </a:prstGeom>
          <a:noFill/>
          <a:ln/>
        </p:spPr>
        <p:txBody>
          <a:bodyPr wrap="square" lIns="0" tIns="0" rIns="0" bIns="0" rtlCol="0" anchor="ctr"/>
          <a:lstStyle/>
          <a:p>
            <a:pPr indent="0" marL="0">
              <a:buNone/>
            </a:pPr>
            <a:r>
              <a:rPr lang="en-US" sz="1700" b="1" dirty="0">
                <a:solidFill>
                  <a:srgbClr val="1A0683"/>
                </a:solidFill>
                <a:latin typeface="Cambria" pitchFamily="34" charset="0"/>
                <a:ea typeface="Cambria" pitchFamily="34" charset="-122"/>
                <a:cs typeface="Cambria" pitchFamily="34" charset="-120"/>
              </a:rPr>
              <a:t>1. Memahami data</a:t>
            </a:r>
            <a:endParaRPr lang="en-US" sz="1700" dirty="0"/>
          </a:p>
        </p:txBody>
      </p:sp>
      <p:sp>
        <p:nvSpPr>
          <p:cNvPr id="14" name="Text 10"/>
          <p:cNvSpPr txBox="1"/>
          <p:nvPr/>
        </p:nvSpPr>
        <p:spPr>
          <a:xfrm>
            <a:off x="777240" y="1993392"/>
            <a:ext cx="3154680" cy="173736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Mengenali struktur, variabel, jumlah kolom dan baris, serta kualitas data pelanggan, produk, dan transaksi EverMart.</a:t>
            </a:r>
            <a:endParaRPr lang="en-US" sz="1400" dirty="0"/>
          </a:p>
        </p:txBody>
      </p:sp>
      <p:sp>
        <p:nvSpPr>
          <p:cNvPr id="15" name="Shape 11"/>
          <p:cNvSpPr/>
          <p:nvPr/>
        </p:nvSpPr>
        <p:spPr>
          <a:xfrm>
            <a:off x="4297680" y="1371600"/>
            <a:ext cx="3566160" cy="2468880"/>
          </a:xfrm>
          <a:prstGeom prst="roundRect">
            <a:avLst>
              <a:gd name="adj" fmla="val 3704"/>
            </a:avLst>
          </a:prstGeom>
          <a:solidFill>
            <a:srgbClr val="E8E6F3"/>
          </a:solidFill>
          <a:ln w="12700">
            <a:solidFill>
              <a:srgbClr val="E8E6F3"/>
            </a:solidFill>
            <a:prstDash val="solid"/>
          </a:ln>
        </p:spPr>
      </p:sp>
      <p:sp>
        <p:nvSpPr>
          <p:cNvPr id="16" name="Shape 12"/>
          <p:cNvSpPr/>
          <p:nvPr/>
        </p:nvSpPr>
        <p:spPr>
          <a:xfrm>
            <a:off x="4297680" y="1463040"/>
            <a:ext cx="82296" cy="2286000"/>
          </a:xfrm>
          <a:prstGeom prst="rect">
            <a:avLst/>
          </a:prstGeom>
          <a:solidFill>
            <a:srgbClr val="1A0683"/>
          </a:solidFill>
          <a:ln w="12700">
            <a:solidFill>
              <a:srgbClr val="1A0683"/>
            </a:solidFill>
            <a:prstDash val="solid"/>
          </a:ln>
        </p:spPr>
      </p:sp>
      <p:sp>
        <p:nvSpPr>
          <p:cNvPr id="17" name="Text 13"/>
          <p:cNvSpPr txBox="1"/>
          <p:nvPr/>
        </p:nvSpPr>
        <p:spPr>
          <a:xfrm>
            <a:off x="4526280" y="1508760"/>
            <a:ext cx="3154680" cy="411480"/>
          </a:xfrm>
          <a:prstGeom prst="rect">
            <a:avLst/>
          </a:prstGeom>
          <a:noFill/>
          <a:ln/>
        </p:spPr>
        <p:txBody>
          <a:bodyPr wrap="square" lIns="0" tIns="0" rIns="0" bIns="0" rtlCol="0" anchor="ctr"/>
          <a:lstStyle/>
          <a:p>
            <a:pPr indent="0" marL="0">
              <a:buNone/>
            </a:pPr>
            <a:r>
              <a:rPr lang="en-US" sz="1700" b="1" dirty="0">
                <a:solidFill>
                  <a:srgbClr val="1A0683"/>
                </a:solidFill>
                <a:latin typeface="Cambria" pitchFamily="34" charset="0"/>
                <a:ea typeface="Cambria" pitchFamily="34" charset="-122"/>
                <a:cs typeface="Cambria" pitchFamily="34" charset="-120"/>
              </a:rPr>
              <a:t>2. Menemukan pola</a:t>
            </a:r>
            <a:endParaRPr lang="en-US" sz="1700" dirty="0"/>
          </a:p>
        </p:txBody>
      </p:sp>
      <p:sp>
        <p:nvSpPr>
          <p:cNvPr id="18" name="Text 14"/>
          <p:cNvSpPr txBox="1"/>
          <p:nvPr/>
        </p:nvSpPr>
        <p:spPr>
          <a:xfrm>
            <a:off x="4526280" y="1993392"/>
            <a:ext cx="3154680" cy="173736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Melihat tren penjualan per bulan, kategori dan produk terlaris, serta kontribusi tiap wilayah dan pelanggan.</a:t>
            </a:r>
            <a:endParaRPr lang="en-US" sz="1400" dirty="0"/>
          </a:p>
        </p:txBody>
      </p:sp>
      <p:sp>
        <p:nvSpPr>
          <p:cNvPr id="19" name="Shape 15"/>
          <p:cNvSpPr/>
          <p:nvPr/>
        </p:nvSpPr>
        <p:spPr>
          <a:xfrm>
            <a:off x="8046720" y="1371600"/>
            <a:ext cx="3566160" cy="2468880"/>
          </a:xfrm>
          <a:prstGeom prst="roundRect">
            <a:avLst>
              <a:gd name="adj" fmla="val 3704"/>
            </a:avLst>
          </a:prstGeom>
          <a:solidFill>
            <a:srgbClr val="E8E6F3"/>
          </a:solidFill>
          <a:ln w="12700">
            <a:solidFill>
              <a:srgbClr val="E8E6F3"/>
            </a:solidFill>
            <a:prstDash val="solid"/>
          </a:ln>
        </p:spPr>
      </p:sp>
      <p:sp>
        <p:nvSpPr>
          <p:cNvPr id="20" name="Shape 16"/>
          <p:cNvSpPr/>
          <p:nvPr/>
        </p:nvSpPr>
        <p:spPr>
          <a:xfrm>
            <a:off x="8046720" y="1463040"/>
            <a:ext cx="82296" cy="2286000"/>
          </a:xfrm>
          <a:prstGeom prst="rect">
            <a:avLst/>
          </a:prstGeom>
          <a:solidFill>
            <a:srgbClr val="1A0683"/>
          </a:solidFill>
          <a:ln w="12700">
            <a:solidFill>
              <a:srgbClr val="1A0683"/>
            </a:solidFill>
            <a:prstDash val="solid"/>
          </a:ln>
        </p:spPr>
      </p:sp>
      <p:sp>
        <p:nvSpPr>
          <p:cNvPr id="21" name="Text 17"/>
          <p:cNvSpPr txBox="1"/>
          <p:nvPr/>
        </p:nvSpPr>
        <p:spPr>
          <a:xfrm>
            <a:off x="8275320" y="1508760"/>
            <a:ext cx="3154680" cy="411480"/>
          </a:xfrm>
          <a:prstGeom prst="rect">
            <a:avLst/>
          </a:prstGeom>
          <a:noFill/>
          <a:ln/>
        </p:spPr>
        <p:txBody>
          <a:bodyPr wrap="square" lIns="0" tIns="0" rIns="0" bIns="0" rtlCol="0" anchor="ctr"/>
          <a:lstStyle/>
          <a:p>
            <a:pPr indent="0" marL="0">
              <a:buNone/>
            </a:pPr>
            <a:r>
              <a:rPr lang="en-US" sz="1700" b="1" dirty="0">
                <a:solidFill>
                  <a:srgbClr val="1A0683"/>
                </a:solidFill>
                <a:latin typeface="Cambria" pitchFamily="34" charset="0"/>
                <a:ea typeface="Cambria" pitchFamily="34" charset="-122"/>
                <a:cs typeface="Cambria" pitchFamily="34" charset="-120"/>
              </a:rPr>
              <a:t>3. Mendukung keputusan</a:t>
            </a:r>
            <a:endParaRPr lang="en-US" sz="1700" dirty="0"/>
          </a:p>
        </p:txBody>
      </p:sp>
      <p:sp>
        <p:nvSpPr>
          <p:cNvPr id="22" name="Text 18"/>
          <p:cNvSpPr txBox="1"/>
          <p:nvPr/>
        </p:nvSpPr>
        <p:spPr>
          <a:xfrm>
            <a:off x="8275320" y="1993392"/>
            <a:ext cx="3154680" cy="173736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Menyusun dashboard Power BI interaktif dan rekomendasi bagi manajemen EverMart.</a:t>
            </a:r>
            <a:endParaRPr lang="en-US" sz="1400" dirty="0"/>
          </a:p>
        </p:txBody>
      </p:sp>
      <p:sp>
        <p:nvSpPr>
          <p:cNvPr id="23" name="Shape 19"/>
          <p:cNvSpPr/>
          <p:nvPr/>
        </p:nvSpPr>
        <p:spPr>
          <a:xfrm>
            <a:off x="548640" y="4023360"/>
            <a:ext cx="11064240" cy="2286000"/>
          </a:xfrm>
          <a:prstGeom prst="roundRect">
            <a:avLst>
              <a:gd name="adj" fmla="val 4000"/>
            </a:avLst>
          </a:prstGeom>
          <a:solidFill>
            <a:srgbClr val="E8E6F3"/>
          </a:solidFill>
          <a:ln w="12700">
            <a:solidFill>
              <a:srgbClr val="E8E6F3"/>
            </a:solidFill>
            <a:prstDash val="solid"/>
          </a:ln>
        </p:spPr>
      </p:sp>
      <p:sp>
        <p:nvSpPr>
          <p:cNvPr id="24" name="Shape 20"/>
          <p:cNvSpPr/>
          <p:nvPr/>
        </p:nvSpPr>
        <p:spPr>
          <a:xfrm>
            <a:off x="548640" y="4114800"/>
            <a:ext cx="82296" cy="2103120"/>
          </a:xfrm>
          <a:prstGeom prst="rect">
            <a:avLst/>
          </a:prstGeom>
          <a:solidFill>
            <a:srgbClr val="1A0683"/>
          </a:solidFill>
          <a:ln w="12700">
            <a:solidFill>
              <a:srgbClr val="1A0683"/>
            </a:solidFill>
            <a:prstDash val="solid"/>
          </a:ln>
        </p:spPr>
      </p:sp>
      <p:sp>
        <p:nvSpPr>
          <p:cNvPr id="25" name="Text 21"/>
          <p:cNvSpPr txBox="1"/>
          <p:nvPr/>
        </p:nvSpPr>
        <p:spPr>
          <a:xfrm>
            <a:off x="777240" y="4160520"/>
            <a:ext cx="10652760" cy="411480"/>
          </a:xfrm>
          <a:prstGeom prst="rect">
            <a:avLst/>
          </a:prstGeom>
          <a:noFill/>
          <a:ln/>
        </p:spPr>
        <p:txBody>
          <a:bodyPr wrap="square" lIns="0" tIns="0" rIns="0" bIns="0" rtlCol="0" anchor="ctr"/>
          <a:lstStyle/>
          <a:p>
            <a:pPr indent="0" marL="0">
              <a:buNone/>
            </a:pPr>
            <a:r>
              <a:rPr lang="en-US" sz="1700" b="1" dirty="0">
                <a:solidFill>
                  <a:srgbClr val="1A0683"/>
                </a:solidFill>
                <a:latin typeface="Cambria" pitchFamily="34" charset="0"/>
                <a:ea typeface="Cambria" pitchFamily="34" charset="-122"/>
                <a:cs typeface="Cambria" pitchFamily="34" charset="-120"/>
              </a:rPr>
              <a:t>Pertanyaan yang dijawab analisis</a:t>
            </a:r>
            <a:endParaRPr lang="en-US" sz="1700" dirty="0"/>
          </a:p>
        </p:txBody>
      </p:sp>
      <p:sp>
        <p:nvSpPr>
          <p:cNvPr id="26" name="Text 22"/>
          <p:cNvSpPr txBox="1"/>
          <p:nvPr/>
        </p:nvSpPr>
        <p:spPr>
          <a:xfrm>
            <a:off x="777240" y="4663440"/>
            <a:ext cx="10652760" cy="15087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Bagaimana tren revenue per bulan dan kapan puncak serta dasarnya?</a:t>
            </a:r>
            <a:endParaRPr lang="en-US" sz="1400" dirty="0"/>
          </a:p>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Kategori, produk, dan wilayah apa yang paling berkontribusi terhadap revenue?</a:t>
            </a:r>
            <a:endParaRPr lang="en-US" sz="1400" dirty="0"/>
          </a:p>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Berapa pelanggan terdaftar, berapa yang bertransaksi, dan berapa yang belum bertransaksi?</a:t>
            </a:r>
            <a:endParaRPr lang="en-US" sz="1400" dirty="0"/>
          </a:p>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Berapa nilai belanja rata-rata per transaksi dan per pelanggan?</a:t>
            </a:r>
            <a:endParaRPr lang="en-US" sz="14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B9AAA"/>
          </a:solidFill>
          <a:ln w="12700">
            <a:solidFill>
              <a:srgbClr val="1B9AA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Karakteristik dataset</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KARAKTERISTIK</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1B9AAA"/>
          </a:solidFill>
          <a:ln w="12700">
            <a:solidFill>
              <a:srgbClr val="1B9AA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463040"/>
                <a:gridCol w="1097280"/>
                <a:gridCol w="1188720"/>
                <a:gridCol w="3657600"/>
                <a:gridCol w="3657600"/>
              </a:tblGrid>
              <a:tr h="56692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Tabel</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Jumlah baris</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Jumlah kolom</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Nama kolom</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Keterangan</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r>
              <a:tr h="566928">
                <a:tc>
                  <a:txBody>
                    <a:bodyPr/>
                    <a:lstStyle/>
                    <a:p>
                      <a:pPr algn="l" indent="0" marL="0">
                        <a:buNone/>
                      </a:pPr>
                      <a:r>
                        <a:rPr lang="en-US" sz="1300" b="1" dirty="0">
                          <a:solidFill>
                            <a:srgbClr val="1E2A35"/>
                          </a:solidFill>
                          <a:latin typeface="Calibri" pitchFamily="34" charset="0"/>
                          <a:ea typeface="Calibri" pitchFamily="34" charset="-122"/>
                          <a:cs typeface="Calibri" pitchFamily="34" charset="-120"/>
                        </a:rPr>
                        <a:t>Customers</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l" indent="0" marL="0">
                        <a:buNone/>
                      </a:pPr>
                      <a:r>
                        <a:rPr lang="en-US" sz="1300" dirty="0">
                          <a:solidFill>
                            <a:srgbClr val="1E2A35"/>
                          </a:solidFill>
                          <a:latin typeface="Calibri" pitchFamily="34" charset="0"/>
                          <a:ea typeface="Calibri" pitchFamily="34" charset="-122"/>
                          <a:cs typeface="Calibri" pitchFamily="34" charset="-120"/>
                        </a:rPr>
                        <a:t>200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l" indent="0" marL="0">
                        <a:buNone/>
                      </a:pPr>
                      <a:r>
                        <a:rPr lang="en-US" sz="1300" dirty="0">
                          <a:solidFill>
                            <a:srgbClr val="1E2A35"/>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l" indent="0" marL="0">
                        <a:buNone/>
                      </a:pPr>
                      <a:r>
                        <a:rPr lang="en-US" sz="1300" dirty="0">
                          <a:solidFill>
                            <a:srgbClr val="1E2A35"/>
                          </a:solidFill>
                          <a:latin typeface="Calibri" pitchFamily="34" charset="0"/>
                          <a:ea typeface="Calibri" pitchFamily="34" charset="-122"/>
                          <a:cs typeface="Calibri" pitchFamily="34" charset="-120"/>
                        </a:rPr>
                        <a:t>CustomerID, CustomerName, Region, SignupDate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l" indent="0" marL="0">
                        <a:buNone/>
                      </a:pPr>
                      <a:r>
                        <a:rPr lang="en-US" sz="1300" dirty="0">
                          <a:solidFill>
                            <a:srgbClr val="1E2A35"/>
                          </a:solidFill>
                          <a:latin typeface="Calibri" pitchFamily="34" charset="0"/>
                          <a:ea typeface="Calibri" pitchFamily="34" charset="-122"/>
                          <a:cs typeface="Calibri" pitchFamily="34" charset="-120"/>
                        </a:rPr>
                        <a:t>Data pelanggan: 200 terdaftar, 199 bertransaksi, 1 belum bertransaksi</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566928">
                <a:tc>
                  <a:txBody>
                    <a:bodyPr/>
                    <a:lstStyle/>
                    <a:p>
                      <a:pPr algn="l" indent="0" marL="0">
                        <a:buNone/>
                      </a:pPr>
                      <a:r>
                        <a:rPr lang="en-US" sz="1300" b="1" dirty="0">
                          <a:solidFill>
                            <a:srgbClr val="1E2A35"/>
                          </a:solidFill>
                          <a:latin typeface="Calibri" pitchFamily="34" charset="0"/>
                          <a:ea typeface="Calibri" pitchFamily="34" charset="-122"/>
                          <a:cs typeface="Calibri" pitchFamily="34" charset="-120"/>
                        </a:rPr>
                        <a:t>Products</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l" indent="0" marL="0">
                        <a:buNone/>
                      </a:pPr>
                      <a:r>
                        <a:rPr lang="en-US" sz="1300" dirty="0">
                          <a:solidFill>
                            <a:srgbClr val="1E2A35"/>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l" indent="0" marL="0">
                        <a:buNone/>
                      </a:pPr>
                      <a:r>
                        <a:rPr lang="en-US" sz="1300" dirty="0">
                          <a:solidFill>
                            <a:srgbClr val="1E2A35"/>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l" indent="0" marL="0">
                        <a:buNone/>
                      </a:pPr>
                      <a:r>
                        <a:rPr lang="en-US" sz="1300" dirty="0">
                          <a:solidFill>
                            <a:srgbClr val="1E2A35"/>
                          </a:solidFill>
                          <a:latin typeface="Calibri" pitchFamily="34" charset="0"/>
                          <a:ea typeface="Calibri" pitchFamily="34" charset="-122"/>
                          <a:cs typeface="Calibri" pitchFamily="34" charset="-120"/>
                        </a:rPr>
                        <a:t>ProductID, ProductName, Category, Price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l" indent="0" marL="0">
                        <a:buNone/>
                      </a:pPr>
                      <a:r>
                        <a:rPr lang="en-US" sz="1300" dirty="0">
                          <a:solidFill>
                            <a:srgbClr val="1E2A35"/>
                          </a:solidFill>
                          <a:latin typeface="Calibri" pitchFamily="34" charset="0"/>
                          <a:ea typeface="Calibri" pitchFamily="34" charset="-122"/>
                          <a:cs typeface="Calibri" pitchFamily="34" charset="-120"/>
                        </a:rPr>
                        <a:t>Data produk: 100 produk dalam 4 kategori</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566928">
                <a:tc>
                  <a:txBody>
                    <a:bodyPr/>
                    <a:lstStyle/>
                    <a:p>
                      <a:pPr algn="l" indent="0" marL="0">
                        <a:buNone/>
                      </a:pPr>
                      <a:r>
                        <a:rPr lang="en-US" sz="1300" b="1" dirty="0">
                          <a:solidFill>
                            <a:srgbClr val="1E2A35"/>
                          </a:solidFill>
                          <a:latin typeface="Calibri" pitchFamily="34" charset="0"/>
                          <a:ea typeface="Calibri" pitchFamily="34" charset="-122"/>
                          <a:cs typeface="Calibri" pitchFamily="34" charset="-120"/>
                        </a:rPr>
                        <a:t>Transactions</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l" indent="0" marL="0">
                        <a:buNone/>
                      </a:pPr>
                      <a:r>
                        <a:rPr lang="en-US" sz="1300" dirty="0">
                          <a:solidFill>
                            <a:srgbClr val="1E2A35"/>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l" indent="0" marL="0">
                        <a:buNone/>
                      </a:pPr>
                      <a:r>
                        <a:rPr lang="en-US" sz="1300" dirty="0">
                          <a:solidFill>
                            <a:srgbClr val="1E2A35"/>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l" indent="0" marL="0">
                        <a:buNone/>
                      </a:pPr>
                      <a:r>
                        <a:rPr lang="en-US" sz="1300" dirty="0">
                          <a:solidFill>
                            <a:srgbClr val="1E2A35"/>
                          </a:solidFill>
                          <a:latin typeface="Calibri" pitchFamily="34" charset="0"/>
                          <a:ea typeface="Calibri" pitchFamily="34" charset="-122"/>
                          <a:cs typeface="Calibri" pitchFamily="34" charset="-120"/>
                        </a:rPr>
                        <a:t>TransactionID, CustomerID, ProductID, TransactionDate, Quantity, TotalValue, Price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l" indent="0" marL="0">
                        <a:buNone/>
                      </a:pPr>
                      <a:r>
                        <a:rPr lang="en-US" sz="1300" dirty="0">
                          <a:solidFill>
                            <a:srgbClr val="1E2A35"/>
                          </a:solidFill>
                          <a:latin typeface="Calibri" pitchFamily="34" charset="0"/>
                          <a:ea typeface="Calibri" pitchFamily="34" charset="-122"/>
                          <a:cs typeface="Calibri" pitchFamily="34" charset="-120"/>
                        </a:rPr>
                        <a:t>Tabel fakta: 1.000 transaksi, 30 Des 2023 sampai 28 Des 2024</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566928">
                <a:tc>
                  <a:txBody>
                    <a:bodyPr/>
                    <a:lstStyle/>
                    <a:p>
                      <a:pPr algn="l" indent="0" marL="0">
                        <a:buNone/>
                      </a:pPr>
                      <a:r>
                        <a:rPr lang="en-US" sz="1300" b="1" dirty="0">
                          <a:solidFill>
                            <a:srgbClr val="1E2A35"/>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l" indent="0" marL="0">
                        <a:buNone/>
                      </a:pPr>
                      <a:r>
                        <a:rPr lang="en-US" sz="1300" b="1" dirty="0">
                          <a:solidFill>
                            <a:srgbClr val="1E2A35"/>
                          </a:solidFill>
                          <a:latin typeface="Calibri" pitchFamily="34" charset="0"/>
                          <a:ea typeface="Calibri" pitchFamily="34" charset="-122"/>
                          <a:cs typeface="Calibri" pitchFamily="34" charset="-120"/>
                        </a:rPr>
                        <a:t>1.300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l" indent="0" marL="0">
                        <a:buNone/>
                      </a:pPr>
                      <a:r>
                        <a:rPr lang="en-US" sz="1300" b="1" dirty="0">
                          <a:solidFill>
                            <a:srgbClr val="1E2A35"/>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l" indent="0" marL="0">
                        <a:buNone/>
                      </a:pPr>
                      <a:r>
                        <a:rPr lang="en-US" sz="1300" b="1" dirty="0">
                          <a:solidFill>
                            <a:srgbClr val="1E2A35"/>
                          </a:solidFill>
                          <a:latin typeface="Calibri" pitchFamily="34" charset="0"/>
                          <a:ea typeface="Calibri" pitchFamily="34" charset="-122"/>
                          <a:cs typeface="Calibri" pitchFamily="34" charset="-120"/>
                        </a:rPr>
                        <a:t>12 variabel unik</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algn="l" indent="0" marL="0">
                        <a:buNone/>
                      </a:pPr>
                      <a:r>
                        <a:rPr lang="en-US" sz="1300" b="1" dirty="0">
                          <a:solidFill>
                            <a:srgbClr val="1E2A35"/>
                          </a:solidFill>
                          <a:latin typeface="Calibri" pitchFamily="34" charset="0"/>
                          <a:ea typeface="Calibri" pitchFamily="34" charset="-122"/>
                          <a:cs typeface="Calibri" pitchFamily="34" charset="-120"/>
                        </a:rPr>
                        <a:t>3 tabel; CustomerID, ProductID, Price muncul di dua tabel</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bl>
          </a:graphicData>
        </a:graphic>
      </p:graphicFrame>
      <p:sp>
        <p:nvSpPr>
          <p:cNvPr id="12" name="Shape 7"/>
          <p:cNvSpPr/>
          <p:nvPr/>
        </p:nvSpPr>
        <p:spPr>
          <a:xfrm>
            <a:off x="548640" y="4251960"/>
            <a:ext cx="11064240" cy="2057400"/>
          </a:xfrm>
          <a:prstGeom prst="roundRect">
            <a:avLst>
              <a:gd name="adj" fmla="val 4444"/>
            </a:avLst>
          </a:prstGeom>
          <a:solidFill>
            <a:srgbClr val="E8F5F7"/>
          </a:solidFill>
          <a:ln w="12700">
            <a:solidFill>
              <a:srgbClr val="E8F5F7"/>
            </a:solidFill>
            <a:prstDash val="solid"/>
          </a:ln>
        </p:spPr>
      </p:sp>
      <p:sp>
        <p:nvSpPr>
          <p:cNvPr id="13" name="Shape 8"/>
          <p:cNvSpPr/>
          <p:nvPr/>
        </p:nvSpPr>
        <p:spPr>
          <a:xfrm>
            <a:off x="548640" y="4343400"/>
            <a:ext cx="82296" cy="1874520"/>
          </a:xfrm>
          <a:prstGeom prst="rect">
            <a:avLst/>
          </a:prstGeom>
          <a:solidFill>
            <a:srgbClr val="1B9AAA"/>
          </a:solidFill>
          <a:ln w="12700">
            <a:solidFill>
              <a:srgbClr val="1B9AAA"/>
            </a:solidFill>
            <a:prstDash val="solid"/>
          </a:ln>
        </p:spPr>
      </p:sp>
      <p:sp>
        <p:nvSpPr>
          <p:cNvPr id="14" name="Text 9"/>
          <p:cNvSpPr txBox="1"/>
          <p:nvPr/>
        </p:nvSpPr>
        <p:spPr>
          <a:xfrm>
            <a:off x="777240" y="4389120"/>
            <a:ext cx="10652760" cy="411480"/>
          </a:xfrm>
          <a:prstGeom prst="rect">
            <a:avLst/>
          </a:prstGeom>
          <a:noFill/>
          <a:ln/>
        </p:spPr>
        <p:txBody>
          <a:bodyPr wrap="square" lIns="0" tIns="0" rIns="0" bIns="0" rtlCol="0" anchor="ctr"/>
          <a:lstStyle/>
          <a:p>
            <a:pPr indent="0" marL="0">
              <a:buNone/>
            </a:pPr>
            <a:r>
              <a:rPr lang="en-US" sz="1700" b="1" dirty="0">
                <a:solidFill>
                  <a:srgbClr val="1B9AAA"/>
                </a:solidFill>
                <a:latin typeface="Cambria" pitchFamily="34" charset="0"/>
                <a:ea typeface="Cambria" pitchFamily="34" charset="-122"/>
                <a:cs typeface="Cambria" pitchFamily="34" charset="-120"/>
              </a:rPr>
              <a:t>Penjelasan</a:t>
            </a:r>
            <a:endParaRPr lang="en-US" sz="1700" dirty="0"/>
          </a:p>
        </p:txBody>
      </p:sp>
      <p:sp>
        <p:nvSpPr>
          <p:cNvPr id="15" name="Text 10"/>
          <p:cNvSpPr txBox="1"/>
          <p:nvPr/>
        </p:nvSpPr>
        <p:spPr>
          <a:xfrm>
            <a:off x="777240" y="4892040"/>
            <a:ext cx="10652760" cy="12801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Dataset EverMart berbentuk model bintang: Transactions (pusat) terhubung ke Customers lewat CustomerID dan ke Products lewat ProductID.</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Total 15 kolom (4 + 4 + 7); variabel unik 12 karena CustomerID, ProductID, dan Price muncul di dua tabel.</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Pelanggan: 200 terdaftar, 199 bertransaksi, 1 terdaftar tetapi belum bertransaksi (C0180 Amy Carpenter, Asia).</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Periode transaksi 30 Desember 2023 sampai 28 Desember 2024; 996 dari 1.000 transaksi berada di tahun 2024.</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B9AAA"/>
          </a:solidFill>
          <a:ln w="12700">
            <a:solidFill>
              <a:srgbClr val="1B9AA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Variabel: Customers dan Products</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KARAKTERISTIK</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1B9AAA"/>
          </a:solidFill>
          <a:ln w="12700">
            <a:solidFill>
              <a:srgbClr val="1B9AA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Text 7"/>
          <p:cNvSpPr txBox="1"/>
          <p:nvPr/>
        </p:nvSpPr>
        <p:spPr>
          <a:xfrm>
            <a:off x="548640" y="1234440"/>
            <a:ext cx="5394960" cy="320040"/>
          </a:xfrm>
          <a:prstGeom prst="rect">
            <a:avLst/>
          </a:prstGeom>
          <a:noFill/>
          <a:ln/>
        </p:spPr>
        <p:txBody>
          <a:bodyPr wrap="square" lIns="0" tIns="0" rIns="0" bIns="0" rtlCol="0" anchor="t"/>
          <a:lstStyle/>
          <a:p>
            <a:pPr indent="0" marL="0">
              <a:buNone/>
            </a:pPr>
            <a:r>
              <a:rPr lang="en-US" sz="1600" b="1" dirty="0">
                <a:solidFill>
                  <a:srgbClr val="1B9AAA"/>
                </a:solidFill>
                <a:latin typeface="Calibri" pitchFamily="34" charset="0"/>
                <a:ea typeface="Calibri" pitchFamily="34" charset="-122"/>
                <a:cs typeface="Calibri" pitchFamily="34" charset="-120"/>
              </a:rPr>
              <a:t>Customers (4 kolom, 200 baris)</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394960" cy="914400"/>
        </p:xfrm>
        <a:graphic>
          <a:graphicData uri="http://schemas.openxmlformats.org/drawingml/2006/table">
            <a:tbl>
              <a:tblPr/>
              <a:tblGrid>
                <a:gridCol w="1737360"/>
                <a:gridCol w="1463040"/>
                <a:gridCol w="219456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Variabel</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Tipe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Isi</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r>
              <a:tr h="41148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CustomerID</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Teks (ID)</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C0001 - C0200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1148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CustomerName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Teks</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Nama pelanggan</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1148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Region</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Teks (kategori)</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4 wilayah</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1148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SignupDate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Tanggal</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2022 - 2024</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bl>
          </a:graphicData>
        </a:graphic>
      </p:graphicFrame>
      <p:sp>
        <p:nvSpPr>
          <p:cNvPr id="13" name="Text 8"/>
          <p:cNvSpPr txBox="1"/>
          <p:nvPr/>
        </p:nvSpPr>
        <p:spPr>
          <a:xfrm>
            <a:off x="6217920" y="1234440"/>
            <a:ext cx="5394960" cy="320040"/>
          </a:xfrm>
          <a:prstGeom prst="rect">
            <a:avLst/>
          </a:prstGeom>
          <a:noFill/>
          <a:ln/>
        </p:spPr>
        <p:txBody>
          <a:bodyPr wrap="square" lIns="0" tIns="0" rIns="0" bIns="0" rtlCol="0" anchor="t"/>
          <a:lstStyle/>
          <a:p>
            <a:pPr indent="0" marL="0">
              <a:buNone/>
            </a:pPr>
            <a:r>
              <a:rPr lang="en-US" sz="1600" b="1" dirty="0">
                <a:solidFill>
                  <a:srgbClr val="E8832B"/>
                </a:solidFill>
                <a:latin typeface="Calibri" pitchFamily="34" charset="0"/>
                <a:ea typeface="Calibri" pitchFamily="34" charset="-122"/>
                <a:cs typeface="Calibri" pitchFamily="34" charset="-120"/>
              </a:rPr>
              <a:t>Products (4 kolom, 100 baris)</a:t>
            </a:r>
            <a:endParaRPr lang="en-US" sz="16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217920" y="1600200"/>
          <a:ext cx="5394960" cy="914400"/>
        </p:xfrm>
        <a:graphic>
          <a:graphicData uri="http://schemas.openxmlformats.org/drawingml/2006/table">
            <a:tbl>
              <a:tblPr/>
              <a:tblGrid>
                <a:gridCol w="1737360"/>
                <a:gridCol w="1463040"/>
                <a:gridCol w="219456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Variabel</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Tipe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Isi</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r>
              <a:tr h="41148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ProductID</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Teks (ID)</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P001 - P100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1148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ProductName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Teks</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Nama produk</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1148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Category</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Teks (kategori)</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4 kategori</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1148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Price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Desimal</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16,08 - 497,76</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bl>
          </a:graphicData>
        </a:graphic>
      </p:graphicFrame>
      <p:sp>
        <p:nvSpPr>
          <p:cNvPr id="15" name="Shape 9"/>
          <p:cNvSpPr/>
          <p:nvPr/>
        </p:nvSpPr>
        <p:spPr>
          <a:xfrm>
            <a:off x="548640" y="3931920"/>
            <a:ext cx="5394960" cy="2377440"/>
          </a:xfrm>
          <a:prstGeom prst="roundRect">
            <a:avLst>
              <a:gd name="adj" fmla="val 3846"/>
            </a:avLst>
          </a:prstGeom>
          <a:solidFill>
            <a:srgbClr val="E8F5F7"/>
          </a:solidFill>
          <a:ln w="12700">
            <a:solidFill>
              <a:srgbClr val="E8F5F7"/>
            </a:solidFill>
            <a:prstDash val="solid"/>
          </a:ln>
        </p:spPr>
      </p:sp>
      <p:sp>
        <p:nvSpPr>
          <p:cNvPr id="16" name="Shape 10"/>
          <p:cNvSpPr/>
          <p:nvPr/>
        </p:nvSpPr>
        <p:spPr>
          <a:xfrm>
            <a:off x="548640" y="4023360"/>
            <a:ext cx="82296" cy="2194560"/>
          </a:xfrm>
          <a:prstGeom prst="rect">
            <a:avLst/>
          </a:prstGeom>
          <a:solidFill>
            <a:srgbClr val="1B9AAA"/>
          </a:solidFill>
          <a:ln w="12700">
            <a:solidFill>
              <a:srgbClr val="1B9AAA"/>
            </a:solidFill>
            <a:prstDash val="solid"/>
          </a:ln>
        </p:spPr>
      </p:sp>
      <p:sp>
        <p:nvSpPr>
          <p:cNvPr id="17" name="Text 11"/>
          <p:cNvSpPr txBox="1"/>
          <p:nvPr/>
        </p:nvSpPr>
        <p:spPr>
          <a:xfrm>
            <a:off x="777240" y="4069080"/>
            <a:ext cx="4983480" cy="411480"/>
          </a:xfrm>
          <a:prstGeom prst="rect">
            <a:avLst/>
          </a:prstGeom>
          <a:noFill/>
          <a:ln/>
        </p:spPr>
        <p:txBody>
          <a:bodyPr wrap="square" lIns="0" tIns="0" rIns="0" bIns="0" rtlCol="0" anchor="ctr"/>
          <a:lstStyle/>
          <a:p>
            <a:pPr indent="0" marL="0">
              <a:buNone/>
            </a:pPr>
            <a:r>
              <a:rPr lang="en-US" sz="1700" b="1" dirty="0">
                <a:solidFill>
                  <a:srgbClr val="1B9AAA"/>
                </a:solidFill>
                <a:latin typeface="Cambria" pitchFamily="34" charset="0"/>
                <a:ea typeface="Cambria" pitchFamily="34" charset="-122"/>
                <a:cs typeface="Cambria" pitchFamily="34" charset="-120"/>
              </a:rPr>
              <a:t>Arti variabel Customers</a:t>
            </a:r>
            <a:endParaRPr lang="en-US" sz="1700" dirty="0"/>
          </a:p>
        </p:txBody>
      </p:sp>
      <p:sp>
        <p:nvSpPr>
          <p:cNvPr id="18" name="Text 12"/>
          <p:cNvSpPr txBox="1"/>
          <p:nvPr/>
        </p:nvSpPr>
        <p:spPr>
          <a:xfrm>
            <a:off x="777240" y="4553712"/>
            <a:ext cx="4983480" cy="1645920"/>
          </a:xfrm>
          <a:prstGeom prst="rect">
            <a:avLst/>
          </a:prstGeom>
          <a:noFill/>
          <a:ln/>
        </p:spPr>
        <p:txBody>
          <a:bodyPr wrap="square" lIns="0" tIns="0" rIns="0" bIns="0" rtlCol="0" anchor="t"/>
          <a:lstStyle/>
          <a:p>
            <a:pPr indent="0" marL="0">
              <a:buNone/>
            </a:pPr>
            <a:r>
              <a:rPr lang="en-US" sz="1300" dirty="0">
                <a:solidFill>
                  <a:srgbClr val="1E2A35"/>
                </a:solidFill>
                <a:latin typeface="Calibri" pitchFamily="34" charset="0"/>
                <a:ea typeface="Calibri" pitchFamily="34" charset="-122"/>
                <a:cs typeface="Calibri" pitchFamily="34" charset="-120"/>
              </a:rPr>
              <a:t>CustomerID: kode unik pelanggan (kunci utama). CustomerName: nama pelanggan. Region: South America, Europe, North America, Asia. SignupDate: tanggal mendaftar, dari 22 Januari 2022 sampai 28 Desember 2024.</a:t>
            </a:r>
            <a:endParaRPr lang="en-US" sz="1300" dirty="0"/>
          </a:p>
        </p:txBody>
      </p:sp>
      <p:sp>
        <p:nvSpPr>
          <p:cNvPr id="19" name="Shape 13"/>
          <p:cNvSpPr/>
          <p:nvPr/>
        </p:nvSpPr>
        <p:spPr>
          <a:xfrm>
            <a:off x="6217920" y="3931920"/>
            <a:ext cx="5394960" cy="2377440"/>
          </a:xfrm>
          <a:prstGeom prst="roundRect">
            <a:avLst>
              <a:gd name="adj" fmla="val 3846"/>
            </a:avLst>
          </a:prstGeom>
          <a:solidFill>
            <a:srgbClr val="E8F5F7"/>
          </a:solidFill>
          <a:ln w="12700">
            <a:solidFill>
              <a:srgbClr val="E8F5F7"/>
            </a:solidFill>
            <a:prstDash val="solid"/>
          </a:ln>
        </p:spPr>
      </p:sp>
      <p:sp>
        <p:nvSpPr>
          <p:cNvPr id="20" name="Shape 14"/>
          <p:cNvSpPr/>
          <p:nvPr/>
        </p:nvSpPr>
        <p:spPr>
          <a:xfrm>
            <a:off x="6217920" y="4023360"/>
            <a:ext cx="82296" cy="2194560"/>
          </a:xfrm>
          <a:prstGeom prst="rect">
            <a:avLst/>
          </a:prstGeom>
          <a:solidFill>
            <a:srgbClr val="1B9AAA"/>
          </a:solidFill>
          <a:ln w="12700">
            <a:solidFill>
              <a:srgbClr val="1B9AAA"/>
            </a:solidFill>
            <a:prstDash val="solid"/>
          </a:ln>
        </p:spPr>
      </p:sp>
      <p:sp>
        <p:nvSpPr>
          <p:cNvPr id="21" name="Text 15"/>
          <p:cNvSpPr txBox="1"/>
          <p:nvPr/>
        </p:nvSpPr>
        <p:spPr>
          <a:xfrm>
            <a:off x="6446520" y="4069080"/>
            <a:ext cx="4983480" cy="411480"/>
          </a:xfrm>
          <a:prstGeom prst="rect">
            <a:avLst/>
          </a:prstGeom>
          <a:noFill/>
          <a:ln/>
        </p:spPr>
        <p:txBody>
          <a:bodyPr wrap="square" lIns="0" tIns="0" rIns="0" bIns="0" rtlCol="0" anchor="ctr"/>
          <a:lstStyle/>
          <a:p>
            <a:pPr indent="0" marL="0">
              <a:buNone/>
            </a:pPr>
            <a:r>
              <a:rPr lang="en-US" sz="1700" b="1" dirty="0">
                <a:solidFill>
                  <a:srgbClr val="1B9AAA"/>
                </a:solidFill>
                <a:latin typeface="Cambria" pitchFamily="34" charset="0"/>
                <a:ea typeface="Cambria" pitchFamily="34" charset="-122"/>
                <a:cs typeface="Cambria" pitchFamily="34" charset="-120"/>
              </a:rPr>
              <a:t>Arti variabel Products</a:t>
            </a:r>
            <a:endParaRPr lang="en-US" sz="1700" dirty="0"/>
          </a:p>
        </p:txBody>
      </p:sp>
      <p:sp>
        <p:nvSpPr>
          <p:cNvPr id="22" name="Text 16"/>
          <p:cNvSpPr txBox="1"/>
          <p:nvPr/>
        </p:nvSpPr>
        <p:spPr>
          <a:xfrm>
            <a:off x="6446520" y="4553712"/>
            <a:ext cx="4983480" cy="1645920"/>
          </a:xfrm>
          <a:prstGeom prst="rect">
            <a:avLst/>
          </a:prstGeom>
          <a:noFill/>
          <a:ln/>
        </p:spPr>
        <p:txBody>
          <a:bodyPr wrap="square" lIns="0" tIns="0" rIns="0" bIns="0" rtlCol="0" anchor="t"/>
          <a:lstStyle/>
          <a:p>
            <a:pPr indent="0" marL="0">
              <a:buNone/>
            </a:pPr>
            <a:r>
              <a:rPr lang="en-US" sz="1300" dirty="0">
                <a:solidFill>
                  <a:srgbClr val="1E2A35"/>
                </a:solidFill>
                <a:latin typeface="Calibri" pitchFamily="34" charset="0"/>
                <a:ea typeface="Calibri" pitchFamily="34" charset="-122"/>
                <a:cs typeface="Calibri" pitchFamily="34" charset="-120"/>
              </a:rPr>
              <a:t>ProductID: kode unik produk (kunci utama). ProductName: nama produk (66 nama berbeda). Category: Books, Electronics, Clothing, Home Decor. Price: harga satuan 16,08 sampai 497,76.</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B9AAA"/>
          </a:solidFill>
          <a:ln w="12700">
            <a:solidFill>
              <a:srgbClr val="1B9AA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Variabel: Transactions</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KARAKTERISTIK</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1B9AAA"/>
          </a:solidFill>
          <a:ln w="12700">
            <a:solidFill>
              <a:srgbClr val="1B9AA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377440"/>
                <a:gridCol w="2194560"/>
                <a:gridCol w="649224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Variabel</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Tipe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Keterangan</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r>
              <a:tr h="45720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TransactionID</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Teks (ID)</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ID unik transaksi, 1.000 nilai berbeda</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5720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CustomerID</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Teks (ID)</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Kunci ke Customers, 199 pelanggan berbeda bertransaksi</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5720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ProductID</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Teks (ID)</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Kunci ke Products, 100 produk terjual</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5720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TransactionDate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Tanggal-waktu</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30 Des 2023 sampai 28 Des 2024</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5720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Quantity</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Bilangan bulat</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Jumlah unit per transaksi, 1 sampai 4 (total 2.537 unit)</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5720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Price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Desimal</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Harga satuan, 16,08 sampai 497,76</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5720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TotalValue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Desimal</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Nilai transaksi = Quantity x Price, 16,08 sampai 1.991,04</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bl>
          </a:graphicData>
        </a:graphic>
      </p:graphicFrame>
      <p:sp>
        <p:nvSpPr>
          <p:cNvPr id="12" name="Text 7"/>
          <p:cNvSpPr txBox="1"/>
          <p:nvPr/>
        </p:nvSpPr>
        <p:spPr>
          <a:xfrm>
            <a:off x="548640" y="5257800"/>
            <a:ext cx="11064240" cy="109728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Transactions adalah tabel fakta: setiap baris adalah satu pembelian oleh satu pelanggan atas satu produk. Tiga kolom pertama (TransactionID, CustomerID, ProductID) mengidentifikasi, sedangkan Quantity, Price, dan TotalValue menjadi dasar semua perhitungan revenue.</a:t>
            </a:r>
            <a:endParaRPr lang="en-US" sz="14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B9AAA"/>
          </a:solidFill>
          <a:ln w="12700">
            <a:solidFill>
              <a:srgbClr val="1B9AA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Pelanggan terdaftar dan pelanggan aktif</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KARAKTERISTIK</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1B9AAA"/>
          </a:solidFill>
          <a:ln w="12700">
            <a:solidFill>
              <a:srgbClr val="1B9AA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Text 7"/>
          <p:cNvSpPr txBox="1"/>
          <p:nvPr/>
        </p:nvSpPr>
        <p:spPr>
          <a:xfrm>
            <a:off x="548640" y="1371600"/>
            <a:ext cx="2743200" cy="731520"/>
          </a:xfrm>
          <a:prstGeom prst="rect">
            <a:avLst/>
          </a:prstGeom>
          <a:noFill/>
          <a:ln/>
        </p:spPr>
        <p:txBody>
          <a:bodyPr wrap="square" lIns="0" tIns="0" rIns="0" bIns="0" rtlCol="0" anchor="ctr"/>
          <a:lstStyle/>
          <a:p>
            <a:pPr indent="0" marL="0">
              <a:buNone/>
            </a:pPr>
            <a:r>
              <a:rPr lang="en-US" sz="4800" b="1" dirty="0">
                <a:solidFill>
                  <a:srgbClr val="1A0683"/>
                </a:solidFill>
                <a:latin typeface="Cambria" pitchFamily="34" charset="0"/>
                <a:ea typeface="Cambria" pitchFamily="34" charset="-122"/>
                <a:cs typeface="Cambria" pitchFamily="34" charset="-120"/>
              </a:rPr>
              <a:t>200</a:t>
            </a:r>
            <a:endParaRPr lang="en-US" sz="4800" dirty="0"/>
          </a:p>
        </p:txBody>
      </p:sp>
      <p:sp>
        <p:nvSpPr>
          <p:cNvPr id="12" name="Text 8"/>
          <p:cNvSpPr txBox="1"/>
          <p:nvPr/>
        </p:nvSpPr>
        <p:spPr>
          <a:xfrm>
            <a:off x="548640" y="2103120"/>
            <a:ext cx="274320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pelanggan terdaftar (Customers)</a:t>
            </a:r>
            <a:endParaRPr lang="en-US" sz="1300" dirty="0"/>
          </a:p>
        </p:txBody>
      </p:sp>
      <p:sp>
        <p:nvSpPr>
          <p:cNvPr id="13" name="Text 9"/>
          <p:cNvSpPr txBox="1"/>
          <p:nvPr/>
        </p:nvSpPr>
        <p:spPr>
          <a:xfrm>
            <a:off x="3474720" y="1371600"/>
            <a:ext cx="2743200" cy="731520"/>
          </a:xfrm>
          <a:prstGeom prst="rect">
            <a:avLst/>
          </a:prstGeom>
          <a:noFill/>
          <a:ln/>
        </p:spPr>
        <p:txBody>
          <a:bodyPr wrap="square" lIns="0" tIns="0" rIns="0" bIns="0" rtlCol="0" anchor="ctr"/>
          <a:lstStyle/>
          <a:p>
            <a:pPr indent="0" marL="0">
              <a:buNone/>
            </a:pPr>
            <a:r>
              <a:rPr lang="en-US" sz="4800" b="1" dirty="0">
                <a:solidFill>
                  <a:srgbClr val="1B9AAA"/>
                </a:solidFill>
                <a:latin typeface="Cambria" pitchFamily="34" charset="0"/>
                <a:ea typeface="Cambria" pitchFamily="34" charset="-122"/>
                <a:cs typeface="Cambria" pitchFamily="34" charset="-120"/>
              </a:rPr>
              <a:t>199</a:t>
            </a:r>
            <a:endParaRPr lang="en-US" sz="4800" dirty="0"/>
          </a:p>
        </p:txBody>
      </p:sp>
      <p:sp>
        <p:nvSpPr>
          <p:cNvPr id="14" name="Text 10"/>
          <p:cNvSpPr txBox="1"/>
          <p:nvPr/>
        </p:nvSpPr>
        <p:spPr>
          <a:xfrm>
            <a:off x="3474720" y="2103120"/>
            <a:ext cx="274320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pelanggan bertransaksi</a:t>
            </a:r>
            <a:endParaRPr lang="en-US" sz="1300" dirty="0"/>
          </a:p>
        </p:txBody>
      </p:sp>
      <p:sp>
        <p:nvSpPr>
          <p:cNvPr id="15" name="Text 11"/>
          <p:cNvSpPr txBox="1"/>
          <p:nvPr/>
        </p:nvSpPr>
        <p:spPr>
          <a:xfrm>
            <a:off x="6400800" y="1371600"/>
            <a:ext cx="2377440" cy="731520"/>
          </a:xfrm>
          <a:prstGeom prst="rect">
            <a:avLst/>
          </a:prstGeom>
          <a:noFill/>
          <a:ln/>
        </p:spPr>
        <p:txBody>
          <a:bodyPr wrap="square" lIns="0" tIns="0" rIns="0" bIns="0" rtlCol="0" anchor="ctr"/>
          <a:lstStyle/>
          <a:p>
            <a:pPr indent="0" marL="0">
              <a:buNone/>
            </a:pPr>
            <a:r>
              <a:rPr lang="en-US" sz="4800" b="1" dirty="0">
                <a:solidFill>
                  <a:srgbClr val="E8832B"/>
                </a:solidFill>
                <a:latin typeface="Cambria" pitchFamily="34" charset="0"/>
                <a:ea typeface="Cambria" pitchFamily="34" charset="-122"/>
                <a:cs typeface="Cambria" pitchFamily="34" charset="-120"/>
              </a:rPr>
              <a:t>1</a:t>
            </a:r>
            <a:endParaRPr lang="en-US" sz="4800" dirty="0"/>
          </a:p>
        </p:txBody>
      </p:sp>
      <p:sp>
        <p:nvSpPr>
          <p:cNvPr id="16" name="Text 12"/>
          <p:cNvSpPr txBox="1"/>
          <p:nvPr/>
        </p:nvSpPr>
        <p:spPr>
          <a:xfrm>
            <a:off x="6400800" y="2103120"/>
            <a:ext cx="237744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terdaftar, belum bertransaksi</a:t>
            </a:r>
            <a:endParaRPr lang="en-US" sz="1300" dirty="0"/>
          </a:p>
        </p:txBody>
      </p:sp>
      <p:sp>
        <p:nvSpPr>
          <p:cNvPr id="17" name="Text 13"/>
          <p:cNvSpPr txBox="1"/>
          <p:nvPr/>
        </p:nvSpPr>
        <p:spPr>
          <a:xfrm>
            <a:off x="8961120" y="1371600"/>
            <a:ext cx="2651760" cy="731520"/>
          </a:xfrm>
          <a:prstGeom prst="rect">
            <a:avLst/>
          </a:prstGeom>
          <a:noFill/>
          <a:ln/>
        </p:spPr>
        <p:txBody>
          <a:bodyPr wrap="square" lIns="0" tIns="0" rIns="0" bIns="0" rtlCol="0" anchor="ctr"/>
          <a:lstStyle/>
          <a:p>
            <a:pPr indent="0" marL="0">
              <a:buNone/>
            </a:pPr>
            <a:r>
              <a:rPr lang="en-US" sz="4800" b="1" dirty="0">
                <a:solidFill>
                  <a:srgbClr val="1B9AAA"/>
                </a:solidFill>
                <a:latin typeface="Cambria" pitchFamily="34" charset="0"/>
                <a:ea typeface="Cambria" pitchFamily="34" charset="-122"/>
                <a:cs typeface="Cambria" pitchFamily="34" charset="-120"/>
              </a:rPr>
              <a:t>99,5%</a:t>
            </a:r>
            <a:endParaRPr lang="en-US" sz="4800" dirty="0"/>
          </a:p>
        </p:txBody>
      </p:sp>
      <p:sp>
        <p:nvSpPr>
          <p:cNvPr id="18" name="Text 14"/>
          <p:cNvSpPr txBox="1"/>
          <p:nvPr/>
        </p:nvSpPr>
        <p:spPr>
          <a:xfrm>
            <a:off x="8961120" y="2103120"/>
            <a:ext cx="265176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tingkat aktivasi (199 dari 200)</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5852160" cy="914400"/>
        </p:xfrm>
        <a:graphic>
          <a:graphicData uri="http://schemas.openxmlformats.org/drawingml/2006/table">
            <a:tbl>
              <a:tblPr/>
              <a:tblGrid>
                <a:gridCol w="2011680"/>
                <a:gridCol w="1280160"/>
                <a:gridCol w="1463040"/>
                <a:gridCol w="109728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Wilayah</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Terdaftar</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Bertransaksi</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Belum</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r>
              <a:tr h="45720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South America</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5720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Europe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5720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North America</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46</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46</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5720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Asia</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45</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44</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57200">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200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199</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bl>
          </a:graphicData>
        </a:graphic>
      </p:graphicFrame>
      <p:sp>
        <p:nvSpPr>
          <p:cNvPr id="20" name="Shape 15"/>
          <p:cNvSpPr/>
          <p:nvPr/>
        </p:nvSpPr>
        <p:spPr>
          <a:xfrm>
            <a:off x="6675120" y="3108960"/>
            <a:ext cx="4937760" cy="3200400"/>
          </a:xfrm>
          <a:prstGeom prst="roundRect">
            <a:avLst>
              <a:gd name="adj" fmla="val 2857"/>
            </a:avLst>
          </a:prstGeom>
          <a:solidFill>
            <a:srgbClr val="E8F5F7"/>
          </a:solidFill>
          <a:ln w="12700">
            <a:solidFill>
              <a:srgbClr val="E8F5F7"/>
            </a:solidFill>
            <a:prstDash val="solid"/>
          </a:ln>
        </p:spPr>
      </p:sp>
      <p:sp>
        <p:nvSpPr>
          <p:cNvPr id="21" name="Shape 16"/>
          <p:cNvSpPr/>
          <p:nvPr/>
        </p:nvSpPr>
        <p:spPr>
          <a:xfrm>
            <a:off x="6675120" y="3200400"/>
            <a:ext cx="82296" cy="3017520"/>
          </a:xfrm>
          <a:prstGeom prst="rect">
            <a:avLst/>
          </a:prstGeom>
          <a:solidFill>
            <a:srgbClr val="1B9AAA"/>
          </a:solidFill>
          <a:ln w="12700">
            <a:solidFill>
              <a:srgbClr val="1B9AAA"/>
            </a:solidFill>
            <a:prstDash val="solid"/>
          </a:ln>
        </p:spPr>
      </p:sp>
      <p:sp>
        <p:nvSpPr>
          <p:cNvPr id="22" name="Text 17"/>
          <p:cNvSpPr txBox="1"/>
          <p:nvPr/>
        </p:nvSpPr>
        <p:spPr>
          <a:xfrm>
            <a:off x="6903720" y="3246120"/>
            <a:ext cx="4526280" cy="411480"/>
          </a:xfrm>
          <a:prstGeom prst="rect">
            <a:avLst/>
          </a:prstGeom>
          <a:noFill/>
          <a:ln/>
        </p:spPr>
        <p:txBody>
          <a:bodyPr wrap="square" lIns="0" tIns="0" rIns="0" bIns="0" rtlCol="0" anchor="ctr"/>
          <a:lstStyle/>
          <a:p>
            <a:pPr indent="0" marL="0">
              <a:buNone/>
            </a:pPr>
            <a:r>
              <a:rPr lang="en-US" sz="1700" b="1" dirty="0">
                <a:solidFill>
                  <a:srgbClr val="1B9AAA"/>
                </a:solidFill>
                <a:latin typeface="Cambria" pitchFamily="34" charset="0"/>
                <a:ea typeface="Cambria" pitchFamily="34" charset="-122"/>
                <a:cs typeface="Cambria" pitchFamily="34" charset="-120"/>
              </a:rPr>
              <a:t>Penjelasan</a:t>
            </a:r>
            <a:endParaRPr lang="en-US" sz="1700" dirty="0"/>
          </a:p>
        </p:txBody>
      </p:sp>
      <p:sp>
        <p:nvSpPr>
          <p:cNvPr id="23" name="Text 18"/>
          <p:cNvSpPr txBox="1"/>
          <p:nvPr/>
        </p:nvSpPr>
        <p:spPr>
          <a:xfrm>
            <a:off x="6903720" y="3749040"/>
            <a:ext cx="4526280" cy="24231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Customers memuat 200 pelanggan.</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Transactions hanya memuat 199 CustomerID berbeda.</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Pelanggan C0180 (Amy Carpenter, Asia) belum pernah bertransaksi.</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Peluang: kampanye aktivasi bagi pelanggan ini.</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D9721A"/>
          </a:solidFill>
          <a:ln w="12700">
            <a:solidFill>
              <a:srgbClr val="D9721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Data awal 1: sheet Customers (Excel)</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DATA AWAL</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D9721A"/>
          </a:solidFill>
          <a:ln w="12700">
            <a:solidFill>
              <a:srgbClr val="D9721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371600"/>
            <a:ext cx="7223760" cy="4846320"/>
          </a:xfrm>
          <a:prstGeom prst="rect">
            <a:avLst/>
          </a:prstGeom>
          <a:solidFill>
            <a:srgbClr val="FFFFFF"/>
          </a:solidFill>
          <a:ln w="25400">
            <a:solidFill>
              <a:srgbClr val="D9721A"/>
            </a:solidFill>
            <a:prstDash val="solid"/>
          </a:ln>
        </p:spPr>
      </p:sp>
      <p:pic>
        <p:nvPicPr>
          <p:cNvPr id="12" name="Image 1" descr="/tmp/claude-0/-home-user-EXACOUNT/b3a0efd5-5ef2-5930-a9ef-1d7b86874e77/images/86.png">    </p:cNvPr>
          <p:cNvPicPr>
            <a:picLocks noChangeAspect="1"/>
          </p:cNvPicPr>
          <p:nvPr/>
        </p:nvPicPr>
        <p:blipFill>
          <a:blip r:embed="rId2"/>
          <a:stretch>
            <a:fillRect/>
          </a:stretch>
        </p:blipFill>
        <p:spPr>
          <a:xfrm>
            <a:off x="1663777" y="1463040"/>
            <a:ext cx="4993487" cy="4663440"/>
          </a:xfrm>
          <a:prstGeom prst="rect">
            <a:avLst/>
          </a:prstGeom>
        </p:spPr>
      </p:pic>
      <p:sp>
        <p:nvSpPr>
          <p:cNvPr id="13" name="Shape 8"/>
          <p:cNvSpPr/>
          <p:nvPr/>
        </p:nvSpPr>
        <p:spPr>
          <a:xfrm>
            <a:off x="7955280" y="1371600"/>
            <a:ext cx="3657600" cy="4846320"/>
          </a:xfrm>
          <a:prstGeom prst="roundRect">
            <a:avLst>
              <a:gd name="adj" fmla="val 2500"/>
            </a:avLst>
          </a:prstGeom>
          <a:solidFill>
            <a:srgbClr val="FBF1E8"/>
          </a:solidFill>
          <a:ln w="12700">
            <a:solidFill>
              <a:srgbClr val="FBF1E8"/>
            </a:solidFill>
            <a:prstDash val="solid"/>
          </a:ln>
        </p:spPr>
      </p:sp>
      <p:sp>
        <p:nvSpPr>
          <p:cNvPr id="14" name="Shape 9"/>
          <p:cNvSpPr/>
          <p:nvPr/>
        </p:nvSpPr>
        <p:spPr>
          <a:xfrm>
            <a:off x="7955280" y="1463040"/>
            <a:ext cx="82296" cy="4663440"/>
          </a:xfrm>
          <a:prstGeom prst="rect">
            <a:avLst/>
          </a:prstGeom>
          <a:solidFill>
            <a:srgbClr val="D9721A"/>
          </a:solidFill>
          <a:ln w="12700">
            <a:solidFill>
              <a:srgbClr val="D9721A"/>
            </a:solidFill>
            <a:prstDash val="solid"/>
          </a:ln>
        </p:spPr>
      </p:sp>
      <p:sp>
        <p:nvSpPr>
          <p:cNvPr id="15" name="Text 10"/>
          <p:cNvSpPr txBox="1"/>
          <p:nvPr/>
        </p:nvSpPr>
        <p:spPr>
          <a:xfrm>
            <a:off x="8183880" y="1508760"/>
            <a:ext cx="3246120" cy="411480"/>
          </a:xfrm>
          <a:prstGeom prst="rect">
            <a:avLst/>
          </a:prstGeom>
          <a:noFill/>
          <a:ln/>
        </p:spPr>
        <p:txBody>
          <a:bodyPr wrap="square" lIns="0" tIns="0" rIns="0" bIns="0" rtlCol="0" anchor="ctr"/>
          <a:lstStyle/>
          <a:p>
            <a:pPr indent="0" marL="0">
              <a:buNone/>
            </a:pPr>
            <a:r>
              <a:rPr lang="en-US" sz="1700" b="1" dirty="0">
                <a:solidFill>
                  <a:srgbClr val="D9721A"/>
                </a:solidFill>
                <a:latin typeface="Cambria" pitchFamily="34" charset="0"/>
                <a:ea typeface="Cambria" pitchFamily="34" charset="-122"/>
                <a:cs typeface="Cambria" pitchFamily="34" charset="-120"/>
              </a:rPr>
              <a:t>Penjelasan</a:t>
            </a:r>
            <a:endParaRPr lang="en-US" sz="1700" dirty="0"/>
          </a:p>
        </p:txBody>
      </p:sp>
      <p:sp>
        <p:nvSpPr>
          <p:cNvPr id="16" name="Text 11"/>
          <p:cNvSpPr txBox="1"/>
          <p:nvPr/>
        </p:nvSpPr>
        <p:spPr>
          <a:xfrm>
            <a:off x="8183880" y="2011680"/>
            <a:ext cx="3246120" cy="4069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Sheet Customers pada berkas EverMart_Online_Transactions.xlsx.</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4 kolom: CustomerID, CustomerName, Region, SignupDate.</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200 baris data = 200 pelanggan terdaftar (C0001 sampai C0200).</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Region berisi 4 wilayah: South America, Europe, North America, Asia.</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SignupDate menyimpan tanggal mendaftar, misalnya C0001 mendaftar 10 Juli 2022.</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Baris pertama berisi nama kolom (header).</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D9721A"/>
          </a:solidFill>
          <a:ln w="12700">
            <a:solidFill>
              <a:srgbClr val="D9721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Data awal 2: sheet Products (Excel)</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DATA AWAL</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D9721A"/>
          </a:solidFill>
          <a:ln w="12700">
            <a:solidFill>
              <a:srgbClr val="D9721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371600"/>
            <a:ext cx="7223760" cy="4846320"/>
          </a:xfrm>
          <a:prstGeom prst="rect">
            <a:avLst/>
          </a:prstGeom>
          <a:solidFill>
            <a:srgbClr val="FFFFFF"/>
          </a:solidFill>
          <a:ln w="25400">
            <a:solidFill>
              <a:srgbClr val="D9721A"/>
            </a:solidFill>
            <a:prstDash val="solid"/>
          </a:ln>
        </p:spPr>
      </p:sp>
      <p:pic>
        <p:nvPicPr>
          <p:cNvPr id="12" name="Image 1" descr="/tmp/claude-0/-home-user-EXACOUNT/b3a0efd5-5ef2-5930-a9ef-1d7b86874e77/images/87.png">    </p:cNvPr>
          <p:cNvPicPr>
            <a:picLocks noChangeAspect="1"/>
          </p:cNvPicPr>
          <p:nvPr/>
        </p:nvPicPr>
        <p:blipFill>
          <a:blip r:embed="rId2"/>
          <a:stretch>
            <a:fillRect/>
          </a:stretch>
        </p:blipFill>
        <p:spPr>
          <a:xfrm>
            <a:off x="1659106" y="1463040"/>
            <a:ext cx="5002828" cy="4663440"/>
          </a:xfrm>
          <a:prstGeom prst="rect">
            <a:avLst/>
          </a:prstGeom>
        </p:spPr>
      </p:pic>
      <p:sp>
        <p:nvSpPr>
          <p:cNvPr id="13" name="Shape 8"/>
          <p:cNvSpPr/>
          <p:nvPr/>
        </p:nvSpPr>
        <p:spPr>
          <a:xfrm>
            <a:off x="7955280" y="1371600"/>
            <a:ext cx="3657600" cy="4846320"/>
          </a:xfrm>
          <a:prstGeom prst="roundRect">
            <a:avLst>
              <a:gd name="adj" fmla="val 2500"/>
            </a:avLst>
          </a:prstGeom>
          <a:solidFill>
            <a:srgbClr val="FBF1E8"/>
          </a:solidFill>
          <a:ln w="12700">
            <a:solidFill>
              <a:srgbClr val="FBF1E8"/>
            </a:solidFill>
            <a:prstDash val="solid"/>
          </a:ln>
        </p:spPr>
      </p:sp>
      <p:sp>
        <p:nvSpPr>
          <p:cNvPr id="14" name="Shape 9"/>
          <p:cNvSpPr/>
          <p:nvPr/>
        </p:nvSpPr>
        <p:spPr>
          <a:xfrm>
            <a:off x="7955280" y="1463040"/>
            <a:ext cx="82296" cy="4663440"/>
          </a:xfrm>
          <a:prstGeom prst="rect">
            <a:avLst/>
          </a:prstGeom>
          <a:solidFill>
            <a:srgbClr val="D9721A"/>
          </a:solidFill>
          <a:ln w="12700">
            <a:solidFill>
              <a:srgbClr val="D9721A"/>
            </a:solidFill>
            <a:prstDash val="solid"/>
          </a:ln>
        </p:spPr>
      </p:sp>
      <p:sp>
        <p:nvSpPr>
          <p:cNvPr id="15" name="Text 10"/>
          <p:cNvSpPr txBox="1"/>
          <p:nvPr/>
        </p:nvSpPr>
        <p:spPr>
          <a:xfrm>
            <a:off x="8183880" y="1508760"/>
            <a:ext cx="3246120" cy="411480"/>
          </a:xfrm>
          <a:prstGeom prst="rect">
            <a:avLst/>
          </a:prstGeom>
          <a:noFill/>
          <a:ln/>
        </p:spPr>
        <p:txBody>
          <a:bodyPr wrap="square" lIns="0" tIns="0" rIns="0" bIns="0" rtlCol="0" anchor="ctr"/>
          <a:lstStyle/>
          <a:p>
            <a:pPr indent="0" marL="0">
              <a:buNone/>
            </a:pPr>
            <a:r>
              <a:rPr lang="en-US" sz="1700" b="1" dirty="0">
                <a:solidFill>
                  <a:srgbClr val="D9721A"/>
                </a:solidFill>
                <a:latin typeface="Cambria" pitchFamily="34" charset="0"/>
                <a:ea typeface="Cambria" pitchFamily="34" charset="-122"/>
                <a:cs typeface="Cambria" pitchFamily="34" charset="-120"/>
              </a:rPr>
              <a:t>Penjelasan</a:t>
            </a:r>
            <a:endParaRPr lang="en-US" sz="1700" dirty="0"/>
          </a:p>
        </p:txBody>
      </p:sp>
      <p:sp>
        <p:nvSpPr>
          <p:cNvPr id="16" name="Text 11"/>
          <p:cNvSpPr txBox="1"/>
          <p:nvPr/>
        </p:nvSpPr>
        <p:spPr>
          <a:xfrm>
            <a:off x="8183880" y="2011680"/>
            <a:ext cx="3246120" cy="4069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Sheet Products pada berkas yang sama.</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4 kolom: ProductID, ProductName, Category, Price.</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100 baris data = 100 produk (P001 sampai P100).</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Category berisi 4 nilai: Books, Electronics, Clothing, Home Decor.</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Price adalah harga satuan, misalnya P001 ActiveWear Biography 169,3.</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ProductName memuat 66 nama berbeda, sehingga analisis memakai ProductID.</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D9721A"/>
          </a:solidFill>
          <a:ln w="12700">
            <a:solidFill>
              <a:srgbClr val="D9721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Data awal 3: sheet Transactions (Excel)</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DATA AWAL</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D9721A"/>
          </a:solidFill>
          <a:ln w="12700">
            <a:solidFill>
              <a:srgbClr val="D9721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371600"/>
            <a:ext cx="7223760" cy="4846320"/>
          </a:xfrm>
          <a:prstGeom prst="rect">
            <a:avLst/>
          </a:prstGeom>
          <a:solidFill>
            <a:srgbClr val="FFFFFF"/>
          </a:solidFill>
          <a:ln w="25400">
            <a:solidFill>
              <a:srgbClr val="D9721A"/>
            </a:solidFill>
            <a:prstDash val="solid"/>
          </a:ln>
        </p:spPr>
      </p:sp>
      <p:pic>
        <p:nvPicPr>
          <p:cNvPr id="12" name="Image 1" descr="/tmp/claude-0/-home-user-EXACOUNT/b3a0efd5-5ef2-5930-a9ef-1d7b86874e77/images/88.png">    </p:cNvPr>
          <p:cNvPicPr>
            <a:picLocks noChangeAspect="1"/>
          </p:cNvPicPr>
          <p:nvPr/>
        </p:nvPicPr>
        <p:blipFill>
          <a:blip r:embed="rId2"/>
          <a:stretch>
            <a:fillRect/>
          </a:stretch>
        </p:blipFill>
        <p:spPr>
          <a:xfrm>
            <a:off x="987136" y="1463040"/>
            <a:ext cx="6346767" cy="4663440"/>
          </a:xfrm>
          <a:prstGeom prst="rect">
            <a:avLst/>
          </a:prstGeom>
        </p:spPr>
      </p:pic>
      <p:sp>
        <p:nvSpPr>
          <p:cNvPr id="13" name="Shape 8"/>
          <p:cNvSpPr/>
          <p:nvPr/>
        </p:nvSpPr>
        <p:spPr>
          <a:xfrm>
            <a:off x="7955280" y="1371600"/>
            <a:ext cx="3657600" cy="4846320"/>
          </a:xfrm>
          <a:prstGeom prst="roundRect">
            <a:avLst>
              <a:gd name="adj" fmla="val 2500"/>
            </a:avLst>
          </a:prstGeom>
          <a:solidFill>
            <a:srgbClr val="FBF1E8"/>
          </a:solidFill>
          <a:ln w="12700">
            <a:solidFill>
              <a:srgbClr val="FBF1E8"/>
            </a:solidFill>
            <a:prstDash val="solid"/>
          </a:ln>
        </p:spPr>
      </p:sp>
      <p:sp>
        <p:nvSpPr>
          <p:cNvPr id="14" name="Shape 9"/>
          <p:cNvSpPr/>
          <p:nvPr/>
        </p:nvSpPr>
        <p:spPr>
          <a:xfrm>
            <a:off x="7955280" y="1463040"/>
            <a:ext cx="82296" cy="4663440"/>
          </a:xfrm>
          <a:prstGeom prst="rect">
            <a:avLst/>
          </a:prstGeom>
          <a:solidFill>
            <a:srgbClr val="D9721A"/>
          </a:solidFill>
          <a:ln w="12700">
            <a:solidFill>
              <a:srgbClr val="D9721A"/>
            </a:solidFill>
            <a:prstDash val="solid"/>
          </a:ln>
        </p:spPr>
      </p:sp>
      <p:sp>
        <p:nvSpPr>
          <p:cNvPr id="15" name="Text 10"/>
          <p:cNvSpPr txBox="1"/>
          <p:nvPr/>
        </p:nvSpPr>
        <p:spPr>
          <a:xfrm>
            <a:off x="8183880" y="1508760"/>
            <a:ext cx="3246120" cy="411480"/>
          </a:xfrm>
          <a:prstGeom prst="rect">
            <a:avLst/>
          </a:prstGeom>
          <a:noFill/>
          <a:ln/>
        </p:spPr>
        <p:txBody>
          <a:bodyPr wrap="square" lIns="0" tIns="0" rIns="0" bIns="0" rtlCol="0" anchor="ctr"/>
          <a:lstStyle/>
          <a:p>
            <a:pPr indent="0" marL="0">
              <a:buNone/>
            </a:pPr>
            <a:r>
              <a:rPr lang="en-US" sz="1700" b="1" dirty="0">
                <a:solidFill>
                  <a:srgbClr val="D9721A"/>
                </a:solidFill>
                <a:latin typeface="Cambria" pitchFamily="34" charset="0"/>
                <a:ea typeface="Cambria" pitchFamily="34" charset="-122"/>
                <a:cs typeface="Cambria" pitchFamily="34" charset="-120"/>
              </a:rPr>
              <a:t>Penjelasan</a:t>
            </a:r>
            <a:endParaRPr lang="en-US" sz="1700" dirty="0"/>
          </a:p>
        </p:txBody>
      </p:sp>
      <p:sp>
        <p:nvSpPr>
          <p:cNvPr id="16" name="Text 11"/>
          <p:cNvSpPr txBox="1"/>
          <p:nvPr/>
        </p:nvSpPr>
        <p:spPr>
          <a:xfrm>
            <a:off x="8183880" y="2011680"/>
            <a:ext cx="3246120" cy="4069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Sheet Transactions: tabel fakta berisi 1.000 baris.</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7 kolom: TransactionID, CustomerID, ProductID, TransactionDate, Quantity, TotalValue, Price.</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Contoh T00001: pelanggan C0199 membeli produk P067 pada 25 Agustus 2024, 1 unit, nilai 300,68.</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TotalValue = Quantity x Price, misalnya T00272: 2 x 300,68 = 601,36.</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CustomerID dan ProductID adalah kunci ke sheet Customers dan Products.</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E02F8A"/>
          </a:solidFill>
          <a:ln w="12700">
            <a:solidFill>
              <a:srgbClr val="E02F8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Alur transformasi data di Power Query</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TRANSFORMASI</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E02F8A"/>
          </a:solidFill>
          <a:ln w="12700">
            <a:solidFill>
              <a:srgbClr val="E02F8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371600"/>
            <a:ext cx="2651760" cy="3291840"/>
          </a:xfrm>
          <a:prstGeom prst="roundRect">
            <a:avLst>
              <a:gd name="adj" fmla="val 3448"/>
            </a:avLst>
          </a:prstGeom>
          <a:solidFill>
            <a:srgbClr val="FCEAF3"/>
          </a:solidFill>
          <a:ln w="12700">
            <a:solidFill>
              <a:srgbClr val="FCEAF3"/>
            </a:solidFill>
            <a:prstDash val="solid"/>
          </a:ln>
        </p:spPr>
      </p:sp>
      <p:sp>
        <p:nvSpPr>
          <p:cNvPr id="12" name="Shape 8"/>
          <p:cNvSpPr/>
          <p:nvPr/>
        </p:nvSpPr>
        <p:spPr>
          <a:xfrm>
            <a:off x="548640" y="1463040"/>
            <a:ext cx="82296" cy="3108960"/>
          </a:xfrm>
          <a:prstGeom prst="rect">
            <a:avLst/>
          </a:prstGeom>
          <a:solidFill>
            <a:srgbClr val="E02F8A"/>
          </a:solidFill>
          <a:ln w="12700">
            <a:solidFill>
              <a:srgbClr val="E02F8A"/>
            </a:solidFill>
            <a:prstDash val="solid"/>
          </a:ln>
        </p:spPr>
      </p:sp>
      <p:sp>
        <p:nvSpPr>
          <p:cNvPr id="13" name="Text 9"/>
          <p:cNvSpPr txBox="1"/>
          <p:nvPr/>
        </p:nvSpPr>
        <p:spPr>
          <a:xfrm>
            <a:off x="777240" y="1508760"/>
            <a:ext cx="2240280" cy="411480"/>
          </a:xfrm>
          <a:prstGeom prst="rect">
            <a:avLst/>
          </a:prstGeom>
          <a:noFill/>
          <a:ln/>
        </p:spPr>
        <p:txBody>
          <a:bodyPr wrap="square" lIns="0" tIns="0" rIns="0" bIns="0" rtlCol="0" anchor="ctr"/>
          <a:lstStyle/>
          <a:p>
            <a:pPr indent="0" marL="0">
              <a:buNone/>
            </a:pPr>
            <a:r>
              <a:rPr lang="en-US" sz="1700" b="1" dirty="0">
                <a:solidFill>
                  <a:srgbClr val="E02F8A"/>
                </a:solidFill>
                <a:latin typeface="Cambria" pitchFamily="34" charset="0"/>
                <a:ea typeface="Cambria" pitchFamily="34" charset="-122"/>
                <a:cs typeface="Cambria" pitchFamily="34" charset="-120"/>
              </a:rPr>
              <a:t>1. Source</a:t>
            </a:r>
            <a:endParaRPr lang="en-US" sz="1700" dirty="0"/>
          </a:p>
        </p:txBody>
      </p:sp>
      <p:sp>
        <p:nvSpPr>
          <p:cNvPr id="14" name="Text 10"/>
          <p:cNvSpPr txBox="1"/>
          <p:nvPr/>
        </p:nvSpPr>
        <p:spPr>
          <a:xfrm>
            <a:off x="777240" y="1993392"/>
            <a:ext cx="2240280" cy="256032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Power BI membuka berkas Excel dengan Excel.Workbook(File.Contents(...)) dan membaca seluruh sheet sebagai daftar objek.</a:t>
            </a:r>
            <a:endParaRPr lang="en-US" sz="1400" dirty="0"/>
          </a:p>
        </p:txBody>
      </p:sp>
      <p:sp>
        <p:nvSpPr>
          <p:cNvPr id="15" name="Shape 11"/>
          <p:cNvSpPr/>
          <p:nvPr/>
        </p:nvSpPr>
        <p:spPr>
          <a:xfrm>
            <a:off x="3383280" y="1371600"/>
            <a:ext cx="2651760" cy="3291840"/>
          </a:xfrm>
          <a:prstGeom prst="roundRect">
            <a:avLst>
              <a:gd name="adj" fmla="val 3448"/>
            </a:avLst>
          </a:prstGeom>
          <a:solidFill>
            <a:srgbClr val="FCEAF3"/>
          </a:solidFill>
          <a:ln w="12700">
            <a:solidFill>
              <a:srgbClr val="FCEAF3"/>
            </a:solidFill>
            <a:prstDash val="solid"/>
          </a:ln>
        </p:spPr>
      </p:sp>
      <p:sp>
        <p:nvSpPr>
          <p:cNvPr id="16" name="Shape 12"/>
          <p:cNvSpPr/>
          <p:nvPr/>
        </p:nvSpPr>
        <p:spPr>
          <a:xfrm>
            <a:off x="3383280" y="1463040"/>
            <a:ext cx="82296" cy="3108960"/>
          </a:xfrm>
          <a:prstGeom prst="rect">
            <a:avLst/>
          </a:prstGeom>
          <a:solidFill>
            <a:srgbClr val="E02F8A"/>
          </a:solidFill>
          <a:ln w="12700">
            <a:solidFill>
              <a:srgbClr val="E02F8A"/>
            </a:solidFill>
            <a:prstDash val="solid"/>
          </a:ln>
        </p:spPr>
      </p:sp>
      <p:sp>
        <p:nvSpPr>
          <p:cNvPr id="17" name="Text 13"/>
          <p:cNvSpPr txBox="1"/>
          <p:nvPr/>
        </p:nvSpPr>
        <p:spPr>
          <a:xfrm>
            <a:off x="3611880" y="1508760"/>
            <a:ext cx="2240280" cy="411480"/>
          </a:xfrm>
          <a:prstGeom prst="rect">
            <a:avLst/>
          </a:prstGeom>
          <a:noFill/>
          <a:ln/>
        </p:spPr>
        <p:txBody>
          <a:bodyPr wrap="square" lIns="0" tIns="0" rIns="0" bIns="0" rtlCol="0" anchor="ctr"/>
          <a:lstStyle/>
          <a:p>
            <a:pPr indent="0" marL="0">
              <a:buNone/>
            </a:pPr>
            <a:r>
              <a:rPr lang="en-US" sz="1700" b="1" dirty="0">
                <a:solidFill>
                  <a:srgbClr val="E02F8A"/>
                </a:solidFill>
                <a:latin typeface="Cambria" pitchFamily="34" charset="0"/>
                <a:ea typeface="Cambria" pitchFamily="34" charset="-122"/>
                <a:cs typeface="Cambria" pitchFamily="34" charset="-120"/>
              </a:rPr>
              <a:t>2. Navigation</a:t>
            </a:r>
            <a:endParaRPr lang="en-US" sz="1700" dirty="0"/>
          </a:p>
        </p:txBody>
      </p:sp>
      <p:sp>
        <p:nvSpPr>
          <p:cNvPr id="18" name="Text 14"/>
          <p:cNvSpPr txBox="1"/>
          <p:nvPr/>
        </p:nvSpPr>
        <p:spPr>
          <a:xfrm>
            <a:off x="3611880" y="1993392"/>
            <a:ext cx="2240280" cy="256032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Memilih sheet yang dibutuhkan (Customers, Products, Transactions) dari daftar objek Excel menjadi tabel.</a:t>
            </a:r>
            <a:endParaRPr lang="en-US" sz="1400" dirty="0"/>
          </a:p>
        </p:txBody>
      </p:sp>
      <p:sp>
        <p:nvSpPr>
          <p:cNvPr id="19" name="Shape 15"/>
          <p:cNvSpPr/>
          <p:nvPr/>
        </p:nvSpPr>
        <p:spPr>
          <a:xfrm>
            <a:off x="6217920" y="1371600"/>
            <a:ext cx="2651760" cy="3291840"/>
          </a:xfrm>
          <a:prstGeom prst="roundRect">
            <a:avLst>
              <a:gd name="adj" fmla="val 3448"/>
            </a:avLst>
          </a:prstGeom>
          <a:solidFill>
            <a:srgbClr val="FCEAF3"/>
          </a:solidFill>
          <a:ln w="12700">
            <a:solidFill>
              <a:srgbClr val="FCEAF3"/>
            </a:solidFill>
            <a:prstDash val="solid"/>
          </a:ln>
        </p:spPr>
      </p:sp>
      <p:sp>
        <p:nvSpPr>
          <p:cNvPr id="20" name="Shape 16"/>
          <p:cNvSpPr/>
          <p:nvPr/>
        </p:nvSpPr>
        <p:spPr>
          <a:xfrm>
            <a:off x="6217920" y="1463040"/>
            <a:ext cx="82296" cy="3108960"/>
          </a:xfrm>
          <a:prstGeom prst="rect">
            <a:avLst/>
          </a:prstGeom>
          <a:solidFill>
            <a:srgbClr val="E02F8A"/>
          </a:solidFill>
          <a:ln w="12700">
            <a:solidFill>
              <a:srgbClr val="E02F8A"/>
            </a:solidFill>
            <a:prstDash val="solid"/>
          </a:ln>
        </p:spPr>
      </p:sp>
      <p:sp>
        <p:nvSpPr>
          <p:cNvPr id="21" name="Text 17"/>
          <p:cNvSpPr txBox="1"/>
          <p:nvPr/>
        </p:nvSpPr>
        <p:spPr>
          <a:xfrm>
            <a:off x="6446520" y="1508760"/>
            <a:ext cx="2240280" cy="411480"/>
          </a:xfrm>
          <a:prstGeom prst="rect">
            <a:avLst/>
          </a:prstGeom>
          <a:noFill/>
          <a:ln/>
        </p:spPr>
        <p:txBody>
          <a:bodyPr wrap="square" lIns="0" tIns="0" rIns="0" bIns="0" rtlCol="0" anchor="ctr"/>
          <a:lstStyle/>
          <a:p>
            <a:pPr indent="0" marL="0">
              <a:buNone/>
            </a:pPr>
            <a:r>
              <a:rPr lang="en-US" sz="1700" b="1" dirty="0">
                <a:solidFill>
                  <a:srgbClr val="E02F8A"/>
                </a:solidFill>
                <a:latin typeface="Cambria" pitchFamily="34" charset="0"/>
                <a:ea typeface="Cambria" pitchFamily="34" charset="-122"/>
                <a:cs typeface="Cambria" pitchFamily="34" charset="-120"/>
              </a:rPr>
              <a:t>3. Promoted Headers</a:t>
            </a:r>
            <a:endParaRPr lang="en-US" sz="1700" dirty="0"/>
          </a:p>
        </p:txBody>
      </p:sp>
      <p:sp>
        <p:nvSpPr>
          <p:cNvPr id="22" name="Text 18"/>
          <p:cNvSpPr txBox="1"/>
          <p:nvPr/>
        </p:nvSpPr>
        <p:spPr>
          <a:xfrm>
            <a:off x="6446520" y="1993392"/>
            <a:ext cx="2240280" cy="256032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Baris pertama dijadikan nama kolom, misalnya CustomerID, CustomerName, Region, SignupDate.</a:t>
            </a:r>
            <a:endParaRPr lang="en-US" sz="1400" dirty="0"/>
          </a:p>
        </p:txBody>
      </p:sp>
      <p:sp>
        <p:nvSpPr>
          <p:cNvPr id="23" name="Shape 19"/>
          <p:cNvSpPr/>
          <p:nvPr/>
        </p:nvSpPr>
        <p:spPr>
          <a:xfrm>
            <a:off x="9052560" y="1371600"/>
            <a:ext cx="2651760" cy="3291840"/>
          </a:xfrm>
          <a:prstGeom prst="roundRect">
            <a:avLst>
              <a:gd name="adj" fmla="val 3448"/>
            </a:avLst>
          </a:prstGeom>
          <a:solidFill>
            <a:srgbClr val="FCEAF3"/>
          </a:solidFill>
          <a:ln w="12700">
            <a:solidFill>
              <a:srgbClr val="FCEAF3"/>
            </a:solidFill>
            <a:prstDash val="solid"/>
          </a:ln>
        </p:spPr>
      </p:sp>
      <p:sp>
        <p:nvSpPr>
          <p:cNvPr id="24" name="Shape 20"/>
          <p:cNvSpPr/>
          <p:nvPr/>
        </p:nvSpPr>
        <p:spPr>
          <a:xfrm>
            <a:off x="9052560" y="1463040"/>
            <a:ext cx="82296" cy="3108960"/>
          </a:xfrm>
          <a:prstGeom prst="rect">
            <a:avLst/>
          </a:prstGeom>
          <a:solidFill>
            <a:srgbClr val="E02F8A"/>
          </a:solidFill>
          <a:ln w="12700">
            <a:solidFill>
              <a:srgbClr val="E02F8A"/>
            </a:solidFill>
            <a:prstDash val="solid"/>
          </a:ln>
        </p:spPr>
      </p:sp>
      <p:sp>
        <p:nvSpPr>
          <p:cNvPr id="25" name="Text 21"/>
          <p:cNvSpPr txBox="1"/>
          <p:nvPr/>
        </p:nvSpPr>
        <p:spPr>
          <a:xfrm>
            <a:off x="9281160" y="1508760"/>
            <a:ext cx="2240280" cy="411480"/>
          </a:xfrm>
          <a:prstGeom prst="rect">
            <a:avLst/>
          </a:prstGeom>
          <a:noFill/>
          <a:ln/>
        </p:spPr>
        <p:txBody>
          <a:bodyPr wrap="square" lIns="0" tIns="0" rIns="0" bIns="0" rtlCol="0" anchor="ctr"/>
          <a:lstStyle/>
          <a:p>
            <a:pPr indent="0" marL="0">
              <a:buNone/>
            </a:pPr>
            <a:r>
              <a:rPr lang="en-US" sz="1700" b="1" dirty="0">
                <a:solidFill>
                  <a:srgbClr val="E02F8A"/>
                </a:solidFill>
                <a:latin typeface="Cambria" pitchFamily="34" charset="0"/>
                <a:ea typeface="Cambria" pitchFamily="34" charset="-122"/>
                <a:cs typeface="Cambria" pitchFamily="34" charset="-120"/>
              </a:rPr>
              <a:t>4. Changed Type</a:t>
            </a:r>
            <a:endParaRPr lang="en-US" sz="1700" dirty="0"/>
          </a:p>
        </p:txBody>
      </p:sp>
      <p:sp>
        <p:nvSpPr>
          <p:cNvPr id="26" name="Text 22"/>
          <p:cNvSpPr txBox="1"/>
          <p:nvPr/>
        </p:nvSpPr>
        <p:spPr>
          <a:xfrm>
            <a:off x="9281160" y="1993392"/>
            <a:ext cx="2240280" cy="256032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Menetapkan tipe data: ID menjadi teks, tanggal menjadi Date atau Date/Time, Quantity bilangan bulat, harga dan nilai desimal.</a:t>
            </a:r>
            <a:endParaRPr lang="en-US" sz="1400" dirty="0"/>
          </a:p>
        </p:txBody>
      </p:sp>
      <p:sp>
        <p:nvSpPr>
          <p:cNvPr id="27" name="Shape 23"/>
          <p:cNvSpPr/>
          <p:nvPr/>
        </p:nvSpPr>
        <p:spPr>
          <a:xfrm>
            <a:off x="548640" y="4846320"/>
            <a:ext cx="11064240" cy="1508760"/>
          </a:xfrm>
          <a:prstGeom prst="roundRect">
            <a:avLst>
              <a:gd name="adj" fmla="val 6061"/>
            </a:avLst>
          </a:prstGeom>
          <a:solidFill>
            <a:srgbClr val="FCEAF3"/>
          </a:solidFill>
          <a:ln w="12700">
            <a:solidFill>
              <a:srgbClr val="FCEAF3"/>
            </a:solidFill>
            <a:prstDash val="solid"/>
          </a:ln>
        </p:spPr>
      </p:sp>
      <p:sp>
        <p:nvSpPr>
          <p:cNvPr id="28" name="Shape 24"/>
          <p:cNvSpPr/>
          <p:nvPr/>
        </p:nvSpPr>
        <p:spPr>
          <a:xfrm>
            <a:off x="548640" y="4937760"/>
            <a:ext cx="82296" cy="1325880"/>
          </a:xfrm>
          <a:prstGeom prst="rect">
            <a:avLst/>
          </a:prstGeom>
          <a:solidFill>
            <a:srgbClr val="E02F8A"/>
          </a:solidFill>
          <a:ln w="12700">
            <a:solidFill>
              <a:srgbClr val="E02F8A"/>
            </a:solidFill>
            <a:prstDash val="solid"/>
          </a:ln>
        </p:spPr>
      </p:sp>
      <p:sp>
        <p:nvSpPr>
          <p:cNvPr id="29" name="Text 25"/>
          <p:cNvSpPr txBox="1"/>
          <p:nvPr/>
        </p:nvSpPr>
        <p:spPr>
          <a:xfrm>
            <a:off x="777240" y="4983480"/>
            <a:ext cx="10652760" cy="411480"/>
          </a:xfrm>
          <a:prstGeom prst="rect">
            <a:avLst/>
          </a:prstGeom>
          <a:noFill/>
          <a:ln/>
        </p:spPr>
        <p:txBody>
          <a:bodyPr wrap="square" lIns="0" tIns="0" rIns="0" bIns="0" rtlCol="0" anchor="ctr"/>
          <a:lstStyle/>
          <a:p>
            <a:pPr indent="0" marL="0">
              <a:buNone/>
            </a:pPr>
            <a:r>
              <a:rPr lang="en-US" sz="1700" b="1" dirty="0">
                <a:solidFill>
                  <a:srgbClr val="E02F8A"/>
                </a:solidFill>
                <a:latin typeface="Cambria" pitchFamily="34" charset="0"/>
                <a:ea typeface="Cambria" pitchFamily="34" charset="-122"/>
                <a:cs typeface="Cambria" pitchFamily="34" charset="-120"/>
              </a:rPr>
              <a:t>Hasil transformasi</a:t>
            </a:r>
            <a:endParaRPr lang="en-US" sz="1700" dirty="0"/>
          </a:p>
        </p:txBody>
      </p:sp>
      <p:sp>
        <p:nvSpPr>
          <p:cNvPr id="30" name="Text 26"/>
          <p:cNvSpPr txBox="1"/>
          <p:nvPr/>
        </p:nvSpPr>
        <p:spPr>
          <a:xfrm>
            <a:off x="777240" y="5486400"/>
            <a:ext cx="10652760" cy="731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Profil kualitas semua kolom: Valid 100%, Error 0%, Empty 0%. Tidak diperlukan penghapusan baris, pengisian nilai, atau penggabungan tabel.</a:t>
            </a:r>
            <a:endParaRPr lang="en-US" sz="14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E02F8A"/>
          </a:solidFill>
          <a:ln w="12700">
            <a:solidFill>
              <a:srgbClr val="E02F8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Power Query 1: sumber data (Source)</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TRANSFORMASI</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E02F8A"/>
          </a:solidFill>
          <a:ln w="12700">
            <a:solidFill>
              <a:srgbClr val="E02F8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371600"/>
            <a:ext cx="7223760" cy="4846320"/>
          </a:xfrm>
          <a:prstGeom prst="rect">
            <a:avLst/>
          </a:prstGeom>
          <a:solidFill>
            <a:srgbClr val="FFFFFF"/>
          </a:solidFill>
          <a:ln w="25400">
            <a:solidFill>
              <a:srgbClr val="E02F8A"/>
            </a:solidFill>
            <a:prstDash val="solid"/>
          </a:ln>
        </p:spPr>
      </p:sp>
      <p:pic>
        <p:nvPicPr>
          <p:cNvPr id="12" name="Image 1" descr="/tmp/claude-0/-home-user-EXACOUNT/b3a0efd5-5ef2-5930-a9ef-1d7b86874e77/scratchpad/rep/pq_src.png">    </p:cNvPr>
          <p:cNvPicPr>
            <a:picLocks noChangeAspect="1"/>
          </p:cNvPicPr>
          <p:nvPr/>
        </p:nvPicPr>
        <p:blipFill>
          <a:blip r:embed="rId2"/>
          <a:stretch>
            <a:fillRect/>
          </a:stretch>
        </p:blipFill>
        <p:spPr>
          <a:xfrm>
            <a:off x="640080" y="3036709"/>
            <a:ext cx="7040880" cy="1516102"/>
          </a:xfrm>
          <a:prstGeom prst="rect">
            <a:avLst/>
          </a:prstGeom>
        </p:spPr>
      </p:pic>
      <p:sp>
        <p:nvSpPr>
          <p:cNvPr id="13" name="Shape 8"/>
          <p:cNvSpPr/>
          <p:nvPr/>
        </p:nvSpPr>
        <p:spPr>
          <a:xfrm>
            <a:off x="7955280" y="1371600"/>
            <a:ext cx="3657600" cy="4846320"/>
          </a:xfrm>
          <a:prstGeom prst="roundRect">
            <a:avLst>
              <a:gd name="adj" fmla="val 2500"/>
            </a:avLst>
          </a:prstGeom>
          <a:solidFill>
            <a:srgbClr val="FCEAF3"/>
          </a:solidFill>
          <a:ln w="12700">
            <a:solidFill>
              <a:srgbClr val="FCEAF3"/>
            </a:solidFill>
            <a:prstDash val="solid"/>
          </a:ln>
        </p:spPr>
      </p:sp>
      <p:sp>
        <p:nvSpPr>
          <p:cNvPr id="14" name="Shape 9"/>
          <p:cNvSpPr/>
          <p:nvPr/>
        </p:nvSpPr>
        <p:spPr>
          <a:xfrm>
            <a:off x="7955280" y="1463040"/>
            <a:ext cx="82296" cy="4663440"/>
          </a:xfrm>
          <a:prstGeom prst="rect">
            <a:avLst/>
          </a:prstGeom>
          <a:solidFill>
            <a:srgbClr val="E02F8A"/>
          </a:solidFill>
          <a:ln w="12700">
            <a:solidFill>
              <a:srgbClr val="E02F8A"/>
            </a:solidFill>
            <a:prstDash val="solid"/>
          </a:ln>
        </p:spPr>
      </p:sp>
      <p:sp>
        <p:nvSpPr>
          <p:cNvPr id="15" name="Text 10"/>
          <p:cNvSpPr txBox="1"/>
          <p:nvPr/>
        </p:nvSpPr>
        <p:spPr>
          <a:xfrm>
            <a:off x="8183880" y="1508760"/>
            <a:ext cx="3246120" cy="411480"/>
          </a:xfrm>
          <a:prstGeom prst="rect">
            <a:avLst/>
          </a:prstGeom>
          <a:noFill/>
          <a:ln/>
        </p:spPr>
        <p:txBody>
          <a:bodyPr wrap="square" lIns="0" tIns="0" rIns="0" bIns="0" rtlCol="0" anchor="ctr"/>
          <a:lstStyle/>
          <a:p>
            <a:pPr indent="0" marL="0">
              <a:buNone/>
            </a:pPr>
            <a:r>
              <a:rPr lang="en-US" sz="1700" b="1" dirty="0">
                <a:solidFill>
                  <a:srgbClr val="E02F8A"/>
                </a:solidFill>
                <a:latin typeface="Cambria" pitchFamily="34" charset="0"/>
                <a:ea typeface="Cambria" pitchFamily="34" charset="-122"/>
                <a:cs typeface="Cambria" pitchFamily="34" charset="-120"/>
              </a:rPr>
              <a:t>Penjelasan</a:t>
            </a:r>
            <a:endParaRPr lang="en-US" sz="1700" dirty="0"/>
          </a:p>
        </p:txBody>
      </p:sp>
      <p:sp>
        <p:nvSpPr>
          <p:cNvPr id="16" name="Text 11"/>
          <p:cNvSpPr txBox="1"/>
          <p:nvPr/>
        </p:nvSpPr>
        <p:spPr>
          <a:xfrm>
            <a:off x="8183880" y="2011680"/>
            <a:ext cx="3246120" cy="4069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Langkah Source: Power BI membuka berkas Excel dengan Excel.Workbook.</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Hasilnya daftar tiga objek: Customers, Products, Transactions (Kind = Sheet, Hidden = FALSE).</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Profil kolom: Valid 100%, Error 0%, Empty 0%.</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Applied Steps di kanan: Source, Navigation, Promoted Headers, Changed Type.</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Navigation kemudian memilih satu sheet menjadi satu tabel.</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E02F8A"/>
          </a:solidFill>
          <a:ln w="12700">
            <a:solidFill>
              <a:srgbClr val="E02F8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Power Query 2: tabel Customers</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TRANSFORMASI</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E02F8A"/>
          </a:solidFill>
          <a:ln w="12700">
            <a:solidFill>
              <a:srgbClr val="E02F8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371600"/>
            <a:ext cx="7223760" cy="4846320"/>
          </a:xfrm>
          <a:prstGeom prst="rect">
            <a:avLst/>
          </a:prstGeom>
          <a:solidFill>
            <a:srgbClr val="FFFFFF"/>
          </a:solidFill>
          <a:ln w="25400">
            <a:solidFill>
              <a:srgbClr val="E02F8A"/>
            </a:solidFill>
            <a:prstDash val="solid"/>
          </a:ln>
        </p:spPr>
      </p:sp>
      <p:pic>
        <p:nvPicPr>
          <p:cNvPr id="12" name="Image 1" descr="/tmp/claude-0/-home-user-EXACOUNT/b3a0efd5-5ef2-5930-a9ef-1d7b86874e77/images/94.png">    </p:cNvPr>
          <p:cNvPicPr>
            <a:picLocks noChangeAspect="1"/>
          </p:cNvPicPr>
          <p:nvPr/>
        </p:nvPicPr>
        <p:blipFill>
          <a:blip r:embed="rId2"/>
          <a:stretch>
            <a:fillRect/>
          </a:stretch>
        </p:blipFill>
        <p:spPr>
          <a:xfrm>
            <a:off x="640080" y="2073409"/>
            <a:ext cx="7040880" cy="3442702"/>
          </a:xfrm>
          <a:prstGeom prst="rect">
            <a:avLst/>
          </a:prstGeom>
        </p:spPr>
      </p:pic>
      <p:sp>
        <p:nvSpPr>
          <p:cNvPr id="13" name="Shape 8"/>
          <p:cNvSpPr/>
          <p:nvPr/>
        </p:nvSpPr>
        <p:spPr>
          <a:xfrm>
            <a:off x="7955280" y="1371600"/>
            <a:ext cx="3657600" cy="4846320"/>
          </a:xfrm>
          <a:prstGeom prst="roundRect">
            <a:avLst>
              <a:gd name="adj" fmla="val 2500"/>
            </a:avLst>
          </a:prstGeom>
          <a:solidFill>
            <a:srgbClr val="FCEAF3"/>
          </a:solidFill>
          <a:ln w="12700">
            <a:solidFill>
              <a:srgbClr val="FCEAF3"/>
            </a:solidFill>
            <a:prstDash val="solid"/>
          </a:ln>
        </p:spPr>
      </p:sp>
      <p:sp>
        <p:nvSpPr>
          <p:cNvPr id="14" name="Shape 9"/>
          <p:cNvSpPr/>
          <p:nvPr/>
        </p:nvSpPr>
        <p:spPr>
          <a:xfrm>
            <a:off x="7955280" y="1463040"/>
            <a:ext cx="82296" cy="4663440"/>
          </a:xfrm>
          <a:prstGeom prst="rect">
            <a:avLst/>
          </a:prstGeom>
          <a:solidFill>
            <a:srgbClr val="E02F8A"/>
          </a:solidFill>
          <a:ln w="12700">
            <a:solidFill>
              <a:srgbClr val="E02F8A"/>
            </a:solidFill>
            <a:prstDash val="solid"/>
          </a:ln>
        </p:spPr>
      </p:sp>
      <p:sp>
        <p:nvSpPr>
          <p:cNvPr id="15" name="Text 10"/>
          <p:cNvSpPr txBox="1"/>
          <p:nvPr/>
        </p:nvSpPr>
        <p:spPr>
          <a:xfrm>
            <a:off x="8183880" y="1508760"/>
            <a:ext cx="3246120" cy="411480"/>
          </a:xfrm>
          <a:prstGeom prst="rect">
            <a:avLst/>
          </a:prstGeom>
          <a:noFill/>
          <a:ln/>
        </p:spPr>
        <p:txBody>
          <a:bodyPr wrap="square" lIns="0" tIns="0" rIns="0" bIns="0" rtlCol="0" anchor="ctr"/>
          <a:lstStyle/>
          <a:p>
            <a:pPr indent="0" marL="0">
              <a:buNone/>
            </a:pPr>
            <a:r>
              <a:rPr lang="en-US" sz="1700" b="1" dirty="0">
                <a:solidFill>
                  <a:srgbClr val="E02F8A"/>
                </a:solidFill>
                <a:latin typeface="Cambria" pitchFamily="34" charset="0"/>
                <a:ea typeface="Cambria" pitchFamily="34" charset="-122"/>
                <a:cs typeface="Cambria" pitchFamily="34" charset="-120"/>
              </a:rPr>
              <a:t>Penjelasan</a:t>
            </a:r>
            <a:endParaRPr lang="en-US" sz="1700" dirty="0"/>
          </a:p>
        </p:txBody>
      </p:sp>
      <p:sp>
        <p:nvSpPr>
          <p:cNvPr id="16" name="Text 11"/>
          <p:cNvSpPr txBox="1"/>
          <p:nvPr/>
        </p:nvSpPr>
        <p:spPr>
          <a:xfrm>
            <a:off x="8183880" y="2011680"/>
            <a:ext cx="3246120" cy="4069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4 kolom dan 200 baris.</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Applied Steps: Source, Navigation, Promoted Headers, Changed Type.</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CustomerID dan CustomerName: 200 distinct, 200 unique, tidak ada duplikat.</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Region: 4 nilai berbeda (kategori).</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SignupDate bertipe Date.</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Valid 100%, Error 0%, Empty 0% pada semua kolom.</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E02F8A"/>
          </a:solidFill>
          <a:ln w="12700">
            <a:solidFill>
              <a:srgbClr val="E02F8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Power Query 3: tabel Products</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TRANSFORMASI</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E02F8A"/>
          </a:solidFill>
          <a:ln w="12700">
            <a:solidFill>
              <a:srgbClr val="E02F8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371600"/>
            <a:ext cx="7223760" cy="4846320"/>
          </a:xfrm>
          <a:prstGeom prst="rect">
            <a:avLst/>
          </a:prstGeom>
          <a:solidFill>
            <a:srgbClr val="FFFFFF"/>
          </a:solidFill>
          <a:ln w="25400">
            <a:solidFill>
              <a:srgbClr val="E02F8A"/>
            </a:solidFill>
            <a:prstDash val="solid"/>
          </a:ln>
        </p:spPr>
      </p:sp>
      <p:pic>
        <p:nvPicPr>
          <p:cNvPr id="12" name="Image 1" descr="/tmp/claude-0/-home-user-EXACOUNT/b3a0efd5-5ef2-5930-a9ef-1d7b86874e77/images/95.png">    </p:cNvPr>
          <p:cNvPicPr>
            <a:picLocks noChangeAspect="1"/>
          </p:cNvPicPr>
          <p:nvPr/>
        </p:nvPicPr>
        <p:blipFill>
          <a:blip r:embed="rId2"/>
          <a:stretch>
            <a:fillRect/>
          </a:stretch>
        </p:blipFill>
        <p:spPr>
          <a:xfrm>
            <a:off x="640080" y="2014350"/>
            <a:ext cx="7040880" cy="3560820"/>
          </a:xfrm>
          <a:prstGeom prst="rect">
            <a:avLst/>
          </a:prstGeom>
        </p:spPr>
      </p:pic>
      <p:sp>
        <p:nvSpPr>
          <p:cNvPr id="13" name="Shape 8"/>
          <p:cNvSpPr/>
          <p:nvPr/>
        </p:nvSpPr>
        <p:spPr>
          <a:xfrm>
            <a:off x="7955280" y="1371600"/>
            <a:ext cx="3657600" cy="4846320"/>
          </a:xfrm>
          <a:prstGeom prst="roundRect">
            <a:avLst>
              <a:gd name="adj" fmla="val 2500"/>
            </a:avLst>
          </a:prstGeom>
          <a:solidFill>
            <a:srgbClr val="FCEAF3"/>
          </a:solidFill>
          <a:ln w="12700">
            <a:solidFill>
              <a:srgbClr val="FCEAF3"/>
            </a:solidFill>
            <a:prstDash val="solid"/>
          </a:ln>
        </p:spPr>
      </p:sp>
      <p:sp>
        <p:nvSpPr>
          <p:cNvPr id="14" name="Shape 9"/>
          <p:cNvSpPr/>
          <p:nvPr/>
        </p:nvSpPr>
        <p:spPr>
          <a:xfrm>
            <a:off x="7955280" y="1463040"/>
            <a:ext cx="82296" cy="4663440"/>
          </a:xfrm>
          <a:prstGeom prst="rect">
            <a:avLst/>
          </a:prstGeom>
          <a:solidFill>
            <a:srgbClr val="E02F8A"/>
          </a:solidFill>
          <a:ln w="12700">
            <a:solidFill>
              <a:srgbClr val="E02F8A"/>
            </a:solidFill>
            <a:prstDash val="solid"/>
          </a:ln>
        </p:spPr>
      </p:sp>
      <p:sp>
        <p:nvSpPr>
          <p:cNvPr id="15" name="Text 10"/>
          <p:cNvSpPr txBox="1"/>
          <p:nvPr/>
        </p:nvSpPr>
        <p:spPr>
          <a:xfrm>
            <a:off x="8183880" y="1508760"/>
            <a:ext cx="3246120" cy="411480"/>
          </a:xfrm>
          <a:prstGeom prst="rect">
            <a:avLst/>
          </a:prstGeom>
          <a:noFill/>
          <a:ln/>
        </p:spPr>
        <p:txBody>
          <a:bodyPr wrap="square" lIns="0" tIns="0" rIns="0" bIns="0" rtlCol="0" anchor="ctr"/>
          <a:lstStyle/>
          <a:p>
            <a:pPr indent="0" marL="0">
              <a:buNone/>
            </a:pPr>
            <a:r>
              <a:rPr lang="en-US" sz="1700" b="1" dirty="0">
                <a:solidFill>
                  <a:srgbClr val="E02F8A"/>
                </a:solidFill>
                <a:latin typeface="Cambria" pitchFamily="34" charset="0"/>
                <a:ea typeface="Cambria" pitchFamily="34" charset="-122"/>
                <a:cs typeface="Cambria" pitchFamily="34" charset="-120"/>
              </a:rPr>
              <a:t>Penjelasan</a:t>
            </a:r>
            <a:endParaRPr lang="en-US" sz="1700" dirty="0"/>
          </a:p>
        </p:txBody>
      </p:sp>
      <p:sp>
        <p:nvSpPr>
          <p:cNvPr id="16" name="Text 11"/>
          <p:cNvSpPr txBox="1"/>
          <p:nvPr/>
        </p:nvSpPr>
        <p:spPr>
          <a:xfrm>
            <a:off x="8183880" y="2011680"/>
            <a:ext cx="3246120" cy="4069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4 kolom dan 100 baris.</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Empat langkah yang sama dengan Customers.</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ProductID: 100 unique.</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ProductName: 66 distinct, 41 unique, sebagian nama berulang dengan harga berbeda.</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Category: 4 nilai berbeda; Price bertipe desimal.</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Valid 100%, Error 0%, Empty 0%.</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E02F8A"/>
          </a:solidFill>
          <a:ln w="12700">
            <a:solidFill>
              <a:srgbClr val="E02F8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Power Query 4: tabel Transactions</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TRANSFORMASI</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E02F8A"/>
          </a:solidFill>
          <a:ln w="12700">
            <a:solidFill>
              <a:srgbClr val="E02F8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371600"/>
            <a:ext cx="7223760" cy="4846320"/>
          </a:xfrm>
          <a:prstGeom prst="rect">
            <a:avLst/>
          </a:prstGeom>
          <a:solidFill>
            <a:srgbClr val="FFFFFF"/>
          </a:solidFill>
          <a:ln w="25400">
            <a:solidFill>
              <a:srgbClr val="E02F8A"/>
            </a:solidFill>
            <a:prstDash val="solid"/>
          </a:ln>
        </p:spPr>
      </p:sp>
      <p:pic>
        <p:nvPicPr>
          <p:cNvPr id="12" name="Image 1" descr="/tmp/claude-0/-home-user-EXACOUNT/b3a0efd5-5ef2-5930-a9ef-1d7b86874e77/images/96.png">    </p:cNvPr>
          <p:cNvPicPr>
            <a:picLocks noChangeAspect="1"/>
          </p:cNvPicPr>
          <p:nvPr/>
        </p:nvPicPr>
        <p:blipFill>
          <a:blip r:embed="rId2"/>
          <a:stretch>
            <a:fillRect/>
          </a:stretch>
        </p:blipFill>
        <p:spPr>
          <a:xfrm>
            <a:off x="640080" y="1975435"/>
            <a:ext cx="7040880" cy="3638650"/>
          </a:xfrm>
          <a:prstGeom prst="rect">
            <a:avLst/>
          </a:prstGeom>
        </p:spPr>
      </p:pic>
      <p:sp>
        <p:nvSpPr>
          <p:cNvPr id="13" name="Shape 8"/>
          <p:cNvSpPr/>
          <p:nvPr/>
        </p:nvSpPr>
        <p:spPr>
          <a:xfrm>
            <a:off x="7955280" y="1371600"/>
            <a:ext cx="3657600" cy="4846320"/>
          </a:xfrm>
          <a:prstGeom prst="roundRect">
            <a:avLst>
              <a:gd name="adj" fmla="val 2500"/>
            </a:avLst>
          </a:prstGeom>
          <a:solidFill>
            <a:srgbClr val="FCEAF3"/>
          </a:solidFill>
          <a:ln w="12700">
            <a:solidFill>
              <a:srgbClr val="FCEAF3"/>
            </a:solidFill>
            <a:prstDash val="solid"/>
          </a:ln>
        </p:spPr>
      </p:sp>
      <p:sp>
        <p:nvSpPr>
          <p:cNvPr id="14" name="Shape 9"/>
          <p:cNvSpPr/>
          <p:nvPr/>
        </p:nvSpPr>
        <p:spPr>
          <a:xfrm>
            <a:off x="7955280" y="1463040"/>
            <a:ext cx="82296" cy="4663440"/>
          </a:xfrm>
          <a:prstGeom prst="rect">
            <a:avLst/>
          </a:prstGeom>
          <a:solidFill>
            <a:srgbClr val="E02F8A"/>
          </a:solidFill>
          <a:ln w="12700">
            <a:solidFill>
              <a:srgbClr val="E02F8A"/>
            </a:solidFill>
            <a:prstDash val="solid"/>
          </a:ln>
        </p:spPr>
      </p:sp>
      <p:sp>
        <p:nvSpPr>
          <p:cNvPr id="15" name="Text 10"/>
          <p:cNvSpPr txBox="1"/>
          <p:nvPr/>
        </p:nvSpPr>
        <p:spPr>
          <a:xfrm>
            <a:off x="8183880" y="1508760"/>
            <a:ext cx="3246120" cy="411480"/>
          </a:xfrm>
          <a:prstGeom prst="rect">
            <a:avLst/>
          </a:prstGeom>
          <a:noFill/>
          <a:ln/>
        </p:spPr>
        <p:txBody>
          <a:bodyPr wrap="square" lIns="0" tIns="0" rIns="0" bIns="0" rtlCol="0" anchor="ctr"/>
          <a:lstStyle/>
          <a:p>
            <a:pPr indent="0" marL="0">
              <a:buNone/>
            </a:pPr>
            <a:r>
              <a:rPr lang="en-US" sz="1700" b="1" dirty="0">
                <a:solidFill>
                  <a:srgbClr val="E02F8A"/>
                </a:solidFill>
                <a:latin typeface="Cambria" pitchFamily="34" charset="0"/>
                <a:ea typeface="Cambria" pitchFamily="34" charset="-122"/>
                <a:cs typeface="Cambria" pitchFamily="34" charset="-120"/>
              </a:rPr>
              <a:t>Penjelasan</a:t>
            </a:r>
            <a:endParaRPr lang="en-US" sz="1700" dirty="0"/>
          </a:p>
        </p:txBody>
      </p:sp>
      <p:sp>
        <p:nvSpPr>
          <p:cNvPr id="16" name="Text 11"/>
          <p:cNvSpPr txBox="1"/>
          <p:nvPr/>
        </p:nvSpPr>
        <p:spPr>
          <a:xfrm>
            <a:off x="8183880" y="2011680"/>
            <a:ext cx="3246120" cy="4069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7 kolom dan 1.000 baris.</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TransactionID dan TransactionDate: 1.000 nilai unik.</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CustomerID: 199 distinct, yaitu pelanggan yang bertransaksi.</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ProductID: 100 distinct.</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Quantity bilangan bulat, 4 nilai berbeda (1 sampai 4).</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TotalValue dan Price bertipe desimal; Valid 100%.</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E02F8A"/>
          </a:solidFill>
          <a:ln w="12700">
            <a:solidFill>
              <a:srgbClr val="E02F8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Hasil di Power BI 1: tabel Customers</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TRANSFORMASI</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E02F8A"/>
          </a:solidFill>
          <a:ln w="12700">
            <a:solidFill>
              <a:srgbClr val="E02F8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371600"/>
            <a:ext cx="7223760" cy="4846320"/>
          </a:xfrm>
          <a:prstGeom prst="rect">
            <a:avLst/>
          </a:prstGeom>
          <a:solidFill>
            <a:srgbClr val="FFFFFF"/>
          </a:solidFill>
          <a:ln w="25400">
            <a:solidFill>
              <a:srgbClr val="E02F8A"/>
            </a:solidFill>
            <a:prstDash val="solid"/>
          </a:ln>
        </p:spPr>
      </p:sp>
      <p:pic>
        <p:nvPicPr>
          <p:cNvPr id="12" name="Image 1" descr="/tmp/claude-0/-home-user-EXACOUNT/b3a0efd5-5ef2-5930-a9ef-1d7b86874e77/images/89.png">    </p:cNvPr>
          <p:cNvPicPr>
            <a:picLocks noChangeAspect="1"/>
          </p:cNvPicPr>
          <p:nvPr/>
        </p:nvPicPr>
        <p:blipFill>
          <a:blip r:embed="rId2"/>
          <a:stretch>
            <a:fillRect/>
          </a:stretch>
        </p:blipFill>
        <p:spPr>
          <a:xfrm>
            <a:off x="1601764" y="1463040"/>
            <a:ext cx="5117512" cy="4663440"/>
          </a:xfrm>
          <a:prstGeom prst="rect">
            <a:avLst/>
          </a:prstGeom>
        </p:spPr>
      </p:pic>
      <p:sp>
        <p:nvSpPr>
          <p:cNvPr id="13" name="Shape 8"/>
          <p:cNvSpPr/>
          <p:nvPr/>
        </p:nvSpPr>
        <p:spPr>
          <a:xfrm>
            <a:off x="7955280" y="1371600"/>
            <a:ext cx="3657600" cy="4846320"/>
          </a:xfrm>
          <a:prstGeom prst="roundRect">
            <a:avLst>
              <a:gd name="adj" fmla="val 2500"/>
            </a:avLst>
          </a:prstGeom>
          <a:solidFill>
            <a:srgbClr val="FCEAF3"/>
          </a:solidFill>
          <a:ln w="12700">
            <a:solidFill>
              <a:srgbClr val="FCEAF3"/>
            </a:solidFill>
            <a:prstDash val="solid"/>
          </a:ln>
        </p:spPr>
      </p:sp>
      <p:sp>
        <p:nvSpPr>
          <p:cNvPr id="14" name="Shape 9"/>
          <p:cNvSpPr/>
          <p:nvPr/>
        </p:nvSpPr>
        <p:spPr>
          <a:xfrm>
            <a:off x="7955280" y="1463040"/>
            <a:ext cx="82296" cy="4663440"/>
          </a:xfrm>
          <a:prstGeom prst="rect">
            <a:avLst/>
          </a:prstGeom>
          <a:solidFill>
            <a:srgbClr val="E02F8A"/>
          </a:solidFill>
          <a:ln w="12700">
            <a:solidFill>
              <a:srgbClr val="E02F8A"/>
            </a:solidFill>
            <a:prstDash val="solid"/>
          </a:ln>
        </p:spPr>
      </p:sp>
      <p:sp>
        <p:nvSpPr>
          <p:cNvPr id="15" name="Text 10"/>
          <p:cNvSpPr txBox="1"/>
          <p:nvPr/>
        </p:nvSpPr>
        <p:spPr>
          <a:xfrm>
            <a:off x="8183880" y="1508760"/>
            <a:ext cx="3246120" cy="411480"/>
          </a:xfrm>
          <a:prstGeom prst="rect">
            <a:avLst/>
          </a:prstGeom>
          <a:noFill/>
          <a:ln/>
        </p:spPr>
        <p:txBody>
          <a:bodyPr wrap="square" lIns="0" tIns="0" rIns="0" bIns="0" rtlCol="0" anchor="ctr"/>
          <a:lstStyle/>
          <a:p>
            <a:pPr indent="0" marL="0">
              <a:buNone/>
            </a:pPr>
            <a:r>
              <a:rPr lang="en-US" sz="1700" b="1" dirty="0">
                <a:solidFill>
                  <a:srgbClr val="E02F8A"/>
                </a:solidFill>
                <a:latin typeface="Cambria" pitchFamily="34" charset="0"/>
                <a:ea typeface="Cambria" pitchFamily="34" charset="-122"/>
                <a:cs typeface="Cambria" pitchFamily="34" charset="-120"/>
              </a:rPr>
              <a:t>Penjelasan</a:t>
            </a:r>
            <a:endParaRPr lang="en-US" sz="1700" dirty="0"/>
          </a:p>
        </p:txBody>
      </p:sp>
      <p:sp>
        <p:nvSpPr>
          <p:cNvPr id="16" name="Text 11"/>
          <p:cNvSpPr txBox="1"/>
          <p:nvPr/>
        </p:nvSpPr>
        <p:spPr>
          <a:xfrm>
            <a:off x="8183880" y="2011680"/>
            <a:ext cx="3246120" cy="4069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Table view setelah data dimuat ke model Power BI.</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Footer: Table Customers (200 rows).</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SignupDate tampil dalam format tanggal panjang (hari, bulan, tahun); nilai asli tetap tanggal.</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Tabel ini menjadi dimensi pelanggan.</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Region dipakai sebagai slicer pada dashboard.</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E02F8A"/>
          </a:solidFill>
          <a:ln w="12700">
            <a:solidFill>
              <a:srgbClr val="E02F8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Hasil di Power BI 2: tabel Products</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TRANSFORMASI</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E02F8A"/>
          </a:solidFill>
          <a:ln w="12700">
            <a:solidFill>
              <a:srgbClr val="E02F8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371600"/>
            <a:ext cx="7223760" cy="4846320"/>
          </a:xfrm>
          <a:prstGeom prst="rect">
            <a:avLst/>
          </a:prstGeom>
          <a:solidFill>
            <a:srgbClr val="FFFFFF"/>
          </a:solidFill>
          <a:ln w="25400">
            <a:solidFill>
              <a:srgbClr val="E02F8A"/>
            </a:solidFill>
            <a:prstDash val="solid"/>
          </a:ln>
        </p:spPr>
      </p:sp>
      <p:pic>
        <p:nvPicPr>
          <p:cNvPr id="12" name="Image 1" descr="/tmp/claude-0/-home-user-EXACOUNT/b3a0efd5-5ef2-5930-a9ef-1d7b86874e77/images/92.png">    </p:cNvPr>
          <p:cNvPicPr>
            <a:picLocks noChangeAspect="1"/>
          </p:cNvPicPr>
          <p:nvPr/>
        </p:nvPicPr>
        <p:blipFill>
          <a:blip r:embed="rId2"/>
          <a:stretch>
            <a:fillRect/>
          </a:stretch>
        </p:blipFill>
        <p:spPr>
          <a:xfrm>
            <a:off x="1482475" y="1463040"/>
            <a:ext cx="5356089" cy="4663440"/>
          </a:xfrm>
          <a:prstGeom prst="rect">
            <a:avLst/>
          </a:prstGeom>
        </p:spPr>
      </p:pic>
      <p:sp>
        <p:nvSpPr>
          <p:cNvPr id="13" name="Shape 8"/>
          <p:cNvSpPr/>
          <p:nvPr/>
        </p:nvSpPr>
        <p:spPr>
          <a:xfrm>
            <a:off x="7955280" y="1371600"/>
            <a:ext cx="3657600" cy="4846320"/>
          </a:xfrm>
          <a:prstGeom prst="roundRect">
            <a:avLst>
              <a:gd name="adj" fmla="val 2500"/>
            </a:avLst>
          </a:prstGeom>
          <a:solidFill>
            <a:srgbClr val="FCEAF3"/>
          </a:solidFill>
          <a:ln w="12700">
            <a:solidFill>
              <a:srgbClr val="FCEAF3"/>
            </a:solidFill>
            <a:prstDash val="solid"/>
          </a:ln>
        </p:spPr>
      </p:sp>
      <p:sp>
        <p:nvSpPr>
          <p:cNvPr id="14" name="Shape 9"/>
          <p:cNvSpPr/>
          <p:nvPr/>
        </p:nvSpPr>
        <p:spPr>
          <a:xfrm>
            <a:off x="7955280" y="1463040"/>
            <a:ext cx="82296" cy="4663440"/>
          </a:xfrm>
          <a:prstGeom prst="rect">
            <a:avLst/>
          </a:prstGeom>
          <a:solidFill>
            <a:srgbClr val="E02F8A"/>
          </a:solidFill>
          <a:ln w="12700">
            <a:solidFill>
              <a:srgbClr val="E02F8A"/>
            </a:solidFill>
            <a:prstDash val="solid"/>
          </a:ln>
        </p:spPr>
      </p:sp>
      <p:sp>
        <p:nvSpPr>
          <p:cNvPr id="15" name="Text 10"/>
          <p:cNvSpPr txBox="1"/>
          <p:nvPr/>
        </p:nvSpPr>
        <p:spPr>
          <a:xfrm>
            <a:off x="8183880" y="1508760"/>
            <a:ext cx="3246120" cy="411480"/>
          </a:xfrm>
          <a:prstGeom prst="rect">
            <a:avLst/>
          </a:prstGeom>
          <a:noFill/>
          <a:ln/>
        </p:spPr>
        <p:txBody>
          <a:bodyPr wrap="square" lIns="0" tIns="0" rIns="0" bIns="0" rtlCol="0" anchor="ctr"/>
          <a:lstStyle/>
          <a:p>
            <a:pPr indent="0" marL="0">
              <a:buNone/>
            </a:pPr>
            <a:r>
              <a:rPr lang="en-US" sz="1700" b="1" dirty="0">
                <a:solidFill>
                  <a:srgbClr val="E02F8A"/>
                </a:solidFill>
                <a:latin typeface="Cambria" pitchFamily="34" charset="0"/>
                <a:ea typeface="Cambria" pitchFamily="34" charset="-122"/>
                <a:cs typeface="Cambria" pitchFamily="34" charset="-120"/>
              </a:rPr>
              <a:t>Penjelasan</a:t>
            </a:r>
            <a:endParaRPr lang="en-US" sz="1700" dirty="0"/>
          </a:p>
        </p:txBody>
      </p:sp>
      <p:sp>
        <p:nvSpPr>
          <p:cNvPr id="16" name="Text 11"/>
          <p:cNvSpPr txBox="1"/>
          <p:nvPr/>
        </p:nvSpPr>
        <p:spPr>
          <a:xfrm>
            <a:off x="8183880" y="2011680"/>
            <a:ext cx="3246120" cy="4069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Table view tabel Products (100 rows).</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Price berupa angka desimal.</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Category menjadi dimensi untuk grafik kategori.</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ProductID adalah kunci relasi ke Transactions.</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E02F8A"/>
          </a:solidFill>
          <a:ln w="12700">
            <a:solidFill>
              <a:srgbClr val="E02F8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Hasil di Power BI 3: tabel Transactions</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TRANSFORMASI</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E02F8A"/>
          </a:solidFill>
          <a:ln w="12700">
            <a:solidFill>
              <a:srgbClr val="E02F8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371600"/>
            <a:ext cx="7223760" cy="4846320"/>
          </a:xfrm>
          <a:prstGeom prst="rect">
            <a:avLst/>
          </a:prstGeom>
          <a:solidFill>
            <a:srgbClr val="FFFFFF"/>
          </a:solidFill>
          <a:ln w="25400">
            <a:solidFill>
              <a:srgbClr val="E02F8A"/>
            </a:solidFill>
            <a:prstDash val="solid"/>
          </a:ln>
        </p:spPr>
      </p:sp>
      <p:pic>
        <p:nvPicPr>
          <p:cNvPr id="12" name="Image 1" descr="/tmp/claude-0/-home-user-EXACOUNT/b3a0efd5-5ef2-5930-a9ef-1d7b86874e77/images/91.png">    </p:cNvPr>
          <p:cNvPicPr>
            <a:picLocks noChangeAspect="1"/>
          </p:cNvPicPr>
          <p:nvPr/>
        </p:nvPicPr>
        <p:blipFill>
          <a:blip r:embed="rId2"/>
          <a:stretch>
            <a:fillRect/>
          </a:stretch>
        </p:blipFill>
        <p:spPr>
          <a:xfrm>
            <a:off x="832080" y="1463040"/>
            <a:ext cx="6656879" cy="4663440"/>
          </a:xfrm>
          <a:prstGeom prst="rect">
            <a:avLst/>
          </a:prstGeom>
        </p:spPr>
      </p:pic>
      <p:sp>
        <p:nvSpPr>
          <p:cNvPr id="13" name="Shape 8"/>
          <p:cNvSpPr/>
          <p:nvPr/>
        </p:nvSpPr>
        <p:spPr>
          <a:xfrm>
            <a:off x="7955280" y="1371600"/>
            <a:ext cx="3657600" cy="4846320"/>
          </a:xfrm>
          <a:prstGeom prst="roundRect">
            <a:avLst>
              <a:gd name="adj" fmla="val 2500"/>
            </a:avLst>
          </a:prstGeom>
          <a:solidFill>
            <a:srgbClr val="FCEAF3"/>
          </a:solidFill>
          <a:ln w="12700">
            <a:solidFill>
              <a:srgbClr val="FCEAF3"/>
            </a:solidFill>
            <a:prstDash val="solid"/>
          </a:ln>
        </p:spPr>
      </p:sp>
      <p:sp>
        <p:nvSpPr>
          <p:cNvPr id="14" name="Shape 9"/>
          <p:cNvSpPr/>
          <p:nvPr/>
        </p:nvSpPr>
        <p:spPr>
          <a:xfrm>
            <a:off x="7955280" y="1463040"/>
            <a:ext cx="82296" cy="4663440"/>
          </a:xfrm>
          <a:prstGeom prst="rect">
            <a:avLst/>
          </a:prstGeom>
          <a:solidFill>
            <a:srgbClr val="E02F8A"/>
          </a:solidFill>
          <a:ln w="12700">
            <a:solidFill>
              <a:srgbClr val="E02F8A"/>
            </a:solidFill>
            <a:prstDash val="solid"/>
          </a:ln>
        </p:spPr>
      </p:sp>
      <p:sp>
        <p:nvSpPr>
          <p:cNvPr id="15" name="Text 10"/>
          <p:cNvSpPr txBox="1"/>
          <p:nvPr/>
        </p:nvSpPr>
        <p:spPr>
          <a:xfrm>
            <a:off x="8183880" y="1508760"/>
            <a:ext cx="3246120" cy="411480"/>
          </a:xfrm>
          <a:prstGeom prst="rect">
            <a:avLst/>
          </a:prstGeom>
          <a:noFill/>
          <a:ln/>
        </p:spPr>
        <p:txBody>
          <a:bodyPr wrap="square" lIns="0" tIns="0" rIns="0" bIns="0" rtlCol="0" anchor="ctr"/>
          <a:lstStyle/>
          <a:p>
            <a:pPr indent="0" marL="0">
              <a:buNone/>
            </a:pPr>
            <a:r>
              <a:rPr lang="en-US" sz="1700" b="1" dirty="0">
                <a:solidFill>
                  <a:srgbClr val="E02F8A"/>
                </a:solidFill>
                <a:latin typeface="Cambria" pitchFamily="34" charset="0"/>
                <a:ea typeface="Cambria" pitchFamily="34" charset="-122"/>
                <a:cs typeface="Cambria" pitchFamily="34" charset="-120"/>
              </a:rPr>
              <a:t>Penjelasan</a:t>
            </a:r>
            <a:endParaRPr lang="en-US" sz="1700" dirty="0"/>
          </a:p>
        </p:txBody>
      </p:sp>
      <p:sp>
        <p:nvSpPr>
          <p:cNvPr id="16" name="Text 11"/>
          <p:cNvSpPr txBox="1"/>
          <p:nvPr/>
        </p:nvSpPr>
        <p:spPr>
          <a:xfrm>
            <a:off x="8183880" y="2011680"/>
            <a:ext cx="3246120" cy="4069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Table view tabel Transactions (1,000 rows), tabel fakta.</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TransactionDate tampil format tanggal-jam M/D/YYYY.</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Tampilan terurut menurut Quantity (semua baris 4 unit); ini hanya urutan tampilan, bukan perubahan data.</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Kolom Price tersorot karena sedang dipilih.</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Satu baris = satu transaksi.</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E02F8A"/>
          </a:solidFill>
          <a:ln w="12700">
            <a:solidFill>
              <a:srgbClr val="E02F8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Pemeriksaan kualitas data</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TRANSFORMASI</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E02F8A"/>
          </a:solidFill>
          <a:ln w="12700">
            <a:solidFill>
              <a:srgbClr val="E02F8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Text 7"/>
          <p:cNvSpPr txBox="1"/>
          <p:nvPr/>
        </p:nvSpPr>
        <p:spPr>
          <a:xfrm>
            <a:off x="548640" y="1371600"/>
            <a:ext cx="2651760" cy="731520"/>
          </a:xfrm>
          <a:prstGeom prst="rect">
            <a:avLst/>
          </a:prstGeom>
          <a:noFill/>
          <a:ln/>
        </p:spPr>
        <p:txBody>
          <a:bodyPr wrap="square" lIns="0" tIns="0" rIns="0" bIns="0" rtlCol="0" anchor="ctr"/>
          <a:lstStyle/>
          <a:p>
            <a:pPr indent="0" marL="0">
              <a:buNone/>
            </a:pPr>
            <a:r>
              <a:rPr lang="en-US" sz="4800" b="1" dirty="0">
                <a:solidFill>
                  <a:srgbClr val="1B9AAA"/>
                </a:solidFill>
                <a:latin typeface="Cambria" pitchFamily="34" charset="0"/>
                <a:ea typeface="Cambria" pitchFamily="34" charset="-122"/>
                <a:cs typeface="Cambria" pitchFamily="34" charset="-120"/>
              </a:rPr>
              <a:t>0</a:t>
            </a:r>
            <a:endParaRPr lang="en-US" sz="4800" dirty="0"/>
          </a:p>
        </p:txBody>
      </p:sp>
      <p:sp>
        <p:nvSpPr>
          <p:cNvPr id="12" name="Text 8"/>
          <p:cNvSpPr txBox="1"/>
          <p:nvPr/>
        </p:nvSpPr>
        <p:spPr>
          <a:xfrm>
            <a:off x="548640" y="2103120"/>
            <a:ext cx="265176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nilai kosong di ketiga tabel</a:t>
            </a:r>
            <a:endParaRPr lang="en-US" sz="1300" dirty="0"/>
          </a:p>
        </p:txBody>
      </p:sp>
      <p:sp>
        <p:nvSpPr>
          <p:cNvPr id="13" name="Text 9"/>
          <p:cNvSpPr txBox="1"/>
          <p:nvPr/>
        </p:nvSpPr>
        <p:spPr>
          <a:xfrm>
            <a:off x="3383280" y="1371600"/>
            <a:ext cx="2651760" cy="731520"/>
          </a:xfrm>
          <a:prstGeom prst="rect">
            <a:avLst/>
          </a:prstGeom>
          <a:noFill/>
          <a:ln/>
        </p:spPr>
        <p:txBody>
          <a:bodyPr wrap="square" lIns="0" tIns="0" rIns="0" bIns="0" rtlCol="0" anchor="ctr"/>
          <a:lstStyle/>
          <a:p>
            <a:pPr indent="0" marL="0">
              <a:buNone/>
            </a:pPr>
            <a:r>
              <a:rPr lang="en-US" sz="4800" b="1" dirty="0">
                <a:solidFill>
                  <a:srgbClr val="E8832B"/>
                </a:solidFill>
                <a:latin typeface="Cambria" pitchFamily="34" charset="0"/>
                <a:ea typeface="Cambria" pitchFamily="34" charset="-122"/>
                <a:cs typeface="Cambria" pitchFamily="34" charset="-120"/>
              </a:rPr>
              <a:t>0</a:t>
            </a:r>
            <a:endParaRPr lang="en-US" sz="4800" dirty="0"/>
          </a:p>
        </p:txBody>
      </p:sp>
      <p:sp>
        <p:nvSpPr>
          <p:cNvPr id="14" name="Text 10"/>
          <p:cNvSpPr txBox="1"/>
          <p:nvPr/>
        </p:nvSpPr>
        <p:spPr>
          <a:xfrm>
            <a:off x="3383280" y="2103120"/>
            <a:ext cx="265176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ID ganda</a:t>
            </a:r>
            <a:endParaRPr lang="en-US" sz="1300" dirty="0"/>
          </a:p>
        </p:txBody>
      </p:sp>
      <p:sp>
        <p:nvSpPr>
          <p:cNvPr id="15" name="Text 11"/>
          <p:cNvSpPr txBox="1"/>
          <p:nvPr/>
        </p:nvSpPr>
        <p:spPr>
          <a:xfrm>
            <a:off x="6217920" y="1371600"/>
            <a:ext cx="2651760" cy="731520"/>
          </a:xfrm>
          <a:prstGeom prst="rect">
            <a:avLst/>
          </a:prstGeom>
          <a:noFill/>
          <a:ln/>
        </p:spPr>
        <p:txBody>
          <a:bodyPr wrap="square" lIns="0" tIns="0" rIns="0" bIns="0" rtlCol="0" anchor="ctr"/>
          <a:lstStyle/>
          <a:p>
            <a:pPr indent="0" marL="0">
              <a:buNone/>
            </a:pPr>
            <a:r>
              <a:rPr lang="en-US" sz="4800" b="1" dirty="0">
                <a:solidFill>
                  <a:srgbClr val="1B9AAA"/>
                </a:solidFill>
                <a:latin typeface="Cambria" pitchFamily="34" charset="0"/>
                <a:ea typeface="Cambria" pitchFamily="34" charset="-122"/>
                <a:cs typeface="Cambria" pitchFamily="34" charset="-120"/>
              </a:rPr>
              <a:t>0</a:t>
            </a:r>
            <a:endParaRPr lang="en-US" sz="4800" dirty="0"/>
          </a:p>
        </p:txBody>
      </p:sp>
      <p:sp>
        <p:nvSpPr>
          <p:cNvPr id="16" name="Text 12"/>
          <p:cNvSpPr txBox="1"/>
          <p:nvPr/>
        </p:nvSpPr>
        <p:spPr>
          <a:xfrm>
            <a:off x="6217920" y="2103120"/>
            <a:ext cx="265176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kunci transaksi tanpa pasangan</a:t>
            </a:r>
            <a:endParaRPr lang="en-US" sz="1300" dirty="0"/>
          </a:p>
        </p:txBody>
      </p:sp>
      <p:sp>
        <p:nvSpPr>
          <p:cNvPr id="17" name="Text 13"/>
          <p:cNvSpPr txBox="1"/>
          <p:nvPr/>
        </p:nvSpPr>
        <p:spPr>
          <a:xfrm>
            <a:off x="9052560" y="1371600"/>
            <a:ext cx="2651760" cy="731520"/>
          </a:xfrm>
          <a:prstGeom prst="rect">
            <a:avLst/>
          </a:prstGeom>
          <a:noFill/>
          <a:ln/>
        </p:spPr>
        <p:txBody>
          <a:bodyPr wrap="square" lIns="0" tIns="0" rIns="0" bIns="0" rtlCol="0" anchor="ctr"/>
          <a:lstStyle/>
          <a:p>
            <a:pPr indent="0" marL="0">
              <a:buNone/>
            </a:pPr>
            <a:r>
              <a:rPr lang="en-US" sz="4800" b="1" dirty="0">
                <a:solidFill>
                  <a:srgbClr val="E8832B"/>
                </a:solidFill>
                <a:latin typeface="Cambria" pitchFamily="34" charset="0"/>
                <a:ea typeface="Cambria" pitchFamily="34" charset="-122"/>
                <a:cs typeface="Cambria" pitchFamily="34" charset="-120"/>
              </a:rPr>
              <a:t>0</a:t>
            </a:r>
            <a:endParaRPr lang="en-US" sz="4800" dirty="0"/>
          </a:p>
        </p:txBody>
      </p:sp>
      <p:sp>
        <p:nvSpPr>
          <p:cNvPr id="18" name="Text 14"/>
          <p:cNvSpPr txBox="1"/>
          <p:nvPr/>
        </p:nvSpPr>
        <p:spPr>
          <a:xfrm>
            <a:off x="9052560" y="2103120"/>
            <a:ext cx="265176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selisih TotalValue dan Quantity x Price</a:t>
            </a:r>
            <a:endParaRPr lang="en-US" sz="1300" dirty="0"/>
          </a:p>
        </p:txBody>
      </p:sp>
      <p:sp>
        <p:nvSpPr>
          <p:cNvPr id="19" name="Text 15"/>
          <p:cNvSpPr txBox="1"/>
          <p:nvPr/>
        </p:nvSpPr>
        <p:spPr>
          <a:xfrm>
            <a:off x="548640" y="2743200"/>
            <a:ext cx="11064240" cy="365760"/>
          </a:xfrm>
          <a:prstGeom prst="rect">
            <a:avLst/>
          </a:prstGeom>
          <a:noFill/>
          <a:ln/>
        </p:spPr>
        <p:txBody>
          <a:bodyPr wrap="square" lIns="0" tIns="0" rIns="0" bIns="0" rtlCol="0" anchor="t"/>
          <a:lstStyle/>
          <a:p>
            <a:pPr indent="0" marL="0">
              <a:buNone/>
            </a:pPr>
            <a:r>
              <a:rPr lang="en-US" sz="1500" b="1" dirty="0">
                <a:solidFill>
                  <a:srgbClr val="1A0683"/>
                </a:solidFill>
                <a:latin typeface="Calibri" pitchFamily="34" charset="0"/>
                <a:ea typeface="Calibri" pitchFamily="34" charset="-122"/>
                <a:cs typeface="Calibri" pitchFamily="34" charset="-120"/>
              </a:rPr>
              <a:t>Angka nol = tidak ada masalah yang ditemukan.</a:t>
            </a:r>
            <a:endParaRPr lang="en-US" sz="1500" dirty="0"/>
          </a:p>
        </p:txBody>
      </p:sp>
      <p:sp>
        <p:nvSpPr>
          <p:cNvPr id="20" name="Shape 16"/>
          <p:cNvSpPr/>
          <p:nvPr/>
        </p:nvSpPr>
        <p:spPr>
          <a:xfrm>
            <a:off x="548640" y="3291840"/>
            <a:ext cx="5486400" cy="3017520"/>
          </a:xfrm>
          <a:prstGeom prst="roundRect">
            <a:avLst>
              <a:gd name="adj" fmla="val 3030"/>
            </a:avLst>
          </a:prstGeom>
          <a:solidFill>
            <a:srgbClr val="FCEAF3"/>
          </a:solidFill>
          <a:ln w="12700">
            <a:solidFill>
              <a:srgbClr val="FCEAF3"/>
            </a:solidFill>
            <a:prstDash val="solid"/>
          </a:ln>
        </p:spPr>
      </p:sp>
      <p:sp>
        <p:nvSpPr>
          <p:cNvPr id="21" name="Shape 17"/>
          <p:cNvSpPr/>
          <p:nvPr/>
        </p:nvSpPr>
        <p:spPr>
          <a:xfrm>
            <a:off x="548640" y="3383280"/>
            <a:ext cx="82296" cy="2834640"/>
          </a:xfrm>
          <a:prstGeom prst="rect">
            <a:avLst/>
          </a:prstGeom>
          <a:solidFill>
            <a:srgbClr val="E02F8A"/>
          </a:solidFill>
          <a:ln w="12700">
            <a:solidFill>
              <a:srgbClr val="E02F8A"/>
            </a:solidFill>
            <a:prstDash val="solid"/>
          </a:ln>
        </p:spPr>
      </p:sp>
      <p:sp>
        <p:nvSpPr>
          <p:cNvPr id="22" name="Text 18"/>
          <p:cNvSpPr txBox="1"/>
          <p:nvPr/>
        </p:nvSpPr>
        <p:spPr>
          <a:xfrm>
            <a:off x="777240" y="3429000"/>
            <a:ext cx="5074920" cy="411480"/>
          </a:xfrm>
          <a:prstGeom prst="rect">
            <a:avLst/>
          </a:prstGeom>
          <a:noFill/>
          <a:ln/>
        </p:spPr>
        <p:txBody>
          <a:bodyPr wrap="square" lIns="0" tIns="0" rIns="0" bIns="0" rtlCol="0" anchor="ctr"/>
          <a:lstStyle/>
          <a:p>
            <a:pPr indent="0" marL="0">
              <a:buNone/>
            </a:pPr>
            <a:r>
              <a:rPr lang="en-US" sz="1700" b="1" dirty="0">
                <a:solidFill>
                  <a:srgbClr val="E02F8A"/>
                </a:solidFill>
                <a:latin typeface="Cambria" pitchFamily="34" charset="0"/>
                <a:ea typeface="Cambria" pitchFamily="34" charset="-122"/>
                <a:cs typeface="Cambria" pitchFamily="34" charset="-120"/>
              </a:rPr>
              <a:t>Cara memeriksa</a:t>
            </a:r>
            <a:endParaRPr lang="en-US" sz="1700" dirty="0"/>
          </a:p>
        </p:txBody>
      </p:sp>
      <p:sp>
        <p:nvSpPr>
          <p:cNvPr id="23" name="Text 19"/>
          <p:cNvSpPr txBox="1"/>
          <p:nvPr/>
        </p:nvSpPr>
        <p:spPr>
          <a:xfrm>
            <a:off x="777240" y="3931920"/>
            <a:ext cx="5074920" cy="22402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Nilai kosong: profil kolom Power Query menunjukkan Empty 0%.</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ID ganda: ID menunjukkan distinct sama dengan unique.</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Kunci tanpa pasangan: semua CustomerID dan ProductID ada di tabel dimensi.</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TotalValue: sama dengan Quantity x Price pada 1.000 baris.</a:t>
            </a:r>
            <a:endParaRPr lang="en-US" sz="1300" dirty="0"/>
          </a:p>
        </p:txBody>
      </p:sp>
      <p:sp>
        <p:nvSpPr>
          <p:cNvPr id="24" name="Shape 20"/>
          <p:cNvSpPr/>
          <p:nvPr/>
        </p:nvSpPr>
        <p:spPr>
          <a:xfrm>
            <a:off x="6217920" y="3291840"/>
            <a:ext cx="5394960" cy="3017520"/>
          </a:xfrm>
          <a:prstGeom prst="roundRect">
            <a:avLst>
              <a:gd name="adj" fmla="val 3030"/>
            </a:avLst>
          </a:prstGeom>
          <a:solidFill>
            <a:srgbClr val="FCEAF3"/>
          </a:solidFill>
          <a:ln w="12700">
            <a:solidFill>
              <a:srgbClr val="FCEAF3"/>
            </a:solidFill>
            <a:prstDash val="solid"/>
          </a:ln>
        </p:spPr>
      </p:sp>
      <p:sp>
        <p:nvSpPr>
          <p:cNvPr id="25" name="Shape 21"/>
          <p:cNvSpPr/>
          <p:nvPr/>
        </p:nvSpPr>
        <p:spPr>
          <a:xfrm>
            <a:off x="6217920" y="3383280"/>
            <a:ext cx="82296" cy="2834640"/>
          </a:xfrm>
          <a:prstGeom prst="rect">
            <a:avLst/>
          </a:prstGeom>
          <a:solidFill>
            <a:srgbClr val="E02F8A"/>
          </a:solidFill>
          <a:ln w="12700">
            <a:solidFill>
              <a:srgbClr val="E02F8A"/>
            </a:solidFill>
            <a:prstDash val="solid"/>
          </a:ln>
        </p:spPr>
      </p:sp>
      <p:sp>
        <p:nvSpPr>
          <p:cNvPr id="26" name="Text 22"/>
          <p:cNvSpPr txBox="1"/>
          <p:nvPr/>
        </p:nvSpPr>
        <p:spPr>
          <a:xfrm>
            <a:off x="6446520" y="3429000"/>
            <a:ext cx="4983480" cy="411480"/>
          </a:xfrm>
          <a:prstGeom prst="rect">
            <a:avLst/>
          </a:prstGeom>
          <a:noFill/>
          <a:ln/>
        </p:spPr>
        <p:txBody>
          <a:bodyPr wrap="square" lIns="0" tIns="0" rIns="0" bIns="0" rtlCol="0" anchor="ctr"/>
          <a:lstStyle/>
          <a:p>
            <a:pPr indent="0" marL="0">
              <a:buNone/>
            </a:pPr>
            <a:r>
              <a:rPr lang="en-US" sz="1700" b="1" dirty="0">
                <a:solidFill>
                  <a:srgbClr val="E02F8A"/>
                </a:solidFill>
                <a:latin typeface="Cambria" pitchFamily="34" charset="0"/>
                <a:ea typeface="Cambria" pitchFamily="34" charset="-122"/>
                <a:cs typeface="Cambria" pitchFamily="34" charset="-120"/>
              </a:rPr>
              <a:t>Catatan</a:t>
            </a:r>
            <a:endParaRPr lang="en-US" sz="1700" dirty="0"/>
          </a:p>
        </p:txBody>
      </p:sp>
      <p:sp>
        <p:nvSpPr>
          <p:cNvPr id="27" name="Text 23"/>
          <p:cNvSpPr txBox="1"/>
          <p:nvPr/>
        </p:nvSpPr>
        <p:spPr>
          <a:xfrm>
            <a:off x="6446520" y="3931920"/>
            <a:ext cx="4983480" cy="22402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Nama produk memadukan merek dan jenis produk dengan pola yang tidak selalu konsisten (data kemungkinan sintetis).</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34 nama produk berulang dengan harga berbeda, jadi memakai ProductID.</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Hanya 4 transaksi jatuh di 2023 (30 Des).</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Satu pelanggan (C0180) belum bertransaksi.</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6A2C9C"/>
          </a:solidFill>
          <a:ln w="12700">
            <a:solidFill>
              <a:srgbClr val="6A2C9C"/>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Model data: relasi antar tabel</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MODEL DATA</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6A2C9C"/>
          </a:solidFill>
          <a:ln w="12700">
            <a:solidFill>
              <a:srgbClr val="6A2C9C"/>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371600"/>
            <a:ext cx="2103120" cy="2468880"/>
          </a:xfrm>
          <a:prstGeom prst="roundRect">
            <a:avLst>
              <a:gd name="adj" fmla="val 4348"/>
            </a:avLst>
          </a:prstGeom>
          <a:solidFill>
            <a:srgbClr val="FFFFFF"/>
          </a:solidFill>
          <a:ln w="31750">
            <a:solidFill>
              <a:srgbClr val="1B9AAA"/>
            </a:solidFill>
            <a:prstDash val="solid"/>
          </a:ln>
        </p:spPr>
      </p:sp>
      <p:sp>
        <p:nvSpPr>
          <p:cNvPr id="12" name="Shape 8"/>
          <p:cNvSpPr/>
          <p:nvPr/>
        </p:nvSpPr>
        <p:spPr>
          <a:xfrm>
            <a:off x="548640" y="1371600"/>
            <a:ext cx="2103120" cy="502920"/>
          </a:xfrm>
          <a:prstGeom prst="rect">
            <a:avLst/>
          </a:prstGeom>
          <a:solidFill>
            <a:srgbClr val="1B9AAA"/>
          </a:solidFill>
          <a:ln w="12700">
            <a:solidFill>
              <a:srgbClr val="1B9AAA"/>
            </a:solidFill>
            <a:prstDash val="solid"/>
          </a:ln>
        </p:spPr>
      </p:sp>
      <p:sp>
        <p:nvSpPr>
          <p:cNvPr id="13" name="Text 9"/>
          <p:cNvSpPr txBox="1"/>
          <p:nvPr/>
        </p:nvSpPr>
        <p:spPr>
          <a:xfrm>
            <a:off x="548640" y="1371600"/>
            <a:ext cx="21031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Customers</a:t>
            </a:r>
            <a:endParaRPr lang="en-US" sz="1500" dirty="0"/>
          </a:p>
        </p:txBody>
      </p:sp>
      <p:sp>
        <p:nvSpPr>
          <p:cNvPr id="14" name="Text 10"/>
          <p:cNvSpPr txBox="1"/>
          <p:nvPr/>
        </p:nvSpPr>
        <p:spPr>
          <a:xfrm>
            <a:off x="685800" y="1965960"/>
            <a:ext cx="1828800" cy="1783080"/>
          </a:xfrm>
          <a:prstGeom prst="rect">
            <a:avLst/>
          </a:prstGeom>
          <a:noFill/>
          <a:ln/>
        </p:spPr>
        <p:txBody>
          <a:bodyPr wrap="square" lIns="0" tIns="0" rIns="0" bIns="0" rtlCol="0" anchor="t"/>
          <a:lstStyle/>
          <a:p>
            <a:pPr indent="0" marL="0">
              <a:buNone/>
            </a:pPr>
            <a:r>
              <a:rPr lang="en-US" sz="1100" dirty="0">
                <a:solidFill>
                  <a:srgbClr val="1E2A35"/>
                </a:solidFill>
                <a:latin typeface="Courier New" pitchFamily="34" charset="0"/>
                <a:ea typeface="Courier New" pitchFamily="34" charset="-122"/>
                <a:cs typeface="Courier New" pitchFamily="34" charset="-120"/>
              </a:rPr>
              <a:t>CustomerID (PK)</a:t>
            </a:r>
            <a:endParaRPr lang="en-US" sz="1100" dirty="0"/>
          </a:p>
          <a:p>
            <a:pPr indent="0" marL="0">
              <a:buNone/>
            </a:pPr>
            <a:r>
              <a:rPr lang="en-US" sz="1100" dirty="0">
                <a:solidFill>
                  <a:srgbClr val="1E2A35"/>
                </a:solidFill>
                <a:latin typeface="Courier New" pitchFamily="34" charset="0"/>
                <a:ea typeface="Courier New" pitchFamily="34" charset="-122"/>
                <a:cs typeface="Courier New" pitchFamily="34" charset="-120"/>
              </a:rPr>
              <a:t>CustomerName</a:t>
            </a:r>
            <a:endParaRPr lang="en-US" sz="1100" dirty="0"/>
          </a:p>
          <a:p>
            <a:pPr indent="0" marL="0">
              <a:buNone/>
            </a:pPr>
            <a:r>
              <a:rPr lang="en-US" sz="1100" dirty="0">
                <a:solidFill>
                  <a:srgbClr val="1E2A35"/>
                </a:solidFill>
                <a:latin typeface="Courier New" pitchFamily="34" charset="0"/>
                <a:ea typeface="Courier New" pitchFamily="34" charset="-122"/>
                <a:cs typeface="Courier New" pitchFamily="34" charset="-120"/>
              </a:rPr>
              <a:t>Region</a:t>
            </a:r>
            <a:endParaRPr lang="en-US" sz="1100" dirty="0"/>
          </a:p>
          <a:p>
            <a:pPr indent="0" marL="0">
              <a:buNone/>
            </a:pPr>
            <a:r>
              <a:rPr lang="en-US" sz="1100" dirty="0">
                <a:solidFill>
                  <a:srgbClr val="1E2A35"/>
                </a:solidFill>
                <a:latin typeface="Courier New" pitchFamily="34" charset="0"/>
                <a:ea typeface="Courier New" pitchFamily="34" charset="-122"/>
                <a:cs typeface="Courier New" pitchFamily="34" charset="-120"/>
              </a:rPr>
              <a:t>SignupDate</a:t>
            </a:r>
            <a:endParaRPr lang="en-US" sz="1100" dirty="0"/>
          </a:p>
        </p:txBody>
      </p:sp>
      <p:sp>
        <p:nvSpPr>
          <p:cNvPr id="15" name="Shape 11"/>
          <p:cNvSpPr/>
          <p:nvPr/>
        </p:nvSpPr>
        <p:spPr>
          <a:xfrm>
            <a:off x="3246120" y="1371600"/>
            <a:ext cx="2286000" cy="3200400"/>
          </a:xfrm>
          <a:prstGeom prst="roundRect">
            <a:avLst>
              <a:gd name="adj" fmla="val 4000"/>
            </a:avLst>
          </a:prstGeom>
          <a:solidFill>
            <a:srgbClr val="FFFFFF"/>
          </a:solidFill>
          <a:ln w="31750">
            <a:solidFill>
              <a:srgbClr val="1A0683"/>
            </a:solidFill>
            <a:prstDash val="solid"/>
          </a:ln>
        </p:spPr>
      </p:sp>
      <p:sp>
        <p:nvSpPr>
          <p:cNvPr id="16" name="Shape 12"/>
          <p:cNvSpPr/>
          <p:nvPr/>
        </p:nvSpPr>
        <p:spPr>
          <a:xfrm>
            <a:off x="3246120" y="1371600"/>
            <a:ext cx="2286000" cy="502920"/>
          </a:xfrm>
          <a:prstGeom prst="rect">
            <a:avLst/>
          </a:prstGeom>
          <a:solidFill>
            <a:srgbClr val="1A0683"/>
          </a:solidFill>
          <a:ln w="12700">
            <a:solidFill>
              <a:srgbClr val="1A0683"/>
            </a:solidFill>
            <a:prstDash val="solid"/>
          </a:ln>
        </p:spPr>
      </p:sp>
      <p:sp>
        <p:nvSpPr>
          <p:cNvPr id="17" name="Text 13"/>
          <p:cNvSpPr txBox="1"/>
          <p:nvPr/>
        </p:nvSpPr>
        <p:spPr>
          <a:xfrm>
            <a:off x="3246120" y="1371600"/>
            <a:ext cx="22860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Transactions</a:t>
            </a:r>
            <a:endParaRPr lang="en-US" sz="1500" dirty="0"/>
          </a:p>
        </p:txBody>
      </p:sp>
      <p:sp>
        <p:nvSpPr>
          <p:cNvPr id="18" name="Text 14"/>
          <p:cNvSpPr txBox="1"/>
          <p:nvPr/>
        </p:nvSpPr>
        <p:spPr>
          <a:xfrm>
            <a:off x="3383280" y="1965960"/>
            <a:ext cx="2011680" cy="2514600"/>
          </a:xfrm>
          <a:prstGeom prst="rect">
            <a:avLst/>
          </a:prstGeom>
          <a:noFill/>
          <a:ln/>
        </p:spPr>
        <p:txBody>
          <a:bodyPr wrap="square" lIns="0" tIns="0" rIns="0" bIns="0" rtlCol="0" anchor="t"/>
          <a:lstStyle/>
          <a:p>
            <a:pPr indent="0" marL="0">
              <a:buNone/>
            </a:pPr>
            <a:r>
              <a:rPr lang="en-US" sz="1100" dirty="0">
                <a:solidFill>
                  <a:srgbClr val="1E2A35"/>
                </a:solidFill>
                <a:latin typeface="Courier New" pitchFamily="34" charset="0"/>
                <a:ea typeface="Courier New" pitchFamily="34" charset="-122"/>
                <a:cs typeface="Courier New" pitchFamily="34" charset="-120"/>
              </a:rPr>
              <a:t>TransactionID (PK)</a:t>
            </a:r>
            <a:endParaRPr lang="en-US" sz="1100" dirty="0"/>
          </a:p>
          <a:p>
            <a:pPr indent="0" marL="0">
              <a:buNone/>
            </a:pPr>
            <a:r>
              <a:rPr lang="en-US" sz="1100" dirty="0">
                <a:solidFill>
                  <a:srgbClr val="1E2A35"/>
                </a:solidFill>
                <a:latin typeface="Courier New" pitchFamily="34" charset="0"/>
                <a:ea typeface="Courier New" pitchFamily="34" charset="-122"/>
                <a:cs typeface="Courier New" pitchFamily="34" charset="-120"/>
              </a:rPr>
              <a:t>CustomerID (FK)</a:t>
            </a:r>
            <a:endParaRPr lang="en-US" sz="1100" dirty="0"/>
          </a:p>
          <a:p>
            <a:pPr indent="0" marL="0">
              <a:buNone/>
            </a:pPr>
            <a:r>
              <a:rPr lang="en-US" sz="1100" dirty="0">
                <a:solidFill>
                  <a:srgbClr val="1E2A35"/>
                </a:solidFill>
                <a:latin typeface="Courier New" pitchFamily="34" charset="0"/>
                <a:ea typeface="Courier New" pitchFamily="34" charset="-122"/>
                <a:cs typeface="Courier New" pitchFamily="34" charset="-120"/>
              </a:rPr>
              <a:t>ProductID (FK)</a:t>
            </a:r>
            <a:endParaRPr lang="en-US" sz="1100" dirty="0"/>
          </a:p>
          <a:p>
            <a:pPr indent="0" marL="0">
              <a:buNone/>
            </a:pPr>
            <a:r>
              <a:rPr lang="en-US" sz="1100" dirty="0">
                <a:solidFill>
                  <a:srgbClr val="1E2A35"/>
                </a:solidFill>
                <a:latin typeface="Courier New" pitchFamily="34" charset="0"/>
                <a:ea typeface="Courier New" pitchFamily="34" charset="-122"/>
                <a:cs typeface="Courier New" pitchFamily="34" charset="-120"/>
              </a:rPr>
              <a:t>TransactionDate</a:t>
            </a:r>
            <a:endParaRPr lang="en-US" sz="1100" dirty="0"/>
          </a:p>
          <a:p>
            <a:pPr indent="0" marL="0">
              <a:buNone/>
            </a:pPr>
            <a:r>
              <a:rPr lang="en-US" sz="1100" dirty="0">
                <a:solidFill>
                  <a:srgbClr val="1E2A35"/>
                </a:solidFill>
                <a:latin typeface="Courier New" pitchFamily="34" charset="0"/>
                <a:ea typeface="Courier New" pitchFamily="34" charset="-122"/>
                <a:cs typeface="Courier New" pitchFamily="34" charset="-120"/>
              </a:rPr>
              <a:t>Quantity</a:t>
            </a:r>
            <a:endParaRPr lang="en-US" sz="1100" dirty="0"/>
          </a:p>
          <a:p>
            <a:pPr indent="0" marL="0">
              <a:buNone/>
            </a:pPr>
            <a:r>
              <a:rPr lang="en-US" sz="1100" dirty="0">
                <a:solidFill>
                  <a:srgbClr val="1E2A35"/>
                </a:solidFill>
                <a:latin typeface="Courier New" pitchFamily="34" charset="0"/>
                <a:ea typeface="Courier New" pitchFamily="34" charset="-122"/>
                <a:cs typeface="Courier New" pitchFamily="34" charset="-120"/>
              </a:rPr>
              <a:t>TotalValue</a:t>
            </a:r>
            <a:endParaRPr lang="en-US" sz="1100" dirty="0"/>
          </a:p>
          <a:p>
            <a:pPr indent="0" marL="0">
              <a:buNone/>
            </a:pPr>
            <a:r>
              <a:rPr lang="en-US" sz="1100" dirty="0">
                <a:solidFill>
                  <a:srgbClr val="1E2A35"/>
                </a:solidFill>
                <a:latin typeface="Courier New" pitchFamily="34" charset="0"/>
                <a:ea typeface="Courier New" pitchFamily="34" charset="-122"/>
                <a:cs typeface="Courier New" pitchFamily="34" charset="-120"/>
              </a:rPr>
              <a:t>Price</a:t>
            </a:r>
            <a:endParaRPr lang="en-US" sz="1100" dirty="0"/>
          </a:p>
        </p:txBody>
      </p:sp>
      <p:sp>
        <p:nvSpPr>
          <p:cNvPr id="19" name="Shape 15"/>
          <p:cNvSpPr/>
          <p:nvPr/>
        </p:nvSpPr>
        <p:spPr>
          <a:xfrm>
            <a:off x="6126480" y="1371600"/>
            <a:ext cx="2103120" cy="2468880"/>
          </a:xfrm>
          <a:prstGeom prst="roundRect">
            <a:avLst>
              <a:gd name="adj" fmla="val 4348"/>
            </a:avLst>
          </a:prstGeom>
          <a:solidFill>
            <a:srgbClr val="FFFFFF"/>
          </a:solidFill>
          <a:ln w="31750">
            <a:solidFill>
              <a:srgbClr val="E8832B"/>
            </a:solidFill>
            <a:prstDash val="solid"/>
          </a:ln>
        </p:spPr>
      </p:sp>
      <p:sp>
        <p:nvSpPr>
          <p:cNvPr id="20" name="Shape 16"/>
          <p:cNvSpPr/>
          <p:nvPr/>
        </p:nvSpPr>
        <p:spPr>
          <a:xfrm>
            <a:off x="6126480" y="1371600"/>
            <a:ext cx="2103120" cy="502920"/>
          </a:xfrm>
          <a:prstGeom prst="rect">
            <a:avLst/>
          </a:prstGeom>
          <a:solidFill>
            <a:srgbClr val="E8832B"/>
          </a:solidFill>
          <a:ln w="12700">
            <a:solidFill>
              <a:srgbClr val="E8832B"/>
            </a:solidFill>
            <a:prstDash val="solid"/>
          </a:ln>
        </p:spPr>
      </p:sp>
      <p:sp>
        <p:nvSpPr>
          <p:cNvPr id="21" name="Text 17"/>
          <p:cNvSpPr txBox="1"/>
          <p:nvPr/>
        </p:nvSpPr>
        <p:spPr>
          <a:xfrm>
            <a:off x="6126480" y="1371600"/>
            <a:ext cx="21031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Products</a:t>
            </a:r>
            <a:endParaRPr lang="en-US" sz="1500" dirty="0"/>
          </a:p>
        </p:txBody>
      </p:sp>
      <p:sp>
        <p:nvSpPr>
          <p:cNvPr id="22" name="Text 18"/>
          <p:cNvSpPr txBox="1"/>
          <p:nvPr/>
        </p:nvSpPr>
        <p:spPr>
          <a:xfrm>
            <a:off x="6263640" y="1965960"/>
            <a:ext cx="1828800" cy="1783080"/>
          </a:xfrm>
          <a:prstGeom prst="rect">
            <a:avLst/>
          </a:prstGeom>
          <a:noFill/>
          <a:ln/>
        </p:spPr>
        <p:txBody>
          <a:bodyPr wrap="square" lIns="0" tIns="0" rIns="0" bIns="0" rtlCol="0" anchor="t"/>
          <a:lstStyle/>
          <a:p>
            <a:pPr indent="0" marL="0">
              <a:buNone/>
            </a:pPr>
            <a:r>
              <a:rPr lang="en-US" sz="1100" dirty="0">
                <a:solidFill>
                  <a:srgbClr val="1E2A35"/>
                </a:solidFill>
                <a:latin typeface="Courier New" pitchFamily="34" charset="0"/>
                <a:ea typeface="Courier New" pitchFamily="34" charset="-122"/>
                <a:cs typeface="Courier New" pitchFamily="34" charset="-120"/>
              </a:rPr>
              <a:t>ProductID (PK)</a:t>
            </a:r>
            <a:endParaRPr lang="en-US" sz="1100" dirty="0"/>
          </a:p>
          <a:p>
            <a:pPr indent="0" marL="0">
              <a:buNone/>
            </a:pPr>
            <a:r>
              <a:rPr lang="en-US" sz="1100" dirty="0">
                <a:solidFill>
                  <a:srgbClr val="1E2A35"/>
                </a:solidFill>
                <a:latin typeface="Courier New" pitchFamily="34" charset="0"/>
                <a:ea typeface="Courier New" pitchFamily="34" charset="-122"/>
                <a:cs typeface="Courier New" pitchFamily="34" charset="-120"/>
              </a:rPr>
              <a:t>ProductName</a:t>
            </a:r>
            <a:endParaRPr lang="en-US" sz="1100" dirty="0"/>
          </a:p>
          <a:p>
            <a:pPr indent="0" marL="0">
              <a:buNone/>
            </a:pPr>
            <a:r>
              <a:rPr lang="en-US" sz="1100" dirty="0">
                <a:solidFill>
                  <a:srgbClr val="1E2A35"/>
                </a:solidFill>
                <a:latin typeface="Courier New" pitchFamily="34" charset="0"/>
                <a:ea typeface="Courier New" pitchFamily="34" charset="-122"/>
                <a:cs typeface="Courier New" pitchFamily="34" charset="-120"/>
              </a:rPr>
              <a:t>Category</a:t>
            </a:r>
            <a:endParaRPr lang="en-US" sz="1100" dirty="0"/>
          </a:p>
          <a:p>
            <a:pPr indent="0" marL="0">
              <a:buNone/>
            </a:pPr>
            <a:r>
              <a:rPr lang="en-US" sz="1100" dirty="0">
                <a:solidFill>
                  <a:srgbClr val="1E2A35"/>
                </a:solidFill>
                <a:latin typeface="Courier New" pitchFamily="34" charset="0"/>
                <a:ea typeface="Courier New" pitchFamily="34" charset="-122"/>
                <a:cs typeface="Courier New" pitchFamily="34" charset="-120"/>
              </a:rPr>
              <a:t>Price</a:t>
            </a:r>
            <a:endParaRPr lang="en-US" sz="1100" dirty="0"/>
          </a:p>
        </p:txBody>
      </p:sp>
      <p:sp>
        <p:nvSpPr>
          <p:cNvPr id="23" name="Shape 19"/>
          <p:cNvSpPr/>
          <p:nvPr/>
        </p:nvSpPr>
        <p:spPr>
          <a:xfrm>
            <a:off x="2651760" y="2651760"/>
            <a:ext cx="594360" cy="0"/>
          </a:xfrm>
          <a:prstGeom prst="line">
            <a:avLst/>
          </a:prstGeom>
          <a:noFill/>
          <a:ln w="38100">
            <a:solidFill>
              <a:srgbClr val="5B6B79"/>
            </a:solidFill>
            <a:prstDash val="solid"/>
          </a:ln>
        </p:spPr>
      </p:sp>
      <p:sp>
        <p:nvSpPr>
          <p:cNvPr id="24" name="Shape 20"/>
          <p:cNvSpPr/>
          <p:nvPr/>
        </p:nvSpPr>
        <p:spPr>
          <a:xfrm>
            <a:off x="5532120" y="2651760"/>
            <a:ext cx="594360" cy="0"/>
          </a:xfrm>
          <a:prstGeom prst="line">
            <a:avLst/>
          </a:prstGeom>
          <a:noFill/>
          <a:ln w="38100">
            <a:solidFill>
              <a:srgbClr val="5B6B79"/>
            </a:solidFill>
            <a:prstDash val="solid"/>
          </a:ln>
        </p:spPr>
      </p:sp>
      <p:sp>
        <p:nvSpPr>
          <p:cNvPr id="25" name="Text 21"/>
          <p:cNvSpPr txBox="1"/>
          <p:nvPr/>
        </p:nvSpPr>
        <p:spPr>
          <a:xfrm>
            <a:off x="2670048" y="2286000"/>
            <a:ext cx="274320" cy="320040"/>
          </a:xfrm>
          <a:prstGeom prst="rect">
            <a:avLst/>
          </a:prstGeom>
          <a:noFill/>
          <a:ln/>
        </p:spPr>
        <p:txBody>
          <a:bodyPr wrap="square" lIns="0" tIns="0" rIns="0" bIns="0" rtlCol="0" anchor="ctr"/>
          <a:lstStyle/>
          <a:p>
            <a:pPr indent="0" marL="0">
              <a:buNone/>
            </a:pPr>
            <a:r>
              <a:rPr lang="en-US" sz="1600" b="1" dirty="0">
                <a:solidFill>
                  <a:srgbClr val="E02F8A"/>
                </a:solidFill>
                <a:latin typeface="Calibri" pitchFamily="34" charset="0"/>
                <a:ea typeface="Calibri" pitchFamily="34" charset="-122"/>
                <a:cs typeface="Calibri" pitchFamily="34" charset="-120"/>
              </a:rPr>
              <a:t>1</a:t>
            </a:r>
            <a:endParaRPr lang="en-US" sz="1600" dirty="0"/>
          </a:p>
        </p:txBody>
      </p:sp>
      <p:sp>
        <p:nvSpPr>
          <p:cNvPr id="26" name="Text 22"/>
          <p:cNvSpPr txBox="1"/>
          <p:nvPr/>
        </p:nvSpPr>
        <p:spPr>
          <a:xfrm>
            <a:off x="2999232" y="2240280"/>
            <a:ext cx="274320" cy="320040"/>
          </a:xfrm>
          <a:prstGeom prst="rect">
            <a:avLst/>
          </a:prstGeom>
          <a:noFill/>
          <a:ln/>
        </p:spPr>
        <p:txBody>
          <a:bodyPr wrap="square" lIns="0" tIns="0" rIns="0" bIns="0" rtlCol="0" anchor="ctr"/>
          <a:lstStyle/>
          <a:p>
            <a:pPr indent="0" marL="0">
              <a:buNone/>
            </a:pPr>
            <a:r>
              <a:rPr lang="en-US" sz="1600" b="1" dirty="0">
                <a:solidFill>
                  <a:srgbClr val="E02F8A"/>
                </a:solidFill>
                <a:latin typeface="Calibri" pitchFamily="34" charset="0"/>
                <a:ea typeface="Calibri" pitchFamily="34" charset="-122"/>
                <a:cs typeface="Calibri" pitchFamily="34" charset="-120"/>
              </a:rPr>
              <a:t>*</a:t>
            </a:r>
            <a:endParaRPr lang="en-US" sz="1600" dirty="0"/>
          </a:p>
        </p:txBody>
      </p:sp>
      <p:sp>
        <p:nvSpPr>
          <p:cNvPr id="27" name="Text 23"/>
          <p:cNvSpPr txBox="1"/>
          <p:nvPr/>
        </p:nvSpPr>
        <p:spPr>
          <a:xfrm>
            <a:off x="5577840" y="2240280"/>
            <a:ext cx="274320" cy="320040"/>
          </a:xfrm>
          <a:prstGeom prst="rect">
            <a:avLst/>
          </a:prstGeom>
          <a:noFill/>
          <a:ln/>
        </p:spPr>
        <p:txBody>
          <a:bodyPr wrap="square" lIns="0" tIns="0" rIns="0" bIns="0" rtlCol="0" anchor="ctr"/>
          <a:lstStyle/>
          <a:p>
            <a:pPr indent="0" marL="0">
              <a:buNone/>
            </a:pPr>
            <a:r>
              <a:rPr lang="en-US" sz="1600" b="1" dirty="0">
                <a:solidFill>
                  <a:srgbClr val="E02F8A"/>
                </a:solidFill>
                <a:latin typeface="Calibri" pitchFamily="34" charset="0"/>
                <a:ea typeface="Calibri" pitchFamily="34" charset="-122"/>
                <a:cs typeface="Calibri" pitchFamily="34" charset="-120"/>
              </a:rPr>
              <a:t>*</a:t>
            </a:r>
            <a:endParaRPr lang="en-US" sz="1600" dirty="0"/>
          </a:p>
        </p:txBody>
      </p:sp>
      <p:sp>
        <p:nvSpPr>
          <p:cNvPr id="28" name="Text 24"/>
          <p:cNvSpPr txBox="1"/>
          <p:nvPr/>
        </p:nvSpPr>
        <p:spPr>
          <a:xfrm>
            <a:off x="5897880" y="2286000"/>
            <a:ext cx="274320" cy="320040"/>
          </a:xfrm>
          <a:prstGeom prst="rect">
            <a:avLst/>
          </a:prstGeom>
          <a:noFill/>
          <a:ln/>
        </p:spPr>
        <p:txBody>
          <a:bodyPr wrap="square" lIns="0" tIns="0" rIns="0" bIns="0" rtlCol="0" anchor="ctr"/>
          <a:lstStyle/>
          <a:p>
            <a:pPr indent="0" marL="0">
              <a:buNone/>
            </a:pPr>
            <a:r>
              <a:rPr lang="en-US" sz="1600" b="1" dirty="0">
                <a:solidFill>
                  <a:srgbClr val="E02F8A"/>
                </a:solidFill>
                <a:latin typeface="Calibri" pitchFamily="34" charset="0"/>
                <a:ea typeface="Calibri" pitchFamily="34" charset="-122"/>
                <a:cs typeface="Calibri" pitchFamily="34" charset="-120"/>
              </a:rPr>
              <a:t>1</a:t>
            </a:r>
            <a:endParaRPr lang="en-US" sz="1600" dirty="0"/>
          </a:p>
        </p:txBody>
      </p:sp>
      <p:sp>
        <p:nvSpPr>
          <p:cNvPr id="29" name="Text 25"/>
          <p:cNvSpPr txBox="1"/>
          <p:nvPr/>
        </p:nvSpPr>
        <p:spPr>
          <a:xfrm>
            <a:off x="548640" y="4800600"/>
            <a:ext cx="7680960" cy="320040"/>
          </a:xfrm>
          <a:prstGeom prst="rect">
            <a:avLst/>
          </a:prstGeom>
          <a:noFill/>
          <a:ln/>
        </p:spPr>
        <p:txBody>
          <a:bodyPr wrap="square" lIns="0" tIns="0" rIns="0" bIns="0" rtlCol="0" anchor="ctr"/>
          <a:lstStyle/>
          <a:p>
            <a:pPr indent="0" marL="0">
              <a:buNone/>
            </a:pPr>
            <a:r>
              <a:rPr lang="en-US" sz="1200" dirty="0">
                <a:solidFill>
                  <a:srgbClr val="1E2A35"/>
                </a:solidFill>
                <a:latin typeface="Courier New" pitchFamily="34" charset="0"/>
                <a:ea typeface="Courier New" pitchFamily="34" charset="-122"/>
                <a:cs typeface="Courier New" pitchFamily="34" charset="-120"/>
              </a:rPr>
              <a:t>Customers[CustomerID] 1 ---- * Transactions[CustomerID]</a:t>
            </a:r>
            <a:endParaRPr lang="en-US" sz="1200" dirty="0"/>
          </a:p>
        </p:txBody>
      </p:sp>
      <p:sp>
        <p:nvSpPr>
          <p:cNvPr id="30" name="Text 26"/>
          <p:cNvSpPr txBox="1"/>
          <p:nvPr/>
        </p:nvSpPr>
        <p:spPr>
          <a:xfrm>
            <a:off x="548640" y="5166360"/>
            <a:ext cx="7680960" cy="320040"/>
          </a:xfrm>
          <a:prstGeom prst="rect">
            <a:avLst/>
          </a:prstGeom>
          <a:noFill/>
          <a:ln/>
        </p:spPr>
        <p:txBody>
          <a:bodyPr wrap="square" lIns="0" tIns="0" rIns="0" bIns="0" rtlCol="0" anchor="ctr"/>
          <a:lstStyle/>
          <a:p>
            <a:pPr indent="0" marL="0">
              <a:buNone/>
            </a:pPr>
            <a:r>
              <a:rPr lang="en-US" sz="1200" dirty="0">
                <a:solidFill>
                  <a:srgbClr val="1E2A35"/>
                </a:solidFill>
                <a:latin typeface="Courier New" pitchFamily="34" charset="0"/>
                <a:ea typeface="Courier New" pitchFamily="34" charset="-122"/>
                <a:cs typeface="Courier New" pitchFamily="34" charset="-120"/>
              </a:rPr>
              <a:t>Products[ProductID] 1 ---- * Transactions[ProductID]</a:t>
            </a:r>
            <a:endParaRPr lang="en-US" sz="1200" dirty="0"/>
          </a:p>
        </p:txBody>
      </p:sp>
      <p:sp>
        <p:nvSpPr>
          <p:cNvPr id="31" name="Text 27"/>
          <p:cNvSpPr txBox="1"/>
          <p:nvPr/>
        </p:nvSpPr>
        <p:spPr>
          <a:xfrm>
            <a:off x="548640" y="5623560"/>
            <a:ext cx="7680960" cy="548640"/>
          </a:xfrm>
          <a:prstGeom prst="rect">
            <a:avLst/>
          </a:prstGeom>
          <a:noFill/>
          <a:ln/>
        </p:spPr>
        <p:txBody>
          <a:bodyPr wrap="square" lIns="0" tIns="0" rIns="0" bIns="0" rtlCol="0" anchor="t"/>
          <a:lstStyle/>
          <a:p>
            <a:pPr indent="0" marL="0">
              <a:buNone/>
            </a:pPr>
            <a:r>
              <a:rPr lang="en-US" sz="1200" dirty="0">
                <a:solidFill>
                  <a:srgbClr val="5B6B79"/>
                </a:solidFill>
                <a:latin typeface="Calibri" pitchFamily="34" charset="0"/>
                <a:ea typeface="Calibri" pitchFamily="34" charset="-122"/>
                <a:cs typeface="Calibri" pitchFamily="34" charset="-120"/>
              </a:rPr>
              <a:t>Kedua relasi: aktif, banyak-ke-satu, arah filter tunggal (dari dimensi ke fakta). PK = kunci utama, FK = kunci tamu.</a:t>
            </a:r>
            <a:endParaRPr lang="en-US" sz="1200" dirty="0"/>
          </a:p>
        </p:txBody>
      </p:sp>
      <p:sp>
        <p:nvSpPr>
          <p:cNvPr id="32" name="Shape 28"/>
          <p:cNvSpPr/>
          <p:nvPr/>
        </p:nvSpPr>
        <p:spPr>
          <a:xfrm>
            <a:off x="8503920" y="1280160"/>
            <a:ext cx="3108960" cy="5029200"/>
          </a:xfrm>
          <a:prstGeom prst="roundRect">
            <a:avLst>
              <a:gd name="adj" fmla="val 2941"/>
            </a:avLst>
          </a:prstGeom>
          <a:solidFill>
            <a:srgbClr val="F0EAF5"/>
          </a:solidFill>
          <a:ln w="12700">
            <a:solidFill>
              <a:srgbClr val="F0EAF5"/>
            </a:solidFill>
            <a:prstDash val="solid"/>
          </a:ln>
        </p:spPr>
      </p:sp>
      <p:sp>
        <p:nvSpPr>
          <p:cNvPr id="33" name="Shape 29"/>
          <p:cNvSpPr/>
          <p:nvPr/>
        </p:nvSpPr>
        <p:spPr>
          <a:xfrm>
            <a:off x="8503920" y="1371600"/>
            <a:ext cx="82296" cy="4846320"/>
          </a:xfrm>
          <a:prstGeom prst="rect">
            <a:avLst/>
          </a:prstGeom>
          <a:solidFill>
            <a:srgbClr val="6A2C9C"/>
          </a:solidFill>
          <a:ln w="12700">
            <a:solidFill>
              <a:srgbClr val="6A2C9C"/>
            </a:solidFill>
            <a:prstDash val="solid"/>
          </a:ln>
        </p:spPr>
      </p:sp>
      <p:sp>
        <p:nvSpPr>
          <p:cNvPr id="34" name="Text 30"/>
          <p:cNvSpPr txBox="1"/>
          <p:nvPr/>
        </p:nvSpPr>
        <p:spPr>
          <a:xfrm>
            <a:off x="8732520" y="1417320"/>
            <a:ext cx="2697480" cy="411480"/>
          </a:xfrm>
          <a:prstGeom prst="rect">
            <a:avLst/>
          </a:prstGeom>
          <a:noFill/>
          <a:ln/>
        </p:spPr>
        <p:txBody>
          <a:bodyPr wrap="square" lIns="0" tIns="0" rIns="0" bIns="0" rtlCol="0" anchor="ctr"/>
          <a:lstStyle/>
          <a:p>
            <a:pPr indent="0" marL="0">
              <a:buNone/>
            </a:pPr>
            <a:r>
              <a:rPr lang="en-US" sz="1700" b="1" dirty="0">
                <a:solidFill>
                  <a:srgbClr val="6A2C9C"/>
                </a:solidFill>
                <a:latin typeface="Cambria" pitchFamily="34" charset="0"/>
                <a:ea typeface="Cambria" pitchFamily="34" charset="-122"/>
                <a:cs typeface="Cambria" pitchFamily="34" charset="-120"/>
              </a:rPr>
              <a:t>Penjelasan</a:t>
            </a:r>
            <a:endParaRPr lang="en-US" sz="1700" dirty="0"/>
          </a:p>
        </p:txBody>
      </p:sp>
      <p:sp>
        <p:nvSpPr>
          <p:cNvPr id="35" name="Text 31"/>
          <p:cNvSpPr txBox="1"/>
          <p:nvPr/>
        </p:nvSpPr>
        <p:spPr>
          <a:xfrm>
            <a:off x="8732520" y="1920240"/>
            <a:ext cx="2697480" cy="42519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Transactions = tabel fakta (pusat).</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Customers dan Products = tabel dimensi.</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Relasi 1: Customers[CustomerID] (1) ke Transactions[CustomerID] (banyak).</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Relasi 2: Products[ProductID] (1) ke Transactions[ProductID] (banyak).</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Filter mengalir dari dimensi ke fakta, sehingga Region dan Category memfilter measure.</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Hierarki tanggal otomatis: Year, Quarter, Month.</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A0683"/>
          </a:solidFill>
          <a:ln w="12700">
            <a:solidFill>
              <a:srgbClr val="1A0683"/>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DAX: ringkasan enam measure utama</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DAX</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1A0683"/>
          </a:solidFill>
          <a:ln w="12700">
            <a:solidFill>
              <a:srgbClr val="1A0683"/>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468880"/>
                <a:gridCol w="7040880"/>
                <a:gridCol w="1554480"/>
              </a:tblGrid>
              <a:tr h="6400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Measure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A068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Rumus DAX lengkap</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A068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Hasil</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A0683"/>
                    </a:solidFill>
                  </a:tcPr>
                </a:tc>
              </a:tr>
              <a:tr h="640080">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Total Revenue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200" dirty="0">
                          <a:solidFill>
                            <a:srgbClr val="1E2A35"/>
                          </a:solidFill>
                          <a:latin typeface="Courier New" pitchFamily="34" charset="0"/>
                          <a:ea typeface="Courier New" pitchFamily="34" charset="-122"/>
                          <a:cs typeface="Courier New" pitchFamily="34" charset="-120"/>
                        </a:rPr>
                        <a:t>Total Revenue = SUM(Transactions[TotalValue])</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689.995,56</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640080">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Total Transactions</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200" dirty="0">
                          <a:solidFill>
                            <a:srgbClr val="1E2A35"/>
                          </a:solidFill>
                          <a:latin typeface="Courier New" pitchFamily="34" charset="0"/>
                          <a:ea typeface="Courier New" pitchFamily="34" charset="-122"/>
                          <a:cs typeface="Courier New" pitchFamily="34" charset="-120"/>
                        </a:rPr>
                        <a:t>Total Transactions = DISTINCTCOUNT(Transactions[TransactionID])</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640080">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Total Unique Customers</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200" dirty="0">
                          <a:solidFill>
                            <a:srgbClr val="1E2A35"/>
                          </a:solidFill>
                          <a:latin typeface="Courier New" pitchFamily="34" charset="0"/>
                          <a:ea typeface="Courier New" pitchFamily="34" charset="-122"/>
                          <a:cs typeface="Courier New" pitchFamily="34" charset="-120"/>
                        </a:rPr>
                        <a:t>Total Unique Customers = DISTINCTCOUNT(Transactions[CustomerID])</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199</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640080">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Avg Order Value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200" dirty="0">
                          <a:solidFill>
                            <a:srgbClr val="1E2A35"/>
                          </a:solidFill>
                          <a:latin typeface="Courier New" pitchFamily="34" charset="0"/>
                          <a:ea typeface="Courier New" pitchFamily="34" charset="-122"/>
                          <a:cs typeface="Courier New" pitchFamily="34" charset="-120"/>
                        </a:rPr>
                        <a:t>Avg Order Value = DIVIDE([Total Revenue], [Total Transactions])</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690,00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640080">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Revenue per Customer</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200" dirty="0">
                          <a:solidFill>
                            <a:srgbClr val="1E2A35"/>
                          </a:solidFill>
                          <a:latin typeface="Courier New" pitchFamily="34" charset="0"/>
                          <a:ea typeface="Courier New" pitchFamily="34" charset="-122"/>
                          <a:cs typeface="Courier New" pitchFamily="34" charset="-120"/>
                        </a:rPr>
                        <a:t>Revenue per Customer = DIVIDE([Total Revenue], [Total Unique Customers])</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3.467,31</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640080">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Revenue Share %</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200" dirty="0">
                          <a:solidFill>
                            <a:srgbClr val="1E2A35"/>
                          </a:solidFill>
                          <a:latin typeface="Courier New" pitchFamily="34" charset="0"/>
                          <a:ea typeface="Courier New" pitchFamily="34" charset="-122"/>
                          <a:cs typeface="Courier New" pitchFamily="34" charset="-120"/>
                        </a:rPr>
                        <a:t>Revenue Share % = DIVIDE([Total Revenue], CALCULATE([Total Revenue], ALL(Customers[Region])))</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100% (total)</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bl>
          </a:graphicData>
        </a:graphic>
      </p:graphicFrame>
      <p:sp>
        <p:nvSpPr>
          <p:cNvPr id="12" name="Text 7"/>
          <p:cNvSpPr txBox="1"/>
          <p:nvPr/>
        </p:nvSpPr>
        <p:spPr>
          <a:xfrm>
            <a:off x="548640" y="6035040"/>
            <a:ext cx="11064240" cy="365760"/>
          </a:xfrm>
          <a:prstGeom prst="rect">
            <a:avLst/>
          </a:prstGeom>
          <a:noFill/>
          <a:ln/>
        </p:spPr>
        <p:txBody>
          <a:bodyPr wrap="square" lIns="0" tIns="0" rIns="0" bIns="0" rtlCol="0" anchor="t"/>
          <a:lstStyle/>
          <a:p>
            <a:pPr indent="0" marL="0">
              <a:buNone/>
            </a:pPr>
            <a:r>
              <a:rPr lang="en-US" sz="1200" dirty="0">
                <a:solidFill>
                  <a:srgbClr val="5B6B79"/>
                </a:solidFill>
                <a:latin typeface="Calibri" pitchFamily="34" charset="0"/>
                <a:ea typeface="Calibri" pitchFamily="34" charset="-122"/>
                <a:cs typeface="Calibri" pitchFamily="34" charset="-120"/>
              </a:rPr>
              <a:t>Measure dibuat lewat Home, New measure, lalu dipakai pada kartu KPI, tabel wilayah, dan grafik. Nilainya dihitung ulang mengikuti slicer yang aktif.</a:t>
            </a:r>
            <a:endParaRPr lang="en-US" sz="12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A0683"/>
          </a:solidFill>
          <a:ln w="12700">
            <a:solidFill>
              <a:srgbClr val="1A0683"/>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DAX 1-3: measure dasar</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DAX</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1A0683"/>
          </a:solidFill>
          <a:ln w="12700">
            <a:solidFill>
              <a:srgbClr val="1A0683"/>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280160"/>
            <a:ext cx="3566160" cy="5029200"/>
          </a:xfrm>
          <a:prstGeom prst="roundRect">
            <a:avLst>
              <a:gd name="adj" fmla="val 2564"/>
            </a:avLst>
          </a:prstGeom>
          <a:solidFill>
            <a:srgbClr val="E8E6F3"/>
          </a:solidFill>
          <a:ln w="12700">
            <a:solidFill>
              <a:srgbClr val="E8E6F3"/>
            </a:solidFill>
            <a:prstDash val="solid"/>
          </a:ln>
        </p:spPr>
      </p:sp>
      <p:sp>
        <p:nvSpPr>
          <p:cNvPr id="12" name="Text 8"/>
          <p:cNvSpPr txBox="1"/>
          <p:nvPr/>
        </p:nvSpPr>
        <p:spPr>
          <a:xfrm>
            <a:off x="731520" y="1389888"/>
            <a:ext cx="3200400" cy="365760"/>
          </a:xfrm>
          <a:prstGeom prst="rect">
            <a:avLst/>
          </a:prstGeom>
          <a:noFill/>
          <a:ln/>
        </p:spPr>
        <p:txBody>
          <a:bodyPr wrap="square" lIns="0" tIns="0" rIns="0" bIns="0" rtlCol="0" anchor="ctr"/>
          <a:lstStyle/>
          <a:p>
            <a:pPr indent="0" marL="0">
              <a:buNone/>
            </a:pPr>
            <a:r>
              <a:rPr lang="en-US" sz="1700" b="1" dirty="0">
                <a:solidFill>
                  <a:srgbClr val="1A0683"/>
                </a:solidFill>
                <a:latin typeface="Cambria" pitchFamily="34" charset="0"/>
                <a:ea typeface="Cambria" pitchFamily="34" charset="-122"/>
                <a:cs typeface="Cambria" pitchFamily="34" charset="-120"/>
              </a:rPr>
              <a:t>Total Revenue</a:t>
            </a:r>
            <a:endParaRPr lang="en-US" sz="1700" dirty="0"/>
          </a:p>
        </p:txBody>
      </p:sp>
      <p:sp>
        <p:nvSpPr>
          <p:cNvPr id="13" name="Shape 9"/>
          <p:cNvSpPr/>
          <p:nvPr/>
        </p:nvSpPr>
        <p:spPr>
          <a:xfrm>
            <a:off x="731520" y="1828800"/>
            <a:ext cx="3200400" cy="914400"/>
          </a:xfrm>
          <a:prstGeom prst="rect">
            <a:avLst/>
          </a:prstGeom>
          <a:solidFill>
            <a:srgbClr val="FFFFFF"/>
          </a:solidFill>
          <a:ln w="12700">
            <a:solidFill>
              <a:srgbClr val="D5DDE3"/>
            </a:solidFill>
            <a:prstDash val="solid"/>
          </a:ln>
        </p:spPr>
      </p:sp>
      <p:sp>
        <p:nvSpPr>
          <p:cNvPr id="14" name="Text 10"/>
          <p:cNvSpPr txBox="1"/>
          <p:nvPr/>
        </p:nvSpPr>
        <p:spPr>
          <a:xfrm>
            <a:off x="822960" y="1847088"/>
            <a:ext cx="3017520" cy="877824"/>
          </a:xfrm>
          <a:prstGeom prst="rect">
            <a:avLst/>
          </a:prstGeom>
          <a:noFill/>
          <a:ln/>
        </p:spPr>
        <p:txBody>
          <a:bodyPr wrap="square" lIns="0" tIns="0" rIns="0" bIns="0" rtlCol="0" anchor="ctr"/>
          <a:lstStyle/>
          <a:p>
            <a:pPr indent="0" marL="0">
              <a:buNone/>
            </a:pPr>
            <a:r>
              <a:rPr lang="en-US" sz="1200" dirty="0">
                <a:solidFill>
                  <a:srgbClr val="1E2A35"/>
                </a:solidFill>
                <a:latin typeface="Courier New" pitchFamily="34" charset="0"/>
                <a:ea typeface="Courier New" pitchFamily="34" charset="-122"/>
                <a:cs typeface="Courier New" pitchFamily="34" charset="-120"/>
              </a:rPr>
              <a:t>Total Revenue =</a:t>
            </a:r>
            <a:endParaRPr lang="en-US" sz="1200" dirty="0"/>
          </a:p>
          <a:p>
            <a:pPr indent="0" marL="0">
              <a:buNone/>
            </a:pPr>
            <a:r>
              <a:rPr lang="en-US" sz="1200" dirty="0">
                <a:solidFill>
                  <a:srgbClr val="1E2A35"/>
                </a:solidFill>
                <a:latin typeface="Courier New" pitchFamily="34" charset="0"/>
                <a:ea typeface="Courier New" pitchFamily="34" charset="-122"/>
                <a:cs typeface="Courier New" pitchFamily="34" charset="-120"/>
              </a:rPr>
              <a:t>SUM(Transactions[TotalValue])</a:t>
            </a:r>
            <a:endParaRPr lang="en-US" sz="1200" dirty="0"/>
          </a:p>
        </p:txBody>
      </p:sp>
      <p:sp>
        <p:nvSpPr>
          <p:cNvPr id="15" name="Text 11"/>
          <p:cNvSpPr txBox="1"/>
          <p:nvPr/>
        </p:nvSpPr>
        <p:spPr>
          <a:xfrm>
            <a:off x="731520" y="2880360"/>
            <a:ext cx="3200400" cy="269748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SUM menjumlahkan seluruh nilai kolom TotalValue (Quantity x Price) pada 1.000 transaksi. Dipakai pada kartu Total Revenue, tabel wilayah, dan semua grafik pendapatan. Hasilnya berubah mengikuti filter yang aktif.</a:t>
            </a:r>
            <a:endParaRPr lang="en-US" sz="1400" dirty="0"/>
          </a:p>
        </p:txBody>
      </p:sp>
      <p:sp>
        <p:nvSpPr>
          <p:cNvPr id="16" name="Text 12"/>
          <p:cNvSpPr txBox="1"/>
          <p:nvPr/>
        </p:nvSpPr>
        <p:spPr>
          <a:xfrm>
            <a:off x="731520" y="5669280"/>
            <a:ext cx="3200400" cy="502920"/>
          </a:xfrm>
          <a:prstGeom prst="rect">
            <a:avLst/>
          </a:prstGeom>
          <a:noFill/>
          <a:ln/>
        </p:spPr>
        <p:txBody>
          <a:bodyPr wrap="square" lIns="0" tIns="0" rIns="0" bIns="0" rtlCol="0" anchor="ctr"/>
          <a:lstStyle/>
          <a:p>
            <a:pPr indent="0" marL="0">
              <a:buNone/>
            </a:pPr>
            <a:r>
              <a:rPr lang="en-US" sz="1600" b="1" dirty="0">
                <a:solidFill>
                  <a:srgbClr val="1B9AAA"/>
                </a:solidFill>
                <a:latin typeface="Cambria" pitchFamily="34" charset="0"/>
                <a:ea typeface="Cambria" pitchFamily="34" charset="-122"/>
                <a:cs typeface="Cambria" pitchFamily="34" charset="-120"/>
              </a:rPr>
              <a:t>Hasil: 689.995,56</a:t>
            </a:r>
            <a:endParaRPr lang="en-US" sz="1600" dirty="0"/>
          </a:p>
        </p:txBody>
      </p:sp>
      <p:sp>
        <p:nvSpPr>
          <p:cNvPr id="17" name="Shape 13"/>
          <p:cNvSpPr/>
          <p:nvPr/>
        </p:nvSpPr>
        <p:spPr>
          <a:xfrm>
            <a:off x="4297680" y="1280160"/>
            <a:ext cx="3566160" cy="5029200"/>
          </a:xfrm>
          <a:prstGeom prst="roundRect">
            <a:avLst>
              <a:gd name="adj" fmla="val 2564"/>
            </a:avLst>
          </a:prstGeom>
          <a:solidFill>
            <a:srgbClr val="E8E6F3"/>
          </a:solidFill>
          <a:ln w="12700">
            <a:solidFill>
              <a:srgbClr val="E8E6F3"/>
            </a:solidFill>
            <a:prstDash val="solid"/>
          </a:ln>
        </p:spPr>
      </p:sp>
      <p:sp>
        <p:nvSpPr>
          <p:cNvPr id="18" name="Text 14"/>
          <p:cNvSpPr txBox="1"/>
          <p:nvPr/>
        </p:nvSpPr>
        <p:spPr>
          <a:xfrm>
            <a:off x="4480560" y="1389888"/>
            <a:ext cx="3200400" cy="365760"/>
          </a:xfrm>
          <a:prstGeom prst="rect">
            <a:avLst/>
          </a:prstGeom>
          <a:noFill/>
          <a:ln/>
        </p:spPr>
        <p:txBody>
          <a:bodyPr wrap="square" lIns="0" tIns="0" rIns="0" bIns="0" rtlCol="0" anchor="ctr"/>
          <a:lstStyle/>
          <a:p>
            <a:pPr indent="0" marL="0">
              <a:buNone/>
            </a:pPr>
            <a:r>
              <a:rPr lang="en-US" sz="1700" b="1" dirty="0">
                <a:solidFill>
                  <a:srgbClr val="1A0683"/>
                </a:solidFill>
                <a:latin typeface="Cambria" pitchFamily="34" charset="0"/>
                <a:ea typeface="Cambria" pitchFamily="34" charset="-122"/>
                <a:cs typeface="Cambria" pitchFamily="34" charset="-120"/>
              </a:rPr>
              <a:t>Total Transactions</a:t>
            </a:r>
            <a:endParaRPr lang="en-US" sz="1700" dirty="0"/>
          </a:p>
        </p:txBody>
      </p:sp>
      <p:sp>
        <p:nvSpPr>
          <p:cNvPr id="19" name="Shape 15"/>
          <p:cNvSpPr/>
          <p:nvPr/>
        </p:nvSpPr>
        <p:spPr>
          <a:xfrm>
            <a:off x="4480560" y="1828800"/>
            <a:ext cx="3200400" cy="914400"/>
          </a:xfrm>
          <a:prstGeom prst="rect">
            <a:avLst/>
          </a:prstGeom>
          <a:solidFill>
            <a:srgbClr val="FFFFFF"/>
          </a:solidFill>
          <a:ln w="12700">
            <a:solidFill>
              <a:srgbClr val="D5DDE3"/>
            </a:solidFill>
            <a:prstDash val="solid"/>
          </a:ln>
        </p:spPr>
      </p:sp>
      <p:sp>
        <p:nvSpPr>
          <p:cNvPr id="20" name="Text 16"/>
          <p:cNvSpPr txBox="1"/>
          <p:nvPr/>
        </p:nvSpPr>
        <p:spPr>
          <a:xfrm>
            <a:off x="4572000" y="1847088"/>
            <a:ext cx="3017520" cy="877824"/>
          </a:xfrm>
          <a:prstGeom prst="rect">
            <a:avLst/>
          </a:prstGeom>
          <a:noFill/>
          <a:ln/>
        </p:spPr>
        <p:txBody>
          <a:bodyPr wrap="square" lIns="0" tIns="0" rIns="0" bIns="0" rtlCol="0" anchor="ctr"/>
          <a:lstStyle/>
          <a:p>
            <a:pPr indent="0" marL="0">
              <a:buNone/>
            </a:pPr>
            <a:r>
              <a:rPr lang="en-US" sz="1200" dirty="0">
                <a:solidFill>
                  <a:srgbClr val="1E2A35"/>
                </a:solidFill>
                <a:latin typeface="Courier New" pitchFamily="34" charset="0"/>
                <a:ea typeface="Courier New" pitchFamily="34" charset="-122"/>
                <a:cs typeface="Courier New" pitchFamily="34" charset="-120"/>
              </a:rPr>
              <a:t>Total Transactions =</a:t>
            </a:r>
            <a:endParaRPr lang="en-US" sz="1200" dirty="0"/>
          </a:p>
          <a:p>
            <a:pPr indent="0" marL="0">
              <a:buNone/>
            </a:pPr>
            <a:r>
              <a:rPr lang="en-US" sz="1200" dirty="0">
                <a:solidFill>
                  <a:srgbClr val="1E2A35"/>
                </a:solidFill>
                <a:latin typeface="Courier New" pitchFamily="34" charset="0"/>
                <a:ea typeface="Courier New" pitchFamily="34" charset="-122"/>
                <a:cs typeface="Courier New" pitchFamily="34" charset="-120"/>
              </a:rPr>
              <a:t>DISTINCTCOUNT(</a:t>
            </a:r>
            <a:endParaRPr lang="en-US" sz="1200" dirty="0"/>
          </a:p>
          <a:p>
            <a:pPr indent="0" marL="0">
              <a:buNone/>
            </a:pPr>
            <a:r>
              <a:rPr lang="en-US" sz="1200" dirty="0">
                <a:solidFill>
                  <a:srgbClr val="1E2A35"/>
                </a:solidFill>
                <a:latin typeface="Courier New" pitchFamily="34" charset="0"/>
                <a:ea typeface="Courier New" pitchFamily="34" charset="-122"/>
                <a:cs typeface="Courier New" pitchFamily="34" charset="-120"/>
              </a:rPr>
              <a:t>Transactions[TransactionID])</a:t>
            </a:r>
            <a:endParaRPr lang="en-US" sz="1200" dirty="0"/>
          </a:p>
        </p:txBody>
      </p:sp>
      <p:sp>
        <p:nvSpPr>
          <p:cNvPr id="21" name="Text 17"/>
          <p:cNvSpPr txBox="1"/>
          <p:nvPr/>
        </p:nvSpPr>
        <p:spPr>
          <a:xfrm>
            <a:off x="4480560" y="2880360"/>
            <a:ext cx="3200400" cy="269748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DISTINCTCOUNT menghitung nilai TransactionID yang berbeda. Karena setiap transaksi memiliki ID unik, hasilnya sama dengan jumlah baris. Dipakai pada kartu dan sebagai penyebut Avg Order Value.</a:t>
            </a:r>
            <a:endParaRPr lang="en-US" sz="1400" dirty="0"/>
          </a:p>
        </p:txBody>
      </p:sp>
      <p:sp>
        <p:nvSpPr>
          <p:cNvPr id="22" name="Text 18"/>
          <p:cNvSpPr txBox="1"/>
          <p:nvPr/>
        </p:nvSpPr>
        <p:spPr>
          <a:xfrm>
            <a:off x="4480560" y="5669280"/>
            <a:ext cx="3200400" cy="502920"/>
          </a:xfrm>
          <a:prstGeom prst="rect">
            <a:avLst/>
          </a:prstGeom>
          <a:noFill/>
          <a:ln/>
        </p:spPr>
        <p:txBody>
          <a:bodyPr wrap="square" lIns="0" tIns="0" rIns="0" bIns="0" rtlCol="0" anchor="ctr"/>
          <a:lstStyle/>
          <a:p>
            <a:pPr indent="0" marL="0">
              <a:buNone/>
            </a:pPr>
            <a:r>
              <a:rPr lang="en-US" sz="1600" b="1" dirty="0">
                <a:solidFill>
                  <a:srgbClr val="1B9AAA"/>
                </a:solidFill>
                <a:latin typeface="Cambria" pitchFamily="34" charset="0"/>
                <a:ea typeface="Cambria" pitchFamily="34" charset="-122"/>
                <a:cs typeface="Cambria" pitchFamily="34" charset="-120"/>
              </a:rPr>
              <a:t>Hasil: 1.000</a:t>
            </a:r>
            <a:endParaRPr lang="en-US" sz="1600" dirty="0"/>
          </a:p>
        </p:txBody>
      </p:sp>
      <p:sp>
        <p:nvSpPr>
          <p:cNvPr id="23" name="Shape 19"/>
          <p:cNvSpPr/>
          <p:nvPr/>
        </p:nvSpPr>
        <p:spPr>
          <a:xfrm>
            <a:off x="8046720" y="1280160"/>
            <a:ext cx="3566160" cy="5029200"/>
          </a:xfrm>
          <a:prstGeom prst="roundRect">
            <a:avLst>
              <a:gd name="adj" fmla="val 2564"/>
            </a:avLst>
          </a:prstGeom>
          <a:solidFill>
            <a:srgbClr val="E8E6F3"/>
          </a:solidFill>
          <a:ln w="12700">
            <a:solidFill>
              <a:srgbClr val="E8E6F3"/>
            </a:solidFill>
            <a:prstDash val="solid"/>
          </a:ln>
        </p:spPr>
      </p:sp>
      <p:sp>
        <p:nvSpPr>
          <p:cNvPr id="24" name="Text 20"/>
          <p:cNvSpPr txBox="1"/>
          <p:nvPr/>
        </p:nvSpPr>
        <p:spPr>
          <a:xfrm>
            <a:off x="8229600" y="1389888"/>
            <a:ext cx="3200400" cy="365760"/>
          </a:xfrm>
          <a:prstGeom prst="rect">
            <a:avLst/>
          </a:prstGeom>
          <a:noFill/>
          <a:ln/>
        </p:spPr>
        <p:txBody>
          <a:bodyPr wrap="square" lIns="0" tIns="0" rIns="0" bIns="0" rtlCol="0" anchor="ctr"/>
          <a:lstStyle/>
          <a:p>
            <a:pPr indent="0" marL="0">
              <a:buNone/>
            </a:pPr>
            <a:r>
              <a:rPr lang="en-US" sz="1700" b="1" dirty="0">
                <a:solidFill>
                  <a:srgbClr val="1A0683"/>
                </a:solidFill>
                <a:latin typeface="Cambria" pitchFamily="34" charset="0"/>
                <a:ea typeface="Cambria" pitchFamily="34" charset="-122"/>
                <a:cs typeface="Cambria" pitchFamily="34" charset="-120"/>
              </a:rPr>
              <a:t>Total Unique Customers</a:t>
            </a:r>
            <a:endParaRPr lang="en-US" sz="1700" dirty="0"/>
          </a:p>
        </p:txBody>
      </p:sp>
      <p:sp>
        <p:nvSpPr>
          <p:cNvPr id="25" name="Shape 21"/>
          <p:cNvSpPr/>
          <p:nvPr/>
        </p:nvSpPr>
        <p:spPr>
          <a:xfrm>
            <a:off x="8229600" y="1828800"/>
            <a:ext cx="3200400" cy="914400"/>
          </a:xfrm>
          <a:prstGeom prst="rect">
            <a:avLst/>
          </a:prstGeom>
          <a:solidFill>
            <a:srgbClr val="FFFFFF"/>
          </a:solidFill>
          <a:ln w="12700">
            <a:solidFill>
              <a:srgbClr val="D5DDE3"/>
            </a:solidFill>
            <a:prstDash val="solid"/>
          </a:ln>
        </p:spPr>
      </p:sp>
      <p:sp>
        <p:nvSpPr>
          <p:cNvPr id="26" name="Text 22"/>
          <p:cNvSpPr txBox="1"/>
          <p:nvPr/>
        </p:nvSpPr>
        <p:spPr>
          <a:xfrm>
            <a:off x="8321040" y="1847088"/>
            <a:ext cx="3017520" cy="877824"/>
          </a:xfrm>
          <a:prstGeom prst="rect">
            <a:avLst/>
          </a:prstGeom>
          <a:noFill/>
          <a:ln/>
        </p:spPr>
        <p:txBody>
          <a:bodyPr wrap="square" lIns="0" tIns="0" rIns="0" bIns="0" rtlCol="0" anchor="ctr"/>
          <a:lstStyle/>
          <a:p>
            <a:pPr indent="0" marL="0">
              <a:buNone/>
            </a:pPr>
            <a:r>
              <a:rPr lang="en-US" sz="1200" dirty="0">
                <a:solidFill>
                  <a:srgbClr val="1E2A35"/>
                </a:solidFill>
                <a:latin typeface="Courier New" pitchFamily="34" charset="0"/>
                <a:ea typeface="Courier New" pitchFamily="34" charset="-122"/>
                <a:cs typeface="Courier New" pitchFamily="34" charset="-120"/>
              </a:rPr>
              <a:t>Total Unique Customers =</a:t>
            </a:r>
            <a:endParaRPr lang="en-US" sz="1200" dirty="0"/>
          </a:p>
          <a:p>
            <a:pPr indent="0" marL="0">
              <a:buNone/>
            </a:pPr>
            <a:r>
              <a:rPr lang="en-US" sz="1200" dirty="0">
                <a:solidFill>
                  <a:srgbClr val="1E2A35"/>
                </a:solidFill>
                <a:latin typeface="Courier New" pitchFamily="34" charset="0"/>
                <a:ea typeface="Courier New" pitchFamily="34" charset="-122"/>
                <a:cs typeface="Courier New" pitchFamily="34" charset="-120"/>
              </a:rPr>
              <a:t>DISTINCTCOUNT(</a:t>
            </a:r>
            <a:endParaRPr lang="en-US" sz="1200" dirty="0"/>
          </a:p>
          <a:p>
            <a:pPr indent="0" marL="0">
              <a:buNone/>
            </a:pPr>
            <a:r>
              <a:rPr lang="en-US" sz="1200" dirty="0">
                <a:solidFill>
                  <a:srgbClr val="1E2A35"/>
                </a:solidFill>
                <a:latin typeface="Courier New" pitchFamily="34" charset="0"/>
                <a:ea typeface="Courier New" pitchFamily="34" charset="-122"/>
                <a:cs typeface="Courier New" pitchFamily="34" charset="-120"/>
              </a:rPr>
              <a:t>Transactions[CustomerID])</a:t>
            </a:r>
            <a:endParaRPr lang="en-US" sz="1200" dirty="0"/>
          </a:p>
        </p:txBody>
      </p:sp>
      <p:sp>
        <p:nvSpPr>
          <p:cNvPr id="27" name="Text 23"/>
          <p:cNvSpPr txBox="1"/>
          <p:nvPr/>
        </p:nvSpPr>
        <p:spPr>
          <a:xfrm>
            <a:off x="8229600" y="2880360"/>
            <a:ext cx="3200400" cy="269748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Menghitung CustomerID berbeda pada Transactions, sehingga pelanggan yang bertransaksi berkali-kali hanya dihitung sekali. Dari 200 pelanggan terdaftar, hanya 199 yang muncul di Transactions.</a:t>
            </a:r>
            <a:endParaRPr lang="en-US" sz="1400" dirty="0"/>
          </a:p>
        </p:txBody>
      </p:sp>
      <p:sp>
        <p:nvSpPr>
          <p:cNvPr id="28" name="Text 24"/>
          <p:cNvSpPr txBox="1"/>
          <p:nvPr/>
        </p:nvSpPr>
        <p:spPr>
          <a:xfrm>
            <a:off x="8229600" y="5669280"/>
            <a:ext cx="3200400" cy="502920"/>
          </a:xfrm>
          <a:prstGeom prst="rect">
            <a:avLst/>
          </a:prstGeom>
          <a:noFill/>
          <a:ln/>
        </p:spPr>
        <p:txBody>
          <a:bodyPr wrap="square" lIns="0" tIns="0" rIns="0" bIns="0" rtlCol="0" anchor="ctr"/>
          <a:lstStyle/>
          <a:p>
            <a:pPr indent="0" marL="0">
              <a:buNone/>
            </a:pPr>
            <a:r>
              <a:rPr lang="en-US" sz="1600" b="1" dirty="0">
                <a:solidFill>
                  <a:srgbClr val="1B9AAA"/>
                </a:solidFill>
                <a:latin typeface="Cambria" pitchFamily="34" charset="0"/>
                <a:ea typeface="Cambria" pitchFamily="34" charset="-122"/>
                <a:cs typeface="Cambria" pitchFamily="34" charset="-120"/>
              </a:rPr>
              <a:t>Hasil: 199</a:t>
            </a:r>
            <a:endParaRPr lang="en-US" sz="16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A0683"/>
          </a:solidFill>
          <a:ln w="12700">
            <a:solidFill>
              <a:srgbClr val="1A0683"/>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DAX 4-5: Avg Order Value dan Revenue per Customer</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DAX</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1A0683"/>
          </a:solidFill>
          <a:ln w="12700">
            <a:solidFill>
              <a:srgbClr val="1A0683"/>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280160"/>
            <a:ext cx="5394960" cy="5029200"/>
          </a:xfrm>
          <a:prstGeom prst="roundRect">
            <a:avLst>
              <a:gd name="adj" fmla="val 1818"/>
            </a:avLst>
          </a:prstGeom>
          <a:solidFill>
            <a:srgbClr val="E8E6F3"/>
          </a:solidFill>
          <a:ln w="12700">
            <a:solidFill>
              <a:srgbClr val="E8E6F3"/>
            </a:solidFill>
            <a:prstDash val="solid"/>
          </a:ln>
        </p:spPr>
      </p:sp>
      <p:sp>
        <p:nvSpPr>
          <p:cNvPr id="12" name="Text 8"/>
          <p:cNvSpPr txBox="1"/>
          <p:nvPr/>
        </p:nvSpPr>
        <p:spPr>
          <a:xfrm>
            <a:off x="731520" y="1389888"/>
            <a:ext cx="5029200" cy="365760"/>
          </a:xfrm>
          <a:prstGeom prst="rect">
            <a:avLst/>
          </a:prstGeom>
          <a:noFill/>
          <a:ln/>
        </p:spPr>
        <p:txBody>
          <a:bodyPr wrap="square" lIns="0" tIns="0" rIns="0" bIns="0" rtlCol="0" anchor="ctr"/>
          <a:lstStyle/>
          <a:p>
            <a:pPr indent="0" marL="0">
              <a:buNone/>
            </a:pPr>
            <a:r>
              <a:rPr lang="en-US" sz="1700" b="1" dirty="0">
                <a:solidFill>
                  <a:srgbClr val="1A0683"/>
                </a:solidFill>
                <a:latin typeface="Cambria" pitchFamily="34" charset="0"/>
                <a:ea typeface="Cambria" pitchFamily="34" charset="-122"/>
                <a:cs typeface="Cambria" pitchFamily="34" charset="-120"/>
              </a:rPr>
              <a:t>Avg Order Value (rata-rata per transaksi)</a:t>
            </a:r>
            <a:endParaRPr lang="en-US" sz="1700" dirty="0"/>
          </a:p>
        </p:txBody>
      </p:sp>
      <p:sp>
        <p:nvSpPr>
          <p:cNvPr id="13" name="Shape 9"/>
          <p:cNvSpPr/>
          <p:nvPr/>
        </p:nvSpPr>
        <p:spPr>
          <a:xfrm>
            <a:off x="731520" y="1828800"/>
            <a:ext cx="5029200" cy="914400"/>
          </a:xfrm>
          <a:prstGeom prst="rect">
            <a:avLst/>
          </a:prstGeom>
          <a:solidFill>
            <a:srgbClr val="FFFFFF"/>
          </a:solidFill>
          <a:ln w="12700">
            <a:solidFill>
              <a:srgbClr val="D5DDE3"/>
            </a:solidFill>
            <a:prstDash val="solid"/>
          </a:ln>
        </p:spPr>
      </p:sp>
      <p:sp>
        <p:nvSpPr>
          <p:cNvPr id="14" name="Text 10"/>
          <p:cNvSpPr txBox="1"/>
          <p:nvPr/>
        </p:nvSpPr>
        <p:spPr>
          <a:xfrm>
            <a:off x="822960" y="1847088"/>
            <a:ext cx="4846320" cy="877824"/>
          </a:xfrm>
          <a:prstGeom prst="rect">
            <a:avLst/>
          </a:prstGeom>
          <a:noFill/>
          <a:ln/>
        </p:spPr>
        <p:txBody>
          <a:bodyPr wrap="square" lIns="0" tIns="0" rIns="0" bIns="0" rtlCol="0" anchor="ctr"/>
          <a:lstStyle/>
          <a:p>
            <a:pPr indent="0" marL="0">
              <a:buNone/>
            </a:pPr>
            <a:r>
              <a:rPr lang="en-US" sz="1200" dirty="0">
                <a:solidFill>
                  <a:srgbClr val="1E2A35"/>
                </a:solidFill>
                <a:latin typeface="Courier New" pitchFamily="34" charset="0"/>
                <a:ea typeface="Courier New" pitchFamily="34" charset="-122"/>
                <a:cs typeface="Courier New" pitchFamily="34" charset="-120"/>
              </a:rPr>
              <a:t>Avg Order Value =</a:t>
            </a:r>
            <a:endParaRPr lang="en-US" sz="1200" dirty="0"/>
          </a:p>
          <a:p>
            <a:pPr indent="0" marL="0">
              <a:buNone/>
            </a:pPr>
            <a:r>
              <a:rPr lang="en-US" sz="1200" dirty="0">
                <a:solidFill>
                  <a:srgbClr val="1E2A35"/>
                </a:solidFill>
                <a:latin typeface="Courier New" pitchFamily="34" charset="0"/>
                <a:ea typeface="Courier New" pitchFamily="34" charset="-122"/>
                <a:cs typeface="Courier New" pitchFamily="34" charset="-120"/>
              </a:rPr>
              <a:t>DIVIDE([Total Revenue], [Total Transactions])</a:t>
            </a:r>
            <a:endParaRPr lang="en-US" sz="1200" dirty="0"/>
          </a:p>
        </p:txBody>
      </p:sp>
      <p:sp>
        <p:nvSpPr>
          <p:cNvPr id="15" name="Text 11"/>
          <p:cNvSpPr txBox="1"/>
          <p:nvPr/>
        </p:nvSpPr>
        <p:spPr>
          <a:xfrm>
            <a:off x="731520" y="2880360"/>
            <a:ext cx="5029200" cy="269748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DIVIDE membagi pembilang dengan penyebut dan menghasilkan kosong, bukan galat, jika penyebut nol. Perhitungan: 689.995,56 dibagi 1.000 = 690,00. Setiap transaksi rata-rata bernilai 690. Pada filter South America nilainya naik menjadi 721,55.</a:t>
            </a:r>
            <a:endParaRPr lang="en-US" sz="1400" dirty="0"/>
          </a:p>
        </p:txBody>
      </p:sp>
      <p:sp>
        <p:nvSpPr>
          <p:cNvPr id="16" name="Text 12"/>
          <p:cNvSpPr txBox="1"/>
          <p:nvPr/>
        </p:nvSpPr>
        <p:spPr>
          <a:xfrm>
            <a:off x="731520" y="5669280"/>
            <a:ext cx="5029200" cy="502920"/>
          </a:xfrm>
          <a:prstGeom prst="rect">
            <a:avLst/>
          </a:prstGeom>
          <a:noFill/>
          <a:ln/>
        </p:spPr>
        <p:txBody>
          <a:bodyPr wrap="square" lIns="0" tIns="0" rIns="0" bIns="0" rtlCol="0" anchor="ctr"/>
          <a:lstStyle/>
          <a:p>
            <a:pPr indent="0" marL="0">
              <a:buNone/>
            </a:pPr>
            <a:r>
              <a:rPr lang="en-US" sz="1600" b="1" dirty="0">
                <a:solidFill>
                  <a:srgbClr val="1B9AAA"/>
                </a:solidFill>
                <a:latin typeface="Cambria" pitchFamily="34" charset="0"/>
                <a:ea typeface="Cambria" pitchFamily="34" charset="-122"/>
                <a:cs typeface="Cambria" pitchFamily="34" charset="-120"/>
              </a:rPr>
              <a:t>Hasil: 690,00</a:t>
            </a:r>
            <a:endParaRPr lang="en-US" sz="1600" dirty="0"/>
          </a:p>
        </p:txBody>
      </p:sp>
      <p:sp>
        <p:nvSpPr>
          <p:cNvPr id="17" name="Shape 13"/>
          <p:cNvSpPr/>
          <p:nvPr/>
        </p:nvSpPr>
        <p:spPr>
          <a:xfrm>
            <a:off x="6217920" y="1280160"/>
            <a:ext cx="5394960" cy="5029200"/>
          </a:xfrm>
          <a:prstGeom prst="roundRect">
            <a:avLst>
              <a:gd name="adj" fmla="val 1818"/>
            </a:avLst>
          </a:prstGeom>
          <a:solidFill>
            <a:srgbClr val="E8E6F3"/>
          </a:solidFill>
          <a:ln w="12700">
            <a:solidFill>
              <a:srgbClr val="E8E6F3"/>
            </a:solidFill>
            <a:prstDash val="solid"/>
          </a:ln>
        </p:spPr>
      </p:sp>
      <p:sp>
        <p:nvSpPr>
          <p:cNvPr id="18" name="Text 14"/>
          <p:cNvSpPr txBox="1"/>
          <p:nvPr/>
        </p:nvSpPr>
        <p:spPr>
          <a:xfrm>
            <a:off x="6400800" y="1389888"/>
            <a:ext cx="5029200" cy="365760"/>
          </a:xfrm>
          <a:prstGeom prst="rect">
            <a:avLst/>
          </a:prstGeom>
          <a:noFill/>
          <a:ln/>
        </p:spPr>
        <p:txBody>
          <a:bodyPr wrap="square" lIns="0" tIns="0" rIns="0" bIns="0" rtlCol="0" anchor="ctr"/>
          <a:lstStyle/>
          <a:p>
            <a:pPr indent="0" marL="0">
              <a:buNone/>
            </a:pPr>
            <a:r>
              <a:rPr lang="en-US" sz="1700" b="1" dirty="0">
                <a:solidFill>
                  <a:srgbClr val="1A0683"/>
                </a:solidFill>
                <a:latin typeface="Cambria" pitchFamily="34" charset="0"/>
                <a:ea typeface="Cambria" pitchFamily="34" charset="-122"/>
                <a:cs typeface="Cambria" pitchFamily="34" charset="-120"/>
              </a:rPr>
              <a:t>Revenue per Customer (rata-rata per pelanggan)</a:t>
            </a:r>
            <a:endParaRPr lang="en-US" sz="1700" dirty="0"/>
          </a:p>
        </p:txBody>
      </p:sp>
      <p:sp>
        <p:nvSpPr>
          <p:cNvPr id="19" name="Shape 15"/>
          <p:cNvSpPr/>
          <p:nvPr/>
        </p:nvSpPr>
        <p:spPr>
          <a:xfrm>
            <a:off x="6400800" y="1828800"/>
            <a:ext cx="5029200" cy="914400"/>
          </a:xfrm>
          <a:prstGeom prst="rect">
            <a:avLst/>
          </a:prstGeom>
          <a:solidFill>
            <a:srgbClr val="FFFFFF"/>
          </a:solidFill>
          <a:ln w="12700">
            <a:solidFill>
              <a:srgbClr val="D5DDE3"/>
            </a:solidFill>
            <a:prstDash val="solid"/>
          </a:ln>
        </p:spPr>
      </p:sp>
      <p:sp>
        <p:nvSpPr>
          <p:cNvPr id="20" name="Text 16"/>
          <p:cNvSpPr txBox="1"/>
          <p:nvPr/>
        </p:nvSpPr>
        <p:spPr>
          <a:xfrm>
            <a:off x="6492240" y="1847088"/>
            <a:ext cx="4846320" cy="877824"/>
          </a:xfrm>
          <a:prstGeom prst="rect">
            <a:avLst/>
          </a:prstGeom>
          <a:noFill/>
          <a:ln/>
        </p:spPr>
        <p:txBody>
          <a:bodyPr wrap="square" lIns="0" tIns="0" rIns="0" bIns="0" rtlCol="0" anchor="ctr"/>
          <a:lstStyle/>
          <a:p>
            <a:pPr indent="0" marL="0">
              <a:buNone/>
            </a:pPr>
            <a:r>
              <a:rPr lang="en-US" sz="1200" dirty="0">
                <a:solidFill>
                  <a:srgbClr val="1E2A35"/>
                </a:solidFill>
                <a:latin typeface="Courier New" pitchFamily="34" charset="0"/>
                <a:ea typeface="Courier New" pitchFamily="34" charset="-122"/>
                <a:cs typeface="Courier New" pitchFamily="34" charset="-120"/>
              </a:rPr>
              <a:t>Revenue per Customer =</a:t>
            </a:r>
            <a:endParaRPr lang="en-US" sz="1200" dirty="0"/>
          </a:p>
          <a:p>
            <a:pPr indent="0" marL="0">
              <a:buNone/>
            </a:pPr>
            <a:r>
              <a:rPr lang="en-US" sz="1200" dirty="0">
                <a:solidFill>
                  <a:srgbClr val="1E2A35"/>
                </a:solidFill>
                <a:latin typeface="Courier New" pitchFamily="34" charset="0"/>
                <a:ea typeface="Courier New" pitchFamily="34" charset="-122"/>
                <a:cs typeface="Courier New" pitchFamily="34" charset="-120"/>
              </a:rPr>
              <a:t>DIVIDE([Total Revenue], [Total Unique Customers])</a:t>
            </a:r>
            <a:endParaRPr lang="en-US" sz="1200" dirty="0"/>
          </a:p>
        </p:txBody>
      </p:sp>
      <p:sp>
        <p:nvSpPr>
          <p:cNvPr id="21" name="Text 17"/>
          <p:cNvSpPr txBox="1"/>
          <p:nvPr/>
        </p:nvSpPr>
        <p:spPr>
          <a:xfrm>
            <a:off x="6400800" y="2880360"/>
            <a:ext cx="5029200" cy="269748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Perhitungan: 689.995,56 dibagi 199 pelanggan aktif = 3.467,31. Penyebut memakai pelanggan yang bertransaksi (199), bukan pelanggan terdaftar (200), sehingga mengukur nilai belanja pelanggan aktif. Dipakai pada tabel wilayah dan halaman Customer Behavior.</a:t>
            </a:r>
            <a:endParaRPr lang="en-US" sz="1400" dirty="0"/>
          </a:p>
        </p:txBody>
      </p:sp>
      <p:sp>
        <p:nvSpPr>
          <p:cNvPr id="22" name="Text 18"/>
          <p:cNvSpPr txBox="1"/>
          <p:nvPr/>
        </p:nvSpPr>
        <p:spPr>
          <a:xfrm>
            <a:off x="6400800" y="5669280"/>
            <a:ext cx="5029200" cy="502920"/>
          </a:xfrm>
          <a:prstGeom prst="rect">
            <a:avLst/>
          </a:prstGeom>
          <a:noFill/>
          <a:ln/>
        </p:spPr>
        <p:txBody>
          <a:bodyPr wrap="square" lIns="0" tIns="0" rIns="0" bIns="0" rtlCol="0" anchor="ctr"/>
          <a:lstStyle/>
          <a:p>
            <a:pPr indent="0" marL="0">
              <a:buNone/>
            </a:pPr>
            <a:r>
              <a:rPr lang="en-US" sz="1600" b="1" dirty="0">
                <a:solidFill>
                  <a:srgbClr val="1B9AAA"/>
                </a:solidFill>
                <a:latin typeface="Cambria" pitchFamily="34" charset="0"/>
                <a:ea typeface="Cambria" pitchFamily="34" charset="-122"/>
                <a:cs typeface="Cambria" pitchFamily="34" charset="-120"/>
              </a:rPr>
              <a:t>Hasil: 3.467,31</a:t>
            </a:r>
            <a:endParaRPr lang="en-US" sz="16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A0683"/>
          </a:solidFill>
          <a:ln w="12700">
            <a:solidFill>
              <a:srgbClr val="1A0683"/>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DAX 6: Revenue Share % (kontribusi wilayah)</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DAX</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1A0683"/>
          </a:solidFill>
          <a:ln w="12700">
            <a:solidFill>
              <a:srgbClr val="1A0683"/>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280160"/>
            <a:ext cx="5760720" cy="5029200"/>
          </a:xfrm>
          <a:prstGeom prst="roundRect">
            <a:avLst>
              <a:gd name="adj" fmla="val 1818"/>
            </a:avLst>
          </a:prstGeom>
          <a:solidFill>
            <a:srgbClr val="E8E6F3"/>
          </a:solidFill>
          <a:ln w="12700">
            <a:solidFill>
              <a:srgbClr val="E8E6F3"/>
            </a:solidFill>
            <a:prstDash val="solid"/>
          </a:ln>
        </p:spPr>
      </p:sp>
      <p:sp>
        <p:nvSpPr>
          <p:cNvPr id="12" name="Text 8"/>
          <p:cNvSpPr txBox="1"/>
          <p:nvPr/>
        </p:nvSpPr>
        <p:spPr>
          <a:xfrm>
            <a:off x="731520" y="1389888"/>
            <a:ext cx="5394960" cy="365760"/>
          </a:xfrm>
          <a:prstGeom prst="rect">
            <a:avLst/>
          </a:prstGeom>
          <a:noFill/>
          <a:ln/>
        </p:spPr>
        <p:txBody>
          <a:bodyPr wrap="square" lIns="0" tIns="0" rIns="0" bIns="0" rtlCol="0" anchor="ctr"/>
          <a:lstStyle/>
          <a:p>
            <a:pPr indent="0" marL="0">
              <a:buNone/>
            </a:pPr>
            <a:r>
              <a:rPr lang="en-US" sz="1700" b="1" dirty="0">
                <a:solidFill>
                  <a:srgbClr val="1A0683"/>
                </a:solidFill>
                <a:latin typeface="Cambria" pitchFamily="34" charset="0"/>
                <a:ea typeface="Cambria" pitchFamily="34" charset="-122"/>
                <a:cs typeface="Cambria" pitchFamily="34" charset="-120"/>
              </a:rPr>
              <a:t>Revenue Share %</a:t>
            </a:r>
            <a:endParaRPr lang="en-US" sz="1700" dirty="0"/>
          </a:p>
        </p:txBody>
      </p:sp>
      <p:sp>
        <p:nvSpPr>
          <p:cNvPr id="13" name="Shape 9"/>
          <p:cNvSpPr/>
          <p:nvPr/>
        </p:nvSpPr>
        <p:spPr>
          <a:xfrm>
            <a:off x="731520" y="1828800"/>
            <a:ext cx="5394960" cy="914400"/>
          </a:xfrm>
          <a:prstGeom prst="rect">
            <a:avLst/>
          </a:prstGeom>
          <a:solidFill>
            <a:srgbClr val="FFFFFF"/>
          </a:solidFill>
          <a:ln w="12700">
            <a:solidFill>
              <a:srgbClr val="D5DDE3"/>
            </a:solidFill>
            <a:prstDash val="solid"/>
          </a:ln>
        </p:spPr>
      </p:sp>
      <p:sp>
        <p:nvSpPr>
          <p:cNvPr id="14" name="Text 10"/>
          <p:cNvSpPr txBox="1"/>
          <p:nvPr/>
        </p:nvSpPr>
        <p:spPr>
          <a:xfrm>
            <a:off x="822960" y="1847088"/>
            <a:ext cx="5212080" cy="877824"/>
          </a:xfrm>
          <a:prstGeom prst="rect">
            <a:avLst/>
          </a:prstGeom>
          <a:noFill/>
          <a:ln/>
        </p:spPr>
        <p:txBody>
          <a:bodyPr wrap="square" lIns="0" tIns="0" rIns="0" bIns="0" rtlCol="0" anchor="ctr"/>
          <a:lstStyle/>
          <a:p>
            <a:pPr indent="0" marL="0">
              <a:buNone/>
            </a:pPr>
            <a:r>
              <a:rPr lang="en-US" sz="1200" dirty="0">
                <a:solidFill>
                  <a:srgbClr val="1E2A35"/>
                </a:solidFill>
                <a:latin typeface="Courier New" pitchFamily="34" charset="0"/>
                <a:ea typeface="Courier New" pitchFamily="34" charset="-122"/>
                <a:cs typeface="Courier New" pitchFamily="34" charset="-120"/>
              </a:rPr>
              <a:t>Revenue Share % =</a:t>
            </a:r>
            <a:endParaRPr lang="en-US" sz="1200" dirty="0"/>
          </a:p>
          <a:p>
            <a:pPr indent="0" marL="0">
              <a:buNone/>
            </a:pPr>
            <a:r>
              <a:rPr lang="en-US" sz="1200" dirty="0">
                <a:solidFill>
                  <a:srgbClr val="1E2A35"/>
                </a:solidFill>
                <a:latin typeface="Courier New" pitchFamily="34" charset="0"/>
                <a:ea typeface="Courier New" pitchFamily="34" charset="-122"/>
                <a:cs typeface="Courier New" pitchFamily="34" charset="-120"/>
              </a:rPr>
              <a:t>DIVIDE([Total Revenue],</a:t>
            </a:r>
            <a:endParaRPr lang="en-US" sz="1200" dirty="0"/>
          </a:p>
          <a:p>
            <a:pPr indent="0" marL="0">
              <a:buNone/>
            </a:pPr>
            <a:r>
              <a:rPr lang="en-US" sz="1200" dirty="0">
                <a:solidFill>
                  <a:srgbClr val="1E2A35"/>
                </a:solidFill>
                <a:latin typeface="Courier New" pitchFamily="34" charset="0"/>
                <a:ea typeface="Courier New" pitchFamily="34" charset="-122"/>
                <a:cs typeface="Courier New" pitchFamily="34" charset="-120"/>
              </a:rPr>
              <a:t> CALCULATE([Total Revenue],</a:t>
            </a:r>
            <a:endParaRPr lang="en-US" sz="1200" dirty="0"/>
          </a:p>
          <a:p>
            <a:pPr indent="0" marL="0">
              <a:buNone/>
            </a:pPr>
            <a:r>
              <a:rPr lang="en-US" sz="1200" dirty="0">
                <a:solidFill>
                  <a:srgbClr val="1E2A35"/>
                </a:solidFill>
                <a:latin typeface="Courier New" pitchFamily="34" charset="0"/>
                <a:ea typeface="Courier New" pitchFamily="34" charset="-122"/>
                <a:cs typeface="Courier New" pitchFamily="34" charset="-120"/>
              </a:rPr>
              <a:t> ALL(Customers[Region])))</a:t>
            </a:r>
            <a:endParaRPr lang="en-US" sz="1200" dirty="0"/>
          </a:p>
        </p:txBody>
      </p:sp>
      <p:sp>
        <p:nvSpPr>
          <p:cNvPr id="15" name="Text 11"/>
          <p:cNvSpPr txBox="1"/>
          <p:nvPr/>
        </p:nvSpPr>
        <p:spPr>
          <a:xfrm>
            <a:off x="731520" y="2880360"/>
            <a:ext cx="5394960" cy="269748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Langkah: (1) [Total Revenue] menghitung pendapatan wilayah pada baris tabel. (2) ALL(Customers[Region]) menghapus filter wilayah. (3) CALCULATE menghitung total seluruh wilayah, yaitu 689.995,56. (4) DIVIDE membagi (1) dengan (3) menjadi persentase.</a:t>
            </a:r>
            <a:endParaRPr lang="en-US" sz="1400" dirty="0"/>
          </a:p>
        </p:txBody>
      </p:sp>
      <p:sp>
        <p:nvSpPr>
          <p:cNvPr id="16" name="Text 12"/>
          <p:cNvSpPr txBox="1"/>
          <p:nvPr/>
        </p:nvSpPr>
        <p:spPr>
          <a:xfrm>
            <a:off x="731520" y="5669280"/>
            <a:ext cx="5394960" cy="502920"/>
          </a:xfrm>
          <a:prstGeom prst="rect">
            <a:avLst/>
          </a:prstGeom>
          <a:noFill/>
          <a:ln/>
        </p:spPr>
        <p:txBody>
          <a:bodyPr wrap="square" lIns="0" tIns="0" rIns="0" bIns="0" rtlCol="0" anchor="ctr"/>
          <a:lstStyle/>
          <a:p>
            <a:pPr indent="0" marL="0">
              <a:buNone/>
            </a:pPr>
            <a:r>
              <a:rPr lang="en-US" sz="1600" b="1" dirty="0">
                <a:solidFill>
                  <a:srgbClr val="1B9AAA"/>
                </a:solidFill>
                <a:latin typeface="Cambria" pitchFamily="34" charset="0"/>
                <a:ea typeface="Cambria" pitchFamily="34" charset="-122"/>
                <a:cs typeface="Cambria" pitchFamily="34" charset="-120"/>
              </a:rPr>
              <a:t>Total seluruh wilayah = 100%</a:t>
            </a:r>
            <a:endParaRPr lang="en-US" sz="1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583680" y="1371600"/>
          <a:ext cx="5029200" cy="914400"/>
        </p:xfrm>
        <a:graphic>
          <a:graphicData uri="http://schemas.openxmlformats.org/drawingml/2006/table">
            <a:tbl>
              <a:tblPr/>
              <a:tblGrid>
                <a:gridCol w="1920240"/>
                <a:gridCol w="1737360"/>
                <a:gridCol w="1371600"/>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Wilayah</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A068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Revenue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A068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Share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A0683"/>
                    </a:solidFill>
                  </a:tcPr>
                </a:tc>
              </a:tr>
              <a:tr h="50292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South America</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219.352,56</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31,79%</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50292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Europe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166.254,63</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24,10%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50292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North America</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152.313,40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22,07%</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50292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Asia</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152.074,97</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22,04%</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502920">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689.995,56</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bl>
          </a:graphicData>
        </a:graphic>
      </p:graphicFrame>
      <p:sp>
        <p:nvSpPr>
          <p:cNvPr id="18" name="Text 13"/>
          <p:cNvSpPr txBox="1"/>
          <p:nvPr/>
        </p:nvSpPr>
        <p:spPr>
          <a:xfrm>
            <a:off x="6583680" y="4663440"/>
            <a:ext cx="5029200" cy="146304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Contoh: South America = 219.352,56 dibagi 689.995,56 = 31,79%. Tanpa ALL, penyebut ikut terfilter per wilayah sehingga hasilnya selalu 100%.</a:t>
            </a:r>
            <a:endParaRPr lang="en-US" sz="14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A0683"/>
          </a:solidFill>
          <a:ln w="12700">
            <a:solidFill>
              <a:srgbClr val="1A0683"/>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DAX 7-10: measure tambahan</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DAX</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1A0683"/>
          </a:solidFill>
          <a:ln w="12700">
            <a:solidFill>
              <a:srgbClr val="1A0683"/>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286000"/>
                <a:gridCol w="4023360"/>
                <a:gridCol w="3840480"/>
                <a:gridCol w="914400"/>
              </a:tblGrid>
              <a:tr h="8686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Measure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A068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Rumus DAX</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A068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Penjelasan</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A068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Hasil</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A0683"/>
                    </a:solidFill>
                  </a:tcPr>
                </a:tc>
              </a:tr>
              <a:tr h="868680">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Pelanggan Terdaftar</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200" dirty="0">
                          <a:solidFill>
                            <a:srgbClr val="1E2A35"/>
                          </a:solidFill>
                          <a:latin typeface="Courier New" pitchFamily="34" charset="0"/>
                          <a:ea typeface="Courier New" pitchFamily="34" charset="-122"/>
                          <a:cs typeface="Courier New" pitchFamily="34" charset="-120"/>
                        </a:rPr>
                        <a:t>Pelanggan Terdaftar = COUNTROWS(Customers)</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Jumlah baris tabel Customers (semua pelanggan yang mendaftar).</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200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868680">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Pelanggan Belum Transaksi</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200" dirty="0">
                          <a:solidFill>
                            <a:srgbClr val="1E2A35"/>
                          </a:solidFill>
                          <a:latin typeface="Courier New" pitchFamily="34" charset="0"/>
                          <a:ea typeface="Courier New" pitchFamily="34" charset="-122"/>
                          <a:cs typeface="Courier New" pitchFamily="34" charset="-120"/>
                        </a:rPr>
                        <a:t>Pelanggan Belum Transaksi = [Pelanggan Terdaftar] - [Total Unique Customers]</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Terdaftar dikurangi yang bertransaksi: 200 - 199. Pelanggannya C0180 (Amy Carpenter, Asia).</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868680">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Total Quantity</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200" dirty="0">
                          <a:solidFill>
                            <a:srgbClr val="1E2A35"/>
                          </a:solidFill>
                          <a:latin typeface="Courier New" pitchFamily="34" charset="0"/>
                          <a:ea typeface="Courier New" pitchFamily="34" charset="-122"/>
                          <a:cs typeface="Courier New" pitchFamily="34" charset="-120"/>
                        </a:rPr>
                        <a:t>Total Quantity = SUM(Transactions[Quantity])</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Total unit yang terjual pada seluruh transaksi.</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2.537</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868680">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Transaksi per Pelanggan</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200" dirty="0">
                          <a:solidFill>
                            <a:srgbClr val="1E2A35"/>
                          </a:solidFill>
                          <a:latin typeface="Courier New" pitchFamily="34" charset="0"/>
                          <a:ea typeface="Courier New" pitchFamily="34" charset="-122"/>
                          <a:cs typeface="Courier New" pitchFamily="34" charset="-120"/>
                        </a:rPr>
                        <a:t>Transaksi per Pelanggan = DIVIDE([Total Transactions], [Total Unique Customers])</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1.000 transaksi dibagi 199 pelanggan aktif.</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b="1" dirty="0">
                          <a:solidFill>
                            <a:srgbClr val="1E2A35"/>
                          </a:solidFill>
                          <a:latin typeface="Calibri" pitchFamily="34" charset="0"/>
                          <a:ea typeface="Calibri" pitchFamily="34" charset="-122"/>
                          <a:cs typeface="Calibri" pitchFamily="34" charset="-120"/>
                        </a:rPr>
                        <a:t>5,03</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bl>
          </a:graphicData>
        </a:graphic>
      </p:graphicFrame>
      <p:sp>
        <p:nvSpPr>
          <p:cNvPr id="12" name="Text 7"/>
          <p:cNvSpPr txBox="1"/>
          <p:nvPr/>
        </p:nvSpPr>
        <p:spPr>
          <a:xfrm>
            <a:off x="548640" y="5943600"/>
            <a:ext cx="1106424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Empat measure ini menjawab: berapa pelanggan terdaftar, berapa yang bertransaksi, dan berapa yang terdaftar tetapi belum bertransaksi.</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A0683"/>
          </a:solidFill>
          <a:ln w="12700">
            <a:solidFill>
              <a:srgbClr val="1A0683"/>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Cara kerja DAX pada dashboard</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DAX</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1A0683"/>
          </a:solidFill>
          <a:ln w="12700">
            <a:solidFill>
              <a:srgbClr val="1A0683"/>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280160"/>
            <a:ext cx="5394960" cy="1737360"/>
          </a:xfrm>
          <a:prstGeom prst="rect">
            <a:avLst/>
          </a:prstGeom>
          <a:solidFill>
            <a:srgbClr val="FFFFFF"/>
          </a:solidFill>
          <a:ln w="22225">
            <a:solidFill>
              <a:srgbClr val="1A0683"/>
            </a:solidFill>
            <a:prstDash val="dash"/>
          </a:ln>
        </p:spPr>
      </p:sp>
      <p:sp>
        <p:nvSpPr>
          <p:cNvPr id="12" name="Text 8"/>
          <p:cNvSpPr txBox="1"/>
          <p:nvPr/>
        </p:nvSpPr>
        <p:spPr>
          <a:xfrm>
            <a:off x="822960" y="1280160"/>
            <a:ext cx="4846320" cy="1737360"/>
          </a:xfrm>
          <a:prstGeom prst="rect">
            <a:avLst/>
          </a:prstGeom>
          <a:noFill/>
          <a:ln/>
        </p:spPr>
        <p:txBody>
          <a:bodyPr wrap="square" lIns="0" tIns="0" rIns="0" bIns="0" rtlCol="0" anchor="ctr"/>
          <a:lstStyle/>
          <a:p>
            <a:pPr algn="ctr" indent="0" marL="0">
              <a:buNone/>
            </a:pPr>
            <a:r>
              <a:rPr lang="en-US" sz="1200" b="1" dirty="0">
                <a:solidFill>
                  <a:srgbClr val="1A0683"/>
                </a:solidFill>
                <a:latin typeface="Calibri" pitchFamily="34" charset="0"/>
                <a:ea typeface="Calibri" pitchFamily="34" charset="-122"/>
                <a:cs typeface="Calibri" pitchFamily="34" charset="-120"/>
              </a:rPr>
              <a:t>TEMPEL SCREENSHOT</a:t>
            </a:r>
            <a:endParaRPr lang="en-US" sz="1200" dirty="0"/>
          </a:p>
          <a:p>
            <a:pPr algn="ctr" indent="0" marL="0">
              <a:buNone/>
            </a:pPr>
            <a:r>
              <a:rPr lang="en-US" sz="1600" b="1" dirty="0">
                <a:solidFill>
                  <a:srgbClr val="1A0683"/>
                </a:solidFill>
                <a:latin typeface="Calibri" pitchFamily="34" charset="0"/>
                <a:ea typeface="Calibri" pitchFamily="34" charset="-122"/>
                <a:cs typeface="Calibri" pitchFamily="34" charset="-120"/>
              </a:rPr>
              <a:t>Rumus Total Revenue</a:t>
            </a:r>
            <a:endParaRPr lang="en-US" sz="1200" dirty="0"/>
          </a:p>
          <a:p>
            <a:pPr algn="ctr" indent="0" marL="0">
              <a:buNone/>
            </a:pPr>
            <a:r>
              <a:rPr lang="en-US" sz="1200" dirty="0">
                <a:solidFill>
                  <a:srgbClr val="5B6B79"/>
                </a:solidFill>
                <a:latin typeface="Calibri" pitchFamily="34" charset="0"/>
                <a:ea typeface="Calibri" pitchFamily="34" charset="-122"/>
                <a:cs typeface="Calibri" pitchFamily="34" charset="-120"/>
              </a:rPr>
              <a:t>Klik measure Total Revenue di panel Data, screenshot formula bar</a:t>
            </a:r>
            <a:endParaRPr lang="en-US" sz="1200" dirty="0"/>
          </a:p>
        </p:txBody>
      </p:sp>
      <p:sp>
        <p:nvSpPr>
          <p:cNvPr id="13" name="Shape 9"/>
          <p:cNvSpPr/>
          <p:nvPr/>
        </p:nvSpPr>
        <p:spPr>
          <a:xfrm>
            <a:off x="6217920" y="1280160"/>
            <a:ext cx="5394960" cy="1737360"/>
          </a:xfrm>
          <a:prstGeom prst="rect">
            <a:avLst/>
          </a:prstGeom>
          <a:solidFill>
            <a:srgbClr val="FFFFFF"/>
          </a:solidFill>
          <a:ln w="22225">
            <a:solidFill>
              <a:srgbClr val="1A0683"/>
            </a:solidFill>
            <a:prstDash val="dash"/>
          </a:ln>
        </p:spPr>
      </p:sp>
      <p:sp>
        <p:nvSpPr>
          <p:cNvPr id="14" name="Text 10"/>
          <p:cNvSpPr txBox="1"/>
          <p:nvPr/>
        </p:nvSpPr>
        <p:spPr>
          <a:xfrm>
            <a:off x="6492240" y="1280160"/>
            <a:ext cx="4846320" cy="1737360"/>
          </a:xfrm>
          <a:prstGeom prst="rect">
            <a:avLst/>
          </a:prstGeom>
          <a:noFill/>
          <a:ln/>
        </p:spPr>
        <p:txBody>
          <a:bodyPr wrap="square" lIns="0" tIns="0" rIns="0" bIns="0" rtlCol="0" anchor="ctr"/>
          <a:lstStyle/>
          <a:p>
            <a:pPr algn="ctr" indent="0" marL="0">
              <a:buNone/>
            </a:pPr>
            <a:r>
              <a:rPr lang="en-US" sz="1200" b="1" dirty="0">
                <a:solidFill>
                  <a:srgbClr val="1A0683"/>
                </a:solidFill>
                <a:latin typeface="Calibri" pitchFamily="34" charset="0"/>
                <a:ea typeface="Calibri" pitchFamily="34" charset="-122"/>
                <a:cs typeface="Calibri" pitchFamily="34" charset="-120"/>
              </a:rPr>
              <a:t>TEMPEL SCREENSHOT</a:t>
            </a:r>
            <a:endParaRPr lang="en-US" sz="1200" dirty="0"/>
          </a:p>
          <a:p>
            <a:pPr algn="ctr" indent="0" marL="0">
              <a:buNone/>
            </a:pPr>
            <a:r>
              <a:rPr lang="en-US" sz="1600" b="1" dirty="0">
                <a:solidFill>
                  <a:srgbClr val="1A0683"/>
                </a:solidFill>
                <a:latin typeface="Calibri" pitchFamily="34" charset="0"/>
                <a:ea typeface="Calibri" pitchFamily="34" charset="-122"/>
                <a:cs typeface="Calibri" pitchFamily="34" charset="-120"/>
              </a:rPr>
              <a:t>Rumus Revenue Share %</a:t>
            </a:r>
            <a:endParaRPr lang="en-US" sz="1200" dirty="0"/>
          </a:p>
          <a:p>
            <a:pPr algn="ctr" indent="0" marL="0">
              <a:buNone/>
            </a:pPr>
            <a:r>
              <a:rPr lang="en-US" sz="1200" dirty="0">
                <a:solidFill>
                  <a:srgbClr val="5B6B79"/>
                </a:solidFill>
                <a:latin typeface="Calibri" pitchFamily="34" charset="0"/>
                <a:ea typeface="Calibri" pitchFamily="34" charset="-122"/>
                <a:cs typeface="Calibri" pitchFamily="34" charset="-120"/>
              </a:rPr>
              <a:t>Klik measure Revenue Share %, screenshot formula bar</a:t>
            </a:r>
            <a:endParaRPr lang="en-US" sz="1200" dirty="0"/>
          </a:p>
        </p:txBody>
      </p:sp>
      <p:sp>
        <p:nvSpPr>
          <p:cNvPr id="15" name="Shape 11"/>
          <p:cNvSpPr/>
          <p:nvPr/>
        </p:nvSpPr>
        <p:spPr>
          <a:xfrm>
            <a:off x="548640" y="3246120"/>
            <a:ext cx="3566160" cy="3063240"/>
          </a:xfrm>
          <a:prstGeom prst="roundRect">
            <a:avLst>
              <a:gd name="adj" fmla="val 2985"/>
            </a:avLst>
          </a:prstGeom>
          <a:solidFill>
            <a:srgbClr val="E8E6F3"/>
          </a:solidFill>
          <a:ln w="12700">
            <a:solidFill>
              <a:srgbClr val="E8E6F3"/>
            </a:solidFill>
            <a:prstDash val="solid"/>
          </a:ln>
        </p:spPr>
      </p:sp>
      <p:sp>
        <p:nvSpPr>
          <p:cNvPr id="16" name="Shape 12"/>
          <p:cNvSpPr/>
          <p:nvPr/>
        </p:nvSpPr>
        <p:spPr>
          <a:xfrm>
            <a:off x="548640" y="3337560"/>
            <a:ext cx="82296" cy="2880360"/>
          </a:xfrm>
          <a:prstGeom prst="rect">
            <a:avLst/>
          </a:prstGeom>
          <a:solidFill>
            <a:srgbClr val="1A0683"/>
          </a:solidFill>
          <a:ln w="12700">
            <a:solidFill>
              <a:srgbClr val="1A0683"/>
            </a:solidFill>
            <a:prstDash val="solid"/>
          </a:ln>
        </p:spPr>
      </p:sp>
      <p:sp>
        <p:nvSpPr>
          <p:cNvPr id="17" name="Text 13"/>
          <p:cNvSpPr txBox="1"/>
          <p:nvPr/>
        </p:nvSpPr>
        <p:spPr>
          <a:xfrm>
            <a:off x="777240" y="3383280"/>
            <a:ext cx="3154680" cy="411480"/>
          </a:xfrm>
          <a:prstGeom prst="rect">
            <a:avLst/>
          </a:prstGeom>
          <a:noFill/>
          <a:ln/>
        </p:spPr>
        <p:txBody>
          <a:bodyPr wrap="square" lIns="0" tIns="0" rIns="0" bIns="0" rtlCol="0" anchor="ctr"/>
          <a:lstStyle/>
          <a:p>
            <a:pPr indent="0" marL="0">
              <a:buNone/>
            </a:pPr>
            <a:r>
              <a:rPr lang="en-US" sz="1700" b="1" dirty="0">
                <a:solidFill>
                  <a:srgbClr val="1A0683"/>
                </a:solidFill>
                <a:latin typeface="Cambria" pitchFamily="34" charset="0"/>
                <a:ea typeface="Cambria" pitchFamily="34" charset="-122"/>
                <a:cs typeface="Cambria" pitchFamily="34" charset="-120"/>
              </a:rPr>
              <a:t>Measure vs kolom</a:t>
            </a:r>
            <a:endParaRPr lang="en-US" sz="1700" dirty="0"/>
          </a:p>
        </p:txBody>
      </p:sp>
      <p:sp>
        <p:nvSpPr>
          <p:cNvPr id="18" name="Text 14"/>
          <p:cNvSpPr txBox="1"/>
          <p:nvPr/>
        </p:nvSpPr>
        <p:spPr>
          <a:xfrm>
            <a:off x="777240" y="3867912"/>
            <a:ext cx="3154680" cy="233172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Measure dihitung dinamis mengikuti filter yang aktif. Kolom hitungan dievaluasi per baris sehingga tidak cocok untuk total atau rasio.</a:t>
            </a:r>
            <a:endParaRPr lang="en-US" sz="1400" dirty="0"/>
          </a:p>
        </p:txBody>
      </p:sp>
      <p:sp>
        <p:nvSpPr>
          <p:cNvPr id="19" name="Shape 15"/>
          <p:cNvSpPr/>
          <p:nvPr/>
        </p:nvSpPr>
        <p:spPr>
          <a:xfrm>
            <a:off x="4297680" y="3246120"/>
            <a:ext cx="3566160" cy="3063240"/>
          </a:xfrm>
          <a:prstGeom prst="roundRect">
            <a:avLst>
              <a:gd name="adj" fmla="val 2985"/>
            </a:avLst>
          </a:prstGeom>
          <a:solidFill>
            <a:srgbClr val="E8E6F3"/>
          </a:solidFill>
          <a:ln w="12700">
            <a:solidFill>
              <a:srgbClr val="E8E6F3"/>
            </a:solidFill>
            <a:prstDash val="solid"/>
          </a:ln>
        </p:spPr>
      </p:sp>
      <p:sp>
        <p:nvSpPr>
          <p:cNvPr id="20" name="Shape 16"/>
          <p:cNvSpPr/>
          <p:nvPr/>
        </p:nvSpPr>
        <p:spPr>
          <a:xfrm>
            <a:off x="4297680" y="3337560"/>
            <a:ext cx="82296" cy="2880360"/>
          </a:xfrm>
          <a:prstGeom prst="rect">
            <a:avLst/>
          </a:prstGeom>
          <a:solidFill>
            <a:srgbClr val="1A0683"/>
          </a:solidFill>
          <a:ln w="12700">
            <a:solidFill>
              <a:srgbClr val="1A0683"/>
            </a:solidFill>
            <a:prstDash val="solid"/>
          </a:ln>
        </p:spPr>
      </p:sp>
      <p:sp>
        <p:nvSpPr>
          <p:cNvPr id="21" name="Text 17"/>
          <p:cNvSpPr txBox="1"/>
          <p:nvPr/>
        </p:nvSpPr>
        <p:spPr>
          <a:xfrm>
            <a:off x="4526280" y="3383280"/>
            <a:ext cx="3154680" cy="411480"/>
          </a:xfrm>
          <a:prstGeom prst="rect">
            <a:avLst/>
          </a:prstGeom>
          <a:noFill/>
          <a:ln/>
        </p:spPr>
        <p:txBody>
          <a:bodyPr wrap="square" lIns="0" tIns="0" rIns="0" bIns="0" rtlCol="0" anchor="ctr"/>
          <a:lstStyle/>
          <a:p>
            <a:pPr indent="0" marL="0">
              <a:buNone/>
            </a:pPr>
            <a:r>
              <a:rPr lang="en-US" sz="1700" b="1" dirty="0">
                <a:solidFill>
                  <a:srgbClr val="1A0683"/>
                </a:solidFill>
                <a:latin typeface="Cambria" pitchFamily="34" charset="0"/>
                <a:ea typeface="Cambria" pitchFamily="34" charset="-122"/>
                <a:cs typeface="Cambria" pitchFamily="34" charset="-120"/>
              </a:rPr>
              <a:t>DIVIDE</a:t>
            </a:r>
            <a:endParaRPr lang="en-US" sz="1700" dirty="0"/>
          </a:p>
        </p:txBody>
      </p:sp>
      <p:sp>
        <p:nvSpPr>
          <p:cNvPr id="22" name="Text 18"/>
          <p:cNvSpPr txBox="1"/>
          <p:nvPr/>
        </p:nvSpPr>
        <p:spPr>
          <a:xfrm>
            <a:off x="4526280" y="3867912"/>
            <a:ext cx="3154680" cy="233172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Dipakai pada Avg Order Value, Revenue per Customer, dan Revenue Share %. DIVIDE aman terhadap pembagi nol dan menghasilkan kosong, bukan galat.</a:t>
            </a:r>
            <a:endParaRPr lang="en-US" sz="1400" dirty="0"/>
          </a:p>
        </p:txBody>
      </p:sp>
      <p:sp>
        <p:nvSpPr>
          <p:cNvPr id="23" name="Shape 19"/>
          <p:cNvSpPr/>
          <p:nvPr/>
        </p:nvSpPr>
        <p:spPr>
          <a:xfrm>
            <a:off x="8046720" y="3246120"/>
            <a:ext cx="3566160" cy="3063240"/>
          </a:xfrm>
          <a:prstGeom prst="roundRect">
            <a:avLst>
              <a:gd name="adj" fmla="val 2985"/>
            </a:avLst>
          </a:prstGeom>
          <a:solidFill>
            <a:srgbClr val="E8E6F3"/>
          </a:solidFill>
          <a:ln w="12700">
            <a:solidFill>
              <a:srgbClr val="E8E6F3"/>
            </a:solidFill>
            <a:prstDash val="solid"/>
          </a:ln>
        </p:spPr>
      </p:sp>
      <p:sp>
        <p:nvSpPr>
          <p:cNvPr id="24" name="Shape 20"/>
          <p:cNvSpPr/>
          <p:nvPr/>
        </p:nvSpPr>
        <p:spPr>
          <a:xfrm>
            <a:off x="8046720" y="3337560"/>
            <a:ext cx="82296" cy="2880360"/>
          </a:xfrm>
          <a:prstGeom prst="rect">
            <a:avLst/>
          </a:prstGeom>
          <a:solidFill>
            <a:srgbClr val="1A0683"/>
          </a:solidFill>
          <a:ln w="12700">
            <a:solidFill>
              <a:srgbClr val="1A0683"/>
            </a:solidFill>
            <a:prstDash val="solid"/>
          </a:ln>
        </p:spPr>
      </p:sp>
      <p:sp>
        <p:nvSpPr>
          <p:cNvPr id="25" name="Text 21"/>
          <p:cNvSpPr txBox="1"/>
          <p:nvPr/>
        </p:nvSpPr>
        <p:spPr>
          <a:xfrm>
            <a:off x="8275320" y="3383280"/>
            <a:ext cx="3154680" cy="411480"/>
          </a:xfrm>
          <a:prstGeom prst="rect">
            <a:avLst/>
          </a:prstGeom>
          <a:noFill/>
          <a:ln/>
        </p:spPr>
        <p:txBody>
          <a:bodyPr wrap="square" lIns="0" tIns="0" rIns="0" bIns="0" rtlCol="0" anchor="ctr"/>
          <a:lstStyle/>
          <a:p>
            <a:pPr indent="0" marL="0">
              <a:buNone/>
            </a:pPr>
            <a:r>
              <a:rPr lang="en-US" sz="1700" b="1" dirty="0">
                <a:solidFill>
                  <a:srgbClr val="1A0683"/>
                </a:solidFill>
                <a:latin typeface="Cambria" pitchFamily="34" charset="0"/>
                <a:ea typeface="Cambria" pitchFamily="34" charset="-122"/>
                <a:cs typeface="Cambria" pitchFamily="34" charset="-120"/>
              </a:rPr>
              <a:t>ALL dan konteks filter</a:t>
            </a:r>
            <a:endParaRPr lang="en-US" sz="1700" dirty="0"/>
          </a:p>
        </p:txBody>
      </p:sp>
      <p:sp>
        <p:nvSpPr>
          <p:cNvPr id="26" name="Text 22"/>
          <p:cNvSpPr txBox="1"/>
          <p:nvPr/>
        </p:nvSpPr>
        <p:spPr>
          <a:xfrm>
            <a:off x="8275320" y="3867912"/>
            <a:ext cx="3154680" cy="233172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ALL(Customers[Region]) menghapus filter wilayah pada penyebut, sehingga setiap wilayah dibandingkan dengan total seluruh wilayah (100%).</a:t>
            </a:r>
            <a:endParaRPr lang="en-US" sz="14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D9721A"/>
          </a:solidFill>
          <a:ln w="12700">
            <a:solidFill>
              <a:srgbClr val="D9721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Dashboard interaktif Power BI</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DASHBOARD</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D9721A"/>
          </a:solidFill>
          <a:ln w="12700">
            <a:solidFill>
              <a:srgbClr val="D9721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371600"/>
            <a:ext cx="3566160" cy="4846320"/>
          </a:xfrm>
          <a:prstGeom prst="roundRect">
            <a:avLst>
              <a:gd name="adj" fmla="val 2564"/>
            </a:avLst>
          </a:prstGeom>
          <a:solidFill>
            <a:srgbClr val="FBF1E8"/>
          </a:solidFill>
          <a:ln w="12700">
            <a:solidFill>
              <a:srgbClr val="FBF1E8"/>
            </a:solidFill>
            <a:prstDash val="solid"/>
          </a:ln>
        </p:spPr>
      </p:sp>
      <p:sp>
        <p:nvSpPr>
          <p:cNvPr id="12" name="Shape 8"/>
          <p:cNvSpPr/>
          <p:nvPr/>
        </p:nvSpPr>
        <p:spPr>
          <a:xfrm>
            <a:off x="548640" y="1463040"/>
            <a:ext cx="82296" cy="4663440"/>
          </a:xfrm>
          <a:prstGeom prst="rect">
            <a:avLst/>
          </a:prstGeom>
          <a:solidFill>
            <a:srgbClr val="D9721A"/>
          </a:solidFill>
          <a:ln w="12700">
            <a:solidFill>
              <a:srgbClr val="D9721A"/>
            </a:solidFill>
            <a:prstDash val="solid"/>
          </a:ln>
        </p:spPr>
      </p:sp>
      <p:sp>
        <p:nvSpPr>
          <p:cNvPr id="13" name="Text 9"/>
          <p:cNvSpPr txBox="1"/>
          <p:nvPr/>
        </p:nvSpPr>
        <p:spPr>
          <a:xfrm>
            <a:off x="777240" y="1508760"/>
            <a:ext cx="3154680" cy="411480"/>
          </a:xfrm>
          <a:prstGeom prst="rect">
            <a:avLst/>
          </a:prstGeom>
          <a:noFill/>
          <a:ln/>
        </p:spPr>
        <p:txBody>
          <a:bodyPr wrap="square" lIns="0" tIns="0" rIns="0" bIns="0" rtlCol="0" anchor="ctr"/>
          <a:lstStyle/>
          <a:p>
            <a:pPr indent="0" marL="0">
              <a:buNone/>
            </a:pPr>
            <a:r>
              <a:rPr lang="en-US" sz="1700" b="1" dirty="0">
                <a:solidFill>
                  <a:srgbClr val="D9721A"/>
                </a:solidFill>
                <a:latin typeface="Cambria" pitchFamily="34" charset="0"/>
                <a:ea typeface="Cambria" pitchFamily="34" charset="-122"/>
                <a:cs typeface="Cambria" pitchFamily="34" charset="-120"/>
              </a:rPr>
              <a:t>1. Revenue Report</a:t>
            </a:r>
            <a:endParaRPr lang="en-US" sz="1700" dirty="0"/>
          </a:p>
        </p:txBody>
      </p:sp>
      <p:sp>
        <p:nvSpPr>
          <p:cNvPr id="14" name="Text 10"/>
          <p:cNvSpPr txBox="1"/>
          <p:nvPr/>
        </p:nvSpPr>
        <p:spPr>
          <a:xfrm>
            <a:off x="777240" y="1993392"/>
            <a:ext cx="3154680" cy="4114800"/>
          </a:xfrm>
          <a:prstGeom prst="rect">
            <a:avLst/>
          </a:prstGeom>
          <a:noFill/>
          <a:ln/>
        </p:spPr>
        <p:txBody>
          <a:bodyPr wrap="square" lIns="0" tIns="0" rIns="0" bIns="0" rtlCol="0" anchor="t"/>
          <a:lstStyle/>
          <a:p>
            <a:pPr indent="0" marL="0">
              <a:buNone/>
            </a:pPr>
            <a:r>
              <a:rPr lang="en-US" sz="1500" dirty="0">
                <a:solidFill>
                  <a:srgbClr val="1E2A35"/>
                </a:solidFill>
                <a:latin typeface="Calibri" pitchFamily="34" charset="0"/>
                <a:ea typeface="Calibri" pitchFamily="34" charset="-122"/>
                <a:cs typeface="Calibri" pitchFamily="34" charset="-120"/>
              </a:rPr>
              <a:t>Menjawab: kapan, produk apa, dan kategori apa yang paling menghasilkan. Isinya grafik garis revenue per bulan, bar chart per produk, dan donut per kategori. Klik pada grafik menyaring visual lainnya (cross-filtering).</a:t>
            </a:r>
            <a:endParaRPr lang="en-US" sz="1500" dirty="0"/>
          </a:p>
        </p:txBody>
      </p:sp>
      <p:sp>
        <p:nvSpPr>
          <p:cNvPr id="15" name="Shape 11"/>
          <p:cNvSpPr/>
          <p:nvPr/>
        </p:nvSpPr>
        <p:spPr>
          <a:xfrm>
            <a:off x="4297680" y="1371600"/>
            <a:ext cx="3566160" cy="4846320"/>
          </a:xfrm>
          <a:prstGeom prst="roundRect">
            <a:avLst>
              <a:gd name="adj" fmla="val 2564"/>
            </a:avLst>
          </a:prstGeom>
          <a:solidFill>
            <a:srgbClr val="FBF1E8"/>
          </a:solidFill>
          <a:ln w="12700">
            <a:solidFill>
              <a:srgbClr val="FBF1E8"/>
            </a:solidFill>
            <a:prstDash val="solid"/>
          </a:ln>
        </p:spPr>
      </p:sp>
      <p:sp>
        <p:nvSpPr>
          <p:cNvPr id="16" name="Shape 12"/>
          <p:cNvSpPr/>
          <p:nvPr/>
        </p:nvSpPr>
        <p:spPr>
          <a:xfrm>
            <a:off x="4297680" y="1463040"/>
            <a:ext cx="82296" cy="4663440"/>
          </a:xfrm>
          <a:prstGeom prst="rect">
            <a:avLst/>
          </a:prstGeom>
          <a:solidFill>
            <a:srgbClr val="D9721A"/>
          </a:solidFill>
          <a:ln w="12700">
            <a:solidFill>
              <a:srgbClr val="D9721A"/>
            </a:solidFill>
            <a:prstDash val="solid"/>
          </a:ln>
        </p:spPr>
      </p:sp>
      <p:sp>
        <p:nvSpPr>
          <p:cNvPr id="17" name="Text 13"/>
          <p:cNvSpPr txBox="1"/>
          <p:nvPr/>
        </p:nvSpPr>
        <p:spPr>
          <a:xfrm>
            <a:off x="4526280" y="1508760"/>
            <a:ext cx="3154680" cy="411480"/>
          </a:xfrm>
          <a:prstGeom prst="rect">
            <a:avLst/>
          </a:prstGeom>
          <a:noFill/>
          <a:ln/>
        </p:spPr>
        <p:txBody>
          <a:bodyPr wrap="square" lIns="0" tIns="0" rIns="0" bIns="0" rtlCol="0" anchor="ctr"/>
          <a:lstStyle/>
          <a:p>
            <a:pPr indent="0" marL="0">
              <a:buNone/>
            </a:pPr>
            <a:r>
              <a:rPr lang="en-US" sz="1700" b="1" dirty="0">
                <a:solidFill>
                  <a:srgbClr val="D9721A"/>
                </a:solidFill>
                <a:latin typeface="Cambria" pitchFamily="34" charset="0"/>
                <a:ea typeface="Cambria" pitchFamily="34" charset="-122"/>
                <a:cs typeface="Cambria" pitchFamily="34" charset="-120"/>
              </a:rPr>
              <a:t>2. Customer Behavior</a:t>
            </a:r>
            <a:endParaRPr lang="en-US" sz="1700" dirty="0"/>
          </a:p>
        </p:txBody>
      </p:sp>
      <p:sp>
        <p:nvSpPr>
          <p:cNvPr id="18" name="Text 14"/>
          <p:cNvSpPr txBox="1"/>
          <p:nvPr/>
        </p:nvSpPr>
        <p:spPr>
          <a:xfrm>
            <a:off x="4526280" y="1993392"/>
            <a:ext cx="3154680" cy="4114800"/>
          </a:xfrm>
          <a:prstGeom prst="rect">
            <a:avLst/>
          </a:prstGeom>
          <a:noFill/>
          <a:ln/>
        </p:spPr>
        <p:txBody>
          <a:bodyPr wrap="square" lIns="0" tIns="0" rIns="0" bIns="0" rtlCol="0" anchor="t"/>
          <a:lstStyle/>
          <a:p>
            <a:pPr indent="0" marL="0">
              <a:buNone/>
            </a:pPr>
            <a:r>
              <a:rPr lang="en-US" sz="1500" dirty="0">
                <a:solidFill>
                  <a:srgbClr val="1E2A35"/>
                </a:solidFill>
                <a:latin typeface="Calibri" pitchFamily="34" charset="0"/>
                <a:ea typeface="Calibri" pitchFamily="34" charset="-122"/>
                <a:cs typeface="Calibri" pitchFamily="34" charset="-120"/>
              </a:rPr>
              <a:t>Menjawab: pelanggan mana yang paling bernilai. Isinya Revenue per Customer menurut wilayah dan jumlah pelanggan unik per wilayah, dengan slicer Region dan Year.</a:t>
            </a:r>
            <a:endParaRPr lang="en-US" sz="1500" dirty="0"/>
          </a:p>
        </p:txBody>
      </p:sp>
      <p:sp>
        <p:nvSpPr>
          <p:cNvPr id="19" name="Shape 15"/>
          <p:cNvSpPr/>
          <p:nvPr/>
        </p:nvSpPr>
        <p:spPr>
          <a:xfrm>
            <a:off x="8046720" y="1371600"/>
            <a:ext cx="3566160" cy="4846320"/>
          </a:xfrm>
          <a:prstGeom prst="roundRect">
            <a:avLst>
              <a:gd name="adj" fmla="val 2564"/>
            </a:avLst>
          </a:prstGeom>
          <a:solidFill>
            <a:srgbClr val="FBF1E8"/>
          </a:solidFill>
          <a:ln w="12700">
            <a:solidFill>
              <a:srgbClr val="FBF1E8"/>
            </a:solidFill>
            <a:prstDash val="solid"/>
          </a:ln>
        </p:spPr>
      </p:sp>
      <p:sp>
        <p:nvSpPr>
          <p:cNvPr id="20" name="Shape 16"/>
          <p:cNvSpPr/>
          <p:nvPr/>
        </p:nvSpPr>
        <p:spPr>
          <a:xfrm>
            <a:off x="8046720" y="1463040"/>
            <a:ext cx="82296" cy="4663440"/>
          </a:xfrm>
          <a:prstGeom prst="rect">
            <a:avLst/>
          </a:prstGeom>
          <a:solidFill>
            <a:srgbClr val="D9721A"/>
          </a:solidFill>
          <a:ln w="12700">
            <a:solidFill>
              <a:srgbClr val="D9721A"/>
            </a:solidFill>
            <a:prstDash val="solid"/>
          </a:ln>
        </p:spPr>
      </p:sp>
      <p:sp>
        <p:nvSpPr>
          <p:cNvPr id="21" name="Text 17"/>
          <p:cNvSpPr txBox="1"/>
          <p:nvPr/>
        </p:nvSpPr>
        <p:spPr>
          <a:xfrm>
            <a:off x="8275320" y="1508760"/>
            <a:ext cx="3154680" cy="411480"/>
          </a:xfrm>
          <a:prstGeom prst="rect">
            <a:avLst/>
          </a:prstGeom>
          <a:noFill/>
          <a:ln/>
        </p:spPr>
        <p:txBody>
          <a:bodyPr wrap="square" lIns="0" tIns="0" rIns="0" bIns="0" rtlCol="0" anchor="ctr"/>
          <a:lstStyle/>
          <a:p>
            <a:pPr indent="0" marL="0">
              <a:buNone/>
            </a:pPr>
            <a:r>
              <a:rPr lang="en-US" sz="1700" b="1" dirty="0">
                <a:solidFill>
                  <a:srgbClr val="D9721A"/>
                </a:solidFill>
                <a:latin typeface="Cambria" pitchFamily="34" charset="0"/>
                <a:ea typeface="Cambria" pitchFamily="34" charset="-122"/>
                <a:cs typeface="Cambria" pitchFamily="34" charset="-120"/>
              </a:rPr>
              <a:t>3. KPI Summary</a:t>
            </a:r>
            <a:endParaRPr lang="en-US" sz="1700" dirty="0"/>
          </a:p>
        </p:txBody>
      </p:sp>
      <p:sp>
        <p:nvSpPr>
          <p:cNvPr id="22" name="Text 18"/>
          <p:cNvSpPr txBox="1"/>
          <p:nvPr/>
        </p:nvSpPr>
        <p:spPr>
          <a:xfrm>
            <a:off x="8275320" y="1993392"/>
            <a:ext cx="3154680" cy="4114800"/>
          </a:xfrm>
          <a:prstGeom prst="rect">
            <a:avLst/>
          </a:prstGeom>
          <a:noFill/>
          <a:ln/>
        </p:spPr>
        <p:txBody>
          <a:bodyPr wrap="square" lIns="0" tIns="0" rIns="0" bIns="0" rtlCol="0" anchor="t"/>
          <a:lstStyle/>
          <a:p>
            <a:pPr indent="0" marL="0">
              <a:buNone/>
            </a:pPr>
            <a:r>
              <a:rPr lang="en-US" sz="1500" dirty="0">
                <a:solidFill>
                  <a:srgbClr val="1E2A35"/>
                </a:solidFill>
                <a:latin typeface="Calibri" pitchFamily="34" charset="0"/>
                <a:ea typeface="Calibri" pitchFamily="34" charset="-122"/>
                <a:cs typeface="Calibri" pitchFamily="34" charset="-120"/>
              </a:rPr>
              <a:t>Ringkasan eksekutif dalam satu halaman: empat kartu KPI dari measure DAX, tabel wilayah dengan Revenue per Customer dan Revenue Share %, serta grafik tren bulanan dan per kategori.</a:t>
            </a:r>
            <a:endParaRPr lang="en-US" sz="15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D9721A"/>
          </a:solidFill>
          <a:ln w="12700">
            <a:solidFill>
              <a:srgbClr val="D9721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Halaman 1: Revenue Report</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DASHBOARD</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D9721A"/>
          </a:solidFill>
          <a:ln w="12700">
            <a:solidFill>
              <a:srgbClr val="D9721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280160"/>
            <a:ext cx="6949440" cy="3913632"/>
          </a:xfrm>
          <a:prstGeom prst="rect">
            <a:avLst/>
          </a:prstGeom>
          <a:solidFill>
            <a:srgbClr val="FFFFFF"/>
          </a:solidFill>
          <a:ln w="22225">
            <a:solidFill>
              <a:srgbClr val="D9721A"/>
            </a:solidFill>
            <a:prstDash val="dash"/>
          </a:ln>
        </p:spPr>
      </p:sp>
      <p:sp>
        <p:nvSpPr>
          <p:cNvPr id="12" name="Text 8"/>
          <p:cNvSpPr txBox="1"/>
          <p:nvPr/>
        </p:nvSpPr>
        <p:spPr>
          <a:xfrm>
            <a:off x="822960" y="1280160"/>
            <a:ext cx="6400800" cy="3913632"/>
          </a:xfrm>
          <a:prstGeom prst="rect">
            <a:avLst/>
          </a:prstGeom>
          <a:noFill/>
          <a:ln/>
        </p:spPr>
        <p:txBody>
          <a:bodyPr wrap="square" lIns="0" tIns="0" rIns="0" bIns="0" rtlCol="0" anchor="ctr"/>
          <a:lstStyle/>
          <a:p>
            <a:pPr algn="ctr" indent="0" marL="0">
              <a:buNone/>
            </a:pPr>
            <a:r>
              <a:rPr lang="en-US" sz="1200" b="1" dirty="0">
                <a:solidFill>
                  <a:srgbClr val="D9721A"/>
                </a:solidFill>
                <a:latin typeface="Calibri" pitchFamily="34" charset="0"/>
                <a:ea typeface="Calibri" pitchFamily="34" charset="-122"/>
                <a:cs typeface="Calibri" pitchFamily="34" charset="-120"/>
              </a:rPr>
              <a:t>TEMPEL SCREENSHOT</a:t>
            </a:r>
            <a:endParaRPr lang="en-US" sz="1200" dirty="0"/>
          </a:p>
          <a:p>
            <a:pPr algn="ctr" indent="0" marL="0">
              <a:buNone/>
            </a:pPr>
            <a:r>
              <a:rPr lang="en-US" sz="1600" b="1" dirty="0">
                <a:solidFill>
                  <a:srgbClr val="1A0683"/>
                </a:solidFill>
                <a:latin typeface="Calibri" pitchFamily="34" charset="0"/>
                <a:ea typeface="Calibri" pitchFamily="34" charset="-122"/>
                <a:cs typeface="Calibri" pitchFamily="34" charset="-120"/>
              </a:rPr>
              <a:t>Halaman Revenue Report</a:t>
            </a:r>
            <a:endParaRPr lang="en-US" sz="1200" dirty="0"/>
          </a:p>
          <a:p>
            <a:pPr algn="ctr" indent="0" marL="0">
              <a:buNone/>
            </a:pPr>
            <a:r>
              <a:rPr lang="en-US" sz="1200" dirty="0">
                <a:solidFill>
                  <a:srgbClr val="5B6B79"/>
                </a:solidFill>
                <a:latin typeface="Calibri" pitchFamily="34" charset="0"/>
                <a:ea typeface="Calibri" pitchFamily="34" charset="-122"/>
                <a:cs typeface="Calibri" pitchFamily="34" charset="-120"/>
              </a:rPr>
              <a:t>Power BI: tab Revenue Report, tampilkan seluruh halaman</a:t>
            </a:r>
            <a:endParaRPr lang="en-US" sz="1200" dirty="0"/>
          </a:p>
        </p:txBody>
      </p:sp>
      <p:sp>
        <p:nvSpPr>
          <p:cNvPr id="13" name="Text 9"/>
          <p:cNvSpPr txBox="1"/>
          <p:nvPr/>
        </p:nvSpPr>
        <p:spPr>
          <a:xfrm>
            <a:off x="548640" y="5349240"/>
            <a:ext cx="6949440" cy="731520"/>
          </a:xfrm>
          <a:prstGeom prst="rect">
            <a:avLst/>
          </a:prstGeom>
          <a:noFill/>
          <a:ln/>
        </p:spPr>
        <p:txBody>
          <a:bodyPr wrap="square" lIns="0" tIns="0" rIns="0" bIns="0" rtlCol="0" anchor="t"/>
          <a:lstStyle/>
          <a:p>
            <a:pPr indent="0" marL="0">
              <a:buNone/>
            </a:pPr>
            <a:r>
              <a:rPr lang="en-US" sz="1200" dirty="0">
                <a:solidFill>
                  <a:srgbClr val="5B6B79"/>
                </a:solidFill>
                <a:latin typeface="Calibri" pitchFamily="34" charset="0"/>
                <a:ea typeface="Calibri" pitchFamily="34" charset="-122"/>
                <a:cs typeface="Calibri" pitchFamily="34" charset="-120"/>
              </a:rPr>
              <a:t>Pastikan semua slicer dikosongkan sebelum screenshot, dan nama tab tanpa titik di akhir.</a:t>
            </a:r>
            <a:endParaRPr lang="en-US" sz="1200" dirty="0"/>
          </a:p>
        </p:txBody>
      </p:sp>
      <p:sp>
        <p:nvSpPr>
          <p:cNvPr id="14" name="Shape 10"/>
          <p:cNvSpPr/>
          <p:nvPr/>
        </p:nvSpPr>
        <p:spPr>
          <a:xfrm>
            <a:off x="7680960" y="1280160"/>
            <a:ext cx="3931920" cy="5029200"/>
          </a:xfrm>
          <a:prstGeom prst="roundRect">
            <a:avLst>
              <a:gd name="adj" fmla="val 2326"/>
            </a:avLst>
          </a:prstGeom>
          <a:solidFill>
            <a:srgbClr val="FBF1E8"/>
          </a:solidFill>
          <a:ln w="12700">
            <a:solidFill>
              <a:srgbClr val="FBF1E8"/>
            </a:solidFill>
            <a:prstDash val="solid"/>
          </a:ln>
        </p:spPr>
      </p:sp>
      <p:sp>
        <p:nvSpPr>
          <p:cNvPr id="15" name="Shape 11"/>
          <p:cNvSpPr/>
          <p:nvPr/>
        </p:nvSpPr>
        <p:spPr>
          <a:xfrm>
            <a:off x="7680960" y="1371600"/>
            <a:ext cx="82296" cy="4846320"/>
          </a:xfrm>
          <a:prstGeom prst="rect">
            <a:avLst/>
          </a:prstGeom>
          <a:solidFill>
            <a:srgbClr val="D9721A"/>
          </a:solidFill>
          <a:ln w="12700">
            <a:solidFill>
              <a:srgbClr val="D9721A"/>
            </a:solidFill>
            <a:prstDash val="solid"/>
          </a:ln>
        </p:spPr>
      </p:sp>
      <p:sp>
        <p:nvSpPr>
          <p:cNvPr id="16" name="Text 12"/>
          <p:cNvSpPr txBox="1"/>
          <p:nvPr/>
        </p:nvSpPr>
        <p:spPr>
          <a:xfrm>
            <a:off x="7909560" y="1417320"/>
            <a:ext cx="3520440" cy="411480"/>
          </a:xfrm>
          <a:prstGeom prst="rect">
            <a:avLst/>
          </a:prstGeom>
          <a:noFill/>
          <a:ln/>
        </p:spPr>
        <p:txBody>
          <a:bodyPr wrap="square" lIns="0" tIns="0" rIns="0" bIns="0" rtlCol="0" anchor="ctr"/>
          <a:lstStyle/>
          <a:p>
            <a:pPr indent="0" marL="0">
              <a:buNone/>
            </a:pPr>
            <a:r>
              <a:rPr lang="en-US" sz="1700" b="1" dirty="0">
                <a:solidFill>
                  <a:srgbClr val="D9721A"/>
                </a:solidFill>
                <a:latin typeface="Cambria" pitchFamily="34" charset="0"/>
                <a:ea typeface="Cambria" pitchFamily="34" charset="-122"/>
                <a:cs typeface="Cambria" pitchFamily="34" charset="-120"/>
              </a:rPr>
              <a:t>Penjelasan</a:t>
            </a:r>
            <a:endParaRPr lang="en-US" sz="1700" dirty="0"/>
          </a:p>
        </p:txBody>
      </p:sp>
      <p:sp>
        <p:nvSpPr>
          <p:cNvPr id="17" name="Text 13"/>
          <p:cNvSpPr txBox="1"/>
          <p:nvPr/>
        </p:nvSpPr>
        <p:spPr>
          <a:xfrm>
            <a:off x="7909560" y="1920240"/>
            <a:ext cx="3520440" cy="42519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Menjawab kapan, produk apa, dan kategori apa yang paling menghasilkan.</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Grafik garis Total Revenue by Month (hanya tahun 2024): puncak Juli, dasar November.</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Bar Total Sales by Product: produk terlaris menurut ProductName.</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Donut Total Sales by Category: Books 27,8%, Electronics 26,2%, Clothing 24,1%, Home Decor 21,9%.</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Halaman ini tidak memakai slicer; interaktivitas lewat klik pada grafik.</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Klik satu titik, batang, atau irisan untuk menyaring visual lain (cross-filtering).</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D9721A"/>
          </a:solidFill>
          <a:ln w="12700">
            <a:solidFill>
              <a:srgbClr val="D9721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Halaman 2: Customer Behavior</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DASHBOARD</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D9721A"/>
          </a:solidFill>
          <a:ln w="12700">
            <a:solidFill>
              <a:srgbClr val="D9721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280160"/>
            <a:ext cx="6949440" cy="3913632"/>
          </a:xfrm>
          <a:prstGeom prst="rect">
            <a:avLst/>
          </a:prstGeom>
          <a:solidFill>
            <a:srgbClr val="FFFFFF"/>
          </a:solidFill>
          <a:ln w="22225">
            <a:solidFill>
              <a:srgbClr val="D9721A"/>
            </a:solidFill>
            <a:prstDash val="dash"/>
          </a:ln>
        </p:spPr>
      </p:sp>
      <p:sp>
        <p:nvSpPr>
          <p:cNvPr id="12" name="Text 8"/>
          <p:cNvSpPr txBox="1"/>
          <p:nvPr/>
        </p:nvSpPr>
        <p:spPr>
          <a:xfrm>
            <a:off x="822960" y="1280160"/>
            <a:ext cx="6400800" cy="3913632"/>
          </a:xfrm>
          <a:prstGeom prst="rect">
            <a:avLst/>
          </a:prstGeom>
          <a:noFill/>
          <a:ln/>
        </p:spPr>
        <p:txBody>
          <a:bodyPr wrap="square" lIns="0" tIns="0" rIns="0" bIns="0" rtlCol="0" anchor="ctr"/>
          <a:lstStyle/>
          <a:p>
            <a:pPr algn="ctr" indent="0" marL="0">
              <a:buNone/>
            </a:pPr>
            <a:r>
              <a:rPr lang="en-US" sz="1200" b="1" dirty="0">
                <a:solidFill>
                  <a:srgbClr val="D9721A"/>
                </a:solidFill>
                <a:latin typeface="Calibri" pitchFamily="34" charset="0"/>
                <a:ea typeface="Calibri" pitchFamily="34" charset="-122"/>
                <a:cs typeface="Calibri" pitchFamily="34" charset="-120"/>
              </a:rPr>
              <a:t>TEMPEL SCREENSHOT</a:t>
            </a:r>
            <a:endParaRPr lang="en-US" sz="1200" dirty="0"/>
          </a:p>
          <a:p>
            <a:pPr algn="ctr" indent="0" marL="0">
              <a:buNone/>
            </a:pPr>
            <a:r>
              <a:rPr lang="en-US" sz="1600" b="1" dirty="0">
                <a:solidFill>
                  <a:srgbClr val="1A0683"/>
                </a:solidFill>
                <a:latin typeface="Calibri" pitchFamily="34" charset="0"/>
                <a:ea typeface="Calibri" pitchFamily="34" charset="-122"/>
                <a:cs typeface="Calibri" pitchFamily="34" charset="-120"/>
              </a:rPr>
              <a:t>Halaman Customer Behavior</a:t>
            </a:r>
            <a:endParaRPr lang="en-US" sz="1200" dirty="0"/>
          </a:p>
          <a:p>
            <a:pPr algn="ctr" indent="0" marL="0">
              <a:buNone/>
            </a:pPr>
            <a:r>
              <a:rPr lang="en-US" sz="1200" dirty="0">
                <a:solidFill>
                  <a:srgbClr val="5B6B79"/>
                </a:solidFill>
                <a:latin typeface="Calibri" pitchFamily="34" charset="0"/>
                <a:ea typeface="Calibri" pitchFamily="34" charset="-122"/>
                <a:cs typeface="Calibri" pitchFamily="34" charset="-120"/>
              </a:rPr>
              <a:t>Power BI: tab Customer Behavior, tampilkan seluruh halaman</a:t>
            </a:r>
            <a:endParaRPr lang="en-US" sz="1200" dirty="0"/>
          </a:p>
        </p:txBody>
      </p:sp>
      <p:sp>
        <p:nvSpPr>
          <p:cNvPr id="13" name="Text 9"/>
          <p:cNvSpPr txBox="1"/>
          <p:nvPr/>
        </p:nvSpPr>
        <p:spPr>
          <a:xfrm>
            <a:off x="548640" y="5349240"/>
            <a:ext cx="6949440" cy="731520"/>
          </a:xfrm>
          <a:prstGeom prst="rect">
            <a:avLst/>
          </a:prstGeom>
          <a:noFill/>
          <a:ln/>
        </p:spPr>
        <p:txBody>
          <a:bodyPr wrap="square" lIns="0" tIns="0" rIns="0" bIns="0" rtlCol="0" anchor="t"/>
          <a:lstStyle/>
          <a:p>
            <a:pPr indent="0" marL="0">
              <a:buNone/>
            </a:pPr>
            <a:r>
              <a:rPr lang="en-US" sz="1200" dirty="0">
                <a:solidFill>
                  <a:srgbClr val="5B6B79"/>
                </a:solidFill>
                <a:latin typeface="Calibri" pitchFamily="34" charset="0"/>
                <a:ea typeface="Calibri" pitchFamily="34" charset="-122"/>
                <a:cs typeface="Calibri" pitchFamily="34" charset="-120"/>
              </a:rPr>
              <a:t>Pastikan semua slicer dikosongkan sebelum screenshot, dan nama tab tanpa titik di akhir.</a:t>
            </a:r>
            <a:endParaRPr lang="en-US" sz="1200" dirty="0"/>
          </a:p>
        </p:txBody>
      </p:sp>
      <p:sp>
        <p:nvSpPr>
          <p:cNvPr id="14" name="Shape 10"/>
          <p:cNvSpPr/>
          <p:nvPr/>
        </p:nvSpPr>
        <p:spPr>
          <a:xfrm>
            <a:off x="7680960" y="1280160"/>
            <a:ext cx="3931920" cy="5029200"/>
          </a:xfrm>
          <a:prstGeom prst="roundRect">
            <a:avLst>
              <a:gd name="adj" fmla="val 2326"/>
            </a:avLst>
          </a:prstGeom>
          <a:solidFill>
            <a:srgbClr val="FBF1E8"/>
          </a:solidFill>
          <a:ln w="12700">
            <a:solidFill>
              <a:srgbClr val="FBF1E8"/>
            </a:solidFill>
            <a:prstDash val="solid"/>
          </a:ln>
        </p:spPr>
      </p:sp>
      <p:sp>
        <p:nvSpPr>
          <p:cNvPr id="15" name="Shape 11"/>
          <p:cNvSpPr/>
          <p:nvPr/>
        </p:nvSpPr>
        <p:spPr>
          <a:xfrm>
            <a:off x="7680960" y="1371600"/>
            <a:ext cx="82296" cy="4846320"/>
          </a:xfrm>
          <a:prstGeom prst="rect">
            <a:avLst/>
          </a:prstGeom>
          <a:solidFill>
            <a:srgbClr val="D9721A"/>
          </a:solidFill>
          <a:ln w="12700">
            <a:solidFill>
              <a:srgbClr val="D9721A"/>
            </a:solidFill>
            <a:prstDash val="solid"/>
          </a:ln>
        </p:spPr>
      </p:sp>
      <p:sp>
        <p:nvSpPr>
          <p:cNvPr id="16" name="Text 12"/>
          <p:cNvSpPr txBox="1"/>
          <p:nvPr/>
        </p:nvSpPr>
        <p:spPr>
          <a:xfrm>
            <a:off x="7909560" y="1417320"/>
            <a:ext cx="3520440" cy="411480"/>
          </a:xfrm>
          <a:prstGeom prst="rect">
            <a:avLst/>
          </a:prstGeom>
          <a:noFill/>
          <a:ln/>
        </p:spPr>
        <p:txBody>
          <a:bodyPr wrap="square" lIns="0" tIns="0" rIns="0" bIns="0" rtlCol="0" anchor="ctr"/>
          <a:lstStyle/>
          <a:p>
            <a:pPr indent="0" marL="0">
              <a:buNone/>
            </a:pPr>
            <a:r>
              <a:rPr lang="en-US" sz="1700" b="1" dirty="0">
                <a:solidFill>
                  <a:srgbClr val="D9721A"/>
                </a:solidFill>
                <a:latin typeface="Cambria" pitchFamily="34" charset="0"/>
                <a:ea typeface="Cambria" pitchFamily="34" charset="-122"/>
                <a:cs typeface="Cambria" pitchFamily="34" charset="-120"/>
              </a:rPr>
              <a:t>Penjelasan</a:t>
            </a:r>
            <a:endParaRPr lang="en-US" sz="1700" dirty="0"/>
          </a:p>
        </p:txBody>
      </p:sp>
      <p:sp>
        <p:nvSpPr>
          <p:cNvPr id="17" name="Text 13"/>
          <p:cNvSpPr txBox="1"/>
          <p:nvPr/>
        </p:nvSpPr>
        <p:spPr>
          <a:xfrm>
            <a:off x="7909560" y="1920240"/>
            <a:ext cx="3520440" cy="42519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Menjawab pelanggan mana yang paling bernilai.</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Revenue per Customer by Region: South America 3.718, Asia 3.456, Europe 3.325, North America 3.311.</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Total Unique Customers by Region: South America 59, Europe 50, North America 46, Asia 44 (total 199).</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Slicer Region dan Year (kuartal, bulan).</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Memakai measure Revenue per Customer dan Total Unique Customers.</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Wilayah dengan pelanggan lebih sedikit dapat lebih bernilai per pelanggan.</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D9721A"/>
          </a:solidFill>
          <a:ln w="12700">
            <a:solidFill>
              <a:srgbClr val="D9721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Halaman 3: KPI Summary</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DASHBOARD</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D9721A"/>
          </a:solidFill>
          <a:ln w="12700">
            <a:solidFill>
              <a:srgbClr val="D9721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280160"/>
            <a:ext cx="6949440" cy="3913632"/>
          </a:xfrm>
          <a:prstGeom prst="rect">
            <a:avLst/>
          </a:prstGeom>
          <a:solidFill>
            <a:srgbClr val="FFFFFF"/>
          </a:solidFill>
          <a:ln w="22225">
            <a:solidFill>
              <a:srgbClr val="D9721A"/>
            </a:solidFill>
            <a:prstDash val="dash"/>
          </a:ln>
        </p:spPr>
      </p:sp>
      <p:sp>
        <p:nvSpPr>
          <p:cNvPr id="12" name="Text 8"/>
          <p:cNvSpPr txBox="1"/>
          <p:nvPr/>
        </p:nvSpPr>
        <p:spPr>
          <a:xfrm>
            <a:off x="822960" y="1280160"/>
            <a:ext cx="6400800" cy="3913632"/>
          </a:xfrm>
          <a:prstGeom prst="rect">
            <a:avLst/>
          </a:prstGeom>
          <a:noFill/>
          <a:ln/>
        </p:spPr>
        <p:txBody>
          <a:bodyPr wrap="square" lIns="0" tIns="0" rIns="0" bIns="0" rtlCol="0" anchor="ctr"/>
          <a:lstStyle/>
          <a:p>
            <a:pPr algn="ctr" indent="0" marL="0">
              <a:buNone/>
            </a:pPr>
            <a:r>
              <a:rPr lang="en-US" sz="1200" b="1" dirty="0">
                <a:solidFill>
                  <a:srgbClr val="D9721A"/>
                </a:solidFill>
                <a:latin typeface="Calibri" pitchFamily="34" charset="0"/>
                <a:ea typeface="Calibri" pitchFamily="34" charset="-122"/>
                <a:cs typeface="Calibri" pitchFamily="34" charset="-120"/>
              </a:rPr>
              <a:t>TEMPEL SCREENSHOT</a:t>
            </a:r>
            <a:endParaRPr lang="en-US" sz="1200" dirty="0"/>
          </a:p>
          <a:p>
            <a:pPr algn="ctr" indent="0" marL="0">
              <a:buNone/>
            </a:pPr>
            <a:r>
              <a:rPr lang="en-US" sz="1600" b="1" dirty="0">
                <a:solidFill>
                  <a:srgbClr val="1A0683"/>
                </a:solidFill>
                <a:latin typeface="Calibri" pitchFamily="34" charset="0"/>
                <a:ea typeface="Calibri" pitchFamily="34" charset="-122"/>
                <a:cs typeface="Calibri" pitchFamily="34" charset="-120"/>
              </a:rPr>
              <a:t>Halaman KPI Summary</a:t>
            </a:r>
            <a:endParaRPr lang="en-US" sz="1200" dirty="0"/>
          </a:p>
          <a:p>
            <a:pPr algn="ctr" indent="0" marL="0">
              <a:buNone/>
            </a:pPr>
            <a:r>
              <a:rPr lang="en-US" sz="1200" dirty="0">
                <a:solidFill>
                  <a:srgbClr val="5B6B79"/>
                </a:solidFill>
                <a:latin typeface="Calibri" pitchFamily="34" charset="0"/>
                <a:ea typeface="Calibri" pitchFamily="34" charset="-122"/>
                <a:cs typeface="Calibri" pitchFamily="34" charset="-120"/>
              </a:rPr>
              <a:t>Power BI: tab KPI Summary, tampilkan seluruh halaman dengan angka kartu penuh</a:t>
            </a:r>
            <a:endParaRPr lang="en-US" sz="1200" dirty="0"/>
          </a:p>
        </p:txBody>
      </p:sp>
      <p:sp>
        <p:nvSpPr>
          <p:cNvPr id="13" name="Text 9"/>
          <p:cNvSpPr txBox="1"/>
          <p:nvPr/>
        </p:nvSpPr>
        <p:spPr>
          <a:xfrm>
            <a:off x="548640" y="5349240"/>
            <a:ext cx="6949440" cy="731520"/>
          </a:xfrm>
          <a:prstGeom prst="rect">
            <a:avLst/>
          </a:prstGeom>
          <a:noFill/>
          <a:ln/>
        </p:spPr>
        <p:txBody>
          <a:bodyPr wrap="square" lIns="0" tIns="0" rIns="0" bIns="0" rtlCol="0" anchor="t"/>
          <a:lstStyle/>
          <a:p>
            <a:pPr indent="0" marL="0">
              <a:buNone/>
            </a:pPr>
            <a:r>
              <a:rPr lang="en-US" sz="1200" dirty="0">
                <a:solidFill>
                  <a:srgbClr val="5B6B79"/>
                </a:solidFill>
                <a:latin typeface="Calibri" pitchFamily="34" charset="0"/>
                <a:ea typeface="Calibri" pitchFamily="34" charset="-122"/>
                <a:cs typeface="Calibri" pitchFamily="34" charset="-120"/>
              </a:rPr>
              <a:t>Pastikan semua slicer dikosongkan sebelum screenshot, dan nama tab tanpa titik di akhir.</a:t>
            </a:r>
            <a:endParaRPr lang="en-US" sz="1200" dirty="0"/>
          </a:p>
        </p:txBody>
      </p:sp>
      <p:sp>
        <p:nvSpPr>
          <p:cNvPr id="14" name="Shape 10"/>
          <p:cNvSpPr/>
          <p:nvPr/>
        </p:nvSpPr>
        <p:spPr>
          <a:xfrm>
            <a:off x="7680960" y="1280160"/>
            <a:ext cx="3931920" cy="5029200"/>
          </a:xfrm>
          <a:prstGeom prst="roundRect">
            <a:avLst>
              <a:gd name="adj" fmla="val 2326"/>
            </a:avLst>
          </a:prstGeom>
          <a:solidFill>
            <a:srgbClr val="FBF1E8"/>
          </a:solidFill>
          <a:ln w="12700">
            <a:solidFill>
              <a:srgbClr val="FBF1E8"/>
            </a:solidFill>
            <a:prstDash val="solid"/>
          </a:ln>
        </p:spPr>
      </p:sp>
      <p:sp>
        <p:nvSpPr>
          <p:cNvPr id="15" name="Shape 11"/>
          <p:cNvSpPr/>
          <p:nvPr/>
        </p:nvSpPr>
        <p:spPr>
          <a:xfrm>
            <a:off x="7680960" y="1371600"/>
            <a:ext cx="82296" cy="4846320"/>
          </a:xfrm>
          <a:prstGeom prst="rect">
            <a:avLst/>
          </a:prstGeom>
          <a:solidFill>
            <a:srgbClr val="D9721A"/>
          </a:solidFill>
          <a:ln w="12700">
            <a:solidFill>
              <a:srgbClr val="D9721A"/>
            </a:solidFill>
            <a:prstDash val="solid"/>
          </a:ln>
        </p:spPr>
      </p:sp>
      <p:sp>
        <p:nvSpPr>
          <p:cNvPr id="16" name="Text 12"/>
          <p:cNvSpPr txBox="1"/>
          <p:nvPr/>
        </p:nvSpPr>
        <p:spPr>
          <a:xfrm>
            <a:off x="7909560" y="1417320"/>
            <a:ext cx="3520440" cy="411480"/>
          </a:xfrm>
          <a:prstGeom prst="rect">
            <a:avLst/>
          </a:prstGeom>
          <a:noFill/>
          <a:ln/>
        </p:spPr>
        <p:txBody>
          <a:bodyPr wrap="square" lIns="0" tIns="0" rIns="0" bIns="0" rtlCol="0" anchor="ctr"/>
          <a:lstStyle/>
          <a:p>
            <a:pPr indent="0" marL="0">
              <a:buNone/>
            </a:pPr>
            <a:r>
              <a:rPr lang="en-US" sz="1700" b="1" dirty="0">
                <a:solidFill>
                  <a:srgbClr val="D9721A"/>
                </a:solidFill>
                <a:latin typeface="Cambria" pitchFamily="34" charset="0"/>
                <a:ea typeface="Cambria" pitchFamily="34" charset="-122"/>
                <a:cs typeface="Cambria" pitchFamily="34" charset="-120"/>
              </a:rPr>
              <a:t>Penjelasan</a:t>
            </a:r>
            <a:endParaRPr lang="en-US" sz="1700" dirty="0"/>
          </a:p>
        </p:txBody>
      </p:sp>
      <p:sp>
        <p:nvSpPr>
          <p:cNvPr id="17" name="Text 13"/>
          <p:cNvSpPr txBox="1"/>
          <p:nvPr/>
        </p:nvSpPr>
        <p:spPr>
          <a:xfrm>
            <a:off x="7909560" y="1920240"/>
            <a:ext cx="3520440" cy="42519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Ringkasan eksekutif dalam satu halaman.</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Empat kartu: Total Revenue 689.995,56; Total Transactions 1.000; Total Unique Customers 199; Avg Order Value 690,00.</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Tabel wilayah: Revenue per Customer, Total Revenue, Revenue Share %.</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Grafik garis Total Revenue by Month dan grafik batang per kategori.</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Slicer Region dan Year.</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Seluruh angka berasal dari measure DAX.</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D9721A"/>
          </a:solidFill>
          <a:ln w="12700">
            <a:solidFill>
              <a:srgbClr val="D9721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Filter interaktif: South America</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DASHBOARD</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D9721A"/>
          </a:solidFill>
          <a:ln w="12700">
            <a:solidFill>
              <a:srgbClr val="D9721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280160"/>
            <a:ext cx="6949440" cy="3913632"/>
          </a:xfrm>
          <a:prstGeom prst="rect">
            <a:avLst/>
          </a:prstGeom>
          <a:solidFill>
            <a:srgbClr val="FFFFFF"/>
          </a:solidFill>
          <a:ln w="22225">
            <a:solidFill>
              <a:srgbClr val="D9721A"/>
            </a:solidFill>
            <a:prstDash val="dash"/>
          </a:ln>
        </p:spPr>
      </p:sp>
      <p:sp>
        <p:nvSpPr>
          <p:cNvPr id="12" name="Text 8"/>
          <p:cNvSpPr txBox="1"/>
          <p:nvPr/>
        </p:nvSpPr>
        <p:spPr>
          <a:xfrm>
            <a:off x="822960" y="1280160"/>
            <a:ext cx="6400800" cy="3913632"/>
          </a:xfrm>
          <a:prstGeom prst="rect">
            <a:avLst/>
          </a:prstGeom>
          <a:noFill/>
          <a:ln/>
        </p:spPr>
        <p:txBody>
          <a:bodyPr wrap="square" lIns="0" tIns="0" rIns="0" bIns="0" rtlCol="0" anchor="ctr"/>
          <a:lstStyle/>
          <a:p>
            <a:pPr algn="ctr" indent="0" marL="0">
              <a:buNone/>
            </a:pPr>
            <a:r>
              <a:rPr lang="en-US" sz="1200" b="1" dirty="0">
                <a:solidFill>
                  <a:srgbClr val="D9721A"/>
                </a:solidFill>
                <a:latin typeface="Calibri" pitchFamily="34" charset="0"/>
                <a:ea typeface="Calibri" pitchFamily="34" charset="-122"/>
                <a:cs typeface="Calibri" pitchFamily="34" charset="-120"/>
              </a:rPr>
              <a:t>TEMPEL SCREENSHOT</a:t>
            </a:r>
            <a:endParaRPr lang="en-US" sz="1200" dirty="0"/>
          </a:p>
          <a:p>
            <a:pPr algn="ctr" indent="0" marL="0">
              <a:buNone/>
            </a:pPr>
            <a:r>
              <a:rPr lang="en-US" sz="1600" b="1" dirty="0">
                <a:solidFill>
                  <a:srgbClr val="1A0683"/>
                </a:solidFill>
                <a:latin typeface="Calibri" pitchFamily="34" charset="0"/>
                <a:ea typeface="Calibri" pitchFamily="34" charset="-122"/>
                <a:cs typeface="Calibri" pitchFamily="34" charset="-120"/>
              </a:rPr>
              <a:t>Hasil filter South America</a:t>
            </a:r>
            <a:endParaRPr lang="en-US" sz="1200" dirty="0"/>
          </a:p>
          <a:p>
            <a:pPr algn="ctr" indent="0" marL="0">
              <a:buNone/>
            </a:pPr>
            <a:r>
              <a:rPr lang="en-US" sz="1200" dirty="0">
                <a:solidFill>
                  <a:srgbClr val="5B6B79"/>
                </a:solidFill>
                <a:latin typeface="Calibri" pitchFamily="34" charset="0"/>
                <a:ea typeface="Calibri" pitchFamily="34" charset="-122"/>
                <a:cs typeface="Calibri" pitchFamily="34" charset="-120"/>
              </a:rPr>
              <a:t>Power BI: klik South America pada slicer Region, screenshot seluruh halaman</a:t>
            </a:r>
            <a:endParaRPr lang="en-US" sz="1200" dirty="0"/>
          </a:p>
        </p:txBody>
      </p:sp>
      <p:sp>
        <p:nvSpPr>
          <p:cNvPr id="13" name="Text 9"/>
          <p:cNvSpPr txBox="1"/>
          <p:nvPr/>
        </p:nvSpPr>
        <p:spPr>
          <a:xfrm>
            <a:off x="548640" y="5349240"/>
            <a:ext cx="6949440" cy="731520"/>
          </a:xfrm>
          <a:prstGeom prst="rect">
            <a:avLst/>
          </a:prstGeom>
          <a:noFill/>
          <a:ln/>
        </p:spPr>
        <p:txBody>
          <a:bodyPr wrap="square" lIns="0" tIns="0" rIns="0" bIns="0" rtlCol="0" anchor="t"/>
          <a:lstStyle/>
          <a:p>
            <a:pPr indent="0" marL="0">
              <a:buNone/>
            </a:pPr>
            <a:r>
              <a:rPr lang="en-US" sz="1200" dirty="0">
                <a:solidFill>
                  <a:srgbClr val="5B6B79"/>
                </a:solidFill>
                <a:latin typeface="Calibri" pitchFamily="34" charset="0"/>
                <a:ea typeface="Calibri" pitchFamily="34" charset="-122"/>
                <a:cs typeface="Calibri" pitchFamily="34" charset="-120"/>
              </a:rPr>
              <a:t>Pastikan semua slicer dikosongkan sebelum screenshot, dan nama tab tanpa titik di akhir.</a:t>
            </a:r>
            <a:endParaRPr lang="en-US" sz="1200" dirty="0"/>
          </a:p>
        </p:txBody>
      </p:sp>
      <p:sp>
        <p:nvSpPr>
          <p:cNvPr id="14" name="Shape 10"/>
          <p:cNvSpPr/>
          <p:nvPr/>
        </p:nvSpPr>
        <p:spPr>
          <a:xfrm>
            <a:off x="7680960" y="1280160"/>
            <a:ext cx="3931920" cy="5029200"/>
          </a:xfrm>
          <a:prstGeom prst="roundRect">
            <a:avLst>
              <a:gd name="adj" fmla="val 2326"/>
            </a:avLst>
          </a:prstGeom>
          <a:solidFill>
            <a:srgbClr val="FBF1E8"/>
          </a:solidFill>
          <a:ln w="12700">
            <a:solidFill>
              <a:srgbClr val="FBF1E8"/>
            </a:solidFill>
            <a:prstDash val="solid"/>
          </a:ln>
        </p:spPr>
      </p:sp>
      <p:sp>
        <p:nvSpPr>
          <p:cNvPr id="15" name="Shape 11"/>
          <p:cNvSpPr/>
          <p:nvPr/>
        </p:nvSpPr>
        <p:spPr>
          <a:xfrm>
            <a:off x="7680960" y="1371600"/>
            <a:ext cx="82296" cy="4846320"/>
          </a:xfrm>
          <a:prstGeom prst="rect">
            <a:avLst/>
          </a:prstGeom>
          <a:solidFill>
            <a:srgbClr val="D9721A"/>
          </a:solidFill>
          <a:ln w="12700">
            <a:solidFill>
              <a:srgbClr val="D9721A"/>
            </a:solidFill>
            <a:prstDash val="solid"/>
          </a:ln>
        </p:spPr>
      </p:sp>
      <p:sp>
        <p:nvSpPr>
          <p:cNvPr id="16" name="Text 12"/>
          <p:cNvSpPr txBox="1"/>
          <p:nvPr/>
        </p:nvSpPr>
        <p:spPr>
          <a:xfrm>
            <a:off x="7909560" y="1417320"/>
            <a:ext cx="3520440" cy="411480"/>
          </a:xfrm>
          <a:prstGeom prst="rect">
            <a:avLst/>
          </a:prstGeom>
          <a:noFill/>
          <a:ln/>
        </p:spPr>
        <p:txBody>
          <a:bodyPr wrap="square" lIns="0" tIns="0" rIns="0" bIns="0" rtlCol="0" anchor="ctr"/>
          <a:lstStyle/>
          <a:p>
            <a:pPr indent="0" marL="0">
              <a:buNone/>
            </a:pPr>
            <a:r>
              <a:rPr lang="en-US" sz="1700" b="1" dirty="0">
                <a:solidFill>
                  <a:srgbClr val="D9721A"/>
                </a:solidFill>
                <a:latin typeface="Cambria" pitchFamily="34" charset="0"/>
                <a:ea typeface="Cambria" pitchFamily="34" charset="-122"/>
                <a:cs typeface="Cambria" pitchFamily="34" charset="-120"/>
              </a:rPr>
              <a:t>Penjelasan</a:t>
            </a:r>
            <a:endParaRPr lang="en-US" sz="1700" dirty="0"/>
          </a:p>
        </p:txBody>
      </p:sp>
      <p:sp>
        <p:nvSpPr>
          <p:cNvPr id="17" name="Text 13"/>
          <p:cNvSpPr txBox="1"/>
          <p:nvPr/>
        </p:nvSpPr>
        <p:spPr>
          <a:xfrm>
            <a:off x="7909560" y="1920240"/>
            <a:ext cx="3520440" cy="42519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Langkah: klik South America di slicer Region.</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Hasil: Total Revenue 219,35 ribu, 304 transaksi, 59 pelanggan unik, Avg Order Value 721,55.</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Semua kartu, tabel, dan grafik dihitung ulang hanya untuk wilayah itu.</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Avg Order Value 721,55 lebih tinggi dari rata-rata keseluruhan (690,00).</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Membatalkan filter: klik South America sekali lagi.</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D9721A"/>
          </a:solidFill>
          <a:ln w="12700">
            <a:solidFill>
              <a:srgbClr val="D9721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Filter interaktif: bulan Oktober</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DASHBOARD</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D9721A"/>
          </a:solidFill>
          <a:ln w="12700">
            <a:solidFill>
              <a:srgbClr val="D9721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280160"/>
            <a:ext cx="6949440" cy="3913632"/>
          </a:xfrm>
          <a:prstGeom prst="rect">
            <a:avLst/>
          </a:prstGeom>
          <a:solidFill>
            <a:srgbClr val="FFFFFF"/>
          </a:solidFill>
          <a:ln w="22225">
            <a:solidFill>
              <a:srgbClr val="D9721A"/>
            </a:solidFill>
            <a:prstDash val="dash"/>
          </a:ln>
        </p:spPr>
      </p:sp>
      <p:sp>
        <p:nvSpPr>
          <p:cNvPr id="12" name="Text 8"/>
          <p:cNvSpPr txBox="1"/>
          <p:nvPr/>
        </p:nvSpPr>
        <p:spPr>
          <a:xfrm>
            <a:off x="822960" y="1280160"/>
            <a:ext cx="6400800" cy="3913632"/>
          </a:xfrm>
          <a:prstGeom prst="rect">
            <a:avLst/>
          </a:prstGeom>
          <a:noFill/>
          <a:ln/>
        </p:spPr>
        <p:txBody>
          <a:bodyPr wrap="square" lIns="0" tIns="0" rIns="0" bIns="0" rtlCol="0" anchor="ctr"/>
          <a:lstStyle/>
          <a:p>
            <a:pPr algn="ctr" indent="0" marL="0">
              <a:buNone/>
            </a:pPr>
            <a:r>
              <a:rPr lang="en-US" sz="1200" b="1" dirty="0">
                <a:solidFill>
                  <a:srgbClr val="D9721A"/>
                </a:solidFill>
                <a:latin typeface="Calibri" pitchFamily="34" charset="0"/>
                <a:ea typeface="Calibri" pitchFamily="34" charset="-122"/>
                <a:cs typeface="Calibri" pitchFamily="34" charset="-120"/>
              </a:rPr>
              <a:t>TEMPEL SCREENSHOT</a:t>
            </a:r>
            <a:endParaRPr lang="en-US" sz="1200" dirty="0"/>
          </a:p>
          <a:p>
            <a:pPr algn="ctr" indent="0" marL="0">
              <a:buNone/>
            </a:pPr>
            <a:r>
              <a:rPr lang="en-US" sz="1600" b="1" dirty="0">
                <a:solidFill>
                  <a:srgbClr val="1A0683"/>
                </a:solidFill>
                <a:latin typeface="Calibri" pitchFamily="34" charset="0"/>
                <a:ea typeface="Calibri" pitchFamily="34" charset="-122"/>
                <a:cs typeface="Calibri" pitchFamily="34" charset="-120"/>
              </a:rPr>
              <a:t>Hasil filter bulan Oktober</a:t>
            </a:r>
            <a:endParaRPr lang="en-US" sz="1200" dirty="0"/>
          </a:p>
          <a:p>
            <a:pPr algn="ctr" indent="0" marL="0">
              <a:buNone/>
            </a:pPr>
            <a:r>
              <a:rPr lang="en-US" sz="1200" dirty="0">
                <a:solidFill>
                  <a:srgbClr val="5B6B79"/>
                </a:solidFill>
                <a:latin typeface="Calibri" pitchFamily="34" charset="0"/>
                <a:ea typeface="Calibri" pitchFamily="34" charset="-122"/>
                <a:cs typeface="Calibri" pitchFamily="34" charset="-120"/>
              </a:rPr>
              <a:t>Power BI: klik titik Oktober pada grafik garis, screenshot seluruh halaman</a:t>
            </a:r>
            <a:endParaRPr lang="en-US" sz="1200" dirty="0"/>
          </a:p>
        </p:txBody>
      </p:sp>
      <p:sp>
        <p:nvSpPr>
          <p:cNvPr id="13" name="Text 9"/>
          <p:cNvSpPr txBox="1"/>
          <p:nvPr/>
        </p:nvSpPr>
        <p:spPr>
          <a:xfrm>
            <a:off x="548640" y="5349240"/>
            <a:ext cx="6949440" cy="731520"/>
          </a:xfrm>
          <a:prstGeom prst="rect">
            <a:avLst/>
          </a:prstGeom>
          <a:noFill/>
          <a:ln/>
        </p:spPr>
        <p:txBody>
          <a:bodyPr wrap="square" lIns="0" tIns="0" rIns="0" bIns="0" rtlCol="0" anchor="t"/>
          <a:lstStyle/>
          <a:p>
            <a:pPr indent="0" marL="0">
              <a:buNone/>
            </a:pPr>
            <a:r>
              <a:rPr lang="en-US" sz="1200" dirty="0">
                <a:solidFill>
                  <a:srgbClr val="5B6B79"/>
                </a:solidFill>
                <a:latin typeface="Calibri" pitchFamily="34" charset="0"/>
                <a:ea typeface="Calibri" pitchFamily="34" charset="-122"/>
                <a:cs typeface="Calibri" pitchFamily="34" charset="-120"/>
              </a:rPr>
              <a:t>Pastikan semua slicer dikosongkan sebelum screenshot, dan nama tab tanpa titik di akhir.</a:t>
            </a:r>
            <a:endParaRPr lang="en-US" sz="1200" dirty="0"/>
          </a:p>
        </p:txBody>
      </p:sp>
      <p:sp>
        <p:nvSpPr>
          <p:cNvPr id="14" name="Shape 10"/>
          <p:cNvSpPr/>
          <p:nvPr/>
        </p:nvSpPr>
        <p:spPr>
          <a:xfrm>
            <a:off x="7680960" y="1280160"/>
            <a:ext cx="3931920" cy="5029200"/>
          </a:xfrm>
          <a:prstGeom prst="roundRect">
            <a:avLst>
              <a:gd name="adj" fmla="val 2326"/>
            </a:avLst>
          </a:prstGeom>
          <a:solidFill>
            <a:srgbClr val="FBF1E8"/>
          </a:solidFill>
          <a:ln w="12700">
            <a:solidFill>
              <a:srgbClr val="FBF1E8"/>
            </a:solidFill>
            <a:prstDash val="solid"/>
          </a:ln>
        </p:spPr>
      </p:sp>
      <p:sp>
        <p:nvSpPr>
          <p:cNvPr id="15" name="Shape 11"/>
          <p:cNvSpPr/>
          <p:nvPr/>
        </p:nvSpPr>
        <p:spPr>
          <a:xfrm>
            <a:off x="7680960" y="1371600"/>
            <a:ext cx="82296" cy="4846320"/>
          </a:xfrm>
          <a:prstGeom prst="rect">
            <a:avLst/>
          </a:prstGeom>
          <a:solidFill>
            <a:srgbClr val="D9721A"/>
          </a:solidFill>
          <a:ln w="12700">
            <a:solidFill>
              <a:srgbClr val="D9721A"/>
            </a:solidFill>
            <a:prstDash val="solid"/>
          </a:ln>
        </p:spPr>
      </p:sp>
      <p:sp>
        <p:nvSpPr>
          <p:cNvPr id="16" name="Text 12"/>
          <p:cNvSpPr txBox="1"/>
          <p:nvPr/>
        </p:nvSpPr>
        <p:spPr>
          <a:xfrm>
            <a:off x="7909560" y="1417320"/>
            <a:ext cx="3520440" cy="411480"/>
          </a:xfrm>
          <a:prstGeom prst="rect">
            <a:avLst/>
          </a:prstGeom>
          <a:noFill/>
          <a:ln/>
        </p:spPr>
        <p:txBody>
          <a:bodyPr wrap="square" lIns="0" tIns="0" rIns="0" bIns="0" rtlCol="0" anchor="ctr"/>
          <a:lstStyle/>
          <a:p>
            <a:pPr indent="0" marL="0">
              <a:buNone/>
            </a:pPr>
            <a:r>
              <a:rPr lang="en-US" sz="1700" b="1" dirty="0">
                <a:solidFill>
                  <a:srgbClr val="D9721A"/>
                </a:solidFill>
                <a:latin typeface="Cambria" pitchFamily="34" charset="0"/>
                <a:ea typeface="Cambria" pitchFamily="34" charset="-122"/>
                <a:cs typeface="Cambria" pitchFamily="34" charset="-120"/>
              </a:rPr>
              <a:t>Penjelasan</a:t>
            </a:r>
            <a:endParaRPr lang="en-US" sz="1700" dirty="0"/>
          </a:p>
        </p:txBody>
      </p:sp>
      <p:sp>
        <p:nvSpPr>
          <p:cNvPr id="17" name="Text 13"/>
          <p:cNvSpPr txBox="1"/>
          <p:nvPr/>
        </p:nvSpPr>
        <p:spPr>
          <a:xfrm>
            <a:off x="7909560" y="1920240"/>
            <a:ext cx="3520440" cy="42519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Langkah: klik titik Oktober pada grafik Total Revenue by Month.</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Hasil: Total Revenue 47.063,22; 70 transaksi; 60 pelanggan; Avg Order Value 672,33.</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Nilai per transaksi lebih rendah dari rata-rata (690,00).</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Oktober termasuk bulan lemah (kedua terendah setelah November).</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Ini contoh cross-filtering: satu klik pada grafik menyaring seluruh halaman.</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B9AAA"/>
          </a:solidFill>
          <a:ln w="12700">
            <a:solidFill>
              <a:srgbClr val="1B9AA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Ringkasan kinerja 2024</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ANALISIS</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1B9AAA"/>
          </a:solidFill>
          <a:ln w="12700">
            <a:solidFill>
              <a:srgbClr val="1B9AA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Text 7"/>
          <p:cNvSpPr txBox="1"/>
          <p:nvPr/>
        </p:nvSpPr>
        <p:spPr>
          <a:xfrm>
            <a:off x="548640" y="1371600"/>
            <a:ext cx="2103120" cy="731520"/>
          </a:xfrm>
          <a:prstGeom prst="rect">
            <a:avLst/>
          </a:prstGeom>
          <a:noFill/>
          <a:ln/>
        </p:spPr>
        <p:txBody>
          <a:bodyPr wrap="square" lIns="0" tIns="0" rIns="0" bIns="0" rtlCol="0" anchor="ctr"/>
          <a:lstStyle/>
          <a:p>
            <a:pPr indent="0" marL="0">
              <a:buNone/>
            </a:pPr>
            <a:r>
              <a:rPr lang="en-US" sz="3600" b="1" dirty="0">
                <a:solidFill>
                  <a:srgbClr val="1B9AAA"/>
                </a:solidFill>
                <a:latin typeface="Cambria" pitchFamily="34" charset="0"/>
                <a:ea typeface="Cambria" pitchFamily="34" charset="-122"/>
                <a:cs typeface="Cambria" pitchFamily="34" charset="-120"/>
              </a:rPr>
              <a:t>689.996</a:t>
            </a:r>
            <a:endParaRPr lang="en-US" sz="3600" dirty="0"/>
          </a:p>
        </p:txBody>
      </p:sp>
      <p:sp>
        <p:nvSpPr>
          <p:cNvPr id="12" name="Text 8"/>
          <p:cNvSpPr txBox="1"/>
          <p:nvPr/>
        </p:nvSpPr>
        <p:spPr>
          <a:xfrm>
            <a:off x="548640" y="2103120"/>
            <a:ext cx="210312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total revenue</a:t>
            </a:r>
            <a:endParaRPr lang="en-US" sz="1300" dirty="0"/>
          </a:p>
        </p:txBody>
      </p:sp>
      <p:sp>
        <p:nvSpPr>
          <p:cNvPr id="13" name="Text 9"/>
          <p:cNvSpPr txBox="1"/>
          <p:nvPr/>
        </p:nvSpPr>
        <p:spPr>
          <a:xfrm>
            <a:off x="2834640" y="1371600"/>
            <a:ext cx="2103120" cy="731520"/>
          </a:xfrm>
          <a:prstGeom prst="rect">
            <a:avLst/>
          </a:prstGeom>
          <a:noFill/>
          <a:ln/>
        </p:spPr>
        <p:txBody>
          <a:bodyPr wrap="square" lIns="0" tIns="0" rIns="0" bIns="0" rtlCol="0" anchor="ctr"/>
          <a:lstStyle/>
          <a:p>
            <a:pPr indent="0" marL="0">
              <a:buNone/>
            </a:pPr>
            <a:r>
              <a:rPr lang="en-US" sz="3600" b="1" dirty="0">
                <a:solidFill>
                  <a:srgbClr val="E8832B"/>
                </a:solidFill>
                <a:latin typeface="Cambria" pitchFamily="34" charset="0"/>
                <a:ea typeface="Cambria" pitchFamily="34" charset="-122"/>
                <a:cs typeface="Cambria" pitchFamily="34" charset="-120"/>
              </a:rPr>
              <a:t>1.000</a:t>
            </a:r>
            <a:endParaRPr lang="en-US" sz="3600" dirty="0"/>
          </a:p>
        </p:txBody>
      </p:sp>
      <p:sp>
        <p:nvSpPr>
          <p:cNvPr id="14" name="Text 10"/>
          <p:cNvSpPr txBox="1"/>
          <p:nvPr/>
        </p:nvSpPr>
        <p:spPr>
          <a:xfrm>
            <a:off x="2834640" y="2103120"/>
            <a:ext cx="210312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transaksi</a:t>
            </a:r>
            <a:endParaRPr lang="en-US" sz="1300" dirty="0"/>
          </a:p>
        </p:txBody>
      </p:sp>
      <p:sp>
        <p:nvSpPr>
          <p:cNvPr id="15" name="Text 11"/>
          <p:cNvSpPr txBox="1"/>
          <p:nvPr/>
        </p:nvSpPr>
        <p:spPr>
          <a:xfrm>
            <a:off x="5120640" y="1371600"/>
            <a:ext cx="2103120" cy="731520"/>
          </a:xfrm>
          <a:prstGeom prst="rect">
            <a:avLst/>
          </a:prstGeom>
          <a:noFill/>
          <a:ln/>
        </p:spPr>
        <p:txBody>
          <a:bodyPr wrap="square" lIns="0" tIns="0" rIns="0" bIns="0" rtlCol="0" anchor="ctr"/>
          <a:lstStyle/>
          <a:p>
            <a:pPr indent="0" marL="0">
              <a:buNone/>
            </a:pPr>
            <a:r>
              <a:rPr lang="en-US" sz="3600" b="1" dirty="0">
                <a:solidFill>
                  <a:srgbClr val="1A0683"/>
                </a:solidFill>
                <a:latin typeface="Cambria" pitchFamily="34" charset="0"/>
                <a:ea typeface="Cambria" pitchFamily="34" charset="-122"/>
                <a:cs typeface="Cambria" pitchFamily="34" charset="-120"/>
              </a:rPr>
              <a:t>199</a:t>
            </a:r>
            <a:endParaRPr lang="en-US" sz="3600" dirty="0"/>
          </a:p>
        </p:txBody>
      </p:sp>
      <p:sp>
        <p:nvSpPr>
          <p:cNvPr id="16" name="Text 12"/>
          <p:cNvSpPr txBox="1"/>
          <p:nvPr/>
        </p:nvSpPr>
        <p:spPr>
          <a:xfrm>
            <a:off x="5120640" y="2103120"/>
            <a:ext cx="210312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pelanggan aktif</a:t>
            </a:r>
            <a:endParaRPr lang="en-US" sz="1300" dirty="0"/>
          </a:p>
        </p:txBody>
      </p:sp>
      <p:sp>
        <p:nvSpPr>
          <p:cNvPr id="17" name="Text 13"/>
          <p:cNvSpPr txBox="1"/>
          <p:nvPr/>
        </p:nvSpPr>
        <p:spPr>
          <a:xfrm>
            <a:off x="7406640" y="1371600"/>
            <a:ext cx="2103120" cy="731520"/>
          </a:xfrm>
          <a:prstGeom prst="rect">
            <a:avLst/>
          </a:prstGeom>
          <a:noFill/>
          <a:ln/>
        </p:spPr>
        <p:txBody>
          <a:bodyPr wrap="square" lIns="0" tIns="0" rIns="0" bIns="0" rtlCol="0" anchor="ctr"/>
          <a:lstStyle/>
          <a:p>
            <a:pPr indent="0" marL="0">
              <a:buNone/>
            </a:pPr>
            <a:r>
              <a:rPr lang="en-US" sz="3600" b="1" dirty="0">
                <a:solidFill>
                  <a:srgbClr val="1B9AAA"/>
                </a:solidFill>
                <a:latin typeface="Cambria" pitchFamily="34" charset="0"/>
                <a:ea typeface="Cambria" pitchFamily="34" charset="-122"/>
                <a:cs typeface="Cambria" pitchFamily="34" charset="-120"/>
              </a:rPr>
              <a:t>2.537</a:t>
            </a:r>
            <a:endParaRPr lang="en-US" sz="3600" dirty="0"/>
          </a:p>
        </p:txBody>
      </p:sp>
      <p:sp>
        <p:nvSpPr>
          <p:cNvPr id="18" name="Text 14"/>
          <p:cNvSpPr txBox="1"/>
          <p:nvPr/>
        </p:nvSpPr>
        <p:spPr>
          <a:xfrm>
            <a:off x="7406640" y="2103120"/>
            <a:ext cx="210312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unit terjual</a:t>
            </a:r>
            <a:endParaRPr lang="en-US" sz="1300" dirty="0"/>
          </a:p>
        </p:txBody>
      </p:sp>
      <p:sp>
        <p:nvSpPr>
          <p:cNvPr id="19" name="Text 15"/>
          <p:cNvSpPr txBox="1"/>
          <p:nvPr/>
        </p:nvSpPr>
        <p:spPr>
          <a:xfrm>
            <a:off x="9692640" y="1371600"/>
            <a:ext cx="2103120" cy="731520"/>
          </a:xfrm>
          <a:prstGeom prst="rect">
            <a:avLst/>
          </a:prstGeom>
          <a:noFill/>
          <a:ln/>
        </p:spPr>
        <p:txBody>
          <a:bodyPr wrap="square" lIns="0" tIns="0" rIns="0" bIns="0" rtlCol="0" anchor="ctr"/>
          <a:lstStyle/>
          <a:p>
            <a:pPr indent="0" marL="0">
              <a:buNone/>
            </a:pPr>
            <a:r>
              <a:rPr lang="en-US" sz="3600" b="1" dirty="0">
                <a:solidFill>
                  <a:srgbClr val="E8832B"/>
                </a:solidFill>
                <a:latin typeface="Cambria" pitchFamily="34" charset="0"/>
                <a:ea typeface="Cambria" pitchFamily="34" charset="-122"/>
                <a:cs typeface="Cambria" pitchFamily="34" charset="-120"/>
              </a:rPr>
              <a:t>690,00</a:t>
            </a:r>
            <a:endParaRPr lang="en-US" sz="3600" dirty="0"/>
          </a:p>
        </p:txBody>
      </p:sp>
      <p:sp>
        <p:nvSpPr>
          <p:cNvPr id="20" name="Text 16"/>
          <p:cNvSpPr txBox="1"/>
          <p:nvPr/>
        </p:nvSpPr>
        <p:spPr>
          <a:xfrm>
            <a:off x="9692640" y="2103120"/>
            <a:ext cx="210312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rata-rata nilai per transaksi</a:t>
            </a:r>
            <a:endParaRPr lang="en-US" sz="1300" dirty="0"/>
          </a:p>
        </p:txBody>
      </p:sp>
      <p:sp>
        <p:nvSpPr>
          <p:cNvPr id="21" name="Shape 17"/>
          <p:cNvSpPr/>
          <p:nvPr/>
        </p:nvSpPr>
        <p:spPr>
          <a:xfrm>
            <a:off x="548640" y="3291840"/>
            <a:ext cx="11064240" cy="3017520"/>
          </a:xfrm>
          <a:prstGeom prst="roundRect">
            <a:avLst>
              <a:gd name="adj" fmla="val 3030"/>
            </a:avLst>
          </a:prstGeom>
          <a:solidFill>
            <a:srgbClr val="E8F5F7"/>
          </a:solidFill>
          <a:ln w="12700">
            <a:solidFill>
              <a:srgbClr val="E8F5F7"/>
            </a:solidFill>
            <a:prstDash val="solid"/>
          </a:ln>
        </p:spPr>
      </p:sp>
      <p:sp>
        <p:nvSpPr>
          <p:cNvPr id="22" name="Shape 18"/>
          <p:cNvSpPr/>
          <p:nvPr/>
        </p:nvSpPr>
        <p:spPr>
          <a:xfrm>
            <a:off x="548640" y="3383280"/>
            <a:ext cx="82296" cy="2834640"/>
          </a:xfrm>
          <a:prstGeom prst="rect">
            <a:avLst/>
          </a:prstGeom>
          <a:solidFill>
            <a:srgbClr val="1B9AAA"/>
          </a:solidFill>
          <a:ln w="12700">
            <a:solidFill>
              <a:srgbClr val="1B9AAA"/>
            </a:solidFill>
            <a:prstDash val="solid"/>
          </a:ln>
        </p:spPr>
      </p:sp>
      <p:sp>
        <p:nvSpPr>
          <p:cNvPr id="23" name="Text 19"/>
          <p:cNvSpPr txBox="1"/>
          <p:nvPr/>
        </p:nvSpPr>
        <p:spPr>
          <a:xfrm>
            <a:off x="777240" y="3429000"/>
            <a:ext cx="10652760" cy="411480"/>
          </a:xfrm>
          <a:prstGeom prst="rect">
            <a:avLst/>
          </a:prstGeom>
          <a:noFill/>
          <a:ln/>
        </p:spPr>
        <p:txBody>
          <a:bodyPr wrap="square" lIns="0" tIns="0" rIns="0" bIns="0" rtlCol="0" anchor="ctr"/>
          <a:lstStyle/>
          <a:p>
            <a:pPr indent="0" marL="0">
              <a:buNone/>
            </a:pPr>
            <a:r>
              <a:rPr lang="en-US" sz="1700" b="1" dirty="0">
                <a:solidFill>
                  <a:srgbClr val="1B9AAA"/>
                </a:solidFill>
                <a:latin typeface="Cambria" pitchFamily="34" charset="0"/>
                <a:ea typeface="Cambria" pitchFamily="34" charset="-122"/>
                <a:cs typeface="Cambria" pitchFamily="34" charset="-120"/>
              </a:rPr>
              <a:t>Makna angka</a:t>
            </a:r>
            <a:endParaRPr lang="en-US" sz="1700" dirty="0"/>
          </a:p>
        </p:txBody>
      </p:sp>
      <p:sp>
        <p:nvSpPr>
          <p:cNvPr id="24" name="Text 20"/>
          <p:cNvSpPr txBox="1"/>
          <p:nvPr/>
        </p:nvSpPr>
        <p:spPr>
          <a:xfrm>
            <a:off x="777240" y="3931920"/>
            <a:ext cx="10652760" cy="22402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A35"/>
                </a:solidFill>
                <a:latin typeface="Calibri" pitchFamily="34" charset="0"/>
                <a:ea typeface="Calibri" pitchFamily="34" charset="-122"/>
                <a:cs typeface="Calibri" pitchFamily="34" charset="-120"/>
              </a:rPr>
              <a:t>Rata-rata pelanggan aktif bertransaksi sekitar 5 kali dan menghasilkan sekitar 3.467 revenue.</a:t>
            </a:r>
            <a:endParaRPr lang="en-US" sz="1500" dirty="0"/>
          </a:p>
          <a:p>
            <a:pPr marL="177800" indent="-177800">
              <a:spcAft>
                <a:spcPts val="600"/>
              </a:spcAft>
              <a:buSzPct val="100000"/>
              <a:buChar char="•"/>
            </a:pPr>
            <a:r>
              <a:rPr lang="en-US" sz="1500" dirty="0">
                <a:solidFill>
                  <a:srgbClr val="1E2A35"/>
                </a:solidFill>
                <a:latin typeface="Calibri" pitchFamily="34" charset="0"/>
                <a:ea typeface="Calibri" pitchFamily="34" charset="-122"/>
                <a:cs typeface="Calibri" pitchFamily="34" charset="-120"/>
              </a:rPr>
              <a:t>Nilai transaksi rata-rata 690 dengan 2,5 unit per transaksi.</a:t>
            </a:r>
            <a:endParaRPr lang="en-US" sz="1500" dirty="0"/>
          </a:p>
          <a:p>
            <a:pPr marL="177800" indent="-177800">
              <a:spcAft>
                <a:spcPts val="600"/>
              </a:spcAft>
              <a:buSzPct val="100000"/>
              <a:buChar char="•"/>
            </a:pPr>
            <a:r>
              <a:rPr lang="en-US" sz="1500" dirty="0">
                <a:solidFill>
                  <a:srgbClr val="1E2A35"/>
                </a:solidFill>
                <a:latin typeface="Calibri" pitchFamily="34" charset="0"/>
                <a:ea typeface="Calibri" pitchFamily="34" charset="-122"/>
                <a:cs typeface="Calibri" pitchFamily="34" charset="-120"/>
              </a:rPr>
              <a:t>Dua puluh pelanggan teratas (10%) menyumbang 20% revenue, sehingga pendapatan tidak terlalu bergantung pada segelintir pelanggan.</a:t>
            </a:r>
            <a:endParaRPr lang="en-US" sz="15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B9AAA"/>
          </a:solidFill>
          <a:ln w="12700">
            <a:solidFill>
              <a:srgbClr val="1B9AA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Tren revenue bulanan 2024</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ANALISIS</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1B9AAA"/>
          </a:solidFill>
          <a:ln w="12700">
            <a:solidFill>
              <a:srgbClr val="1B9AA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graphicFrame>
        <p:nvGraphicFramePr>
          <p:cNvPr id="11" name="Chart 0" descr=""/>
          <p:cNvGraphicFramePr/>
          <p:nvPr/>
        </p:nvGraphicFramePr>
        <p:xfrm>
          <a:off x="548640" y="1280160"/>
          <a:ext cx="7498080" cy="4297680"/>
        </p:xfrm>
        <a:graphic xmlns:a="http://schemas.openxmlformats.org/drawingml/2006/main">
          <a:graphicData uri="http://schemas.openxmlformats.org/drawingml/2006/chart">
            <c:chart xmlns:c="http://schemas.openxmlformats.org/drawingml/2006/chart" r:id="rId2"/>
          </a:graphicData>
        </a:graphic>
      </p:graphicFrame>
      <p:sp>
        <p:nvSpPr>
          <p:cNvPr id="12" name="Text 7"/>
          <p:cNvSpPr txBox="1"/>
          <p:nvPr/>
        </p:nvSpPr>
        <p:spPr>
          <a:xfrm>
            <a:off x="8412480" y="1371600"/>
            <a:ext cx="3200400" cy="731520"/>
          </a:xfrm>
          <a:prstGeom prst="rect">
            <a:avLst/>
          </a:prstGeom>
          <a:noFill/>
          <a:ln/>
        </p:spPr>
        <p:txBody>
          <a:bodyPr wrap="square" lIns="0" tIns="0" rIns="0" bIns="0" rtlCol="0" anchor="ctr"/>
          <a:lstStyle/>
          <a:p>
            <a:pPr indent="0" marL="0">
              <a:buNone/>
            </a:pPr>
            <a:r>
              <a:rPr lang="en-US" sz="4000" b="1" dirty="0">
                <a:solidFill>
                  <a:srgbClr val="1B9AAA"/>
                </a:solidFill>
                <a:latin typeface="Cambria" pitchFamily="34" charset="0"/>
                <a:ea typeface="Cambria" pitchFamily="34" charset="-122"/>
                <a:cs typeface="Cambria" pitchFamily="34" charset="-120"/>
              </a:rPr>
              <a:t>71.366</a:t>
            </a:r>
            <a:endParaRPr lang="en-US" sz="4000" dirty="0"/>
          </a:p>
        </p:txBody>
      </p:sp>
      <p:sp>
        <p:nvSpPr>
          <p:cNvPr id="13" name="Text 8"/>
          <p:cNvSpPr txBox="1"/>
          <p:nvPr/>
        </p:nvSpPr>
        <p:spPr>
          <a:xfrm>
            <a:off x="8412480" y="2103120"/>
            <a:ext cx="320040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puncak: Juli</a:t>
            </a:r>
            <a:endParaRPr lang="en-US" sz="1300" dirty="0"/>
          </a:p>
        </p:txBody>
      </p:sp>
      <p:sp>
        <p:nvSpPr>
          <p:cNvPr id="14" name="Text 9"/>
          <p:cNvSpPr txBox="1"/>
          <p:nvPr/>
        </p:nvSpPr>
        <p:spPr>
          <a:xfrm>
            <a:off x="8412480" y="2651760"/>
            <a:ext cx="3200400" cy="731520"/>
          </a:xfrm>
          <a:prstGeom prst="rect">
            <a:avLst/>
          </a:prstGeom>
          <a:noFill/>
          <a:ln/>
        </p:spPr>
        <p:txBody>
          <a:bodyPr wrap="square" lIns="0" tIns="0" rIns="0" bIns="0" rtlCol="0" anchor="ctr"/>
          <a:lstStyle/>
          <a:p>
            <a:pPr indent="0" marL="0">
              <a:buNone/>
            </a:pPr>
            <a:r>
              <a:rPr lang="en-US" sz="4000" b="1" dirty="0">
                <a:solidFill>
                  <a:srgbClr val="E8832B"/>
                </a:solidFill>
                <a:latin typeface="Cambria" pitchFamily="34" charset="0"/>
                <a:ea typeface="Cambria" pitchFamily="34" charset="-122"/>
                <a:cs typeface="Cambria" pitchFamily="34" charset="-120"/>
              </a:rPr>
              <a:t>38.224</a:t>
            </a:r>
            <a:endParaRPr lang="en-US" sz="4000" dirty="0"/>
          </a:p>
        </p:txBody>
      </p:sp>
      <p:sp>
        <p:nvSpPr>
          <p:cNvPr id="15" name="Text 10"/>
          <p:cNvSpPr txBox="1"/>
          <p:nvPr/>
        </p:nvSpPr>
        <p:spPr>
          <a:xfrm>
            <a:off x="8412480" y="3383280"/>
            <a:ext cx="320040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terendah: November</a:t>
            </a:r>
            <a:endParaRPr lang="en-US" sz="1300" dirty="0"/>
          </a:p>
        </p:txBody>
      </p:sp>
      <p:sp>
        <p:nvSpPr>
          <p:cNvPr id="16" name="Text 11"/>
          <p:cNvSpPr txBox="1"/>
          <p:nvPr/>
        </p:nvSpPr>
        <p:spPr>
          <a:xfrm>
            <a:off x="8412480" y="3931920"/>
            <a:ext cx="3200400" cy="731520"/>
          </a:xfrm>
          <a:prstGeom prst="rect">
            <a:avLst/>
          </a:prstGeom>
          <a:noFill/>
          <a:ln/>
        </p:spPr>
        <p:txBody>
          <a:bodyPr wrap="square" lIns="0" tIns="0" rIns="0" bIns="0" rtlCol="0" anchor="ctr"/>
          <a:lstStyle/>
          <a:p>
            <a:pPr indent="0" marL="0">
              <a:buNone/>
            </a:pPr>
            <a:r>
              <a:rPr lang="en-US" sz="4000" b="1" dirty="0">
                <a:solidFill>
                  <a:srgbClr val="1A0683"/>
                </a:solidFill>
                <a:latin typeface="Cambria" pitchFamily="34" charset="0"/>
                <a:ea typeface="Cambria" pitchFamily="34" charset="-122"/>
                <a:cs typeface="Cambria" pitchFamily="34" charset="-120"/>
              </a:rPr>
              <a:t>205.407</a:t>
            </a:r>
            <a:endParaRPr lang="en-US" sz="4000" dirty="0"/>
          </a:p>
        </p:txBody>
      </p:sp>
      <p:sp>
        <p:nvSpPr>
          <p:cNvPr id="17" name="Text 12"/>
          <p:cNvSpPr txBox="1"/>
          <p:nvPr/>
        </p:nvSpPr>
        <p:spPr>
          <a:xfrm>
            <a:off x="8412480" y="4663440"/>
            <a:ext cx="320040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kuartal terkuat: Q3</a:t>
            </a:r>
            <a:endParaRPr lang="en-US" sz="1300" dirty="0"/>
          </a:p>
        </p:txBody>
      </p:sp>
      <p:sp>
        <p:nvSpPr>
          <p:cNvPr id="18" name="Text 13"/>
          <p:cNvSpPr txBox="1"/>
          <p:nvPr/>
        </p:nvSpPr>
        <p:spPr>
          <a:xfrm>
            <a:off x="548640" y="5715000"/>
            <a:ext cx="11064240" cy="64008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Pembacaan: revenue bergerak antara 38 ribu dan 71 ribu per bulan. Q1 165.664, Q2 170.818, Q3 205.407, Q4 144.337. Penurunan Oktober dan November diikuti pemulihan di Desember (59.049).</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B9AAA"/>
          </a:solidFill>
          <a:ln w="12700">
            <a:solidFill>
              <a:srgbClr val="1B9AA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Revenue per kategori produk</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ANALISIS</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1B9AAA"/>
          </a:solidFill>
          <a:ln w="12700">
            <a:solidFill>
              <a:srgbClr val="1B9AA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graphicFrame>
        <p:nvGraphicFramePr>
          <p:cNvPr id="11" name="Chart 0" descr=""/>
          <p:cNvGraphicFramePr/>
          <p:nvPr/>
        </p:nvGraphicFramePr>
        <p:xfrm>
          <a:off x="548640" y="1280160"/>
          <a:ext cx="6766560" cy="4937760"/>
        </p:xfrm>
        <a:graphic xmlns:a="http://schemas.openxmlformats.org/drawingml/2006/main">
          <a:graphicData uri="http://schemas.openxmlformats.org/drawingml/2006/chart">
            <c:chart xmlns:c="http://schemas.openxmlformats.org/drawingml/2006/chart" r:id="rId2"/>
          </a:graphicData>
        </a:graphic>
      </p:graphicFrame>
      <p:sp>
        <p:nvSpPr>
          <p:cNvPr id="12" name="Shape 7"/>
          <p:cNvSpPr/>
          <p:nvPr/>
        </p:nvSpPr>
        <p:spPr>
          <a:xfrm>
            <a:off x="7589520" y="1280160"/>
            <a:ext cx="4023360" cy="4937760"/>
          </a:xfrm>
          <a:prstGeom prst="roundRect">
            <a:avLst>
              <a:gd name="adj" fmla="val 2273"/>
            </a:avLst>
          </a:prstGeom>
          <a:solidFill>
            <a:srgbClr val="E8F5F7"/>
          </a:solidFill>
          <a:ln w="12700">
            <a:solidFill>
              <a:srgbClr val="E8F5F7"/>
            </a:solidFill>
            <a:prstDash val="solid"/>
          </a:ln>
        </p:spPr>
      </p:sp>
      <p:sp>
        <p:nvSpPr>
          <p:cNvPr id="13" name="Shape 8"/>
          <p:cNvSpPr/>
          <p:nvPr/>
        </p:nvSpPr>
        <p:spPr>
          <a:xfrm>
            <a:off x="7589520" y="1371600"/>
            <a:ext cx="82296" cy="4754880"/>
          </a:xfrm>
          <a:prstGeom prst="rect">
            <a:avLst/>
          </a:prstGeom>
          <a:solidFill>
            <a:srgbClr val="1B9AAA"/>
          </a:solidFill>
          <a:ln w="12700">
            <a:solidFill>
              <a:srgbClr val="1B9AAA"/>
            </a:solidFill>
            <a:prstDash val="solid"/>
          </a:ln>
        </p:spPr>
      </p:sp>
      <p:sp>
        <p:nvSpPr>
          <p:cNvPr id="14" name="Text 9"/>
          <p:cNvSpPr txBox="1"/>
          <p:nvPr/>
        </p:nvSpPr>
        <p:spPr>
          <a:xfrm>
            <a:off x="7818120" y="1417320"/>
            <a:ext cx="3611880" cy="411480"/>
          </a:xfrm>
          <a:prstGeom prst="rect">
            <a:avLst/>
          </a:prstGeom>
          <a:noFill/>
          <a:ln/>
        </p:spPr>
        <p:txBody>
          <a:bodyPr wrap="square" lIns="0" tIns="0" rIns="0" bIns="0" rtlCol="0" anchor="ctr"/>
          <a:lstStyle/>
          <a:p>
            <a:pPr indent="0" marL="0">
              <a:buNone/>
            </a:pPr>
            <a:r>
              <a:rPr lang="en-US" sz="1700" b="1" dirty="0">
                <a:solidFill>
                  <a:srgbClr val="1B9AAA"/>
                </a:solidFill>
                <a:latin typeface="Cambria" pitchFamily="34" charset="0"/>
                <a:ea typeface="Cambria" pitchFamily="34" charset="-122"/>
                <a:cs typeface="Cambria" pitchFamily="34" charset="-120"/>
              </a:rPr>
              <a:t>Pembacaan</a:t>
            </a:r>
            <a:endParaRPr lang="en-US" sz="1700" dirty="0"/>
          </a:p>
        </p:txBody>
      </p:sp>
      <p:sp>
        <p:nvSpPr>
          <p:cNvPr id="15" name="Text 10"/>
          <p:cNvSpPr txBox="1"/>
          <p:nvPr/>
        </p:nvSpPr>
        <p:spPr>
          <a:xfrm>
            <a:off x="7818120" y="1920240"/>
            <a:ext cx="3611880" cy="4160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Books memimpin: 27,8% revenue (192.147).</a:t>
            </a:r>
            <a:endParaRPr lang="en-US" sz="1400" dirty="0"/>
          </a:p>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Electronics 26,2% (180.784).</a:t>
            </a:r>
            <a:endParaRPr lang="en-US" sz="1400" dirty="0"/>
          </a:p>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Clothing 24,1% dan Home Decor 21,9%.</a:t>
            </a:r>
            <a:endParaRPr lang="en-US" sz="1400" dirty="0"/>
          </a:p>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Selisih tertinggi dan terendah sekitar 41 ribu, sehingga kontribusi cukup merata.</a:t>
            </a:r>
            <a:endParaRPr lang="en-US" sz="1400" dirty="0"/>
          </a:p>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Books dan Electronics bersama 54%.</a:t>
            </a:r>
            <a:endParaRPr lang="en-US" sz="14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B9AAA"/>
          </a:solidFill>
          <a:ln w="12700">
            <a:solidFill>
              <a:srgbClr val="1B9AA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Revenue per wilayah</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ANALISIS</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1B9AAA"/>
          </a:solidFill>
          <a:ln w="12700">
            <a:solidFill>
              <a:srgbClr val="1B9AA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graphicFrame>
        <p:nvGraphicFramePr>
          <p:cNvPr id="11" name="Chart 0" descr=""/>
          <p:cNvGraphicFramePr/>
          <p:nvPr/>
        </p:nvGraphicFramePr>
        <p:xfrm>
          <a:off x="548640" y="1280160"/>
          <a:ext cx="5852160" cy="4937760"/>
        </p:xfrm>
        <a:graphic xmlns:a="http://schemas.openxmlformats.org/drawingml/2006/main">
          <a:graphicData uri="http://schemas.openxmlformats.org/drawingml/2006/chart">
            <c:chart xmlns:c="http://schemas.openxmlformats.org/drawingml/2006/chart" r:id="rId2"/>
          </a:graphicData>
        </a:graphic>
      </p:graphicFrame>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766560" y="1463040"/>
          <a:ext cx="4846320" cy="914400"/>
        </p:xfrm>
        <a:graphic>
          <a:graphicData uri="http://schemas.openxmlformats.org/drawingml/2006/table">
            <a:tbl>
              <a:tblPr/>
              <a:tblGrid>
                <a:gridCol w="1920240"/>
                <a:gridCol w="1371600"/>
                <a:gridCol w="155448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Wilayah</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Pelanggan aktif</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Revenue/pelanggan</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solidFill>
                      <a:srgbClr val="1B9AAA"/>
                    </a:solidFill>
                  </a:tcPr>
                </a:tc>
              </a:tr>
              <a:tr h="45720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South America</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59</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3.718</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5720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Europe</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3.325</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5720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North America</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46</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3.311</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r h="457200">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Asia</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44</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c>
                  <a:txBody>
                    <a:bodyPr/>
                    <a:lstStyle/>
                    <a:p>
                      <a:pPr indent="0" marL="0">
                        <a:buNone/>
                      </a:pPr>
                      <a:r>
                        <a:rPr lang="en-US" sz="1300" dirty="0">
                          <a:solidFill>
                            <a:srgbClr val="1E2A35"/>
                          </a:solidFill>
                          <a:latin typeface="Calibri" pitchFamily="34" charset="0"/>
                          <a:ea typeface="Calibri" pitchFamily="34" charset="-122"/>
                          <a:cs typeface="Calibri" pitchFamily="34" charset="-120"/>
                        </a:rPr>
                        <a:t>3.456</a:t>
                      </a:r>
                      <a:endParaRPr lang="en-US" sz="1300" dirty="0">
                        <a:latin typeface="Calibri" charset="0"/>
                        <a:ea typeface="Calibri" charset="0"/>
                        <a:cs typeface="Calibri" charset="0"/>
                      </a:endParaRPr>
                    </a:p>
                  </a:txBody>
                  <a:tcPr marL="91440" marR="91440" marT="45720" marB="45720" anchor="ctr">
                    <a:lnL w="9525" cap="flat" cmpd="sng" algn="ctr">
                      <a:solidFill>
                        <a:srgbClr val="D5DDE3"/>
                      </a:solidFill>
                      <a:prstDash val="solid"/>
                      <a:round/>
                      <a:headEnd type="none" w="med" len="med"/>
                      <a:tailEnd type="none" w="med" len="med"/>
                    </a:lnL>
                    <a:lnR w="9525" cap="flat" cmpd="sng" algn="ctr">
                      <a:solidFill>
                        <a:srgbClr val="D5DDE3"/>
                      </a:solidFill>
                      <a:prstDash val="solid"/>
                      <a:round/>
                      <a:headEnd type="none" w="med" len="med"/>
                      <a:tailEnd type="none" w="med" len="med"/>
                    </a:lnR>
                    <a:lnT w="9525" cap="flat" cmpd="sng" algn="ctr">
                      <a:solidFill>
                        <a:srgbClr val="D5DDE3"/>
                      </a:solidFill>
                      <a:prstDash val="solid"/>
                      <a:round/>
                      <a:headEnd type="none" w="med" len="med"/>
                      <a:tailEnd type="none" w="med" len="med"/>
                    </a:lnT>
                    <a:lnB w="9525" cap="flat" cmpd="sng" algn="ctr">
                      <a:solidFill>
                        <a:srgbClr val="D5DDE3"/>
                      </a:solidFill>
                      <a:prstDash val="solid"/>
                      <a:round/>
                      <a:headEnd type="none" w="med" len="med"/>
                      <a:tailEnd type="none" w="med" len="med"/>
                    </a:lnB>
                  </a:tcPr>
                </a:tc>
              </a:tr>
            </a:tbl>
          </a:graphicData>
        </a:graphic>
      </p:graphicFrame>
      <p:sp>
        <p:nvSpPr>
          <p:cNvPr id="13" name="Text 7"/>
          <p:cNvSpPr txBox="1"/>
          <p:nvPr/>
        </p:nvSpPr>
        <p:spPr>
          <a:xfrm>
            <a:off x="6766560" y="4114800"/>
            <a:ext cx="4846320" cy="201168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South America menyumbang 31,8% revenue dan paling produktif per pelanggan. Tiga wilayah lain berkisar 22 sampai 24%. Asia memiliki 44 pelanggan aktif dari 45 terdaftar.</a:t>
            </a:r>
            <a:endParaRPr lang="en-US" sz="14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B9AAA"/>
          </a:solidFill>
          <a:ln w="12700">
            <a:solidFill>
              <a:srgbClr val="1B9AA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10 nama produk dengan revenue tertinggi</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ANALISIS</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1B9AAA"/>
          </a:solidFill>
          <a:ln w="12700">
            <a:solidFill>
              <a:srgbClr val="1B9AA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graphicFrame>
        <p:nvGraphicFramePr>
          <p:cNvPr id="11" name="Chart 0" descr=""/>
          <p:cNvGraphicFramePr/>
          <p:nvPr/>
        </p:nvGraphicFramePr>
        <p:xfrm>
          <a:off x="548640" y="1188720"/>
          <a:ext cx="7863840" cy="5120640"/>
        </p:xfrm>
        <a:graphic xmlns:a="http://schemas.openxmlformats.org/drawingml/2006/main">
          <a:graphicData uri="http://schemas.openxmlformats.org/drawingml/2006/chart">
            <c:chart xmlns:c="http://schemas.openxmlformats.org/drawingml/2006/chart" r:id="rId2"/>
          </a:graphicData>
        </a:graphic>
      </p:graphicFrame>
      <p:sp>
        <p:nvSpPr>
          <p:cNvPr id="12" name="Shape 7"/>
          <p:cNvSpPr/>
          <p:nvPr/>
        </p:nvSpPr>
        <p:spPr>
          <a:xfrm>
            <a:off x="8686800" y="1280160"/>
            <a:ext cx="2926080" cy="4937760"/>
          </a:xfrm>
          <a:prstGeom prst="roundRect">
            <a:avLst>
              <a:gd name="adj" fmla="val 3125"/>
            </a:avLst>
          </a:prstGeom>
          <a:solidFill>
            <a:srgbClr val="E8F5F7"/>
          </a:solidFill>
          <a:ln w="12700">
            <a:solidFill>
              <a:srgbClr val="E8F5F7"/>
            </a:solidFill>
            <a:prstDash val="solid"/>
          </a:ln>
        </p:spPr>
      </p:sp>
      <p:sp>
        <p:nvSpPr>
          <p:cNvPr id="13" name="Shape 8"/>
          <p:cNvSpPr/>
          <p:nvPr/>
        </p:nvSpPr>
        <p:spPr>
          <a:xfrm>
            <a:off x="8686800" y="1371600"/>
            <a:ext cx="82296" cy="4754880"/>
          </a:xfrm>
          <a:prstGeom prst="rect">
            <a:avLst/>
          </a:prstGeom>
          <a:solidFill>
            <a:srgbClr val="1B9AAA"/>
          </a:solidFill>
          <a:ln w="12700">
            <a:solidFill>
              <a:srgbClr val="1B9AAA"/>
            </a:solidFill>
            <a:prstDash val="solid"/>
          </a:ln>
        </p:spPr>
      </p:sp>
      <p:sp>
        <p:nvSpPr>
          <p:cNvPr id="14" name="Text 9"/>
          <p:cNvSpPr txBox="1"/>
          <p:nvPr/>
        </p:nvSpPr>
        <p:spPr>
          <a:xfrm>
            <a:off x="8915400" y="1417320"/>
            <a:ext cx="2514600" cy="411480"/>
          </a:xfrm>
          <a:prstGeom prst="rect">
            <a:avLst/>
          </a:prstGeom>
          <a:noFill/>
          <a:ln/>
        </p:spPr>
        <p:txBody>
          <a:bodyPr wrap="square" lIns="0" tIns="0" rIns="0" bIns="0" rtlCol="0" anchor="ctr"/>
          <a:lstStyle/>
          <a:p>
            <a:pPr indent="0" marL="0">
              <a:buNone/>
            </a:pPr>
            <a:r>
              <a:rPr lang="en-US" sz="1700" b="1" dirty="0">
                <a:solidFill>
                  <a:srgbClr val="1B9AAA"/>
                </a:solidFill>
                <a:latin typeface="Cambria" pitchFamily="34" charset="0"/>
                <a:ea typeface="Cambria" pitchFamily="34" charset="-122"/>
                <a:cs typeface="Cambria" pitchFamily="34" charset="-120"/>
              </a:rPr>
              <a:t>Pembacaan</a:t>
            </a:r>
            <a:endParaRPr lang="en-US" sz="1700" dirty="0"/>
          </a:p>
        </p:txBody>
      </p:sp>
      <p:sp>
        <p:nvSpPr>
          <p:cNvPr id="15" name="Text 10"/>
          <p:cNvSpPr txBox="1"/>
          <p:nvPr/>
        </p:nvSpPr>
        <p:spPr>
          <a:xfrm>
            <a:off x="8915400" y="1920240"/>
            <a:ext cx="2514600" cy="41605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ActiveWear Smartwatch teratas: 39.097.</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Nama itu dipakai 4 ProductID yang dijumlahkan.</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Electronics muncul 3 kali di 10 besar.</a:t>
            </a:r>
            <a:endParaRPr lang="en-US" sz="1300" dirty="0"/>
          </a:p>
          <a:p>
            <a:pPr marL="177800" indent="-177800">
              <a:spcAft>
                <a:spcPts val="600"/>
              </a:spcAft>
              <a:buSzPct val="100000"/>
              <a:buChar char="•"/>
            </a:pPr>
            <a:r>
              <a:rPr lang="en-US" sz="1300" dirty="0">
                <a:solidFill>
                  <a:srgbClr val="1E2A35"/>
                </a:solidFill>
                <a:latin typeface="Calibri" pitchFamily="34" charset="0"/>
                <a:ea typeface="Calibri" pitchFamily="34" charset="-122"/>
                <a:cs typeface="Calibri" pitchFamily="34" charset="-120"/>
              </a:rPr>
              <a:t>Nama sama bisa mewakili beberapa produk.</a:t>
            </a:r>
            <a:endParaRPr lang="en-US" sz="13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B9AAA"/>
          </a:solidFill>
          <a:ln w="12700">
            <a:solidFill>
              <a:srgbClr val="1B9AA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Perilaku belanja pelanggan</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ANALISIS</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1B9AAA"/>
          </a:solidFill>
          <a:ln w="12700">
            <a:solidFill>
              <a:srgbClr val="1B9AA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Text 7"/>
          <p:cNvSpPr txBox="1"/>
          <p:nvPr/>
        </p:nvSpPr>
        <p:spPr>
          <a:xfrm>
            <a:off x="548640" y="1371600"/>
            <a:ext cx="2651760" cy="731520"/>
          </a:xfrm>
          <a:prstGeom prst="rect">
            <a:avLst/>
          </a:prstGeom>
          <a:noFill/>
          <a:ln/>
        </p:spPr>
        <p:txBody>
          <a:bodyPr wrap="square" lIns="0" tIns="0" rIns="0" bIns="0" rtlCol="0" anchor="ctr"/>
          <a:lstStyle/>
          <a:p>
            <a:pPr indent="0" marL="0">
              <a:buNone/>
            </a:pPr>
            <a:r>
              <a:rPr lang="en-US" sz="4000" b="1" dirty="0">
                <a:solidFill>
                  <a:srgbClr val="1B9AAA"/>
                </a:solidFill>
                <a:latin typeface="Cambria" pitchFamily="34" charset="0"/>
                <a:ea typeface="Cambria" pitchFamily="34" charset="-122"/>
                <a:cs typeface="Cambria" pitchFamily="34" charset="-120"/>
              </a:rPr>
              <a:t>3.467</a:t>
            </a:r>
            <a:endParaRPr lang="en-US" sz="4000" dirty="0"/>
          </a:p>
        </p:txBody>
      </p:sp>
      <p:sp>
        <p:nvSpPr>
          <p:cNvPr id="12" name="Text 8"/>
          <p:cNvSpPr txBox="1"/>
          <p:nvPr/>
        </p:nvSpPr>
        <p:spPr>
          <a:xfrm>
            <a:off x="548640" y="2103120"/>
            <a:ext cx="265176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rata-rata revenue per pelanggan aktif</a:t>
            </a:r>
            <a:endParaRPr lang="en-US" sz="1300" dirty="0"/>
          </a:p>
        </p:txBody>
      </p:sp>
      <p:sp>
        <p:nvSpPr>
          <p:cNvPr id="13" name="Text 9"/>
          <p:cNvSpPr txBox="1"/>
          <p:nvPr/>
        </p:nvSpPr>
        <p:spPr>
          <a:xfrm>
            <a:off x="3383280" y="1371600"/>
            <a:ext cx="2651760" cy="731520"/>
          </a:xfrm>
          <a:prstGeom prst="rect">
            <a:avLst/>
          </a:prstGeom>
          <a:noFill/>
          <a:ln/>
        </p:spPr>
        <p:txBody>
          <a:bodyPr wrap="square" lIns="0" tIns="0" rIns="0" bIns="0" rtlCol="0" anchor="ctr"/>
          <a:lstStyle/>
          <a:p>
            <a:pPr indent="0" marL="0">
              <a:buNone/>
            </a:pPr>
            <a:r>
              <a:rPr lang="en-US" sz="4000" b="1" dirty="0">
                <a:solidFill>
                  <a:srgbClr val="E8832B"/>
                </a:solidFill>
                <a:latin typeface="Cambria" pitchFamily="34" charset="0"/>
                <a:ea typeface="Cambria" pitchFamily="34" charset="-122"/>
                <a:cs typeface="Cambria" pitchFamily="34" charset="-120"/>
              </a:rPr>
              <a:t>3.138</a:t>
            </a:r>
            <a:endParaRPr lang="en-US" sz="4000" dirty="0"/>
          </a:p>
        </p:txBody>
      </p:sp>
      <p:sp>
        <p:nvSpPr>
          <p:cNvPr id="14" name="Text 10"/>
          <p:cNvSpPr txBox="1"/>
          <p:nvPr/>
        </p:nvSpPr>
        <p:spPr>
          <a:xfrm>
            <a:off x="3383280" y="2103120"/>
            <a:ext cx="265176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median revenue per pelanggan</a:t>
            </a:r>
            <a:endParaRPr lang="en-US" sz="1300" dirty="0"/>
          </a:p>
        </p:txBody>
      </p:sp>
      <p:sp>
        <p:nvSpPr>
          <p:cNvPr id="15" name="Text 11"/>
          <p:cNvSpPr txBox="1"/>
          <p:nvPr/>
        </p:nvSpPr>
        <p:spPr>
          <a:xfrm>
            <a:off x="6217920" y="1371600"/>
            <a:ext cx="2651760" cy="731520"/>
          </a:xfrm>
          <a:prstGeom prst="rect">
            <a:avLst/>
          </a:prstGeom>
          <a:noFill/>
          <a:ln/>
        </p:spPr>
        <p:txBody>
          <a:bodyPr wrap="square" lIns="0" tIns="0" rIns="0" bIns="0" rtlCol="0" anchor="ctr"/>
          <a:lstStyle/>
          <a:p>
            <a:pPr indent="0" marL="0">
              <a:buNone/>
            </a:pPr>
            <a:r>
              <a:rPr lang="en-US" sz="4000" b="1" dirty="0">
                <a:solidFill>
                  <a:srgbClr val="1A0683"/>
                </a:solidFill>
                <a:latin typeface="Cambria" pitchFamily="34" charset="0"/>
                <a:ea typeface="Cambria" pitchFamily="34" charset="-122"/>
                <a:cs typeface="Cambria" pitchFamily="34" charset="-120"/>
              </a:rPr>
              <a:t>5,03</a:t>
            </a:r>
            <a:endParaRPr lang="en-US" sz="4000" dirty="0"/>
          </a:p>
        </p:txBody>
      </p:sp>
      <p:sp>
        <p:nvSpPr>
          <p:cNvPr id="16" name="Text 12"/>
          <p:cNvSpPr txBox="1"/>
          <p:nvPr/>
        </p:nvSpPr>
        <p:spPr>
          <a:xfrm>
            <a:off x="6217920" y="2103120"/>
            <a:ext cx="265176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rata-rata transaksi per pelanggan</a:t>
            </a:r>
            <a:endParaRPr lang="en-US" sz="1300" dirty="0"/>
          </a:p>
        </p:txBody>
      </p:sp>
      <p:sp>
        <p:nvSpPr>
          <p:cNvPr id="17" name="Text 13"/>
          <p:cNvSpPr txBox="1"/>
          <p:nvPr/>
        </p:nvSpPr>
        <p:spPr>
          <a:xfrm>
            <a:off x="9052560" y="1371600"/>
            <a:ext cx="2651760" cy="731520"/>
          </a:xfrm>
          <a:prstGeom prst="rect">
            <a:avLst/>
          </a:prstGeom>
          <a:noFill/>
          <a:ln/>
        </p:spPr>
        <p:txBody>
          <a:bodyPr wrap="square" lIns="0" tIns="0" rIns="0" bIns="0" rtlCol="0" anchor="ctr"/>
          <a:lstStyle/>
          <a:p>
            <a:pPr indent="0" marL="0">
              <a:buNone/>
            </a:pPr>
            <a:r>
              <a:rPr lang="en-US" sz="4000" b="1" dirty="0">
                <a:solidFill>
                  <a:srgbClr val="1B9AAA"/>
                </a:solidFill>
                <a:latin typeface="Cambria" pitchFamily="34" charset="0"/>
                <a:ea typeface="Cambria" pitchFamily="34" charset="-122"/>
                <a:cs typeface="Cambria" pitchFamily="34" charset="-120"/>
              </a:rPr>
              <a:t>10.674</a:t>
            </a:r>
            <a:endParaRPr lang="en-US" sz="4000" dirty="0"/>
          </a:p>
        </p:txBody>
      </p:sp>
      <p:sp>
        <p:nvSpPr>
          <p:cNvPr id="18" name="Text 14"/>
          <p:cNvSpPr txBox="1"/>
          <p:nvPr/>
        </p:nvSpPr>
        <p:spPr>
          <a:xfrm>
            <a:off x="9052560" y="2103120"/>
            <a:ext cx="2651760" cy="457200"/>
          </a:xfrm>
          <a:prstGeom prst="rect">
            <a:avLst/>
          </a:prstGeom>
          <a:noFill/>
          <a:ln/>
        </p:spPr>
        <p:txBody>
          <a:bodyPr wrap="square" lIns="0" tIns="0" rIns="0" bIns="0" rtlCol="0" anchor="t"/>
          <a:lstStyle/>
          <a:p>
            <a:pPr indent="0" marL="0">
              <a:buNone/>
            </a:pPr>
            <a:r>
              <a:rPr lang="en-US" sz="1300" dirty="0">
                <a:solidFill>
                  <a:srgbClr val="5B6B79"/>
                </a:solidFill>
                <a:latin typeface="Calibri" pitchFamily="34" charset="0"/>
                <a:ea typeface="Calibri" pitchFamily="34" charset="-122"/>
                <a:cs typeface="Calibri" pitchFamily="34" charset="-120"/>
              </a:rPr>
              <a:t>revenue tertinggi (C0141)</a:t>
            </a:r>
            <a:endParaRPr lang="en-US" sz="1300" dirty="0"/>
          </a:p>
        </p:txBody>
      </p:sp>
      <p:sp>
        <p:nvSpPr>
          <p:cNvPr id="19" name="Shape 15"/>
          <p:cNvSpPr/>
          <p:nvPr/>
        </p:nvSpPr>
        <p:spPr>
          <a:xfrm>
            <a:off x="548640" y="3291840"/>
            <a:ext cx="11064240" cy="3017520"/>
          </a:xfrm>
          <a:prstGeom prst="roundRect">
            <a:avLst>
              <a:gd name="adj" fmla="val 3030"/>
            </a:avLst>
          </a:prstGeom>
          <a:solidFill>
            <a:srgbClr val="E8F5F7"/>
          </a:solidFill>
          <a:ln w="12700">
            <a:solidFill>
              <a:srgbClr val="E8F5F7"/>
            </a:solidFill>
            <a:prstDash val="solid"/>
          </a:ln>
        </p:spPr>
      </p:sp>
      <p:sp>
        <p:nvSpPr>
          <p:cNvPr id="20" name="Shape 16"/>
          <p:cNvSpPr/>
          <p:nvPr/>
        </p:nvSpPr>
        <p:spPr>
          <a:xfrm>
            <a:off x="548640" y="3383280"/>
            <a:ext cx="82296" cy="2834640"/>
          </a:xfrm>
          <a:prstGeom prst="rect">
            <a:avLst/>
          </a:prstGeom>
          <a:solidFill>
            <a:srgbClr val="1B9AAA"/>
          </a:solidFill>
          <a:ln w="12700">
            <a:solidFill>
              <a:srgbClr val="1B9AAA"/>
            </a:solidFill>
            <a:prstDash val="solid"/>
          </a:ln>
        </p:spPr>
      </p:sp>
      <p:sp>
        <p:nvSpPr>
          <p:cNvPr id="21" name="Text 17"/>
          <p:cNvSpPr txBox="1"/>
          <p:nvPr/>
        </p:nvSpPr>
        <p:spPr>
          <a:xfrm>
            <a:off x="777240" y="3429000"/>
            <a:ext cx="10652760" cy="411480"/>
          </a:xfrm>
          <a:prstGeom prst="rect">
            <a:avLst/>
          </a:prstGeom>
          <a:noFill/>
          <a:ln/>
        </p:spPr>
        <p:txBody>
          <a:bodyPr wrap="square" lIns="0" tIns="0" rIns="0" bIns="0" rtlCol="0" anchor="ctr"/>
          <a:lstStyle/>
          <a:p>
            <a:pPr indent="0" marL="0">
              <a:buNone/>
            </a:pPr>
            <a:r>
              <a:rPr lang="en-US" sz="1700" b="1" dirty="0">
                <a:solidFill>
                  <a:srgbClr val="1B9AAA"/>
                </a:solidFill>
                <a:latin typeface="Cambria" pitchFamily="34" charset="0"/>
                <a:ea typeface="Cambria" pitchFamily="34" charset="-122"/>
                <a:cs typeface="Cambria" pitchFamily="34" charset="-120"/>
              </a:rPr>
              <a:t>Pembacaan</a:t>
            </a:r>
            <a:endParaRPr lang="en-US" sz="1700" dirty="0"/>
          </a:p>
        </p:txBody>
      </p:sp>
      <p:sp>
        <p:nvSpPr>
          <p:cNvPr id="22" name="Text 18"/>
          <p:cNvSpPr txBox="1"/>
          <p:nvPr/>
        </p:nvSpPr>
        <p:spPr>
          <a:xfrm>
            <a:off x="777240" y="3931920"/>
            <a:ext cx="10652760" cy="22402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A35"/>
                </a:solidFill>
                <a:latin typeface="Calibri" pitchFamily="34" charset="0"/>
                <a:ea typeface="Calibri" pitchFamily="34" charset="-122"/>
                <a:cs typeface="Calibri" pitchFamily="34" charset="-120"/>
              </a:rPr>
              <a:t>Pelanggan aktif bertransaksi 1 sampai 11 kali.</a:t>
            </a:r>
            <a:endParaRPr lang="en-US" sz="1500" dirty="0"/>
          </a:p>
          <a:p>
            <a:pPr marL="177800" indent="-177800">
              <a:spcAft>
                <a:spcPts val="600"/>
              </a:spcAft>
              <a:buSzPct val="100000"/>
              <a:buChar char="•"/>
            </a:pPr>
            <a:r>
              <a:rPr lang="en-US" sz="1500" dirty="0">
                <a:solidFill>
                  <a:srgbClr val="1E2A35"/>
                </a:solidFill>
                <a:latin typeface="Calibri" pitchFamily="34" charset="0"/>
                <a:ea typeface="Calibri" pitchFamily="34" charset="-122"/>
                <a:cs typeface="Calibri" pitchFamily="34" charset="-120"/>
              </a:rPr>
              <a:t>Rata-rata (3.467) sedikit di atas median (3.138): ada beberapa pelanggan bernilai besar yang menarik rata-rata ke atas.</a:t>
            </a:r>
            <a:endParaRPr lang="en-US" sz="1500" dirty="0"/>
          </a:p>
          <a:p>
            <a:pPr marL="177800" indent="-177800">
              <a:spcAft>
                <a:spcPts val="600"/>
              </a:spcAft>
              <a:buSzPct val="100000"/>
              <a:buChar char="•"/>
            </a:pPr>
            <a:r>
              <a:rPr lang="en-US" sz="1500" dirty="0">
                <a:solidFill>
                  <a:srgbClr val="1E2A35"/>
                </a:solidFill>
                <a:latin typeface="Calibri" pitchFamily="34" charset="0"/>
                <a:ea typeface="Calibri" pitchFamily="34" charset="-122"/>
                <a:cs typeface="Calibri" pitchFamily="34" charset="-120"/>
              </a:rPr>
              <a:t>20 pelanggan teratas (10%) hanya menyumbang 20% revenue, jadi pendapatan menyebar dan tidak bergantung pada segelintir pelanggan.</a:t>
            </a:r>
            <a:endParaRPr lang="en-US" sz="15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E02F8A"/>
          </a:solidFill>
          <a:ln w="12700">
            <a:solidFill>
              <a:srgbClr val="E02F8A"/>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Interpretasi hasil</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INTERPRETASI</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E02F8A"/>
          </a:solidFill>
          <a:ln w="12700">
            <a:solidFill>
              <a:srgbClr val="E02F8A"/>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371600"/>
            <a:ext cx="3566160" cy="4846320"/>
          </a:xfrm>
          <a:prstGeom prst="roundRect">
            <a:avLst>
              <a:gd name="adj" fmla="val 2564"/>
            </a:avLst>
          </a:prstGeom>
          <a:solidFill>
            <a:srgbClr val="FCEAF3"/>
          </a:solidFill>
          <a:ln w="12700">
            <a:solidFill>
              <a:srgbClr val="FCEAF3"/>
            </a:solidFill>
            <a:prstDash val="solid"/>
          </a:ln>
        </p:spPr>
      </p:sp>
      <p:sp>
        <p:nvSpPr>
          <p:cNvPr id="12" name="Shape 8"/>
          <p:cNvSpPr/>
          <p:nvPr/>
        </p:nvSpPr>
        <p:spPr>
          <a:xfrm>
            <a:off x="548640" y="1463040"/>
            <a:ext cx="82296" cy="4663440"/>
          </a:xfrm>
          <a:prstGeom prst="rect">
            <a:avLst/>
          </a:prstGeom>
          <a:solidFill>
            <a:srgbClr val="E02F8A"/>
          </a:solidFill>
          <a:ln w="12700">
            <a:solidFill>
              <a:srgbClr val="E02F8A"/>
            </a:solidFill>
            <a:prstDash val="solid"/>
          </a:ln>
        </p:spPr>
      </p:sp>
      <p:sp>
        <p:nvSpPr>
          <p:cNvPr id="13" name="Text 9"/>
          <p:cNvSpPr txBox="1"/>
          <p:nvPr/>
        </p:nvSpPr>
        <p:spPr>
          <a:xfrm>
            <a:off x="777240" y="1508760"/>
            <a:ext cx="3154680" cy="411480"/>
          </a:xfrm>
          <a:prstGeom prst="rect">
            <a:avLst/>
          </a:prstGeom>
          <a:noFill/>
          <a:ln/>
        </p:spPr>
        <p:txBody>
          <a:bodyPr wrap="square" lIns="0" tIns="0" rIns="0" bIns="0" rtlCol="0" anchor="ctr"/>
          <a:lstStyle/>
          <a:p>
            <a:pPr indent="0" marL="0">
              <a:buNone/>
            </a:pPr>
            <a:r>
              <a:rPr lang="en-US" sz="1700" b="1" dirty="0">
                <a:solidFill>
                  <a:srgbClr val="E02F8A"/>
                </a:solidFill>
                <a:latin typeface="Cambria" pitchFamily="34" charset="0"/>
                <a:ea typeface="Cambria" pitchFamily="34" charset="-122"/>
                <a:cs typeface="Cambria" pitchFamily="34" charset="-120"/>
              </a:rPr>
              <a:t>Penjualan 2024</a:t>
            </a:r>
            <a:endParaRPr lang="en-US" sz="1700" dirty="0"/>
          </a:p>
        </p:txBody>
      </p:sp>
      <p:sp>
        <p:nvSpPr>
          <p:cNvPr id="14" name="Text 10"/>
          <p:cNvSpPr txBox="1"/>
          <p:nvPr/>
        </p:nvSpPr>
        <p:spPr>
          <a:xfrm>
            <a:off x="777240" y="1993392"/>
            <a:ext cx="3154680" cy="411480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Total revenue 689.996 dari 1.000 transaksi, rata-rata 690 per transaksi. Puncak di Juli (71.366) dan September (70.604), dasar di November (38.224), lalu pulih di Desember (59.049). Kuartal ketiga terkuat (205.407) dan kuartal keempat terlemah (144.337), sehingga penjualan bersifat musiman.</a:t>
            </a:r>
            <a:endParaRPr lang="en-US" sz="1400" dirty="0"/>
          </a:p>
        </p:txBody>
      </p:sp>
      <p:sp>
        <p:nvSpPr>
          <p:cNvPr id="15" name="Shape 11"/>
          <p:cNvSpPr/>
          <p:nvPr/>
        </p:nvSpPr>
        <p:spPr>
          <a:xfrm>
            <a:off x="4297680" y="1371600"/>
            <a:ext cx="3566160" cy="4846320"/>
          </a:xfrm>
          <a:prstGeom prst="roundRect">
            <a:avLst>
              <a:gd name="adj" fmla="val 2564"/>
            </a:avLst>
          </a:prstGeom>
          <a:solidFill>
            <a:srgbClr val="FCEAF3"/>
          </a:solidFill>
          <a:ln w="12700">
            <a:solidFill>
              <a:srgbClr val="FCEAF3"/>
            </a:solidFill>
            <a:prstDash val="solid"/>
          </a:ln>
        </p:spPr>
      </p:sp>
      <p:sp>
        <p:nvSpPr>
          <p:cNvPr id="16" name="Shape 12"/>
          <p:cNvSpPr/>
          <p:nvPr/>
        </p:nvSpPr>
        <p:spPr>
          <a:xfrm>
            <a:off x="4297680" y="1463040"/>
            <a:ext cx="82296" cy="4663440"/>
          </a:xfrm>
          <a:prstGeom prst="rect">
            <a:avLst/>
          </a:prstGeom>
          <a:solidFill>
            <a:srgbClr val="E02F8A"/>
          </a:solidFill>
          <a:ln w="12700">
            <a:solidFill>
              <a:srgbClr val="E02F8A"/>
            </a:solidFill>
            <a:prstDash val="solid"/>
          </a:ln>
        </p:spPr>
      </p:sp>
      <p:sp>
        <p:nvSpPr>
          <p:cNvPr id="17" name="Text 13"/>
          <p:cNvSpPr txBox="1"/>
          <p:nvPr/>
        </p:nvSpPr>
        <p:spPr>
          <a:xfrm>
            <a:off x="4526280" y="1508760"/>
            <a:ext cx="3154680" cy="411480"/>
          </a:xfrm>
          <a:prstGeom prst="rect">
            <a:avLst/>
          </a:prstGeom>
          <a:noFill/>
          <a:ln/>
        </p:spPr>
        <p:txBody>
          <a:bodyPr wrap="square" lIns="0" tIns="0" rIns="0" bIns="0" rtlCol="0" anchor="ctr"/>
          <a:lstStyle/>
          <a:p>
            <a:pPr indent="0" marL="0">
              <a:buNone/>
            </a:pPr>
            <a:r>
              <a:rPr lang="en-US" sz="1700" b="1" dirty="0">
                <a:solidFill>
                  <a:srgbClr val="E02F8A"/>
                </a:solidFill>
                <a:latin typeface="Cambria" pitchFamily="34" charset="0"/>
                <a:ea typeface="Cambria" pitchFamily="34" charset="-122"/>
                <a:cs typeface="Cambria" pitchFamily="34" charset="-120"/>
              </a:rPr>
              <a:t>Kategori dan produk</a:t>
            </a:r>
            <a:endParaRPr lang="en-US" sz="1700" dirty="0"/>
          </a:p>
        </p:txBody>
      </p:sp>
      <p:sp>
        <p:nvSpPr>
          <p:cNvPr id="18" name="Text 14"/>
          <p:cNvSpPr txBox="1"/>
          <p:nvPr/>
        </p:nvSpPr>
        <p:spPr>
          <a:xfrm>
            <a:off x="4526280" y="1993392"/>
            <a:ext cx="3154680" cy="411480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Books (27,8%) dan Electronics (26,2%) menyumbang 54% revenue, sedangkan Home Decor paling rendah (21,9%). Selisih kategori tertinggi dan terendah sekitar 41 ribu sehingga kontribusi cukup merata. Produk teratas menurut nama didominasi Electronics, misalnya ActiveWear Smartwatch (39.097).</a:t>
            </a:r>
            <a:endParaRPr lang="en-US" sz="1400" dirty="0"/>
          </a:p>
        </p:txBody>
      </p:sp>
      <p:sp>
        <p:nvSpPr>
          <p:cNvPr id="19" name="Shape 15"/>
          <p:cNvSpPr/>
          <p:nvPr/>
        </p:nvSpPr>
        <p:spPr>
          <a:xfrm>
            <a:off x="8046720" y="1371600"/>
            <a:ext cx="3566160" cy="4846320"/>
          </a:xfrm>
          <a:prstGeom prst="roundRect">
            <a:avLst>
              <a:gd name="adj" fmla="val 2564"/>
            </a:avLst>
          </a:prstGeom>
          <a:solidFill>
            <a:srgbClr val="FCEAF3"/>
          </a:solidFill>
          <a:ln w="12700">
            <a:solidFill>
              <a:srgbClr val="FCEAF3"/>
            </a:solidFill>
            <a:prstDash val="solid"/>
          </a:ln>
        </p:spPr>
      </p:sp>
      <p:sp>
        <p:nvSpPr>
          <p:cNvPr id="20" name="Shape 16"/>
          <p:cNvSpPr/>
          <p:nvPr/>
        </p:nvSpPr>
        <p:spPr>
          <a:xfrm>
            <a:off x="8046720" y="1463040"/>
            <a:ext cx="82296" cy="4663440"/>
          </a:xfrm>
          <a:prstGeom prst="rect">
            <a:avLst/>
          </a:prstGeom>
          <a:solidFill>
            <a:srgbClr val="E02F8A"/>
          </a:solidFill>
          <a:ln w="12700">
            <a:solidFill>
              <a:srgbClr val="E02F8A"/>
            </a:solidFill>
            <a:prstDash val="solid"/>
          </a:ln>
        </p:spPr>
      </p:sp>
      <p:sp>
        <p:nvSpPr>
          <p:cNvPr id="21" name="Text 17"/>
          <p:cNvSpPr txBox="1"/>
          <p:nvPr/>
        </p:nvSpPr>
        <p:spPr>
          <a:xfrm>
            <a:off x="8275320" y="1508760"/>
            <a:ext cx="3154680" cy="411480"/>
          </a:xfrm>
          <a:prstGeom prst="rect">
            <a:avLst/>
          </a:prstGeom>
          <a:noFill/>
          <a:ln/>
        </p:spPr>
        <p:txBody>
          <a:bodyPr wrap="square" lIns="0" tIns="0" rIns="0" bIns="0" rtlCol="0" anchor="ctr"/>
          <a:lstStyle/>
          <a:p>
            <a:pPr indent="0" marL="0">
              <a:buNone/>
            </a:pPr>
            <a:r>
              <a:rPr lang="en-US" sz="1700" b="1" dirty="0">
                <a:solidFill>
                  <a:srgbClr val="E02F8A"/>
                </a:solidFill>
                <a:latin typeface="Cambria" pitchFamily="34" charset="0"/>
                <a:ea typeface="Cambria" pitchFamily="34" charset="-122"/>
                <a:cs typeface="Cambria" pitchFamily="34" charset="-120"/>
              </a:rPr>
              <a:t>Wilayah dan pelanggan</a:t>
            </a:r>
            <a:endParaRPr lang="en-US" sz="1700" dirty="0"/>
          </a:p>
        </p:txBody>
      </p:sp>
      <p:sp>
        <p:nvSpPr>
          <p:cNvPr id="22" name="Text 18"/>
          <p:cNvSpPr txBox="1"/>
          <p:nvPr/>
        </p:nvSpPr>
        <p:spPr>
          <a:xfrm>
            <a:off x="8275320" y="1993392"/>
            <a:ext cx="3154680" cy="4114800"/>
          </a:xfrm>
          <a:prstGeom prst="rect">
            <a:avLst/>
          </a:prstGeom>
          <a:noFill/>
          <a:ln/>
        </p:spPr>
        <p:txBody>
          <a:bodyPr wrap="square" lIns="0" tIns="0" rIns="0" bIns="0" rtlCol="0" anchor="t"/>
          <a:lstStyle/>
          <a:p>
            <a:pPr indent="0" marL="0">
              <a:buNone/>
            </a:pPr>
            <a:r>
              <a:rPr lang="en-US" sz="1400" dirty="0">
                <a:solidFill>
                  <a:srgbClr val="1E2A35"/>
                </a:solidFill>
                <a:latin typeface="Calibri" pitchFamily="34" charset="0"/>
                <a:ea typeface="Calibri" pitchFamily="34" charset="-122"/>
                <a:cs typeface="Calibri" pitchFamily="34" charset="-120"/>
              </a:rPr>
              <a:t>South America unggul: 31,8% revenue, 59 pelanggan aktif, 3.718 revenue per pelanggan. Tiga wilayah lain berkisar 22-24%. Pendapatan menyebar: 20 pelanggan teratas hanya 20%, dan 199 dari 200 pelanggan terdaftar sudah bertransaksi.</a:t>
            </a:r>
            <a:endParaRPr lang="en-US" sz="14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A0683"/>
        </a:solidFill>
      </p:bgPr>
    </p:bg>
    <p:spTree>
      <p:nvGrpSpPr>
        <p:cNvPr id="1" name=""/>
        <p:cNvGrpSpPr/>
        <p:nvPr/>
      </p:nvGrpSpPr>
      <p:grpSpPr>
        <a:xfrm>
          <a:off x="0" y="0"/>
          <a:ext cx="0" cy="0"/>
          <a:chOff x="0" y="0"/>
          <a:chExt cx="0" cy="0"/>
        </a:xfrm>
      </p:grpSpPr>
      <p:sp>
        <p:nvSpPr>
          <p:cNvPr id="2" name="Shape 0"/>
          <p:cNvSpPr/>
          <p:nvPr/>
        </p:nvSpPr>
        <p:spPr>
          <a:xfrm>
            <a:off x="10927080" y="182880"/>
            <a:ext cx="914400" cy="914400"/>
          </a:xfrm>
          <a:prstGeom prst="ellipse">
            <a:avLst/>
          </a:prstGeom>
          <a:solidFill>
            <a:srgbClr val="FFFFFF"/>
          </a:solidFill>
          <a:ln w="12700">
            <a:solidFill>
              <a:srgbClr val="FFFFFF"/>
            </a:solidFill>
            <a:prstDash val="solid"/>
          </a:ln>
        </p:spPr>
      </p:sp>
      <p:pic>
        <p:nvPicPr>
          <p:cNvPr id="3" name="Image 0" descr="/tmp/claude-0/-home-user-EXACOUNT/b3a0efd5-5ef2-5930-a9ef-1d7b86874e77/scratchpad/rep/logo.png">    </p:cNvPr>
          <p:cNvPicPr>
            <a:picLocks noChangeAspect="1"/>
          </p:cNvPicPr>
          <p:nvPr/>
        </p:nvPicPr>
        <p:blipFill>
          <a:blip r:embed="rId1"/>
          <a:stretch>
            <a:fillRect/>
          </a:stretch>
        </p:blipFill>
        <p:spPr>
          <a:xfrm>
            <a:off x="11084398" y="283464"/>
            <a:ext cx="599763" cy="713232"/>
          </a:xfrm>
          <a:prstGeom prst="rect">
            <a:avLst/>
          </a:prstGeom>
        </p:spPr>
      </p:pic>
      <p:sp>
        <p:nvSpPr>
          <p:cNvPr id="4" name="Text 1"/>
          <p:cNvSpPr txBox="1"/>
          <p:nvPr/>
        </p:nvSpPr>
        <p:spPr>
          <a:xfrm>
            <a:off x="548640" y="365760"/>
            <a:ext cx="987552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Rekomendasi keputusan</a:t>
            </a:r>
            <a:endParaRPr lang="en-US" sz="3200" dirty="0"/>
          </a:p>
        </p:txBody>
      </p:sp>
      <p:sp>
        <p:nvSpPr>
          <p:cNvPr id="6" name="Shape 2"/>
          <p:cNvSpPr/>
          <p:nvPr/>
        </p:nvSpPr>
        <p:spPr>
          <a:xfrm>
            <a:off x="548640" y="1371600"/>
            <a:ext cx="5394960" cy="2286000"/>
          </a:xfrm>
          <a:prstGeom prst="roundRect">
            <a:avLst>
              <a:gd name="adj" fmla="val 4800"/>
            </a:avLst>
          </a:prstGeom>
          <a:solidFill>
            <a:srgbClr val="1D4468"/>
          </a:solidFill>
          <a:ln w="12700">
            <a:solidFill>
              <a:srgbClr val="1D4468"/>
            </a:solidFill>
            <a:prstDash val="solid"/>
          </a:ln>
        </p:spPr>
      </p:sp>
      <p:sp>
        <p:nvSpPr>
          <p:cNvPr id="7" name="Text 3"/>
          <p:cNvSpPr txBox="1"/>
          <p:nvPr/>
        </p:nvSpPr>
        <p:spPr>
          <a:xfrm>
            <a:off x="822960" y="1554480"/>
            <a:ext cx="4846320" cy="457200"/>
          </a:xfrm>
          <a:prstGeom prst="rect">
            <a:avLst/>
          </a:prstGeom>
          <a:noFill/>
          <a:ln/>
        </p:spPr>
        <p:txBody>
          <a:bodyPr wrap="square" lIns="0" tIns="0" rIns="0" bIns="0" rtlCol="0" anchor="ctr"/>
          <a:lstStyle/>
          <a:p>
            <a:pPr indent="0" marL="0">
              <a:buNone/>
            </a:pPr>
            <a:r>
              <a:rPr lang="en-US" sz="2000" b="1" dirty="0">
                <a:solidFill>
                  <a:srgbClr val="E8832B"/>
                </a:solidFill>
                <a:latin typeface="Cambria" pitchFamily="34" charset="0"/>
                <a:ea typeface="Cambria" pitchFamily="34" charset="-122"/>
                <a:cs typeface="Cambria" pitchFamily="34" charset="-120"/>
              </a:rPr>
              <a:t>1. Prioritaskan South America</a:t>
            </a:r>
            <a:endParaRPr lang="en-US" sz="2000" dirty="0"/>
          </a:p>
        </p:txBody>
      </p:sp>
      <p:sp>
        <p:nvSpPr>
          <p:cNvPr id="8" name="Text 4"/>
          <p:cNvSpPr txBox="1"/>
          <p:nvPr/>
        </p:nvSpPr>
        <p:spPr>
          <a:xfrm>
            <a:off x="822960" y="2103120"/>
            <a:ext cx="4846320" cy="13716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Wilayah ini menyumbang 31,8% revenue dan paling produktif per pelanggan (3.718). Alokasikan anggaran promosi dan stok lebih besar, dan jadikan strateginya acuan bagi wilayah lain.</a:t>
            </a:r>
            <a:endParaRPr lang="en-US" sz="1500" dirty="0"/>
          </a:p>
        </p:txBody>
      </p:sp>
      <p:sp>
        <p:nvSpPr>
          <p:cNvPr id="9" name="Shape 5"/>
          <p:cNvSpPr/>
          <p:nvPr/>
        </p:nvSpPr>
        <p:spPr>
          <a:xfrm>
            <a:off x="6217920" y="1371600"/>
            <a:ext cx="5394960" cy="2286000"/>
          </a:xfrm>
          <a:prstGeom prst="roundRect">
            <a:avLst>
              <a:gd name="adj" fmla="val 4800"/>
            </a:avLst>
          </a:prstGeom>
          <a:solidFill>
            <a:srgbClr val="1D4468"/>
          </a:solidFill>
          <a:ln w="12700">
            <a:solidFill>
              <a:srgbClr val="1D4468"/>
            </a:solidFill>
            <a:prstDash val="solid"/>
          </a:ln>
        </p:spPr>
      </p:sp>
      <p:sp>
        <p:nvSpPr>
          <p:cNvPr id="10" name="Text 6"/>
          <p:cNvSpPr txBox="1"/>
          <p:nvPr/>
        </p:nvSpPr>
        <p:spPr>
          <a:xfrm>
            <a:off x="6492240" y="1554480"/>
            <a:ext cx="4846320" cy="457200"/>
          </a:xfrm>
          <a:prstGeom prst="rect">
            <a:avLst/>
          </a:prstGeom>
          <a:noFill/>
          <a:ln/>
        </p:spPr>
        <p:txBody>
          <a:bodyPr wrap="square" lIns="0" tIns="0" rIns="0" bIns="0" rtlCol="0" anchor="ctr"/>
          <a:lstStyle/>
          <a:p>
            <a:pPr indent="0" marL="0">
              <a:buNone/>
            </a:pPr>
            <a:r>
              <a:rPr lang="en-US" sz="2000" b="1" dirty="0">
                <a:solidFill>
                  <a:srgbClr val="E8832B"/>
                </a:solidFill>
                <a:latin typeface="Cambria" pitchFamily="34" charset="0"/>
                <a:ea typeface="Cambria" pitchFamily="34" charset="-122"/>
                <a:cs typeface="Cambria" pitchFamily="34" charset="-120"/>
              </a:rPr>
              <a:t>2. Dorong Books dan Electronics</a:t>
            </a:r>
            <a:endParaRPr lang="en-US" sz="2000" dirty="0"/>
          </a:p>
        </p:txBody>
      </p:sp>
      <p:sp>
        <p:nvSpPr>
          <p:cNvPr id="11" name="Text 7"/>
          <p:cNvSpPr txBox="1"/>
          <p:nvPr/>
        </p:nvSpPr>
        <p:spPr>
          <a:xfrm>
            <a:off x="6492240" y="2103120"/>
            <a:ext cx="4846320" cy="13716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Dua kategori ini 54% revenue. Jaga stok produk terlaris seperti P029, P048, dan P039, serta beri bundling atau diskon untuk Home Decor (21,9%) yang tertinggal.</a:t>
            </a:r>
            <a:endParaRPr lang="en-US" sz="1500" dirty="0"/>
          </a:p>
        </p:txBody>
      </p:sp>
      <p:sp>
        <p:nvSpPr>
          <p:cNvPr id="12" name="Shape 8"/>
          <p:cNvSpPr/>
          <p:nvPr/>
        </p:nvSpPr>
        <p:spPr>
          <a:xfrm>
            <a:off x="548640" y="3840480"/>
            <a:ext cx="5394960" cy="2286000"/>
          </a:xfrm>
          <a:prstGeom prst="roundRect">
            <a:avLst>
              <a:gd name="adj" fmla="val 4800"/>
            </a:avLst>
          </a:prstGeom>
          <a:solidFill>
            <a:srgbClr val="1D4468"/>
          </a:solidFill>
          <a:ln w="12700">
            <a:solidFill>
              <a:srgbClr val="1D4468"/>
            </a:solidFill>
            <a:prstDash val="solid"/>
          </a:ln>
        </p:spPr>
      </p:sp>
      <p:sp>
        <p:nvSpPr>
          <p:cNvPr id="13" name="Text 9"/>
          <p:cNvSpPr txBox="1"/>
          <p:nvPr/>
        </p:nvSpPr>
        <p:spPr>
          <a:xfrm>
            <a:off x="822960" y="4023360"/>
            <a:ext cx="4846320" cy="457200"/>
          </a:xfrm>
          <a:prstGeom prst="rect">
            <a:avLst/>
          </a:prstGeom>
          <a:noFill/>
          <a:ln/>
        </p:spPr>
        <p:txBody>
          <a:bodyPr wrap="square" lIns="0" tIns="0" rIns="0" bIns="0" rtlCol="0" anchor="ctr"/>
          <a:lstStyle/>
          <a:p>
            <a:pPr indent="0" marL="0">
              <a:buNone/>
            </a:pPr>
            <a:r>
              <a:rPr lang="en-US" sz="2000" b="1" dirty="0">
                <a:solidFill>
                  <a:srgbClr val="E8832B"/>
                </a:solidFill>
                <a:latin typeface="Cambria" pitchFamily="34" charset="0"/>
                <a:ea typeface="Cambria" pitchFamily="34" charset="-122"/>
                <a:cs typeface="Cambria" pitchFamily="34" charset="-120"/>
              </a:rPr>
              <a:t>3. Antisipasi musim sepi</a:t>
            </a:r>
            <a:endParaRPr lang="en-US" sz="2000" dirty="0"/>
          </a:p>
        </p:txBody>
      </p:sp>
      <p:sp>
        <p:nvSpPr>
          <p:cNvPr id="14" name="Text 10"/>
          <p:cNvSpPr txBox="1"/>
          <p:nvPr/>
        </p:nvSpPr>
        <p:spPr>
          <a:xfrm>
            <a:off x="822960" y="4572000"/>
            <a:ext cx="4846320" cy="13716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Revenue turun di Oktober (47.063) dan November (38.224). Siapkan promo dan kampanye pada periode itu, serta perkuat persediaan menjelang puncak Juli dan September.</a:t>
            </a:r>
            <a:endParaRPr lang="en-US" sz="1500" dirty="0"/>
          </a:p>
        </p:txBody>
      </p:sp>
      <p:sp>
        <p:nvSpPr>
          <p:cNvPr id="15" name="Shape 11"/>
          <p:cNvSpPr/>
          <p:nvPr/>
        </p:nvSpPr>
        <p:spPr>
          <a:xfrm>
            <a:off x="6217920" y="3840480"/>
            <a:ext cx="5394960" cy="2286000"/>
          </a:xfrm>
          <a:prstGeom prst="roundRect">
            <a:avLst>
              <a:gd name="adj" fmla="val 4800"/>
            </a:avLst>
          </a:prstGeom>
          <a:solidFill>
            <a:srgbClr val="1D4468"/>
          </a:solidFill>
          <a:ln w="12700">
            <a:solidFill>
              <a:srgbClr val="1D4468"/>
            </a:solidFill>
            <a:prstDash val="solid"/>
          </a:ln>
        </p:spPr>
      </p:sp>
      <p:sp>
        <p:nvSpPr>
          <p:cNvPr id="16" name="Text 12"/>
          <p:cNvSpPr txBox="1"/>
          <p:nvPr/>
        </p:nvSpPr>
        <p:spPr>
          <a:xfrm>
            <a:off x="6492240" y="4023360"/>
            <a:ext cx="4846320" cy="457200"/>
          </a:xfrm>
          <a:prstGeom prst="rect">
            <a:avLst/>
          </a:prstGeom>
          <a:noFill/>
          <a:ln/>
        </p:spPr>
        <p:txBody>
          <a:bodyPr wrap="square" lIns="0" tIns="0" rIns="0" bIns="0" rtlCol="0" anchor="ctr"/>
          <a:lstStyle/>
          <a:p>
            <a:pPr indent="0" marL="0">
              <a:buNone/>
            </a:pPr>
            <a:r>
              <a:rPr lang="en-US" sz="2000" b="1" dirty="0">
                <a:solidFill>
                  <a:srgbClr val="E8832B"/>
                </a:solidFill>
                <a:latin typeface="Cambria" pitchFamily="34" charset="0"/>
                <a:ea typeface="Cambria" pitchFamily="34" charset="-122"/>
                <a:cs typeface="Cambria" pitchFamily="34" charset="-120"/>
              </a:rPr>
              <a:t>4. Bangun loyalitas pelanggan</a:t>
            </a:r>
            <a:endParaRPr lang="en-US" sz="2000" dirty="0"/>
          </a:p>
        </p:txBody>
      </p:sp>
      <p:sp>
        <p:nvSpPr>
          <p:cNvPr id="17" name="Text 13"/>
          <p:cNvSpPr txBox="1"/>
          <p:nvPr/>
        </p:nvSpPr>
        <p:spPr>
          <a:xfrm>
            <a:off x="6492240" y="4572000"/>
            <a:ext cx="4846320" cy="13716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Beri program loyalitas bagi pelanggan teratas (misalnya C0141 dengan 10.674), aktifkan pelanggan C0180 yang belum pernah membeli, dan rapikan nama produk agar sesuai kategori.</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A0683"/>
          </a:solidFill>
          <a:ln w="12700">
            <a:solidFill>
              <a:srgbClr val="1A0683"/>
            </a:solidFill>
            <a:prstDash val="solid"/>
          </a:ln>
        </p:spPr>
      </p:sp>
      <p:sp>
        <p:nvSpPr>
          <p:cNvPr id="3" name="Shape 1"/>
          <p:cNvSpPr/>
          <p:nvPr/>
        </p:nvSpPr>
        <p:spPr>
          <a:xfrm>
            <a:off x="0" y="1097280"/>
            <a:ext cx="12188952" cy="64008"/>
          </a:xfrm>
          <a:prstGeom prst="rect">
            <a:avLst/>
          </a:prstGeom>
          <a:solidFill>
            <a:srgbClr val="FBB641"/>
          </a:solidFill>
          <a:ln w="12700">
            <a:solidFill>
              <a:srgbClr val="FBB641"/>
            </a:solidFill>
            <a:prstDash val="solid"/>
          </a:ln>
        </p:spPr>
      </p:sp>
      <p:sp>
        <p:nvSpPr>
          <p:cNvPr id="4" name="Text 2"/>
          <p:cNvSpPr txBox="1"/>
          <p:nvPr/>
        </p:nvSpPr>
        <p:spPr>
          <a:xfrm>
            <a:off x="548640" y="137160"/>
            <a:ext cx="969264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Kesimpulan dan keterbatasan</a:t>
            </a:r>
            <a:endParaRPr lang="en-US" sz="2800" dirty="0"/>
          </a:p>
        </p:txBody>
      </p:sp>
      <p:sp>
        <p:nvSpPr>
          <p:cNvPr id="5" name="Text 3"/>
          <p:cNvSpPr txBox="1"/>
          <p:nvPr/>
        </p:nvSpPr>
        <p:spPr>
          <a:xfrm>
            <a:off x="8503920" y="73152"/>
            <a:ext cx="2377440" cy="274320"/>
          </a:xfrm>
          <a:prstGeom prst="rect">
            <a:avLst/>
          </a:prstGeom>
          <a:noFill/>
          <a:ln/>
        </p:spPr>
        <p:txBody>
          <a:bodyPr wrap="square" lIns="0" tIns="0" rIns="0" bIns="0" rtlCol="0" anchor="ctr"/>
          <a:lstStyle/>
          <a:p>
            <a:pPr algn="r" indent="0" marL="0">
              <a:buNone/>
            </a:pPr>
            <a:r>
              <a:rPr lang="en-US" sz="1100" b="1" dirty="0">
                <a:solidFill>
                  <a:srgbClr val="FBB641"/>
                </a:solidFill>
                <a:latin typeface="Calibri" pitchFamily="34" charset="0"/>
                <a:ea typeface="Calibri" pitchFamily="34" charset="-122"/>
                <a:cs typeface="Calibri" pitchFamily="34" charset="-120"/>
              </a:rPr>
              <a:t>PENUTUP</a:t>
            </a:r>
            <a:endParaRPr lang="en-US" sz="1100" dirty="0"/>
          </a:p>
        </p:txBody>
      </p:sp>
      <p:sp>
        <p:nvSpPr>
          <p:cNvPr id="6" name="Shape 4"/>
          <p:cNvSpPr/>
          <p:nvPr/>
        </p:nvSpPr>
        <p:spPr>
          <a:xfrm>
            <a:off x="10927080" y="91440"/>
            <a:ext cx="914400" cy="914400"/>
          </a:xfrm>
          <a:prstGeom prst="ellipse">
            <a:avLst/>
          </a:prstGeom>
          <a:solidFill>
            <a:srgbClr val="FFFFFF"/>
          </a:solidFill>
          <a:ln w="12700">
            <a:solidFill>
              <a:srgbClr val="FFFFFF"/>
            </a:solidFill>
            <a:prstDash val="solid"/>
          </a:ln>
        </p:spPr>
      </p:sp>
      <p:pic>
        <p:nvPicPr>
          <p:cNvPr id="7" name="Image 0" descr="/tmp/claude-0/-home-user-EXACOUNT/b3a0efd5-5ef2-5930-a9ef-1d7b86874e77/scratchpad/rep/logo.png">    </p:cNvPr>
          <p:cNvPicPr>
            <a:picLocks noChangeAspect="1"/>
          </p:cNvPicPr>
          <p:nvPr/>
        </p:nvPicPr>
        <p:blipFill>
          <a:blip r:embed="rId1"/>
          <a:stretch>
            <a:fillRect/>
          </a:stretch>
        </p:blipFill>
        <p:spPr>
          <a:xfrm>
            <a:off x="11084398" y="192024"/>
            <a:ext cx="599763" cy="713232"/>
          </a:xfrm>
          <a:prstGeom prst="rect">
            <a:avLst/>
          </a:prstGeom>
        </p:spPr>
      </p:pic>
      <p:sp>
        <p:nvSpPr>
          <p:cNvPr id="8" name="Shape 5"/>
          <p:cNvSpPr/>
          <p:nvPr/>
        </p:nvSpPr>
        <p:spPr>
          <a:xfrm>
            <a:off x="0" y="6675120"/>
            <a:ext cx="12188952" cy="182880"/>
          </a:xfrm>
          <a:prstGeom prst="rect">
            <a:avLst/>
          </a:prstGeom>
          <a:solidFill>
            <a:srgbClr val="1A0683"/>
          </a:solidFill>
          <a:ln w="12700">
            <a:solidFill>
              <a:srgbClr val="1A0683"/>
            </a:solidFill>
            <a:prstDash val="solid"/>
          </a:ln>
        </p:spPr>
      </p:sp>
      <p:sp>
        <p:nvSpPr>
          <p:cNvPr id="9" name="Text 6"/>
          <p:cNvSpPr txBox="1"/>
          <p:nvPr/>
        </p:nvSpPr>
        <p:spPr>
          <a:xfrm>
            <a:off x="548640" y="6400800"/>
            <a:ext cx="6400800" cy="256032"/>
          </a:xfrm>
          <a:prstGeom prst="rect">
            <a:avLst/>
          </a:prstGeom>
          <a:noFill/>
          <a:ln/>
        </p:spPr>
        <p:txBody>
          <a:bodyPr wrap="square" lIns="0" tIns="0" rIns="0" bIns="0" rtlCol="0" anchor="ctr"/>
          <a:lstStyle/>
          <a:p>
            <a:pPr indent="0" marL="0">
              <a:buNone/>
            </a:pPr>
            <a:r>
              <a:rPr lang="en-US" sz="1000" dirty="0">
                <a:solidFill>
                  <a:srgbClr val="5B6B79"/>
                </a:solidFill>
                <a:latin typeface="Calibri" pitchFamily="34" charset="0"/>
                <a:ea typeface="Calibri" pitchFamily="34" charset="-122"/>
                <a:cs typeface="Calibri" pitchFamily="34" charset="-120"/>
              </a:rPr>
              <a:t>EverMart Online Transactions  |  UTS BDASC</a:t>
            </a:r>
            <a:endParaRPr lang="en-US" sz="1000" dirty="0"/>
          </a:p>
        </p:txBody>
      </p:sp>
      <p:sp>
        <p:nvSpPr>
          <p:cNvPr id="11" name="Shape 7"/>
          <p:cNvSpPr/>
          <p:nvPr/>
        </p:nvSpPr>
        <p:spPr>
          <a:xfrm>
            <a:off x="548640" y="1371600"/>
            <a:ext cx="5486400" cy="4937760"/>
          </a:xfrm>
          <a:prstGeom prst="roundRect">
            <a:avLst>
              <a:gd name="adj" fmla="val 1852"/>
            </a:avLst>
          </a:prstGeom>
          <a:solidFill>
            <a:srgbClr val="E8E6F3"/>
          </a:solidFill>
          <a:ln w="12700">
            <a:solidFill>
              <a:srgbClr val="E8E6F3"/>
            </a:solidFill>
            <a:prstDash val="solid"/>
          </a:ln>
        </p:spPr>
      </p:sp>
      <p:sp>
        <p:nvSpPr>
          <p:cNvPr id="12" name="Shape 8"/>
          <p:cNvSpPr/>
          <p:nvPr/>
        </p:nvSpPr>
        <p:spPr>
          <a:xfrm>
            <a:off x="548640" y="1463040"/>
            <a:ext cx="82296" cy="4754880"/>
          </a:xfrm>
          <a:prstGeom prst="rect">
            <a:avLst/>
          </a:prstGeom>
          <a:solidFill>
            <a:srgbClr val="1A0683"/>
          </a:solidFill>
          <a:ln w="12700">
            <a:solidFill>
              <a:srgbClr val="1A0683"/>
            </a:solidFill>
            <a:prstDash val="solid"/>
          </a:ln>
        </p:spPr>
      </p:sp>
      <p:sp>
        <p:nvSpPr>
          <p:cNvPr id="13" name="Text 9"/>
          <p:cNvSpPr txBox="1"/>
          <p:nvPr/>
        </p:nvSpPr>
        <p:spPr>
          <a:xfrm>
            <a:off x="777240" y="1508760"/>
            <a:ext cx="5074920" cy="411480"/>
          </a:xfrm>
          <a:prstGeom prst="rect">
            <a:avLst/>
          </a:prstGeom>
          <a:noFill/>
          <a:ln/>
        </p:spPr>
        <p:txBody>
          <a:bodyPr wrap="square" lIns="0" tIns="0" rIns="0" bIns="0" rtlCol="0" anchor="ctr"/>
          <a:lstStyle/>
          <a:p>
            <a:pPr indent="0" marL="0">
              <a:buNone/>
            </a:pPr>
            <a:r>
              <a:rPr lang="en-US" sz="1700" b="1" dirty="0">
                <a:solidFill>
                  <a:srgbClr val="1A0683"/>
                </a:solidFill>
                <a:latin typeface="Cambria" pitchFamily="34" charset="0"/>
                <a:ea typeface="Cambria" pitchFamily="34" charset="-122"/>
                <a:cs typeface="Cambria" pitchFamily="34" charset="-120"/>
              </a:rPr>
              <a:t>Kesimpulan</a:t>
            </a:r>
            <a:endParaRPr lang="en-US" sz="1700" dirty="0"/>
          </a:p>
        </p:txBody>
      </p:sp>
      <p:sp>
        <p:nvSpPr>
          <p:cNvPr id="14" name="Text 10"/>
          <p:cNvSpPr txBox="1"/>
          <p:nvPr/>
        </p:nvSpPr>
        <p:spPr>
          <a:xfrm>
            <a:off x="777240" y="2011680"/>
            <a:ext cx="5074920" cy="4160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Dataset EverMart: 3 tabel, 15 kolom, 1.000 transaksi, kualitas data baik.</a:t>
            </a:r>
            <a:endParaRPr lang="en-US" sz="1400" dirty="0"/>
          </a:p>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Total revenue 689.996, rata-rata 690 per transaksi.</a:t>
            </a:r>
            <a:endParaRPr lang="en-US" sz="1400" dirty="0"/>
          </a:p>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South America, Books, dan Electronics menjadi penggerak utama.</a:t>
            </a:r>
            <a:endParaRPr lang="en-US" sz="1400" dirty="0"/>
          </a:p>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Penjualan musiman: puncak Juli dan September, dasar November.</a:t>
            </a:r>
            <a:endParaRPr lang="en-US" sz="1400" dirty="0"/>
          </a:p>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Dari 200 pelanggan terdaftar, 199 bertransaksi; satu (C0180) belum.</a:t>
            </a:r>
            <a:endParaRPr lang="en-US" sz="1400" dirty="0"/>
          </a:p>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Dashboard interaktif dengan 6 measure DAX mendukung eksplorasi per wilayah dan bulan.</a:t>
            </a:r>
            <a:endParaRPr lang="en-US" sz="1400" dirty="0"/>
          </a:p>
        </p:txBody>
      </p:sp>
      <p:sp>
        <p:nvSpPr>
          <p:cNvPr id="15" name="Shape 11"/>
          <p:cNvSpPr/>
          <p:nvPr/>
        </p:nvSpPr>
        <p:spPr>
          <a:xfrm>
            <a:off x="6217920" y="1371600"/>
            <a:ext cx="5394960" cy="4937760"/>
          </a:xfrm>
          <a:prstGeom prst="roundRect">
            <a:avLst>
              <a:gd name="adj" fmla="val 1852"/>
            </a:avLst>
          </a:prstGeom>
          <a:solidFill>
            <a:srgbClr val="E8E6F3"/>
          </a:solidFill>
          <a:ln w="12700">
            <a:solidFill>
              <a:srgbClr val="E8E6F3"/>
            </a:solidFill>
            <a:prstDash val="solid"/>
          </a:ln>
        </p:spPr>
      </p:sp>
      <p:sp>
        <p:nvSpPr>
          <p:cNvPr id="16" name="Shape 12"/>
          <p:cNvSpPr/>
          <p:nvPr/>
        </p:nvSpPr>
        <p:spPr>
          <a:xfrm>
            <a:off x="6217920" y="1463040"/>
            <a:ext cx="82296" cy="4754880"/>
          </a:xfrm>
          <a:prstGeom prst="rect">
            <a:avLst/>
          </a:prstGeom>
          <a:solidFill>
            <a:srgbClr val="1A0683"/>
          </a:solidFill>
          <a:ln w="12700">
            <a:solidFill>
              <a:srgbClr val="1A0683"/>
            </a:solidFill>
            <a:prstDash val="solid"/>
          </a:ln>
        </p:spPr>
      </p:sp>
      <p:sp>
        <p:nvSpPr>
          <p:cNvPr id="17" name="Text 13"/>
          <p:cNvSpPr txBox="1"/>
          <p:nvPr/>
        </p:nvSpPr>
        <p:spPr>
          <a:xfrm>
            <a:off x="6446520" y="1508760"/>
            <a:ext cx="4983480" cy="411480"/>
          </a:xfrm>
          <a:prstGeom prst="rect">
            <a:avLst/>
          </a:prstGeom>
          <a:noFill/>
          <a:ln/>
        </p:spPr>
        <p:txBody>
          <a:bodyPr wrap="square" lIns="0" tIns="0" rIns="0" bIns="0" rtlCol="0" anchor="ctr"/>
          <a:lstStyle/>
          <a:p>
            <a:pPr indent="0" marL="0">
              <a:buNone/>
            </a:pPr>
            <a:r>
              <a:rPr lang="en-US" sz="1700" b="1" dirty="0">
                <a:solidFill>
                  <a:srgbClr val="1A0683"/>
                </a:solidFill>
                <a:latin typeface="Cambria" pitchFamily="34" charset="0"/>
                <a:ea typeface="Cambria" pitchFamily="34" charset="-122"/>
                <a:cs typeface="Cambria" pitchFamily="34" charset="-120"/>
              </a:rPr>
              <a:t>Keterbatasan</a:t>
            </a:r>
            <a:endParaRPr lang="en-US" sz="1700" dirty="0"/>
          </a:p>
        </p:txBody>
      </p:sp>
      <p:sp>
        <p:nvSpPr>
          <p:cNvPr id="18" name="Text 14"/>
          <p:cNvSpPr txBox="1"/>
          <p:nvPr/>
        </p:nvSpPr>
        <p:spPr>
          <a:xfrm>
            <a:off x="6446520" y="2011680"/>
            <a:ext cx="4983480" cy="4160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Periode hanya satu tahun, tren jangka panjang belum terlihat.</a:t>
            </a:r>
            <a:endParaRPr lang="en-US" sz="1400" dirty="0"/>
          </a:p>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Nama produk tidak konsisten dengan kategori dan 34 nama berulang; data kemungkinan sintetis, analisis produk memakai ProductID.</a:t>
            </a:r>
            <a:endParaRPr lang="en-US" sz="1400" dirty="0"/>
          </a:p>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Analisis memakai revenue saja, tanpa biaya atau margin.</a:t>
            </a:r>
            <a:endParaRPr lang="en-US" sz="1400" dirty="0"/>
          </a:p>
          <a:p>
            <a:pPr marL="177800" indent="-177800">
              <a:spcAft>
                <a:spcPts val="600"/>
              </a:spcAft>
              <a:buSzPct val="100000"/>
              <a:buChar char="•"/>
            </a:pPr>
            <a:r>
              <a:rPr lang="en-US" sz="1400" dirty="0">
                <a:solidFill>
                  <a:srgbClr val="1E2A35"/>
                </a:solidFill>
                <a:latin typeface="Calibri" pitchFamily="34" charset="0"/>
                <a:ea typeface="Calibri" pitchFamily="34" charset="-122"/>
                <a:cs typeface="Calibri" pitchFamily="34" charset="-120"/>
              </a:rPr>
              <a:t>Empat transaksi 30 Desember 2023 ikut dihitung.</a:t>
            </a:r>
            <a:endParaRPr lang="en-US" sz="1400" dirty="0"/>
          </a:p>
        </p:txBody>
      </p:sp>
      <p:sp>
        <p:nvSpPr>
          <p:cNvPr id="25" name="Slide Number Placeholder 0"/>
          <p:cNvSpPr>
            <a:spLocks noGrp="1"/>
          </p:cNvSpPr>
          <p:nvPr>
            <p:ph type="sldNum" sz="quarter" idx="4294967295"/>
          </p:nvPr>
        </p:nvSpPr>
        <p:spPr>
          <a:xfrm>
            <a:off x="11155680"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B6B79"/>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A0683"/>
        </a:solidFill>
      </p:bgPr>
    </p:bg>
    <p:spTree>
      <p:nvGrpSpPr>
        <p:cNvPr id="1" name=""/>
        <p:cNvGrpSpPr/>
        <p:nvPr/>
      </p:nvGrpSpPr>
      <p:grpSpPr>
        <a:xfrm>
          <a:off x="0" y="0"/>
          <a:ext cx="0" cy="0"/>
          <a:chOff x="0" y="0"/>
          <a:chExt cx="0" cy="0"/>
        </a:xfrm>
      </p:grpSpPr>
      <p:sp>
        <p:nvSpPr>
          <p:cNvPr id="2" name="Shape 0"/>
          <p:cNvSpPr/>
          <p:nvPr/>
        </p:nvSpPr>
        <p:spPr>
          <a:xfrm>
            <a:off x="7498080" y="-1371600"/>
            <a:ext cx="5943600" cy="5943600"/>
          </a:xfrm>
          <a:prstGeom prst="ellipse">
            <a:avLst/>
          </a:prstGeom>
          <a:solidFill>
            <a:srgbClr val="E02F8A">
              <a:alpha val="45000"/>
            </a:srgbClr>
          </a:solidFill>
          <a:ln w="12700">
            <a:solidFill>
              <a:srgbClr val="E02F8A">
                <a:alpha val="45000"/>
              </a:srgbClr>
            </a:solidFill>
            <a:prstDash val="solid"/>
          </a:ln>
        </p:spPr>
      </p:sp>
      <p:sp>
        <p:nvSpPr>
          <p:cNvPr id="3" name="Shape 1"/>
          <p:cNvSpPr/>
          <p:nvPr/>
        </p:nvSpPr>
        <p:spPr>
          <a:xfrm>
            <a:off x="8229600" y="1554480"/>
            <a:ext cx="3383280" cy="3566160"/>
          </a:xfrm>
          <a:prstGeom prst="roundRect">
            <a:avLst>
              <a:gd name="adj" fmla="val 6757"/>
            </a:avLst>
          </a:prstGeom>
          <a:solidFill>
            <a:srgbClr val="FFFFFF"/>
          </a:solidFill>
          <a:ln w="12700">
            <a:solidFill>
              <a:srgbClr val="FFFFFF"/>
            </a:solidFill>
            <a:prstDash val="solid"/>
          </a:ln>
        </p:spPr>
      </p:sp>
      <p:pic>
        <p:nvPicPr>
          <p:cNvPr id="4" name="Image 0" descr="/tmp/claude-0/-home-user-EXACOUNT/b3a0efd5-5ef2-5930-a9ef-1d7b86874e77/scratchpad/rep/logo.png">    </p:cNvPr>
          <p:cNvPicPr>
            <a:picLocks noChangeAspect="1"/>
          </p:cNvPicPr>
          <p:nvPr/>
        </p:nvPicPr>
        <p:blipFill>
          <a:blip r:embed="rId1"/>
          <a:stretch>
            <a:fillRect/>
          </a:stretch>
        </p:blipFill>
        <p:spPr>
          <a:xfrm>
            <a:off x="8686800" y="1737360"/>
            <a:ext cx="2468880" cy="2847886"/>
          </a:xfrm>
          <a:prstGeom prst="rect">
            <a:avLst/>
          </a:prstGeom>
        </p:spPr>
      </p:pic>
      <p:sp>
        <p:nvSpPr>
          <p:cNvPr id="5" name="Text 2"/>
          <p:cNvSpPr txBox="1"/>
          <p:nvPr/>
        </p:nvSpPr>
        <p:spPr>
          <a:xfrm>
            <a:off x="640080" y="2194560"/>
            <a:ext cx="7315200" cy="10972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Terima kasih</a:t>
            </a:r>
            <a:endParaRPr lang="en-US" sz="4800" dirty="0"/>
          </a:p>
        </p:txBody>
      </p:sp>
      <p:sp>
        <p:nvSpPr>
          <p:cNvPr id="6" name="Shape 3"/>
          <p:cNvSpPr/>
          <p:nvPr/>
        </p:nvSpPr>
        <p:spPr>
          <a:xfrm>
            <a:off x="640080" y="3383280"/>
            <a:ext cx="1463040" cy="73152"/>
          </a:xfrm>
          <a:prstGeom prst="rect">
            <a:avLst/>
          </a:prstGeom>
          <a:solidFill>
            <a:srgbClr val="FBB641"/>
          </a:solidFill>
          <a:ln w="12700">
            <a:solidFill>
              <a:srgbClr val="FBB641"/>
            </a:solidFill>
            <a:prstDash val="solid"/>
          </a:ln>
        </p:spPr>
      </p:sp>
      <p:sp>
        <p:nvSpPr>
          <p:cNvPr id="7" name="Text 4"/>
          <p:cNvSpPr txBox="1"/>
          <p:nvPr/>
        </p:nvSpPr>
        <p:spPr>
          <a:xfrm>
            <a:off x="640080" y="3657600"/>
            <a:ext cx="7315200" cy="731520"/>
          </a:xfrm>
          <a:prstGeom prst="rect">
            <a:avLst/>
          </a:prstGeom>
          <a:noFill/>
          <a:ln/>
        </p:spPr>
        <p:txBody>
          <a:bodyPr wrap="square" lIns="0" tIns="0" rIns="0" bIns="0" rtlCol="0" anchor="ctr"/>
          <a:lstStyle/>
          <a:p>
            <a:pPr indent="0" marL="0">
              <a:buNone/>
            </a:pPr>
            <a:r>
              <a:rPr lang="en-US" sz="2600" dirty="0">
                <a:solidFill>
                  <a:srgbClr val="FBB641"/>
                </a:solidFill>
                <a:latin typeface="Calibri" pitchFamily="34" charset="0"/>
                <a:ea typeface="Calibri" pitchFamily="34" charset="-122"/>
                <a:cs typeface="Calibri" pitchFamily="34" charset="-120"/>
              </a:rPr>
              <a:t>Tanya jawab</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UTS BDASC EverMart</dc:title>
  <dc:subject>PptxGenJS Presentation</dc:subject>
  <dc:creator>PptxGenJS</dc:creator>
  <cp:lastModifiedBy>PptxGenJS</cp:lastModifiedBy>
  <cp:revision>1</cp:revision>
  <dcterms:created xsi:type="dcterms:W3CDTF">2026-10-18T14:17:43Z</dcterms:created>
  <dcterms:modified xsi:type="dcterms:W3CDTF">2026-10-18T14:17:43Z</dcterms:modified>
</cp:coreProperties>
</file>