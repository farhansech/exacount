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Revenue</c:v>
                </c:pt>
              </c:strCache>
            </c:strRef>
          </c:tx>
          <c:spPr>
            <a:solidFill>
              <a:srgbClr val="1B7F8C"/>
            </a:solidFill>
            <a:ln w="38100" cap="flat">
              <a:solidFill>
                <a:srgbClr val="1B7F8C"/>
              </a:solidFill>
              <a:prstDash val="solid"/>
              <a:round/>
            </a:ln>
            <a:effectLst/>
          </c:spPr>
          <c:invertIfNegative val="0"/>
          <c:dLbls>
            <c:numFmt formatCode="#,##0" sourceLinked="0"/>
            <c:txPr>
              <a:bodyPr/>
              <a:lstStyle/>
              <a:p>
                <a:pPr>
                  <a:defRPr b="0" i="0" strike="noStrike" sz="1400" u="none">
                    <a:solidFill>
                      <a:srgbClr val="1E2A35"/>
                    </a:solidFill>
                    <a:latin typeface="Calibri"/>
                  </a:defRPr>
                </a:pPr>
              </a:p>
            </c:txPr>
            <c:dLblPos val="t"/>
            <c:showLegendKey val="0"/>
            <c:showVal val="1"/>
            <c:showCatName val="0"/>
            <c:showSerName val="0"/>
            <c:showPercent val="0"/>
            <c:showBubbleSize val="0"/>
            <c:showLeaderLines val="0"/>
          </c:dLbls>
          <c:marker>
            <c:symbol val="circle"/>
            <c:size val="8"/>
            <c:spPr>
              <a:solidFill>
                <a:srgbClr val="1B7F8C"/>
              </a:solidFill>
              <a:ln w="9525" cap="flat">
                <a:solidFill>
                  <a:srgbClr val="1B7F8C"/>
                </a:solidFill>
                <a:prstDash val="solid"/>
                <a:round/>
              </a:ln>
              <a:effectLst/>
            </c:spPr>
          </c:marker>
          <c:cat>
            <c:multiLvlStrRef>
              <c:f>Sheet1!$A$2:$A$13</c:f>
              <c:multiLvlStrCache>
                <c:ptCount val="12"/>
                <c:lvl>
                  <c:pt idx="0">
                    <c:v>Jan</c:v>
                  </c:pt>
                  <c:pt idx="1">
                    <c:v>Feb</c:v>
                  </c:pt>
                  <c:pt idx="2">
                    <c:v>Mar</c:v>
                  </c:pt>
                  <c:pt idx="3">
                    <c:v>Apr</c:v>
                  </c:pt>
                  <c:pt idx="4">
                    <c:v>Mei</c:v>
                  </c:pt>
                  <c:pt idx="5">
                    <c:v>Jun</c:v>
                  </c:pt>
                  <c:pt idx="6">
                    <c:v>Jul</c:v>
                  </c:pt>
                  <c:pt idx="7">
                    <c:v>Agu</c:v>
                  </c:pt>
                  <c:pt idx="8">
                    <c:v>Sep</c:v>
                  </c:pt>
                  <c:pt idx="9">
                    <c:v>Okt</c:v>
                  </c:pt>
                  <c:pt idx="10">
                    <c:v>Nov</c:v>
                  </c:pt>
                  <c:pt idx="11">
                    <c:v>Des</c:v>
                  </c:pt>
                </c:lvl>
              </c:multiLvlStrCache>
            </c:multiLvlStrRef>
          </c:cat>
          <c:val>
            <c:numRef>
              <c:f>Sheet1!$B$2:$B$13</c:f>
              <c:numCache>
                <c:formatCode>General</c:formatCode>
                <c:ptCount val="12"/>
                <c:pt idx="0">
                  <c:v>66376.39</c:v>
                </c:pt>
                <c:pt idx="1">
                  <c:v>51459.27</c:v>
                </c:pt>
                <c:pt idx="2">
                  <c:v>47828.73</c:v>
                </c:pt>
                <c:pt idx="3">
                  <c:v>57519.06</c:v>
                </c:pt>
                <c:pt idx="4">
                  <c:v>64527.74</c:v>
                </c:pt>
                <c:pt idx="5">
                  <c:v>48771.18</c:v>
                </c:pt>
                <c:pt idx="6">
                  <c:v>71366.39</c:v>
                </c:pt>
                <c:pt idx="7">
                  <c:v>63436.74</c:v>
                </c:pt>
                <c:pt idx="8">
                  <c:v>70603.75</c:v>
                </c:pt>
                <c:pt idx="9">
                  <c:v>47063.22</c:v>
                </c:pt>
                <c:pt idx="10">
                  <c:v>38224.37</c:v>
                </c:pt>
                <c:pt idx="11">
                  <c:v>59049.2</c:v>
                </c:pt>
              </c:numCache>
            </c:numRef>
          </c:val>
          <c:smooth val="0"/>
        </c:ser>
        <c:dLbls>
          <c:numFmt formatCode="#,##0" sourceLinked="0"/>
          <c:txPr>
            <a:bodyPr/>
            <a:lstStyle/>
            <a:p>
              <a:pPr>
                <a:defRPr b="0" i="0" strike="noStrike" sz="1400" u="none">
                  <a:solidFill>
                    <a:srgbClr val="1E2A35"/>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8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1B7F8C"/>
            </a:solidFill>
            <a:effectLst/>
          </c:spPr>
          <c:invertIfNegative val="0"/>
          <c:dLbls>
            <c:numFmt formatCode="#,##0" sourceLinked="0"/>
            <c:txPr>
              <a:bodyPr/>
              <a:lstStyle/>
              <a:p>
                <a:pPr>
                  <a:defRPr b="0" i="0" strike="noStrike" sz="1400" u="none">
                    <a:solidFill>
                      <a:srgbClr val="1E2A35"/>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Books</c:v>
                  </c:pt>
                  <c:pt idx="1">
                    <c:v>Electronics</c:v>
                  </c:pt>
                  <c:pt idx="2">
                    <c:v>Clothing</c:v>
                  </c:pt>
                  <c:pt idx="3">
                    <c:v>Home Decor</c:v>
                  </c:pt>
                </c:lvl>
              </c:multiLvlStrCache>
            </c:multiLvlStrRef>
          </c:cat>
          <c:val>
            <c:numRef>
              <c:f>Sheet1!$B$2:$B$5</c:f>
              <c:numCache>
                <c:formatCode>General</c:formatCode>
                <c:ptCount val="4"/>
                <c:pt idx="0">
                  <c:v>192147.47</c:v>
                </c:pt>
                <c:pt idx="1">
                  <c:v>180783.5</c:v>
                </c:pt>
                <c:pt idx="2">
                  <c:v>166170.66</c:v>
                </c:pt>
                <c:pt idx="3">
                  <c:v>150893.93</c:v>
                </c:pt>
              </c:numCache>
            </c:numRef>
          </c:val>
        </c:ser>
        <c:dLbls>
          <c:numFmt formatCode="#,##0" sourceLinked="0"/>
          <c:txPr>
            <a:bodyPr/>
            <a:lstStyle/>
            <a:p>
              <a:pPr>
                <a:defRPr b="0" i="0" strike="noStrike" sz="1400" u="none">
                  <a:solidFill>
                    <a:srgbClr val="1E2A35"/>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F28C28"/>
            </a:solidFill>
            <a:effectLst/>
          </c:spPr>
          <c:invertIfNegative val="0"/>
          <c:dLbls>
            <c:numFmt formatCode="#,##0" sourceLinked="0"/>
            <c:txPr>
              <a:bodyPr/>
              <a:lstStyle/>
              <a:p>
                <a:pPr>
                  <a:defRPr b="0" i="0" strike="noStrike" sz="1400" u="none">
                    <a:solidFill>
                      <a:srgbClr val="1E2A35"/>
                    </a:solidFill>
                    <a:latin typeface="Calibri"/>
                  </a:defRPr>
                </a:pPr>
              </a:p>
            </c:txPr>
            <c:showLegendKey val="0"/>
            <c:showVal val="1"/>
            <c:showCatName val="0"/>
            <c:showSerName val="0"/>
            <c:showPercent val="0"/>
            <c:showBubbleSize val="0"/>
            <c:showLeaderLines val="0"/>
          </c:dLbls>
          <c:cat>
            <c:multiLvlStrRef>
              <c:f>Sheet1!$A$2:$A$5</c:f>
              <c:multiLvlStrCache>
                <c:ptCount val="4"/>
                <c:lvl>
                  <c:pt idx="0">
                    <c:v>South America</c:v>
                  </c:pt>
                  <c:pt idx="1">
                    <c:v>Europe</c:v>
                  </c:pt>
                  <c:pt idx="2">
                    <c:v>North America</c:v>
                  </c:pt>
                  <c:pt idx="3">
                    <c:v>Asia</c:v>
                  </c:pt>
                </c:lvl>
              </c:multiLvlStrCache>
            </c:multiLvlStrRef>
          </c:cat>
          <c:val>
            <c:numRef>
              <c:f>Sheet1!$B$2:$B$5</c:f>
              <c:numCache>
                <c:formatCode>General</c:formatCode>
                <c:ptCount val="4"/>
                <c:pt idx="0">
                  <c:v>219352.56</c:v>
                </c:pt>
                <c:pt idx="1">
                  <c:v>166254.63</c:v>
                </c:pt>
                <c:pt idx="2">
                  <c:v>152313.4</c:v>
                </c:pt>
                <c:pt idx="3">
                  <c:v>152074.97</c:v>
                </c:pt>
              </c:numCache>
            </c:numRef>
          </c:val>
        </c:ser>
        <c:dLbls>
          <c:numFmt formatCode="#,##0" sourceLinked="0"/>
          <c:txPr>
            <a:bodyPr/>
            <a:lstStyle/>
            <a:p>
              <a:pPr>
                <a:defRPr b="0" i="0" strike="noStrike" sz="1400" u="none">
                  <a:solidFill>
                    <a:srgbClr val="1E2A35"/>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c:v>
                </c:pt>
              </c:strCache>
            </c:strRef>
          </c:tx>
          <c:spPr>
            <a:solidFill>
              <a:srgbClr val="1B7F8C"/>
            </a:solidFill>
            <a:effectLst/>
          </c:spPr>
          <c:invertIfNegative val="0"/>
          <c:dLbls>
            <c:numFmt formatCode="#,##0" sourceLinked="0"/>
            <c:txPr>
              <a:bodyPr/>
              <a:lstStyle/>
              <a:p>
                <a:pPr>
                  <a:defRPr b="0" i="0" strike="noStrike" sz="1200" u="none">
                    <a:solidFill>
                      <a:srgbClr val="1E2A35"/>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ActiveWear Cookware Set</c:v>
                  </c:pt>
                  <c:pt idx="1">
                    <c:v>TechPro Textbook</c:v>
                  </c:pt>
                  <c:pt idx="2">
                    <c:v>BookWorld Sweater</c:v>
                  </c:pt>
                  <c:pt idx="3">
                    <c:v>BookWorld Cookbook</c:v>
                  </c:pt>
                  <c:pt idx="4">
                    <c:v>TechPro Headphones</c:v>
                  </c:pt>
                  <c:pt idx="5">
                    <c:v>ActiveWear Rug</c:v>
                  </c:pt>
                  <c:pt idx="6">
                    <c:v>ActiveWear Jacket</c:v>
                  </c:pt>
                  <c:pt idx="7">
                    <c:v>SoundWave Novel</c:v>
                  </c:pt>
                  <c:pt idx="8">
                    <c:v>SoundWave Headphones</c:v>
                  </c:pt>
                  <c:pt idx="9">
                    <c:v>ActiveWear Smartwatch</c:v>
                  </c:pt>
                </c:lvl>
              </c:multiLvlStrCache>
            </c:multiLvlStrRef>
          </c:cat>
          <c:val>
            <c:numRef>
              <c:f>Sheet1!$B$2:$B$11</c:f>
              <c:numCache>
                <c:formatCode>General</c:formatCode>
                <c:ptCount val="10"/>
                <c:pt idx="0">
                  <c:v>18083.73</c:v>
                </c:pt>
                <c:pt idx="1">
                  <c:v>18267.96</c:v>
                </c:pt>
                <c:pt idx="2">
                  <c:v>18743.79</c:v>
                </c:pt>
                <c:pt idx="3">
                  <c:v>19221.99</c:v>
                </c:pt>
                <c:pt idx="4">
                  <c:v>19513.8</c:v>
                </c:pt>
                <c:pt idx="5">
                  <c:v>22314.43</c:v>
                </c:pt>
                <c:pt idx="6">
                  <c:v>22712.56</c:v>
                </c:pt>
                <c:pt idx="7">
                  <c:v>24507.9</c:v>
                </c:pt>
                <c:pt idx="8">
                  <c:v>25211.64</c:v>
                </c:pt>
                <c:pt idx="9">
                  <c:v>39096.97</c:v>
                </c:pt>
              </c:numCache>
            </c:numRef>
          </c:val>
        </c:ser>
        <c:dLbls>
          <c:numFmt formatCode="#,##0" sourceLinked="0"/>
          <c:txPr>
            <a:bodyPr/>
            <a:lstStyle/>
            <a:p>
              <a:pPr>
                <a:defRPr b="0" i="0" strike="noStrike" sz="1200" u="none">
                  <a:solidFill>
                    <a:srgbClr val="1E2A35"/>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sebutkan nama, mata kuliah, dan dataset yang dipilih.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urutan presentasi: tujuan, data, transformasi, DAX dan dashboard, interpretasi, lalu rekomendasi. Ini sesuai lima poin pada soal 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tiga tujuan: memahami data, menemukan pola, dan mendukung keputusan. Sebutkan empat pertanyaan yang akan dijawab oleh analisis. Dataset EverMart dipilih karena memiliki tiga tabel berhubungan dan 1.000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data awal sebelum masuk Power BI. Jelaskan arti tiap kolom. 200 pelanggan terdaftar, 199 yang bertransaksi (C0180 belum).Ini data awal sebelum masuk Power BI. Customers 200 baris, Products 100 baris, Transactions 1.000 baris. Jelaskan arti tiap kolom: ID sebagai pengenal, Region dan Category sebagai kategori, Quantity, Price, TotalValue sebagai numerik, SignupDate dan TransactionDate sebagai tanggal.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terdiri dari 3 tabel dan 15 kolom. Karena CustomerID, ProductID, dan Price muncul di dua tabel, variabel unik berjumlah 12. Periode transaksi 30 Desember 2023 sampai 28 Desember 2024; 996 dari 1.000 transaksi berada di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tiap variabel. Region punya 4 nilai, Category punya 4 nilai. Price berkisar 16,08 sampai 497,76. Variabel kategorikal dipakai sebagai slicer dan sumbu grafik.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TransactionID unik, CustomerID dan ProductID adalah kunci tamu. TotalValue sama dengan Quantity dikali Price pada seluruh baris, sehingga data konsisten. Quantity hanya 1 sampai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Jawaban untuk pertanyaan 200 atau 199: 200 pelanggan terdaftar, 199 bertransaksi, 1 belum bertransaksi yaitu C0180 Amy Carpenter dari Asia. Kartu Total Unique Customers menampilkan 199 karena dihitung dengan DISTINCTCOUNT dari tabel Transactions. Ini peluang kampanye aktivasi.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Power Query Editor: Applied Steps untuk tiap tabel.Ringkas tiga tahap: memuat data dari Excel, transformasi di Power Query, dan membentuk model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Applied Steps: Source, Navigation, Promoted Headers, Changed Type. Customers 200 baris, Products 100 baris, Transactions 1.000 baris.Tunjukkan Applied Steps: Source membuka berkas Excel, Navigation memilih sheet, Promoted Headers menjadikan baris pertama nama kolom, Changed Type menetapkan tipe data. Profil kolom: Valid 100%, Error 0%, Empty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star schema. Transactions adalah tabel fakta, Customers dan Products adalah tabel dimensi. Relasi banyak-ke-satu. Inilah sebabnya slicer Region mempengaruhi seluruh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Tidak ada nilai kosong, tidak ada ID ganda, semua kunci punya pasangan, TotalValue konsisten. Catatan: nama produk tidak selalu sesuai kategori sehingga analisis memakai ProductID; data kemungkinan sintetis.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Enam measure: Total Revenue (SUM), Total Transactions dan Total Unique Customers (DISTINCTCOUNT), Avg Order Value dan Revenue per Customer (DIVIDE), Revenue Share % (DIVIDE, CALCULATE,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perbedaan measure dan kolom hitungan. Measure mengikuti filter, kolom per baris. DIVIDE aman dari pembagian nol. ALL menghapus filter wilayah di penyebut sehingga share terhadap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langsung: pilih satu Region di slicer lalu tunjukkan semua kartu dan tabel ikut berubah.Ada tiga halaman: Revenue Report, Customer Behavior, KPI Summary. Lakukan demo langsung: pilih satu Region di slicer lalu tunjukkan kartu dan tabel ikut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Puncak Juli 71.366 dan September 70.604, dasar November 38.224. Kuartal: Q1 165.664, Q2 170.818, Q3 205.407, Q4 144.337. Desember pada grafik 59 ribu karena memakai data 2024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 chart per ProductName: satu nama dapat mewakili beberapa ProductID. Produk tunggal terlaris berdasarkan ProductID adalah P029 TechPro Headphones. Kategori: Books 27,8%, Electronics 26,2%, Clothing 24,1%, Home Decor 21,9%.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per Customer menurut wilayah: South America 3.718, Asia 3.456, Europe 3.325, North America 3.311. Tunjukkan slicer Region dan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kartu: Total Revenue 689.995,56; Total Transactions 1.000; Total Unique Customers 199; Avg Order Value 690,00. Tabel wilayah dan grafik garis melengkapi.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pelanggan aktif bertransaksi sekitar 5 kali dan menghasilkan 3.467. Nilai transaksi rata-rata 690 dengan 2,5 unit per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Q1 165.664, Q2 170.818, Q3 205.407, Q4 144.337.Q1 165.664, Q2 170.818, Q3 205.407, Q4 144.337. Rekomendasi promo untuk Oktober dan November.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Selisih tertinggi dan terendah sekitar 41 ribu. Books dan Electronics bersama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America 219.353 (31,8%), Europe 166.255 (24,1%), North America 152.313 (22,1%), Asia 152.075 (22,0%). South America juga tertinggi per pelanggan.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ini mengikuti bar chart di dashboard, yang mengelompokkan per ProductName. Produk tunggal terlaris berdasarkan ProductID adalah P029 TechPro Headphones (19.514).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3.467 dan median 3.138. Transaksi per pelanggan 1 sampai 11, rata-rata 5,03. Pelanggan teratas C0141 dengan 10.674. 20 pelanggan teratas hanya 20%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langsung di Power BI: klik South America di slicer, lalu klik lagi untuk membatalkan.Demo: klik South America di slicer. Revenue 219.350, 304 transaksi, 59 pelanggan, Avg Order Value 721,55, lebih tinggi dari 690,00.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klik titik Oktober di grafik. Revenue 47.063, 70 transaksi, 60 pelanggan, Avg Order Value 672,33.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Hubungkan angka dengan makna bisnis: musiman, dominasi dua kategori, dan South America sebagai wilayah terkuat. Pendapatan menyebar antar pelanggan.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kesimpulan singkat, lalu akui keterbatasan: satu tahun data, data sintetis, tanpa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4A"/>
        </a:solidFill>
      </p:bgPr>
    </p:bg>
    <p:spTree>
      <p:nvGrpSpPr>
        <p:cNvPr id="1" name=""/>
        <p:cNvGrpSpPr/>
        <p:nvPr/>
      </p:nvGrpSpPr>
      <p:grpSpPr>
        <a:xfrm>
          <a:off x="0" y="0"/>
          <a:ext cx="0" cy="0"/>
          <a:chOff x="0" y="0"/>
          <a:chExt cx="0" cy="0"/>
        </a:xfrm>
      </p:grpSpPr>
      <p:sp>
        <p:nvSpPr>
          <p:cNvPr id="2" name="Shape 0"/>
          <p:cNvSpPr/>
          <p:nvPr/>
        </p:nvSpPr>
        <p:spPr>
          <a:xfrm>
            <a:off x="8778240" y="1097280"/>
            <a:ext cx="3291840" cy="3291840"/>
          </a:xfrm>
          <a:prstGeom prst="ellipse">
            <a:avLst/>
          </a:prstGeom>
          <a:solidFill>
            <a:srgbClr val="1B7F8C">
              <a:alpha val="70000"/>
            </a:srgbClr>
          </a:solidFill>
          <a:ln w="12700">
            <a:solidFill>
              <a:srgbClr val="1B7F8C">
                <a:alpha val="70000"/>
              </a:srgbClr>
            </a:solidFill>
            <a:prstDash val="solid"/>
          </a:ln>
        </p:spPr>
      </p:sp>
      <p:sp>
        <p:nvSpPr>
          <p:cNvPr id="3" name="Shape 1"/>
          <p:cNvSpPr/>
          <p:nvPr/>
        </p:nvSpPr>
        <p:spPr>
          <a:xfrm>
            <a:off x="10058400" y="3291840"/>
            <a:ext cx="1645920" cy="1645920"/>
          </a:xfrm>
          <a:prstGeom prst="ellipse">
            <a:avLst/>
          </a:prstGeom>
          <a:solidFill>
            <a:srgbClr val="F28C28">
              <a:alpha val="80000"/>
            </a:srgbClr>
          </a:solidFill>
          <a:ln w="12700">
            <a:solidFill>
              <a:srgbClr val="F28C28">
                <a:alpha val="80000"/>
              </a:srgbClr>
            </a:solidFill>
            <a:prstDash val="solid"/>
          </a:ln>
        </p:spPr>
      </p:sp>
      <p:sp>
        <p:nvSpPr>
          <p:cNvPr id="4" name="Text 2"/>
          <p:cNvSpPr txBox="1"/>
          <p:nvPr/>
        </p:nvSpPr>
        <p:spPr>
          <a:xfrm>
            <a:off x="640080" y="1645920"/>
            <a:ext cx="8229600" cy="18288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Analisis dan Visualisasi Data</a:t>
            </a:r>
            <a:endParaRPr lang="en-US" sz="4200" dirty="0"/>
          </a:p>
          <a:p>
            <a:pPr indent="0" marL="0">
              <a:buNone/>
            </a:pPr>
            <a:r>
              <a:rPr lang="en-US" sz="4200" b="1" dirty="0">
                <a:solidFill>
                  <a:srgbClr val="FFFFFF"/>
                </a:solidFill>
                <a:latin typeface="Cambria" pitchFamily="34" charset="0"/>
                <a:ea typeface="Cambria" pitchFamily="34" charset="-122"/>
                <a:cs typeface="Cambria" pitchFamily="34" charset="-120"/>
              </a:rPr>
              <a:t>EverMart Online Transactions</a:t>
            </a:r>
            <a:endParaRPr lang="en-US" sz="4200" dirty="0"/>
          </a:p>
        </p:txBody>
      </p:sp>
      <p:sp>
        <p:nvSpPr>
          <p:cNvPr id="5" name="Text 3"/>
          <p:cNvSpPr txBox="1"/>
          <p:nvPr/>
        </p:nvSpPr>
        <p:spPr>
          <a:xfrm>
            <a:off x="640080" y="3840480"/>
            <a:ext cx="8229600" cy="9144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UTS Analisis dan Visualisasi Big Data (BDASC)</a:t>
            </a:r>
            <a:endParaRPr lang="en-US" sz="2000" dirty="0"/>
          </a:p>
          <a:p>
            <a:pPr indent="0" marL="0">
              <a:buNone/>
            </a:pPr>
            <a:r>
              <a:rPr lang="en-US" sz="2000" dirty="0">
                <a:solidFill>
                  <a:srgbClr val="CADCFC"/>
                </a:solidFill>
                <a:latin typeface="Calibri" pitchFamily="34" charset="0"/>
                <a:ea typeface="Calibri" pitchFamily="34" charset="-122"/>
                <a:cs typeface="Calibri" pitchFamily="34" charset="-120"/>
              </a:rPr>
              <a:t>Universitas Surabaya  |  19 Oktober 2026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Alur presentasi</a:t>
            </a:r>
            <a:endParaRPr lang="en-US" sz="3400" dirty="0"/>
          </a:p>
        </p:txBody>
      </p:sp>
      <p:sp>
        <p:nvSpPr>
          <p:cNvPr id="3" name="Shape 1"/>
          <p:cNvSpPr/>
          <p:nvPr/>
        </p:nvSpPr>
        <p:spPr>
          <a:xfrm>
            <a:off x="548640" y="1371600"/>
            <a:ext cx="731520" cy="731520"/>
          </a:xfrm>
          <a:prstGeom prst="ellipse">
            <a:avLst/>
          </a:prstGeom>
          <a:solidFill>
            <a:srgbClr val="1B7F8C"/>
          </a:solidFill>
          <a:ln w="12700">
            <a:solidFill>
              <a:srgbClr val="1B7F8C"/>
            </a:solidFill>
            <a:prstDash val="solid"/>
          </a:ln>
        </p:spPr>
      </p:sp>
      <p:sp>
        <p:nvSpPr>
          <p:cNvPr id="4" name="Text 2"/>
          <p:cNvSpPr txBox="1"/>
          <p:nvPr/>
        </p:nvSpPr>
        <p:spPr>
          <a:xfrm>
            <a:off x="548640" y="13716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5" name="Text 3"/>
          <p:cNvSpPr txBox="1"/>
          <p:nvPr/>
        </p:nvSpPr>
        <p:spPr>
          <a:xfrm>
            <a:off x="1463040" y="137160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Tujuan analisis</a:t>
            </a:r>
            <a:endParaRPr lang="en-US" sz="2200" dirty="0"/>
          </a:p>
        </p:txBody>
      </p:sp>
      <p:sp>
        <p:nvSpPr>
          <p:cNvPr id="6" name="Shape 4"/>
          <p:cNvSpPr/>
          <p:nvPr/>
        </p:nvSpPr>
        <p:spPr>
          <a:xfrm>
            <a:off x="6217920" y="1371600"/>
            <a:ext cx="731520" cy="731520"/>
          </a:xfrm>
          <a:prstGeom prst="ellipse">
            <a:avLst/>
          </a:prstGeom>
          <a:solidFill>
            <a:srgbClr val="F28C28"/>
          </a:solidFill>
          <a:ln w="12700">
            <a:solidFill>
              <a:srgbClr val="F28C28"/>
            </a:solidFill>
            <a:prstDash val="solid"/>
          </a:ln>
        </p:spPr>
      </p:sp>
      <p:sp>
        <p:nvSpPr>
          <p:cNvPr id="7" name="Text 5"/>
          <p:cNvSpPr txBox="1"/>
          <p:nvPr/>
        </p:nvSpPr>
        <p:spPr>
          <a:xfrm>
            <a:off x="6217920" y="13716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8" name="Text 6"/>
          <p:cNvSpPr txBox="1"/>
          <p:nvPr/>
        </p:nvSpPr>
        <p:spPr>
          <a:xfrm>
            <a:off x="7132320" y="137160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Karakteristik dataset</a:t>
            </a:r>
            <a:endParaRPr lang="en-US" sz="2200" dirty="0"/>
          </a:p>
        </p:txBody>
      </p:sp>
      <p:sp>
        <p:nvSpPr>
          <p:cNvPr id="9" name="Shape 7"/>
          <p:cNvSpPr/>
          <p:nvPr/>
        </p:nvSpPr>
        <p:spPr>
          <a:xfrm>
            <a:off x="548640" y="2560320"/>
            <a:ext cx="731520" cy="731520"/>
          </a:xfrm>
          <a:prstGeom prst="ellipse">
            <a:avLst/>
          </a:prstGeom>
          <a:solidFill>
            <a:srgbClr val="1B7F8C"/>
          </a:solidFill>
          <a:ln w="12700">
            <a:solidFill>
              <a:srgbClr val="1B7F8C"/>
            </a:solidFill>
            <a:prstDash val="solid"/>
          </a:ln>
        </p:spPr>
      </p:sp>
      <p:sp>
        <p:nvSpPr>
          <p:cNvPr id="10" name="Text 8"/>
          <p:cNvSpPr txBox="1"/>
          <p:nvPr/>
        </p:nvSpPr>
        <p:spPr>
          <a:xfrm>
            <a:off x="548640" y="25603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1" name="Text 9"/>
          <p:cNvSpPr txBox="1"/>
          <p:nvPr/>
        </p:nvSpPr>
        <p:spPr>
          <a:xfrm>
            <a:off x="1463040" y="256032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Data awal dan transformasi</a:t>
            </a:r>
            <a:endParaRPr lang="en-US" sz="2200" dirty="0"/>
          </a:p>
        </p:txBody>
      </p:sp>
      <p:sp>
        <p:nvSpPr>
          <p:cNvPr id="12" name="Shape 10"/>
          <p:cNvSpPr/>
          <p:nvPr/>
        </p:nvSpPr>
        <p:spPr>
          <a:xfrm>
            <a:off x="6217920" y="2560320"/>
            <a:ext cx="731520" cy="731520"/>
          </a:xfrm>
          <a:prstGeom prst="ellipse">
            <a:avLst/>
          </a:prstGeom>
          <a:solidFill>
            <a:srgbClr val="F28C28"/>
          </a:solidFill>
          <a:ln w="12700">
            <a:solidFill>
              <a:srgbClr val="F28C28"/>
            </a:solidFill>
            <a:prstDash val="solid"/>
          </a:ln>
        </p:spPr>
      </p:sp>
      <p:sp>
        <p:nvSpPr>
          <p:cNvPr id="13" name="Text 11"/>
          <p:cNvSpPr txBox="1"/>
          <p:nvPr/>
        </p:nvSpPr>
        <p:spPr>
          <a:xfrm>
            <a:off x="6217920" y="25603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14" name="Text 12"/>
          <p:cNvSpPr txBox="1"/>
          <p:nvPr/>
        </p:nvSpPr>
        <p:spPr>
          <a:xfrm>
            <a:off x="7132320" y="256032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Model data dan DAX</a:t>
            </a:r>
            <a:endParaRPr lang="en-US" sz="2200" dirty="0"/>
          </a:p>
        </p:txBody>
      </p:sp>
      <p:sp>
        <p:nvSpPr>
          <p:cNvPr id="15" name="Shape 13"/>
          <p:cNvSpPr/>
          <p:nvPr/>
        </p:nvSpPr>
        <p:spPr>
          <a:xfrm>
            <a:off x="548640" y="3749040"/>
            <a:ext cx="731520" cy="731520"/>
          </a:xfrm>
          <a:prstGeom prst="ellipse">
            <a:avLst/>
          </a:prstGeom>
          <a:solidFill>
            <a:srgbClr val="1B7F8C"/>
          </a:solidFill>
          <a:ln w="12700">
            <a:solidFill>
              <a:srgbClr val="1B7F8C"/>
            </a:solidFill>
            <a:prstDash val="solid"/>
          </a:ln>
        </p:spPr>
      </p:sp>
      <p:sp>
        <p:nvSpPr>
          <p:cNvPr id="16" name="Text 14"/>
          <p:cNvSpPr txBox="1"/>
          <p:nvPr/>
        </p:nvSpPr>
        <p:spPr>
          <a:xfrm>
            <a:off x="548640" y="37490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5</a:t>
            </a:r>
            <a:endParaRPr lang="en-US" sz="2400" dirty="0"/>
          </a:p>
        </p:txBody>
      </p:sp>
      <p:sp>
        <p:nvSpPr>
          <p:cNvPr id="17" name="Text 15"/>
          <p:cNvSpPr txBox="1"/>
          <p:nvPr/>
        </p:nvSpPr>
        <p:spPr>
          <a:xfrm>
            <a:off x="1463040" y="374904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Dashboard interaktif</a:t>
            </a:r>
            <a:endParaRPr lang="en-US" sz="2200" dirty="0"/>
          </a:p>
        </p:txBody>
      </p:sp>
      <p:sp>
        <p:nvSpPr>
          <p:cNvPr id="18" name="Shape 16"/>
          <p:cNvSpPr/>
          <p:nvPr/>
        </p:nvSpPr>
        <p:spPr>
          <a:xfrm>
            <a:off x="6217920" y="3749040"/>
            <a:ext cx="731520" cy="731520"/>
          </a:xfrm>
          <a:prstGeom prst="ellipse">
            <a:avLst/>
          </a:prstGeom>
          <a:solidFill>
            <a:srgbClr val="F28C28"/>
          </a:solidFill>
          <a:ln w="12700">
            <a:solidFill>
              <a:srgbClr val="F28C28"/>
            </a:solidFill>
            <a:prstDash val="solid"/>
          </a:ln>
        </p:spPr>
      </p:sp>
      <p:sp>
        <p:nvSpPr>
          <p:cNvPr id="19" name="Text 17"/>
          <p:cNvSpPr txBox="1"/>
          <p:nvPr/>
        </p:nvSpPr>
        <p:spPr>
          <a:xfrm>
            <a:off x="6217920" y="37490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p:txBody>
      </p:sp>
      <p:sp>
        <p:nvSpPr>
          <p:cNvPr id="20" name="Text 18"/>
          <p:cNvSpPr txBox="1"/>
          <p:nvPr/>
        </p:nvSpPr>
        <p:spPr>
          <a:xfrm>
            <a:off x="7132320" y="374904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Interpretasi hasil</a:t>
            </a:r>
            <a:endParaRPr lang="en-US" sz="2200" dirty="0"/>
          </a:p>
        </p:txBody>
      </p:sp>
      <p:sp>
        <p:nvSpPr>
          <p:cNvPr id="21" name="Shape 19"/>
          <p:cNvSpPr/>
          <p:nvPr/>
        </p:nvSpPr>
        <p:spPr>
          <a:xfrm>
            <a:off x="548640" y="4937760"/>
            <a:ext cx="731520" cy="731520"/>
          </a:xfrm>
          <a:prstGeom prst="ellipse">
            <a:avLst/>
          </a:prstGeom>
          <a:solidFill>
            <a:srgbClr val="1B7F8C"/>
          </a:solidFill>
          <a:ln w="12700">
            <a:solidFill>
              <a:srgbClr val="1B7F8C"/>
            </a:solidFill>
            <a:prstDash val="solid"/>
          </a:ln>
        </p:spPr>
      </p:sp>
      <p:sp>
        <p:nvSpPr>
          <p:cNvPr id="22" name="Text 20"/>
          <p:cNvSpPr txBox="1"/>
          <p:nvPr/>
        </p:nvSpPr>
        <p:spPr>
          <a:xfrm>
            <a:off x="548640" y="49377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p:txBody>
      </p:sp>
      <p:sp>
        <p:nvSpPr>
          <p:cNvPr id="23" name="Text 21"/>
          <p:cNvSpPr txBox="1"/>
          <p:nvPr/>
        </p:nvSpPr>
        <p:spPr>
          <a:xfrm>
            <a:off x="1463040" y="493776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Rekomendasi dan kesimpulan</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Tujuan analisis</a:t>
            </a:r>
            <a:endParaRPr lang="en-US" sz="3400" dirty="0"/>
          </a:p>
        </p:txBody>
      </p:sp>
      <p:sp>
        <p:nvSpPr>
          <p:cNvPr id="3" name="Shape 1"/>
          <p:cNvSpPr/>
          <p:nvPr/>
        </p:nvSpPr>
        <p:spPr>
          <a:xfrm>
            <a:off x="548640" y="1371600"/>
            <a:ext cx="3566160" cy="2468880"/>
          </a:xfrm>
          <a:prstGeom prst="roundRect">
            <a:avLst>
              <a:gd name="adj" fmla="val 4444"/>
            </a:avLst>
          </a:prstGeom>
          <a:solidFill>
            <a:srgbClr val="F3F6F8"/>
          </a:solidFill>
          <a:ln w="12700">
            <a:solidFill>
              <a:srgbClr val="F3F6F8"/>
            </a:solidFill>
            <a:prstDash val="solid"/>
          </a:ln>
        </p:spPr>
      </p:sp>
      <p:sp>
        <p:nvSpPr>
          <p:cNvPr id="4" name="Text 2"/>
          <p:cNvSpPr txBox="1"/>
          <p:nvPr/>
        </p:nvSpPr>
        <p:spPr>
          <a:xfrm>
            <a:off x="777240" y="155448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1. Memahami data</a:t>
            </a:r>
            <a:endParaRPr lang="en-US" sz="2000" dirty="0"/>
          </a:p>
        </p:txBody>
      </p:sp>
      <p:sp>
        <p:nvSpPr>
          <p:cNvPr id="5" name="Text 3"/>
          <p:cNvSpPr txBox="1"/>
          <p:nvPr/>
        </p:nvSpPr>
        <p:spPr>
          <a:xfrm>
            <a:off x="777240" y="2057400"/>
            <a:ext cx="3108960" cy="160020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Mengenali struktur, variabel, dan kualitas data pelanggan, produk, dan transaksi EverMart.</a:t>
            </a:r>
            <a:endParaRPr lang="en-US" sz="1600" dirty="0"/>
          </a:p>
        </p:txBody>
      </p:sp>
      <p:sp>
        <p:nvSpPr>
          <p:cNvPr id="6" name="Shape 4"/>
          <p:cNvSpPr/>
          <p:nvPr/>
        </p:nvSpPr>
        <p:spPr>
          <a:xfrm>
            <a:off x="4297680" y="1371600"/>
            <a:ext cx="3566160" cy="2468880"/>
          </a:xfrm>
          <a:prstGeom prst="roundRect">
            <a:avLst>
              <a:gd name="adj" fmla="val 4444"/>
            </a:avLst>
          </a:prstGeom>
          <a:solidFill>
            <a:srgbClr val="F3F6F8"/>
          </a:solidFill>
          <a:ln w="12700">
            <a:solidFill>
              <a:srgbClr val="F3F6F8"/>
            </a:solidFill>
            <a:prstDash val="solid"/>
          </a:ln>
        </p:spPr>
      </p:sp>
      <p:sp>
        <p:nvSpPr>
          <p:cNvPr id="7" name="Text 5"/>
          <p:cNvSpPr txBox="1"/>
          <p:nvPr/>
        </p:nvSpPr>
        <p:spPr>
          <a:xfrm>
            <a:off x="4526280" y="155448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2. Menemukan pola</a:t>
            </a:r>
            <a:endParaRPr lang="en-US" sz="2000" dirty="0"/>
          </a:p>
        </p:txBody>
      </p:sp>
      <p:sp>
        <p:nvSpPr>
          <p:cNvPr id="8" name="Text 6"/>
          <p:cNvSpPr txBox="1"/>
          <p:nvPr/>
        </p:nvSpPr>
        <p:spPr>
          <a:xfrm>
            <a:off x="4526280" y="2057400"/>
            <a:ext cx="3108960" cy="160020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Melihat tren penjualan 2024, kategori dan produk terlaris, serta kontribusi tiap wilayah.</a:t>
            </a:r>
            <a:endParaRPr lang="en-US" sz="1600" dirty="0"/>
          </a:p>
        </p:txBody>
      </p:sp>
      <p:sp>
        <p:nvSpPr>
          <p:cNvPr id="9" name="Shape 7"/>
          <p:cNvSpPr/>
          <p:nvPr/>
        </p:nvSpPr>
        <p:spPr>
          <a:xfrm>
            <a:off x="8046720" y="1371600"/>
            <a:ext cx="3566160" cy="2468880"/>
          </a:xfrm>
          <a:prstGeom prst="roundRect">
            <a:avLst>
              <a:gd name="adj" fmla="val 4444"/>
            </a:avLst>
          </a:prstGeom>
          <a:solidFill>
            <a:srgbClr val="F3F6F8"/>
          </a:solidFill>
          <a:ln w="12700">
            <a:solidFill>
              <a:srgbClr val="F3F6F8"/>
            </a:solidFill>
            <a:prstDash val="solid"/>
          </a:ln>
        </p:spPr>
      </p:sp>
      <p:sp>
        <p:nvSpPr>
          <p:cNvPr id="10" name="Text 8"/>
          <p:cNvSpPr txBox="1"/>
          <p:nvPr/>
        </p:nvSpPr>
        <p:spPr>
          <a:xfrm>
            <a:off x="8275320" y="155448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3. Mendukung keputusan</a:t>
            </a:r>
            <a:endParaRPr lang="en-US" sz="2000" dirty="0"/>
          </a:p>
        </p:txBody>
      </p:sp>
      <p:sp>
        <p:nvSpPr>
          <p:cNvPr id="11" name="Text 9"/>
          <p:cNvSpPr txBox="1"/>
          <p:nvPr/>
        </p:nvSpPr>
        <p:spPr>
          <a:xfrm>
            <a:off x="8275320" y="2057400"/>
            <a:ext cx="3108960" cy="160020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Menyusun dashboard Power BI interaktif dan rekomendasi bagi manajemen EverMart.</a:t>
            </a:r>
            <a:endParaRPr lang="en-US" sz="1600" dirty="0"/>
          </a:p>
        </p:txBody>
      </p:sp>
      <p:sp>
        <p:nvSpPr>
          <p:cNvPr id="12" name="Text 10"/>
          <p:cNvSpPr txBox="1"/>
          <p:nvPr/>
        </p:nvSpPr>
        <p:spPr>
          <a:xfrm>
            <a:off x="548640" y="4069080"/>
            <a:ext cx="11064240" cy="36576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Pertanyaan yang dijawab analisis</a:t>
            </a:r>
            <a:endParaRPr lang="en-US" sz="2000" dirty="0"/>
          </a:p>
        </p:txBody>
      </p:sp>
      <p:sp>
        <p:nvSpPr>
          <p:cNvPr id="13" name="Text 11"/>
          <p:cNvSpPr txBox="1"/>
          <p:nvPr/>
        </p:nvSpPr>
        <p:spPr>
          <a:xfrm>
            <a:off x="548640" y="4526280"/>
            <a:ext cx="11064240" cy="91440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Bagaimana tren revenue per bulan?   Kategori dan produk apa yang paling berkontribusi?   Wilayah mana yang paling bernilai?   Berapa pelanggan terdaftar yang benar-benar bertransaksi, dan seberapa besar nilai belanjanya?</a:t>
            </a:r>
            <a:endParaRPr lang="en-US" sz="1600" dirty="0"/>
          </a:p>
        </p:txBody>
      </p:sp>
      <p:sp>
        <p:nvSpPr>
          <p:cNvPr id="14" name="Text 12"/>
          <p:cNvSpPr txBox="1"/>
          <p:nvPr/>
        </p:nvSpPr>
        <p:spPr>
          <a:xfrm>
            <a:off x="548640" y="5577840"/>
            <a:ext cx="11064240" cy="45720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EverMart adalah toko online dengan pelanggan di 4 wilayah dan 4 kategori produk (periode transaksi 2024).</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Data awal (berkas Excel)</a:t>
            </a:r>
            <a:endParaRPr lang="en-US" sz="3400" dirty="0"/>
          </a:p>
        </p:txBody>
      </p:sp>
      <p:pic>
        <p:nvPicPr>
          <p:cNvPr id="3" name="Image 0" descr="/tmp/claude-0/-home-user-EXACOUNT/b3a0efd5-5ef2-5930-a9ef-1d7b86874e77/images/86.png">    </p:cNvPr>
          <p:cNvPicPr>
            <a:picLocks noChangeAspect="1"/>
          </p:cNvPicPr>
          <p:nvPr/>
        </p:nvPicPr>
        <p:blipFill>
          <a:blip r:embed="rId1"/>
          <a:stretch>
            <a:fillRect/>
          </a:stretch>
        </p:blipFill>
        <p:spPr>
          <a:xfrm>
            <a:off x="548640" y="1737360"/>
            <a:ext cx="3383280" cy="3154680"/>
          </a:xfrm>
          <a:prstGeom prst="rect">
            <a:avLst/>
          </a:prstGeom>
        </p:spPr>
      </p:pic>
      <p:pic>
        <p:nvPicPr>
          <p:cNvPr id="4" name="Image 1" descr="/tmp/claude-0/-home-user-EXACOUNT/b3a0efd5-5ef2-5930-a9ef-1d7b86874e77/images/87.png">    </p:cNvPr>
          <p:cNvPicPr>
            <a:picLocks noChangeAspect="1"/>
          </p:cNvPicPr>
          <p:nvPr/>
        </p:nvPicPr>
        <p:blipFill>
          <a:blip r:embed="rId2"/>
          <a:stretch>
            <a:fillRect/>
          </a:stretch>
        </p:blipFill>
        <p:spPr>
          <a:xfrm>
            <a:off x="4114800" y="1737360"/>
            <a:ext cx="3383280" cy="3154680"/>
          </a:xfrm>
          <a:prstGeom prst="rect">
            <a:avLst/>
          </a:prstGeom>
        </p:spPr>
      </p:pic>
      <p:pic>
        <p:nvPicPr>
          <p:cNvPr id="5" name="Image 2" descr="/tmp/claude-0/-home-user-EXACOUNT/b3a0efd5-5ef2-5930-a9ef-1d7b86874e77/images/88.png">    </p:cNvPr>
          <p:cNvPicPr>
            <a:picLocks noChangeAspect="1"/>
          </p:cNvPicPr>
          <p:nvPr/>
        </p:nvPicPr>
        <p:blipFill>
          <a:blip r:embed="rId3"/>
          <a:stretch>
            <a:fillRect/>
          </a:stretch>
        </p:blipFill>
        <p:spPr>
          <a:xfrm>
            <a:off x="7680960" y="1737360"/>
            <a:ext cx="3931920" cy="2889504"/>
          </a:xfrm>
          <a:prstGeom prst="rect">
            <a:avLst/>
          </a:prstGeom>
        </p:spPr>
      </p:pic>
      <p:sp>
        <p:nvSpPr>
          <p:cNvPr id="6" name="Text 1"/>
          <p:cNvSpPr txBox="1"/>
          <p:nvPr/>
        </p:nvSpPr>
        <p:spPr>
          <a:xfrm>
            <a:off x="548640" y="1280160"/>
            <a:ext cx="3383280" cy="365760"/>
          </a:xfrm>
          <a:prstGeom prst="rect">
            <a:avLst/>
          </a:prstGeom>
          <a:noFill/>
          <a:ln/>
        </p:spPr>
        <p:txBody>
          <a:bodyPr wrap="square" lIns="0" tIns="0" rIns="0" bIns="0" rtlCol="0" anchor="ctr"/>
          <a:lstStyle/>
          <a:p>
            <a:pPr indent="0" marL="0">
              <a:buNone/>
            </a:pPr>
            <a:r>
              <a:rPr lang="en-US" sz="1600" b="1" dirty="0">
                <a:solidFill>
                  <a:srgbClr val="12304A"/>
                </a:solidFill>
                <a:latin typeface="Calibri" pitchFamily="34" charset="0"/>
                <a:ea typeface="Calibri" pitchFamily="34" charset="-122"/>
                <a:cs typeface="Calibri" pitchFamily="34" charset="-120"/>
              </a:rPr>
              <a:t>Customers: 200 baris, 4 kolom</a:t>
            </a:r>
            <a:endParaRPr lang="en-US" sz="1600" dirty="0"/>
          </a:p>
        </p:txBody>
      </p:sp>
      <p:sp>
        <p:nvSpPr>
          <p:cNvPr id="7" name="Text 2"/>
          <p:cNvSpPr txBox="1"/>
          <p:nvPr/>
        </p:nvSpPr>
        <p:spPr>
          <a:xfrm>
            <a:off x="4114800" y="1280160"/>
            <a:ext cx="3383280" cy="365760"/>
          </a:xfrm>
          <a:prstGeom prst="rect">
            <a:avLst/>
          </a:prstGeom>
          <a:noFill/>
          <a:ln/>
        </p:spPr>
        <p:txBody>
          <a:bodyPr wrap="square" lIns="0" tIns="0" rIns="0" bIns="0" rtlCol="0" anchor="ctr"/>
          <a:lstStyle/>
          <a:p>
            <a:pPr indent="0" marL="0">
              <a:buNone/>
            </a:pPr>
            <a:r>
              <a:rPr lang="en-US" sz="1600" b="1" dirty="0">
                <a:solidFill>
                  <a:srgbClr val="12304A"/>
                </a:solidFill>
                <a:latin typeface="Calibri" pitchFamily="34" charset="0"/>
                <a:ea typeface="Calibri" pitchFamily="34" charset="-122"/>
                <a:cs typeface="Calibri" pitchFamily="34" charset="-120"/>
              </a:rPr>
              <a:t>Products: 100 baris, 4 kolom</a:t>
            </a:r>
            <a:endParaRPr lang="en-US" sz="1600" dirty="0"/>
          </a:p>
        </p:txBody>
      </p:sp>
      <p:sp>
        <p:nvSpPr>
          <p:cNvPr id="8" name="Text 3"/>
          <p:cNvSpPr txBox="1"/>
          <p:nvPr/>
        </p:nvSpPr>
        <p:spPr>
          <a:xfrm>
            <a:off x="7680960" y="1280160"/>
            <a:ext cx="3931920" cy="365760"/>
          </a:xfrm>
          <a:prstGeom prst="rect">
            <a:avLst/>
          </a:prstGeom>
          <a:noFill/>
          <a:ln/>
        </p:spPr>
        <p:txBody>
          <a:bodyPr wrap="square" lIns="0" tIns="0" rIns="0" bIns="0" rtlCol="0" anchor="ctr"/>
          <a:lstStyle/>
          <a:p>
            <a:pPr indent="0" marL="0">
              <a:buNone/>
            </a:pPr>
            <a:r>
              <a:rPr lang="en-US" sz="1600" b="1" dirty="0">
                <a:solidFill>
                  <a:srgbClr val="12304A"/>
                </a:solidFill>
                <a:latin typeface="Calibri" pitchFamily="34" charset="0"/>
                <a:ea typeface="Calibri" pitchFamily="34" charset="-122"/>
                <a:cs typeface="Calibri" pitchFamily="34" charset="-120"/>
              </a:rPr>
              <a:t>Transactions: 1.000 baris, 7 kolom</a:t>
            </a:r>
            <a:endParaRPr lang="en-US" sz="1600" dirty="0"/>
          </a:p>
        </p:txBody>
      </p:sp>
      <p:sp>
        <p:nvSpPr>
          <p:cNvPr id="9" name="Text 4"/>
          <p:cNvSpPr txBox="1"/>
          <p:nvPr/>
        </p:nvSpPr>
        <p:spPr>
          <a:xfrm>
            <a:off x="548640" y="5120640"/>
            <a:ext cx="11064240" cy="822960"/>
          </a:xfrm>
          <a:prstGeom prst="rect">
            <a:avLst/>
          </a:prstGeom>
          <a:noFill/>
          <a:ln/>
        </p:spPr>
        <p:txBody>
          <a:bodyPr wrap="square" lIns="0" tIns="0" rIns="0" bIns="0" rtlCol="0" anchor="ctr"/>
          <a:lstStyle/>
          <a:p>
            <a:pPr indent="0" marL="0">
              <a:buNone/>
            </a:pPr>
            <a:r>
              <a:rPr lang="en-US" sz="1600" dirty="0">
                <a:solidFill>
                  <a:srgbClr val="1E2A35"/>
                </a:solidFill>
                <a:latin typeface="Calibri" pitchFamily="34" charset="0"/>
                <a:ea typeface="Calibri" pitchFamily="34" charset="-122"/>
                <a:cs typeface="Calibri" pitchFamily="34" charset="-120"/>
              </a:rPr>
              <a:t>Data mentah pada satu berkas Excel dengan tiga sheet: 3 tabel, 15 kolom (12 variabel unik), dan 1.000 transaksi. Tabel Transactions dihubungkan ke Customers dan Products melalui CustomerID dan ProductID.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Karakteristik dataset</a:t>
            </a:r>
            <a:endParaRPr lang="en-US" sz="3400" dirty="0"/>
          </a:p>
        </p:txBody>
      </p:sp>
      <p:sp>
        <p:nvSpPr>
          <p:cNvPr id="3" name="Text 1"/>
          <p:cNvSpPr txBox="1"/>
          <p:nvPr/>
        </p:nvSpPr>
        <p:spPr>
          <a:xfrm>
            <a:off x="548640" y="1463040"/>
            <a:ext cx="347472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1.000</a:t>
            </a:r>
            <a:endParaRPr lang="en-US" sz="4800" dirty="0"/>
          </a:p>
        </p:txBody>
      </p:sp>
      <p:sp>
        <p:nvSpPr>
          <p:cNvPr id="4" name="Text 2"/>
          <p:cNvSpPr txBox="1"/>
          <p:nvPr/>
        </p:nvSpPr>
        <p:spPr>
          <a:xfrm>
            <a:off x="548640" y="2286000"/>
            <a:ext cx="34747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transaksi (tabel Transactions, 7 kolom)</a:t>
            </a:r>
            <a:endParaRPr lang="en-US" sz="1400" dirty="0"/>
          </a:p>
        </p:txBody>
      </p:sp>
      <p:sp>
        <p:nvSpPr>
          <p:cNvPr id="5" name="Text 3"/>
          <p:cNvSpPr txBox="1"/>
          <p:nvPr/>
        </p:nvSpPr>
        <p:spPr>
          <a:xfrm>
            <a:off x="4389120" y="1463040"/>
            <a:ext cx="3474720" cy="82296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200</a:t>
            </a:r>
            <a:endParaRPr lang="en-US" sz="4800" dirty="0"/>
          </a:p>
        </p:txBody>
      </p:sp>
      <p:sp>
        <p:nvSpPr>
          <p:cNvPr id="6" name="Text 4"/>
          <p:cNvSpPr txBox="1"/>
          <p:nvPr/>
        </p:nvSpPr>
        <p:spPr>
          <a:xfrm>
            <a:off x="4389120" y="2286000"/>
            <a:ext cx="34747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pelanggan (tabel Customers, 4 kolom)</a:t>
            </a:r>
            <a:endParaRPr lang="en-US" sz="1400" dirty="0"/>
          </a:p>
        </p:txBody>
      </p:sp>
      <p:sp>
        <p:nvSpPr>
          <p:cNvPr id="7" name="Text 5"/>
          <p:cNvSpPr txBox="1"/>
          <p:nvPr/>
        </p:nvSpPr>
        <p:spPr>
          <a:xfrm>
            <a:off x="8229600" y="1463040"/>
            <a:ext cx="3474720" cy="822960"/>
          </a:xfrm>
          <a:prstGeom prst="rect">
            <a:avLst/>
          </a:prstGeom>
          <a:noFill/>
          <a:ln/>
        </p:spPr>
        <p:txBody>
          <a:bodyPr wrap="square" lIns="0" tIns="0" rIns="0" bIns="0" rtlCol="0" anchor="ctr"/>
          <a:lstStyle/>
          <a:p>
            <a:pPr indent="0" marL="0">
              <a:buNone/>
            </a:pPr>
            <a:r>
              <a:rPr lang="en-US" sz="4800" b="1" dirty="0">
                <a:solidFill>
                  <a:srgbClr val="12304A"/>
                </a:solidFill>
                <a:latin typeface="Cambria" pitchFamily="34" charset="0"/>
                <a:ea typeface="Cambria" pitchFamily="34" charset="-122"/>
                <a:cs typeface="Cambria" pitchFamily="34" charset="-120"/>
              </a:rPr>
              <a:t>100</a:t>
            </a:r>
            <a:endParaRPr lang="en-US" sz="4800" dirty="0"/>
          </a:p>
        </p:txBody>
      </p:sp>
      <p:sp>
        <p:nvSpPr>
          <p:cNvPr id="8" name="Text 6"/>
          <p:cNvSpPr txBox="1"/>
          <p:nvPr/>
        </p:nvSpPr>
        <p:spPr>
          <a:xfrm>
            <a:off x="8229600" y="2286000"/>
            <a:ext cx="34747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produk (tabel Products, 4 kolom)</a:t>
            </a:r>
            <a:endParaRPr lang="en-US" sz="1400" dirty="0"/>
          </a:p>
        </p:txBody>
      </p:sp>
      <p:sp>
        <p:nvSpPr>
          <p:cNvPr id="9" name="Shape 7"/>
          <p:cNvSpPr/>
          <p:nvPr/>
        </p:nvSpPr>
        <p:spPr>
          <a:xfrm>
            <a:off x="548640" y="3291840"/>
            <a:ext cx="11064240" cy="2377440"/>
          </a:xfrm>
          <a:prstGeom prst="roundRect">
            <a:avLst>
              <a:gd name="adj" fmla="val 4615"/>
            </a:avLst>
          </a:prstGeom>
          <a:solidFill>
            <a:srgbClr val="F3F6F8"/>
          </a:solidFill>
          <a:ln w="12700">
            <a:solidFill>
              <a:srgbClr val="F3F6F8"/>
            </a:solidFill>
            <a:prstDash val="solid"/>
          </a:ln>
        </p:spPr>
      </p:sp>
      <p:sp>
        <p:nvSpPr>
          <p:cNvPr id="10" name="Text 8"/>
          <p:cNvSpPr txBox="1"/>
          <p:nvPr/>
        </p:nvSpPr>
        <p:spPr>
          <a:xfrm>
            <a:off x="777240" y="347472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Model data dan periode</a:t>
            </a:r>
            <a:endParaRPr lang="en-US" sz="2000" dirty="0"/>
          </a:p>
        </p:txBody>
      </p:sp>
      <p:sp>
        <p:nvSpPr>
          <p:cNvPr id="11" name="Text 9"/>
          <p:cNvSpPr txBox="1"/>
          <p:nvPr/>
        </p:nvSpPr>
        <p:spPr>
          <a:xfrm>
            <a:off x="777240" y="3977640"/>
            <a:ext cx="10607040" cy="15087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Total 3 tabel dan 15 kolom, berbentuk model bintang: Transactions terhubung ke Customers (CustomerID) dan Products (ProductID) dengan relasi banyak-ke-satu. Transaksi mencakup 30 Desember 2023 sampai 28 Desember 2024, hampir seluruhnya di tahun 2024. Sumber: EverMart_Online_Transactions.xlsx.</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Variabel: Customers dan Products</a:t>
            </a:r>
            <a:endParaRPr lang="en-US" sz="3400" dirty="0"/>
          </a:p>
        </p:txBody>
      </p:sp>
      <p:sp>
        <p:nvSpPr>
          <p:cNvPr id="3" name="Text 1"/>
          <p:cNvSpPr txBox="1"/>
          <p:nvPr/>
        </p:nvSpPr>
        <p:spPr>
          <a:xfrm>
            <a:off x="548640" y="1280160"/>
            <a:ext cx="5394960" cy="365760"/>
          </a:xfrm>
          <a:prstGeom prst="rect">
            <a:avLst/>
          </a:prstGeom>
          <a:noFill/>
          <a:ln/>
        </p:spPr>
        <p:txBody>
          <a:bodyPr wrap="square" lIns="0" tIns="0" rIns="0" bIns="0" rtlCol="0" anchor="ctr"/>
          <a:lstStyle/>
          <a:p>
            <a:pPr indent="0" marL="0">
              <a:buNone/>
            </a:pPr>
            <a:r>
              <a:rPr lang="en-US" sz="2000" b="1" dirty="0">
                <a:solidFill>
                  <a:srgbClr val="1B7F8C"/>
                </a:solidFill>
                <a:latin typeface="Cambria" pitchFamily="34" charset="0"/>
                <a:ea typeface="Cambria" pitchFamily="34" charset="-122"/>
                <a:cs typeface="Cambria" pitchFamily="34" charset="-120"/>
              </a:rPr>
              <a:t>Customers</a:t>
            </a:r>
            <a:endParaRPr lang="en-US" sz="2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1737360"/>
                <a:gridCol w="1463040"/>
                <a:gridCol w="219456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Variabel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Tipe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Isi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CustomerID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C0001 - C0200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CustomerName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Nama pelanggan</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Region</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(kategori)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 wilayah</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SignupDate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Tanggal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2022 - 2024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5" name="Text 2"/>
          <p:cNvSpPr txBox="1"/>
          <p:nvPr/>
        </p:nvSpPr>
        <p:spPr>
          <a:xfrm>
            <a:off x="6217920" y="1280160"/>
            <a:ext cx="5394960" cy="36576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Products</a:t>
            </a:r>
            <a:endParaRPr lang="en-US" sz="20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17920" y="1737360"/>
          <a:ext cx="5394960" cy="914400"/>
        </p:xfrm>
        <a:graphic>
          <a:graphicData uri="http://schemas.openxmlformats.org/drawingml/2006/table">
            <a:tbl>
              <a:tblPr/>
              <a:tblGrid>
                <a:gridCol w="1737360"/>
                <a:gridCol w="1463040"/>
                <a:gridCol w="219456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Variabel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Tipe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Isi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ProductID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P001 - P100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ProductName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Nama produk</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Category</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(kategori)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 kategori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Price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Desimal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16,08 - 497,76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7" name="Text 3"/>
          <p:cNvSpPr txBox="1"/>
          <p:nvPr/>
        </p:nvSpPr>
        <p:spPr>
          <a:xfrm>
            <a:off x="548640" y="4572000"/>
            <a:ext cx="11064240" cy="731520"/>
          </a:xfrm>
          <a:prstGeom prst="rect">
            <a:avLst/>
          </a:prstGeom>
          <a:noFill/>
          <a:ln/>
        </p:spPr>
        <p:txBody>
          <a:bodyPr wrap="square" lIns="0" tIns="0" rIns="0" bIns="0" rtlCol="0" anchor="ctr"/>
          <a:lstStyle/>
          <a:p>
            <a:pPr indent="0" marL="0">
              <a:buNone/>
            </a:pPr>
            <a:r>
              <a:rPr lang="en-US" sz="1600" dirty="0">
                <a:solidFill>
                  <a:srgbClr val="5B6B79"/>
                </a:solidFill>
                <a:latin typeface="Calibri" pitchFamily="34" charset="0"/>
                <a:ea typeface="Calibri" pitchFamily="34" charset="-122"/>
                <a:cs typeface="Calibri" pitchFamily="34" charset="-120"/>
              </a:rPr>
              <a:t>Wilayah: South America, Europe, North America, Asia. Kategori: Books, Electronics, Clothing, Home Decor.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Variabel: Transactions</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2194560"/>
                <a:gridCol w="649224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Variabel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Tipe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Keterangan</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TransactionID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ID unik transaksi, 1.000 nilai berbeda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CustomerID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Kunci ke Customers, 199 pelanggan bertransaksi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ProductID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Kunci ke Products, 100 produk terjual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TransactionDate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Tanggal-waktu</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30 Des 2023 sampai 28 Des 2024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Quantity</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Bilangan bulat</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Jumlah unit per transaksi, 1 sampai 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Price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Desimal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Harga satuan, 16,08 sampai 497,76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TotalValue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Desimal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Nilai transaksi = Quantity x Price, 16,08 sampai 1.991,04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Pelanggan terdaftar dan pelanggan aktif</a:t>
            </a:r>
            <a:endParaRPr lang="en-US" sz="3400" dirty="0"/>
          </a:p>
        </p:txBody>
      </p:sp>
      <p:sp>
        <p:nvSpPr>
          <p:cNvPr id="3" name="Text 1"/>
          <p:cNvSpPr txBox="1"/>
          <p:nvPr/>
        </p:nvSpPr>
        <p:spPr>
          <a:xfrm>
            <a:off x="548640" y="1371600"/>
            <a:ext cx="2743200" cy="822960"/>
          </a:xfrm>
          <a:prstGeom prst="rect">
            <a:avLst/>
          </a:prstGeom>
          <a:noFill/>
          <a:ln/>
        </p:spPr>
        <p:txBody>
          <a:bodyPr wrap="square" lIns="0" tIns="0" rIns="0" bIns="0" rtlCol="0" anchor="ctr"/>
          <a:lstStyle/>
          <a:p>
            <a:pPr indent="0" marL="0">
              <a:buNone/>
            </a:pPr>
            <a:r>
              <a:rPr lang="en-US" sz="4800" b="1" dirty="0">
                <a:solidFill>
                  <a:srgbClr val="12304A"/>
                </a:solidFill>
                <a:latin typeface="Cambria" pitchFamily="34" charset="0"/>
                <a:ea typeface="Cambria" pitchFamily="34" charset="-122"/>
                <a:cs typeface="Cambria" pitchFamily="34" charset="-120"/>
              </a:rPr>
              <a:t>200</a:t>
            </a:r>
            <a:endParaRPr lang="en-US" sz="4800" dirty="0"/>
          </a:p>
        </p:txBody>
      </p:sp>
      <p:sp>
        <p:nvSpPr>
          <p:cNvPr id="4" name="Text 2"/>
          <p:cNvSpPr txBox="1"/>
          <p:nvPr/>
        </p:nvSpPr>
        <p:spPr>
          <a:xfrm>
            <a:off x="548640" y="2194560"/>
            <a:ext cx="274320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pelanggan terdaftar (Customers)</a:t>
            </a:r>
            <a:endParaRPr lang="en-US" sz="1400" dirty="0"/>
          </a:p>
        </p:txBody>
      </p:sp>
      <p:sp>
        <p:nvSpPr>
          <p:cNvPr id="5" name="Text 3"/>
          <p:cNvSpPr txBox="1"/>
          <p:nvPr/>
        </p:nvSpPr>
        <p:spPr>
          <a:xfrm>
            <a:off x="3474720" y="1371600"/>
            <a:ext cx="274320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199</a:t>
            </a:r>
            <a:endParaRPr lang="en-US" sz="4800" dirty="0"/>
          </a:p>
        </p:txBody>
      </p:sp>
      <p:sp>
        <p:nvSpPr>
          <p:cNvPr id="6" name="Text 4"/>
          <p:cNvSpPr txBox="1"/>
          <p:nvPr/>
        </p:nvSpPr>
        <p:spPr>
          <a:xfrm>
            <a:off x="3474720" y="2194560"/>
            <a:ext cx="274320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pelanggan bertransaksi</a:t>
            </a:r>
            <a:endParaRPr lang="en-US" sz="1400" dirty="0"/>
          </a:p>
        </p:txBody>
      </p:sp>
      <p:sp>
        <p:nvSpPr>
          <p:cNvPr id="7" name="Text 5"/>
          <p:cNvSpPr txBox="1"/>
          <p:nvPr/>
        </p:nvSpPr>
        <p:spPr>
          <a:xfrm>
            <a:off x="6400800" y="1371600"/>
            <a:ext cx="2377440" cy="82296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1</a:t>
            </a:r>
            <a:endParaRPr lang="en-US" sz="4800" dirty="0"/>
          </a:p>
        </p:txBody>
      </p:sp>
      <p:sp>
        <p:nvSpPr>
          <p:cNvPr id="8" name="Text 6"/>
          <p:cNvSpPr txBox="1"/>
          <p:nvPr/>
        </p:nvSpPr>
        <p:spPr>
          <a:xfrm>
            <a:off x="6400800" y="2194560"/>
            <a:ext cx="237744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belum bertransaksi (C0180)</a:t>
            </a:r>
            <a:endParaRPr lang="en-US" sz="1400" dirty="0"/>
          </a:p>
        </p:txBody>
      </p:sp>
      <p:sp>
        <p:nvSpPr>
          <p:cNvPr id="9" name="Text 7"/>
          <p:cNvSpPr txBox="1"/>
          <p:nvPr/>
        </p:nvSpPr>
        <p:spPr>
          <a:xfrm>
            <a:off x="8961120" y="1371600"/>
            <a:ext cx="265176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99,5%</a:t>
            </a:r>
            <a:endParaRPr lang="en-US" sz="4800" dirty="0"/>
          </a:p>
        </p:txBody>
      </p:sp>
      <p:sp>
        <p:nvSpPr>
          <p:cNvPr id="10" name="Text 8"/>
          <p:cNvSpPr txBox="1"/>
          <p:nvPr/>
        </p:nvSpPr>
        <p:spPr>
          <a:xfrm>
            <a:off x="8961120" y="219456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tingkat aktivasi</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5852160" cy="914400"/>
        </p:xfrm>
        <a:graphic>
          <a:graphicData uri="http://schemas.openxmlformats.org/drawingml/2006/table">
            <a:tbl>
              <a:tblPr/>
              <a:tblGrid>
                <a:gridCol w="2011680"/>
                <a:gridCol w="1280160"/>
                <a:gridCol w="1463040"/>
                <a:gridCol w="10972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Wilayah</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Terdaftar</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Bertransaksi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Belum</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South America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59</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59</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Europe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North America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Asia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Shape 9"/>
          <p:cNvSpPr/>
          <p:nvPr/>
        </p:nvSpPr>
        <p:spPr>
          <a:xfrm>
            <a:off x="6675120" y="3017520"/>
            <a:ext cx="4937760" cy="2926080"/>
          </a:xfrm>
          <a:prstGeom prst="roundRect">
            <a:avLst>
              <a:gd name="adj" fmla="val 3750"/>
            </a:avLst>
          </a:prstGeom>
          <a:solidFill>
            <a:srgbClr val="F3F6F8"/>
          </a:solidFill>
          <a:ln w="12700">
            <a:solidFill>
              <a:srgbClr val="F3F6F8"/>
            </a:solidFill>
            <a:prstDash val="solid"/>
          </a:ln>
        </p:spPr>
      </p:sp>
      <p:sp>
        <p:nvSpPr>
          <p:cNvPr id="13" name="Text 10"/>
          <p:cNvSpPr txBox="1"/>
          <p:nvPr/>
        </p:nvSpPr>
        <p:spPr>
          <a:xfrm>
            <a:off x="6903720" y="3200400"/>
            <a:ext cx="44805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Penjelasan</a:t>
            </a:r>
            <a:endParaRPr lang="en-US" sz="2000" dirty="0"/>
          </a:p>
        </p:txBody>
      </p:sp>
      <p:sp>
        <p:nvSpPr>
          <p:cNvPr id="14" name="Text 11"/>
          <p:cNvSpPr txBox="1"/>
          <p:nvPr/>
        </p:nvSpPr>
        <p:spPr>
          <a:xfrm>
            <a:off x="6903720" y="3703320"/>
            <a:ext cx="4480560" cy="205740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Tabel Customers memuat 200 pelanggan, tetapi tabel Transactions hanya memuat 199 CustomerID berbeda. Pelanggan C0180 (Amy Carpenter, Asia, mendaftar 25 Oktober 2023) belum pernah bertransaksi. Kartu Total Unique Customers = 199 karena dihitung dari Transactions.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Data awal dan transformasi data</a:t>
            </a:r>
            <a:endParaRPr lang="en-US" sz="3400" dirty="0"/>
          </a:p>
        </p:txBody>
      </p:sp>
      <p:sp>
        <p:nvSpPr>
          <p:cNvPr id="3" name="Shape 1"/>
          <p:cNvSpPr/>
          <p:nvPr/>
        </p:nvSpPr>
        <p:spPr>
          <a:xfrm>
            <a:off x="548640" y="1463040"/>
            <a:ext cx="3566160" cy="4206240"/>
          </a:xfrm>
          <a:prstGeom prst="roundRect">
            <a:avLst>
              <a:gd name="adj" fmla="val 3077"/>
            </a:avLst>
          </a:prstGeom>
          <a:solidFill>
            <a:srgbClr val="F3F6F8"/>
          </a:solidFill>
          <a:ln w="12700">
            <a:solidFill>
              <a:srgbClr val="F3F6F8"/>
            </a:solidFill>
            <a:prstDash val="solid"/>
          </a:ln>
        </p:spPr>
      </p:sp>
      <p:sp>
        <p:nvSpPr>
          <p:cNvPr id="4" name="Text 2"/>
          <p:cNvSpPr txBox="1"/>
          <p:nvPr/>
        </p:nvSpPr>
        <p:spPr>
          <a:xfrm>
            <a:off x="77724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1. Memuat data</a:t>
            </a:r>
            <a:endParaRPr lang="en-US" sz="2000" dirty="0"/>
          </a:p>
        </p:txBody>
      </p:sp>
      <p:sp>
        <p:nvSpPr>
          <p:cNvPr id="5" name="Text 3"/>
          <p:cNvSpPr txBox="1"/>
          <p:nvPr/>
        </p:nvSpPr>
        <p:spPr>
          <a:xfrm>
            <a:off x="77724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Satu file Excel dengan tiga sheet (Customers, Products, Transactions) dimuat ke Power BI lewat Power Query.</a:t>
            </a:r>
            <a:endParaRPr lang="en-US" sz="1600" dirty="0"/>
          </a:p>
        </p:txBody>
      </p:sp>
      <p:sp>
        <p:nvSpPr>
          <p:cNvPr id="6" name="Shape 4"/>
          <p:cNvSpPr/>
          <p:nvPr/>
        </p:nvSpPr>
        <p:spPr>
          <a:xfrm>
            <a:off x="4297680" y="1463040"/>
            <a:ext cx="3566160" cy="4206240"/>
          </a:xfrm>
          <a:prstGeom prst="roundRect">
            <a:avLst>
              <a:gd name="adj" fmla="val 3077"/>
            </a:avLst>
          </a:prstGeom>
          <a:solidFill>
            <a:srgbClr val="F3F6F8"/>
          </a:solidFill>
          <a:ln w="12700">
            <a:solidFill>
              <a:srgbClr val="F3F6F8"/>
            </a:solidFill>
            <a:prstDash val="solid"/>
          </a:ln>
        </p:spPr>
      </p:sp>
      <p:sp>
        <p:nvSpPr>
          <p:cNvPr id="7" name="Text 5"/>
          <p:cNvSpPr txBox="1"/>
          <p:nvPr/>
        </p:nvSpPr>
        <p:spPr>
          <a:xfrm>
            <a:off x="452628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2. Transformasi</a:t>
            </a:r>
            <a:endParaRPr lang="en-US" sz="2000" dirty="0"/>
          </a:p>
        </p:txBody>
      </p:sp>
      <p:sp>
        <p:nvSpPr>
          <p:cNvPr id="8" name="Text 6"/>
          <p:cNvSpPr txBox="1"/>
          <p:nvPr/>
        </p:nvSpPr>
        <p:spPr>
          <a:xfrm>
            <a:off x="452628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Promote Headers agar baris pertama menjadi nama kolom. Changed Type: ID menjadi teks, tanggal menjadi date atau datetime, Quantity bilangan bulat, harga dan nilai menjadi desimal.</a:t>
            </a:r>
            <a:endParaRPr lang="en-US" sz="1600" dirty="0"/>
          </a:p>
        </p:txBody>
      </p:sp>
      <p:sp>
        <p:nvSpPr>
          <p:cNvPr id="9" name="Shape 7"/>
          <p:cNvSpPr/>
          <p:nvPr/>
        </p:nvSpPr>
        <p:spPr>
          <a:xfrm>
            <a:off x="8046720" y="1463040"/>
            <a:ext cx="3566160" cy="4206240"/>
          </a:xfrm>
          <a:prstGeom prst="roundRect">
            <a:avLst>
              <a:gd name="adj" fmla="val 3077"/>
            </a:avLst>
          </a:prstGeom>
          <a:solidFill>
            <a:srgbClr val="F3F6F8"/>
          </a:solidFill>
          <a:ln w="12700">
            <a:solidFill>
              <a:srgbClr val="F3F6F8"/>
            </a:solidFill>
            <a:prstDash val="solid"/>
          </a:ln>
        </p:spPr>
      </p:sp>
      <p:sp>
        <p:nvSpPr>
          <p:cNvPr id="10" name="Text 8"/>
          <p:cNvSpPr txBox="1"/>
          <p:nvPr/>
        </p:nvSpPr>
        <p:spPr>
          <a:xfrm>
            <a:off x="827532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3. Model data</a:t>
            </a:r>
            <a:endParaRPr lang="en-US" sz="2000" dirty="0"/>
          </a:p>
        </p:txBody>
      </p:sp>
      <p:sp>
        <p:nvSpPr>
          <p:cNvPr id="11" name="Text 9"/>
          <p:cNvSpPr txBox="1"/>
          <p:nvPr/>
        </p:nvSpPr>
        <p:spPr>
          <a:xfrm>
            <a:off x="827532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Relasi banyak-ke-satu: Transactions ke Customers lewat CustomerID, dan Transactions ke Products lewat ProductID. Tabel tanggal otomatis dibuat untuk Year, Quarter, Month.</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Transformasi data di Power Query</a:t>
            </a:r>
            <a:endParaRPr lang="en-US" sz="3400" dirty="0"/>
          </a:p>
        </p:txBody>
      </p:sp>
      <p:sp>
        <p:nvSpPr>
          <p:cNvPr id="3" name="Text 1"/>
          <p:cNvSpPr txBox="1"/>
          <p:nvPr/>
        </p:nvSpPr>
        <p:spPr>
          <a:xfrm>
            <a:off x="548640" y="1234440"/>
            <a:ext cx="3657600" cy="320040"/>
          </a:xfrm>
          <a:prstGeom prst="rect">
            <a:avLst/>
          </a:prstGeom>
          <a:noFill/>
          <a:ln/>
        </p:spPr>
        <p:txBody>
          <a:bodyPr wrap="square" lIns="0" tIns="0" rIns="0" bIns="0" rtlCol="0" anchor="ctr"/>
          <a:lstStyle/>
          <a:p>
            <a:pPr indent="0" marL="0">
              <a:buNone/>
            </a:pPr>
            <a:r>
              <a:rPr lang="en-US" sz="1600" b="1" dirty="0">
                <a:solidFill>
                  <a:srgbClr val="12304A"/>
                </a:solidFill>
                <a:latin typeface="Calibri" pitchFamily="34" charset="0"/>
                <a:ea typeface="Calibri" pitchFamily="34" charset="-122"/>
                <a:cs typeface="Calibri" pitchFamily="34" charset="-120"/>
              </a:rPr>
              <a:t>Customers</a:t>
            </a:r>
            <a:endParaRPr lang="en-US" sz="1600" dirty="0"/>
          </a:p>
        </p:txBody>
      </p:sp>
      <p:pic>
        <p:nvPicPr>
          <p:cNvPr id="4" name="Image 0" descr="/tmp/claude-0/-home-user-EXACOUNT/b3a0efd5-5ef2-5930-a9ef-1d7b86874e77/images/94.png">    </p:cNvPr>
          <p:cNvPicPr>
            <a:picLocks noChangeAspect="1"/>
          </p:cNvPicPr>
          <p:nvPr/>
        </p:nvPicPr>
        <p:blipFill>
          <a:blip r:embed="rId1"/>
          <a:stretch>
            <a:fillRect/>
          </a:stretch>
        </p:blipFill>
        <p:spPr>
          <a:xfrm>
            <a:off x="548640" y="1600200"/>
            <a:ext cx="3657600" cy="1920240"/>
          </a:xfrm>
          <a:prstGeom prst="rect">
            <a:avLst/>
          </a:prstGeom>
        </p:spPr>
      </p:pic>
      <p:sp>
        <p:nvSpPr>
          <p:cNvPr id="5" name="Text 2"/>
          <p:cNvSpPr txBox="1"/>
          <p:nvPr/>
        </p:nvSpPr>
        <p:spPr>
          <a:xfrm>
            <a:off x="4206240" y="1234440"/>
            <a:ext cx="3657600" cy="320040"/>
          </a:xfrm>
          <a:prstGeom prst="rect">
            <a:avLst/>
          </a:prstGeom>
          <a:noFill/>
          <a:ln/>
        </p:spPr>
        <p:txBody>
          <a:bodyPr wrap="square" lIns="0" tIns="0" rIns="0" bIns="0" rtlCol="0" anchor="ctr"/>
          <a:lstStyle/>
          <a:p>
            <a:pPr indent="0" marL="0">
              <a:buNone/>
            </a:pPr>
            <a:r>
              <a:rPr lang="en-US" sz="1600" b="1" dirty="0">
                <a:solidFill>
                  <a:srgbClr val="12304A"/>
                </a:solidFill>
                <a:latin typeface="Calibri" pitchFamily="34" charset="0"/>
                <a:ea typeface="Calibri" pitchFamily="34" charset="-122"/>
                <a:cs typeface="Calibri" pitchFamily="34" charset="-120"/>
              </a:rPr>
              <a:t>Products</a:t>
            </a:r>
            <a:endParaRPr lang="en-US" sz="1600" dirty="0"/>
          </a:p>
        </p:txBody>
      </p:sp>
      <p:pic>
        <p:nvPicPr>
          <p:cNvPr id="6" name="Image 1" descr="/tmp/claude-0/-home-user-EXACOUNT/b3a0efd5-5ef2-5930-a9ef-1d7b86874e77/images/95.png">    </p:cNvPr>
          <p:cNvPicPr>
            <a:picLocks noChangeAspect="1"/>
          </p:cNvPicPr>
          <p:nvPr/>
        </p:nvPicPr>
        <p:blipFill>
          <a:blip r:embed="rId2"/>
          <a:stretch>
            <a:fillRect/>
          </a:stretch>
        </p:blipFill>
        <p:spPr>
          <a:xfrm>
            <a:off x="4206240" y="1600200"/>
            <a:ext cx="3657600" cy="1920240"/>
          </a:xfrm>
          <a:prstGeom prst="rect">
            <a:avLst/>
          </a:prstGeom>
        </p:spPr>
      </p:pic>
      <p:sp>
        <p:nvSpPr>
          <p:cNvPr id="7" name="Text 3"/>
          <p:cNvSpPr txBox="1"/>
          <p:nvPr/>
        </p:nvSpPr>
        <p:spPr>
          <a:xfrm>
            <a:off x="7863840" y="1234440"/>
            <a:ext cx="3657600" cy="320040"/>
          </a:xfrm>
          <a:prstGeom prst="rect">
            <a:avLst/>
          </a:prstGeom>
          <a:noFill/>
          <a:ln/>
        </p:spPr>
        <p:txBody>
          <a:bodyPr wrap="square" lIns="0" tIns="0" rIns="0" bIns="0" rtlCol="0" anchor="ctr"/>
          <a:lstStyle/>
          <a:p>
            <a:pPr indent="0" marL="0">
              <a:buNone/>
            </a:pPr>
            <a:r>
              <a:rPr lang="en-US" sz="1600" b="1" dirty="0">
                <a:solidFill>
                  <a:srgbClr val="12304A"/>
                </a:solidFill>
                <a:latin typeface="Calibri" pitchFamily="34" charset="0"/>
                <a:ea typeface="Calibri" pitchFamily="34" charset="-122"/>
                <a:cs typeface="Calibri" pitchFamily="34" charset="-120"/>
              </a:rPr>
              <a:t>Transactions</a:t>
            </a:r>
            <a:endParaRPr lang="en-US" sz="1600" dirty="0"/>
          </a:p>
        </p:txBody>
      </p:sp>
      <p:pic>
        <p:nvPicPr>
          <p:cNvPr id="8" name="Image 2" descr="/tmp/claude-0/-home-user-EXACOUNT/b3a0efd5-5ef2-5930-a9ef-1d7b86874e77/images/96.png">    </p:cNvPr>
          <p:cNvPicPr>
            <a:picLocks noChangeAspect="1"/>
          </p:cNvPicPr>
          <p:nvPr/>
        </p:nvPicPr>
        <p:blipFill>
          <a:blip r:embed="rId3"/>
          <a:stretch>
            <a:fillRect/>
          </a:stretch>
        </p:blipFill>
        <p:spPr>
          <a:xfrm>
            <a:off x="7863840" y="1600200"/>
            <a:ext cx="3657600" cy="1920240"/>
          </a:xfrm>
          <a:prstGeom prst="rect">
            <a:avLst/>
          </a:prstGeom>
        </p:spPr>
      </p:pic>
      <p:sp>
        <p:nvSpPr>
          <p:cNvPr id="9" name="Shape 4"/>
          <p:cNvSpPr/>
          <p:nvPr/>
        </p:nvSpPr>
        <p:spPr>
          <a:xfrm>
            <a:off x="548640" y="3749040"/>
            <a:ext cx="11064240" cy="2286000"/>
          </a:xfrm>
          <a:prstGeom prst="roundRect">
            <a:avLst>
              <a:gd name="adj" fmla="val 4800"/>
            </a:avLst>
          </a:prstGeom>
          <a:solidFill>
            <a:srgbClr val="F3F6F8"/>
          </a:solidFill>
          <a:ln w="12700">
            <a:solidFill>
              <a:srgbClr val="F3F6F8"/>
            </a:solidFill>
            <a:prstDash val="solid"/>
          </a:ln>
        </p:spPr>
      </p:sp>
      <p:sp>
        <p:nvSpPr>
          <p:cNvPr id="10" name="Text 5"/>
          <p:cNvSpPr txBox="1"/>
          <p:nvPr/>
        </p:nvSpPr>
        <p:spPr>
          <a:xfrm>
            <a:off x="777240" y="393192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Applied Steps pada tiap tabel</a:t>
            </a:r>
            <a:endParaRPr lang="en-US" sz="2000" dirty="0"/>
          </a:p>
        </p:txBody>
      </p:sp>
      <p:sp>
        <p:nvSpPr>
          <p:cNvPr id="11" name="Text 6"/>
          <p:cNvSpPr txBox="1"/>
          <p:nvPr/>
        </p:nvSpPr>
        <p:spPr>
          <a:xfrm>
            <a:off x="777240" y="4434840"/>
            <a:ext cx="10607040" cy="14173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Source: membuka berkas Excel. Navigation: memilih sheet. Promoted Headers: baris pertama menjadi nama kolom. Changed Type: ID menjadi teks, tanggal menjadi date atau datetime, Quantity bilangan bulat, harga dan nilai desimal. Profil kualitas ketiga tabel: Valid 100%, Error 0%, Empty 0%.</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Model data: relasi antar tabel</a:t>
            </a:r>
            <a:endParaRPr lang="en-US" sz="3400" dirty="0"/>
          </a:p>
        </p:txBody>
      </p:sp>
      <p:sp>
        <p:nvSpPr>
          <p:cNvPr id="3" name="Shape 1"/>
          <p:cNvSpPr/>
          <p:nvPr/>
        </p:nvSpPr>
        <p:spPr>
          <a:xfrm>
            <a:off x="548640" y="1463040"/>
            <a:ext cx="3017520" cy="2377440"/>
          </a:xfrm>
          <a:prstGeom prst="roundRect">
            <a:avLst>
              <a:gd name="adj" fmla="val 3846"/>
            </a:avLst>
          </a:prstGeom>
          <a:solidFill>
            <a:srgbClr val="F3F6F8"/>
          </a:solidFill>
          <a:ln w="31750">
            <a:solidFill>
              <a:srgbClr val="1B7F8C"/>
            </a:solidFill>
            <a:prstDash val="solid"/>
          </a:ln>
        </p:spPr>
      </p:sp>
      <p:sp>
        <p:nvSpPr>
          <p:cNvPr id="4" name="Text 2"/>
          <p:cNvSpPr txBox="1"/>
          <p:nvPr/>
        </p:nvSpPr>
        <p:spPr>
          <a:xfrm>
            <a:off x="548640" y="1572768"/>
            <a:ext cx="3017520" cy="457200"/>
          </a:xfrm>
          <a:prstGeom prst="rect">
            <a:avLst/>
          </a:prstGeom>
          <a:noFill/>
          <a:ln/>
        </p:spPr>
        <p:txBody>
          <a:bodyPr wrap="square" lIns="0" tIns="0" rIns="0" bIns="0" rtlCol="0" anchor="ctr"/>
          <a:lstStyle/>
          <a:p>
            <a:pPr algn="ctr" indent="0" marL="0">
              <a:buNone/>
            </a:pPr>
            <a:r>
              <a:rPr lang="en-US" sz="2000" b="1" dirty="0">
                <a:solidFill>
                  <a:srgbClr val="1B7F8C"/>
                </a:solidFill>
                <a:latin typeface="Cambria" pitchFamily="34" charset="0"/>
                <a:ea typeface="Cambria" pitchFamily="34" charset="-122"/>
                <a:cs typeface="Cambria" pitchFamily="34" charset="-120"/>
              </a:rPr>
              <a:t>Customers</a:t>
            </a:r>
            <a:endParaRPr lang="en-US" sz="2000" dirty="0"/>
          </a:p>
        </p:txBody>
      </p:sp>
      <p:sp>
        <p:nvSpPr>
          <p:cNvPr id="5" name="Text 3"/>
          <p:cNvSpPr txBox="1"/>
          <p:nvPr/>
        </p:nvSpPr>
        <p:spPr>
          <a:xfrm>
            <a:off x="731520" y="2103120"/>
            <a:ext cx="2651760" cy="1645920"/>
          </a:xfrm>
          <a:prstGeom prst="rect">
            <a:avLst/>
          </a:prstGeom>
          <a:noFill/>
          <a:ln/>
        </p:spPr>
        <p:txBody>
          <a:bodyPr wrap="square" lIns="0" tIns="0" rIns="0" bIns="0" rtlCol="0" anchor="t"/>
          <a:lstStyle/>
          <a:p>
            <a:pPr indent="0" marL="0">
              <a:buNone/>
            </a:pPr>
            <a:r>
              <a:rPr lang="en-US" sz="1300" dirty="0">
                <a:solidFill>
                  <a:srgbClr val="1E2A35"/>
                </a:solidFill>
                <a:latin typeface="Courier New" pitchFamily="34" charset="0"/>
                <a:ea typeface="Courier New" pitchFamily="34" charset="-122"/>
                <a:cs typeface="Courier New" pitchFamily="34" charset="-120"/>
              </a:rPr>
              <a:t>CustomerID (PK)</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CustomerName</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Region</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SignupDate</a:t>
            </a:r>
            <a:endParaRPr lang="en-US" sz="1300" dirty="0"/>
          </a:p>
        </p:txBody>
      </p:sp>
      <p:sp>
        <p:nvSpPr>
          <p:cNvPr id="6" name="Shape 4"/>
          <p:cNvSpPr/>
          <p:nvPr/>
        </p:nvSpPr>
        <p:spPr>
          <a:xfrm>
            <a:off x="4572000" y="1463040"/>
            <a:ext cx="3017520" cy="2377440"/>
          </a:xfrm>
          <a:prstGeom prst="roundRect">
            <a:avLst>
              <a:gd name="adj" fmla="val 3846"/>
            </a:avLst>
          </a:prstGeom>
          <a:solidFill>
            <a:srgbClr val="F3F6F8"/>
          </a:solidFill>
          <a:ln w="31750">
            <a:solidFill>
              <a:srgbClr val="12304A"/>
            </a:solidFill>
            <a:prstDash val="solid"/>
          </a:ln>
        </p:spPr>
      </p:sp>
      <p:sp>
        <p:nvSpPr>
          <p:cNvPr id="7" name="Text 5"/>
          <p:cNvSpPr txBox="1"/>
          <p:nvPr/>
        </p:nvSpPr>
        <p:spPr>
          <a:xfrm>
            <a:off x="4572000" y="1572768"/>
            <a:ext cx="3017520" cy="457200"/>
          </a:xfrm>
          <a:prstGeom prst="rect">
            <a:avLst/>
          </a:prstGeom>
          <a:noFill/>
          <a:ln/>
        </p:spPr>
        <p:txBody>
          <a:bodyPr wrap="square" lIns="0" tIns="0" rIns="0" bIns="0" rtlCol="0" anchor="ctr"/>
          <a:lstStyle/>
          <a:p>
            <a:pPr algn="ctr" indent="0" marL="0">
              <a:buNone/>
            </a:pPr>
            <a:r>
              <a:rPr lang="en-US" sz="2000" b="1" dirty="0">
                <a:solidFill>
                  <a:srgbClr val="12304A"/>
                </a:solidFill>
                <a:latin typeface="Cambria" pitchFamily="34" charset="0"/>
                <a:ea typeface="Cambria" pitchFamily="34" charset="-122"/>
                <a:cs typeface="Cambria" pitchFamily="34" charset="-120"/>
              </a:rPr>
              <a:t>Transactions (fakta)</a:t>
            </a:r>
            <a:endParaRPr lang="en-US" sz="2000" dirty="0"/>
          </a:p>
        </p:txBody>
      </p:sp>
      <p:sp>
        <p:nvSpPr>
          <p:cNvPr id="8" name="Text 6"/>
          <p:cNvSpPr txBox="1"/>
          <p:nvPr/>
        </p:nvSpPr>
        <p:spPr>
          <a:xfrm>
            <a:off x="4754880" y="2103120"/>
            <a:ext cx="2651760" cy="1645920"/>
          </a:xfrm>
          <a:prstGeom prst="rect">
            <a:avLst/>
          </a:prstGeom>
          <a:noFill/>
          <a:ln/>
        </p:spPr>
        <p:txBody>
          <a:bodyPr wrap="square" lIns="0" tIns="0" rIns="0" bIns="0" rtlCol="0" anchor="t"/>
          <a:lstStyle/>
          <a:p>
            <a:pPr indent="0" marL="0">
              <a:buNone/>
            </a:pPr>
            <a:r>
              <a:rPr lang="en-US" sz="1300" dirty="0">
                <a:solidFill>
                  <a:srgbClr val="1E2A35"/>
                </a:solidFill>
                <a:latin typeface="Courier New" pitchFamily="34" charset="0"/>
                <a:ea typeface="Courier New" pitchFamily="34" charset="-122"/>
                <a:cs typeface="Courier New" pitchFamily="34" charset="-120"/>
              </a:rPr>
              <a:t>TransactionID (PK)</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CustomerID (FK)</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ProductID (FK)</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TransactionDate</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Quantity</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TotalValue</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Price</a:t>
            </a:r>
            <a:endParaRPr lang="en-US" sz="1300" dirty="0"/>
          </a:p>
        </p:txBody>
      </p:sp>
      <p:sp>
        <p:nvSpPr>
          <p:cNvPr id="9" name="Shape 7"/>
          <p:cNvSpPr/>
          <p:nvPr/>
        </p:nvSpPr>
        <p:spPr>
          <a:xfrm>
            <a:off x="8595360" y="1463040"/>
            <a:ext cx="3017520" cy="2377440"/>
          </a:xfrm>
          <a:prstGeom prst="roundRect">
            <a:avLst>
              <a:gd name="adj" fmla="val 3846"/>
            </a:avLst>
          </a:prstGeom>
          <a:solidFill>
            <a:srgbClr val="F3F6F8"/>
          </a:solidFill>
          <a:ln w="31750">
            <a:solidFill>
              <a:srgbClr val="F28C28"/>
            </a:solidFill>
            <a:prstDash val="solid"/>
          </a:ln>
        </p:spPr>
      </p:sp>
      <p:sp>
        <p:nvSpPr>
          <p:cNvPr id="10" name="Text 8"/>
          <p:cNvSpPr txBox="1"/>
          <p:nvPr/>
        </p:nvSpPr>
        <p:spPr>
          <a:xfrm>
            <a:off x="8595360" y="1572768"/>
            <a:ext cx="3017520" cy="457200"/>
          </a:xfrm>
          <a:prstGeom prst="rect">
            <a:avLst/>
          </a:prstGeom>
          <a:noFill/>
          <a:ln/>
        </p:spPr>
        <p:txBody>
          <a:bodyPr wrap="square" lIns="0" tIns="0" rIns="0" bIns="0" rtlCol="0" anchor="ctr"/>
          <a:lstStyle/>
          <a:p>
            <a:pPr algn="ctr" indent="0" marL="0">
              <a:buNone/>
            </a:pPr>
            <a:r>
              <a:rPr lang="en-US" sz="2000" b="1" dirty="0">
                <a:solidFill>
                  <a:srgbClr val="F28C28"/>
                </a:solidFill>
                <a:latin typeface="Cambria" pitchFamily="34" charset="0"/>
                <a:ea typeface="Cambria" pitchFamily="34" charset="-122"/>
                <a:cs typeface="Cambria" pitchFamily="34" charset="-120"/>
              </a:rPr>
              <a:t>Products</a:t>
            </a:r>
            <a:endParaRPr lang="en-US" sz="2000" dirty="0"/>
          </a:p>
        </p:txBody>
      </p:sp>
      <p:sp>
        <p:nvSpPr>
          <p:cNvPr id="11" name="Text 9"/>
          <p:cNvSpPr txBox="1"/>
          <p:nvPr/>
        </p:nvSpPr>
        <p:spPr>
          <a:xfrm>
            <a:off x="8778240" y="2103120"/>
            <a:ext cx="2651760" cy="1645920"/>
          </a:xfrm>
          <a:prstGeom prst="rect">
            <a:avLst/>
          </a:prstGeom>
          <a:noFill/>
          <a:ln/>
        </p:spPr>
        <p:txBody>
          <a:bodyPr wrap="square" lIns="0" tIns="0" rIns="0" bIns="0" rtlCol="0" anchor="t"/>
          <a:lstStyle/>
          <a:p>
            <a:pPr indent="0" marL="0">
              <a:buNone/>
            </a:pPr>
            <a:r>
              <a:rPr lang="en-US" sz="1300" dirty="0">
                <a:solidFill>
                  <a:srgbClr val="1E2A35"/>
                </a:solidFill>
                <a:latin typeface="Courier New" pitchFamily="34" charset="0"/>
                <a:ea typeface="Courier New" pitchFamily="34" charset="-122"/>
                <a:cs typeface="Courier New" pitchFamily="34" charset="-120"/>
              </a:rPr>
              <a:t>ProductID (PK)</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ProductName</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Category</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Price</a:t>
            </a:r>
            <a:endParaRPr lang="en-US" sz="1300" dirty="0"/>
          </a:p>
        </p:txBody>
      </p:sp>
      <p:sp>
        <p:nvSpPr>
          <p:cNvPr id="12" name="Shape 10"/>
          <p:cNvSpPr/>
          <p:nvPr/>
        </p:nvSpPr>
        <p:spPr>
          <a:xfrm>
            <a:off x="3566160" y="2651760"/>
            <a:ext cx="1005840" cy="0"/>
          </a:xfrm>
          <a:prstGeom prst="line">
            <a:avLst/>
          </a:prstGeom>
          <a:noFill/>
          <a:ln w="38100">
            <a:solidFill>
              <a:srgbClr val="5B6B79"/>
            </a:solidFill>
            <a:prstDash val="solid"/>
          </a:ln>
        </p:spPr>
      </p:sp>
      <p:sp>
        <p:nvSpPr>
          <p:cNvPr id="13" name="Shape 11"/>
          <p:cNvSpPr/>
          <p:nvPr/>
        </p:nvSpPr>
        <p:spPr>
          <a:xfrm>
            <a:off x="7589520" y="2651760"/>
            <a:ext cx="1005840" cy="0"/>
          </a:xfrm>
          <a:prstGeom prst="line">
            <a:avLst/>
          </a:prstGeom>
          <a:noFill/>
          <a:ln w="38100">
            <a:solidFill>
              <a:srgbClr val="5B6B79"/>
            </a:solidFill>
            <a:prstDash val="solid"/>
          </a:ln>
        </p:spPr>
      </p:sp>
      <p:sp>
        <p:nvSpPr>
          <p:cNvPr id="14" name="Text 12"/>
          <p:cNvSpPr txBox="1"/>
          <p:nvPr/>
        </p:nvSpPr>
        <p:spPr>
          <a:xfrm>
            <a:off x="3611880" y="2240280"/>
            <a:ext cx="365760" cy="365760"/>
          </a:xfrm>
          <a:prstGeom prst="rect">
            <a:avLst/>
          </a:prstGeom>
          <a:noFill/>
          <a:ln/>
        </p:spPr>
        <p:txBody>
          <a:bodyPr wrap="square" lIns="0" tIns="0" rIns="0" bIns="0" rtlCol="0" anchor="ctr"/>
          <a:lstStyle/>
          <a:p>
            <a:pPr indent="0" marL="0">
              <a:buNone/>
            </a:pPr>
            <a:r>
              <a:rPr lang="en-US" sz="1600" b="1" dirty="0">
                <a:solidFill>
                  <a:srgbClr val="5B6B79"/>
                </a:solidFill>
              </a:rPr>
              <a:t>1</a:t>
            </a:r>
            <a:endParaRPr lang="en-US" sz="1600" dirty="0"/>
          </a:p>
        </p:txBody>
      </p:sp>
      <p:sp>
        <p:nvSpPr>
          <p:cNvPr id="15" name="Text 13"/>
          <p:cNvSpPr txBox="1"/>
          <p:nvPr/>
        </p:nvSpPr>
        <p:spPr>
          <a:xfrm>
            <a:off x="4206240" y="2240280"/>
            <a:ext cx="365760" cy="365760"/>
          </a:xfrm>
          <a:prstGeom prst="rect">
            <a:avLst/>
          </a:prstGeom>
          <a:noFill/>
          <a:ln/>
        </p:spPr>
        <p:txBody>
          <a:bodyPr wrap="square" lIns="0" tIns="0" rIns="0" bIns="0" rtlCol="0" anchor="ctr"/>
          <a:lstStyle/>
          <a:p>
            <a:pPr indent="0" marL="0">
              <a:buNone/>
            </a:pPr>
            <a:r>
              <a:rPr lang="en-US" sz="1800" b="1" dirty="0">
                <a:solidFill>
                  <a:srgbClr val="5B6B79"/>
                </a:solidFill>
              </a:rPr>
              <a:t>*</a:t>
            </a:r>
            <a:endParaRPr lang="en-US" sz="1800" dirty="0"/>
          </a:p>
        </p:txBody>
      </p:sp>
      <p:sp>
        <p:nvSpPr>
          <p:cNvPr id="16" name="Text 14"/>
          <p:cNvSpPr txBox="1"/>
          <p:nvPr/>
        </p:nvSpPr>
        <p:spPr>
          <a:xfrm>
            <a:off x="7635240" y="2240280"/>
            <a:ext cx="365760" cy="365760"/>
          </a:xfrm>
          <a:prstGeom prst="rect">
            <a:avLst/>
          </a:prstGeom>
          <a:noFill/>
          <a:ln/>
        </p:spPr>
        <p:txBody>
          <a:bodyPr wrap="square" lIns="0" tIns="0" rIns="0" bIns="0" rtlCol="0" anchor="ctr"/>
          <a:lstStyle/>
          <a:p>
            <a:pPr indent="0" marL="0">
              <a:buNone/>
            </a:pPr>
            <a:r>
              <a:rPr lang="en-US" sz="1800" b="1" dirty="0">
                <a:solidFill>
                  <a:srgbClr val="5B6B79"/>
                </a:solidFill>
              </a:rPr>
              <a:t>*</a:t>
            </a:r>
            <a:endParaRPr lang="en-US" sz="1800" dirty="0"/>
          </a:p>
        </p:txBody>
      </p:sp>
      <p:sp>
        <p:nvSpPr>
          <p:cNvPr id="17" name="Text 15"/>
          <p:cNvSpPr txBox="1"/>
          <p:nvPr/>
        </p:nvSpPr>
        <p:spPr>
          <a:xfrm>
            <a:off x="8229600" y="2240280"/>
            <a:ext cx="365760" cy="365760"/>
          </a:xfrm>
          <a:prstGeom prst="rect">
            <a:avLst/>
          </a:prstGeom>
          <a:noFill/>
          <a:ln/>
        </p:spPr>
        <p:txBody>
          <a:bodyPr wrap="square" lIns="0" tIns="0" rIns="0" bIns="0" rtlCol="0" anchor="ctr"/>
          <a:lstStyle/>
          <a:p>
            <a:pPr indent="0" marL="0">
              <a:buNone/>
            </a:pPr>
            <a:r>
              <a:rPr lang="en-US" sz="1600" b="1" dirty="0">
                <a:solidFill>
                  <a:srgbClr val="5B6B79"/>
                </a:solidFill>
              </a:rPr>
              <a:t>1</a:t>
            </a:r>
            <a:endParaRPr lang="en-US" sz="1600" dirty="0"/>
          </a:p>
        </p:txBody>
      </p:sp>
      <p:sp>
        <p:nvSpPr>
          <p:cNvPr id="18" name="Shape 16"/>
          <p:cNvSpPr/>
          <p:nvPr/>
        </p:nvSpPr>
        <p:spPr>
          <a:xfrm>
            <a:off x="548640" y="4114800"/>
            <a:ext cx="11064240" cy="1920240"/>
          </a:xfrm>
          <a:prstGeom prst="roundRect">
            <a:avLst>
              <a:gd name="adj" fmla="val 5714"/>
            </a:avLst>
          </a:prstGeom>
          <a:solidFill>
            <a:srgbClr val="F3F6F8"/>
          </a:solidFill>
          <a:ln w="12700">
            <a:solidFill>
              <a:srgbClr val="F3F6F8"/>
            </a:solidFill>
            <a:prstDash val="solid"/>
          </a:ln>
        </p:spPr>
      </p:sp>
      <p:sp>
        <p:nvSpPr>
          <p:cNvPr id="19" name="Text 17"/>
          <p:cNvSpPr txBox="1"/>
          <p:nvPr/>
        </p:nvSpPr>
        <p:spPr>
          <a:xfrm>
            <a:off x="777240" y="429768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Star schema: banyak-ke-satu</a:t>
            </a:r>
            <a:endParaRPr lang="en-US" sz="2000" dirty="0"/>
          </a:p>
        </p:txBody>
      </p:sp>
      <p:sp>
        <p:nvSpPr>
          <p:cNvPr id="20" name="Text 18"/>
          <p:cNvSpPr txBox="1"/>
          <p:nvPr/>
        </p:nvSpPr>
        <p:spPr>
          <a:xfrm>
            <a:off x="777240" y="4800600"/>
            <a:ext cx="10607040" cy="1051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Satu pelanggan dapat memiliki banyak transaksi, dan satu produk dapat terjual dalam banyak transaksi. Karena relasi mengalir dari tabel dimensi ke tabel fakta, slicer Region (dari Customers) dan Category (dari Products) otomatis memfilter seluruh measure yang dihitung dari Transactions.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Pemeriksaan kualitas data</a:t>
            </a:r>
            <a:endParaRPr lang="en-US" sz="3400" dirty="0"/>
          </a:p>
        </p:txBody>
      </p:sp>
      <p:sp>
        <p:nvSpPr>
          <p:cNvPr id="3" name="Text 1"/>
          <p:cNvSpPr txBox="1"/>
          <p:nvPr/>
        </p:nvSpPr>
        <p:spPr>
          <a:xfrm>
            <a:off x="548640" y="1463040"/>
            <a:ext cx="265176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0</a:t>
            </a:r>
            <a:endParaRPr lang="en-US" sz="4800" dirty="0"/>
          </a:p>
        </p:txBody>
      </p:sp>
      <p:sp>
        <p:nvSpPr>
          <p:cNvPr id="4" name="Text 2"/>
          <p:cNvSpPr txBox="1"/>
          <p:nvPr/>
        </p:nvSpPr>
        <p:spPr>
          <a:xfrm>
            <a:off x="548640" y="228600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nilai kosong di ketiga tabel</a:t>
            </a:r>
            <a:endParaRPr lang="en-US" sz="1400" dirty="0"/>
          </a:p>
        </p:txBody>
      </p:sp>
      <p:sp>
        <p:nvSpPr>
          <p:cNvPr id="5" name="Text 3"/>
          <p:cNvSpPr txBox="1"/>
          <p:nvPr/>
        </p:nvSpPr>
        <p:spPr>
          <a:xfrm>
            <a:off x="3383280" y="1463040"/>
            <a:ext cx="2651760" cy="82296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0</a:t>
            </a:r>
            <a:endParaRPr lang="en-US" sz="4800" dirty="0"/>
          </a:p>
        </p:txBody>
      </p:sp>
      <p:sp>
        <p:nvSpPr>
          <p:cNvPr id="6" name="Text 4"/>
          <p:cNvSpPr txBox="1"/>
          <p:nvPr/>
        </p:nvSpPr>
        <p:spPr>
          <a:xfrm>
            <a:off x="3383280" y="228600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ID ganda</a:t>
            </a:r>
            <a:endParaRPr lang="en-US" sz="1400" dirty="0"/>
          </a:p>
        </p:txBody>
      </p:sp>
      <p:sp>
        <p:nvSpPr>
          <p:cNvPr id="7" name="Text 5"/>
          <p:cNvSpPr txBox="1"/>
          <p:nvPr/>
        </p:nvSpPr>
        <p:spPr>
          <a:xfrm>
            <a:off x="6217920" y="1463040"/>
            <a:ext cx="265176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0</a:t>
            </a:r>
            <a:endParaRPr lang="en-US" sz="4800" dirty="0"/>
          </a:p>
        </p:txBody>
      </p:sp>
      <p:sp>
        <p:nvSpPr>
          <p:cNvPr id="8" name="Text 6"/>
          <p:cNvSpPr txBox="1"/>
          <p:nvPr/>
        </p:nvSpPr>
        <p:spPr>
          <a:xfrm>
            <a:off x="6217920" y="228600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kunci transaksi tanpa pasangan</a:t>
            </a:r>
            <a:endParaRPr lang="en-US" sz="1400" dirty="0"/>
          </a:p>
        </p:txBody>
      </p:sp>
      <p:sp>
        <p:nvSpPr>
          <p:cNvPr id="9" name="Text 7"/>
          <p:cNvSpPr txBox="1"/>
          <p:nvPr/>
        </p:nvSpPr>
        <p:spPr>
          <a:xfrm>
            <a:off x="9052560" y="1463040"/>
            <a:ext cx="2651760" cy="82296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0</a:t>
            </a:r>
            <a:endParaRPr lang="en-US" sz="4800" dirty="0"/>
          </a:p>
        </p:txBody>
      </p:sp>
      <p:sp>
        <p:nvSpPr>
          <p:cNvPr id="10" name="Text 8"/>
          <p:cNvSpPr txBox="1"/>
          <p:nvPr/>
        </p:nvSpPr>
        <p:spPr>
          <a:xfrm>
            <a:off x="9052560" y="228600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selisih TotalValue dan Quantity x Price</a:t>
            </a:r>
            <a:endParaRPr lang="en-US" sz="1400" dirty="0"/>
          </a:p>
        </p:txBody>
      </p:sp>
      <p:sp>
        <p:nvSpPr>
          <p:cNvPr id="11" name="Shape 9"/>
          <p:cNvSpPr/>
          <p:nvPr/>
        </p:nvSpPr>
        <p:spPr>
          <a:xfrm>
            <a:off x="548640" y="3291840"/>
            <a:ext cx="11064240" cy="2468880"/>
          </a:xfrm>
          <a:prstGeom prst="roundRect">
            <a:avLst>
              <a:gd name="adj" fmla="val 4444"/>
            </a:avLst>
          </a:prstGeom>
          <a:solidFill>
            <a:srgbClr val="F3F6F8"/>
          </a:solidFill>
          <a:ln w="12700">
            <a:solidFill>
              <a:srgbClr val="F3F6F8"/>
            </a:solidFill>
            <a:prstDash val="solid"/>
          </a:ln>
        </p:spPr>
      </p:sp>
      <p:sp>
        <p:nvSpPr>
          <p:cNvPr id="12" name="Text 10"/>
          <p:cNvSpPr txBox="1"/>
          <p:nvPr/>
        </p:nvSpPr>
        <p:spPr>
          <a:xfrm>
            <a:off x="777240" y="347472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Catatan</a:t>
            </a:r>
            <a:endParaRPr lang="en-US" sz="2000" dirty="0"/>
          </a:p>
        </p:txBody>
      </p:sp>
      <p:sp>
        <p:nvSpPr>
          <p:cNvPr id="13" name="Text 11"/>
          <p:cNvSpPr txBox="1"/>
          <p:nvPr/>
        </p:nvSpPr>
        <p:spPr>
          <a:xfrm>
            <a:off x="777240" y="3977640"/>
            <a:ext cx="10607040" cy="160020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Nama produk tidak selalu sesuai kategorinya (contoh: TechPro T-Shirt masuk Clothing, BookWorld Rug masuk Home Decor) dan 34 nama produk muncul berulang dengan harga berbeda, sehingga analisis memakai ProductID. Hanya 4 transaksi jatuh di 2023 (30 Des), jadi analisis tren fokus ke 2024. Satu dari 200 pelanggan belum pernah bertransaksi.</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Penggunaan DAX</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gridCol w="777240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Measure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Rumus DAX</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54864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Total Revenue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SUM(Transactions[TotalValue])</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4864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Total Transactions</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DISTINCTCOUNT(Transactions[TransactionID])</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4864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Total Unique Customers</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DISTINCTCOUNT(Transactions[CustomerID])</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4864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Avg Order Value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[Total Transactions])</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4864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Revenue per Customer</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[Total Unique Customers])</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4864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Revenue Share %</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CALCULATE([Total Revenue], ALL(Customers[Region])))</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4" name="Text 1"/>
          <p:cNvSpPr txBox="1"/>
          <p:nvPr/>
        </p:nvSpPr>
        <p:spPr>
          <a:xfrm>
            <a:off x="548640" y="5394960"/>
            <a:ext cx="11064240" cy="45720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Measure dipakai pada kartu KPI, tabel ringkasan, dan grafik di dashboard.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Cara kerja DAX pada dashboard</a:t>
            </a:r>
            <a:endParaRPr lang="en-US" sz="3400" dirty="0"/>
          </a:p>
        </p:txBody>
      </p:sp>
      <p:pic>
        <p:nvPicPr>
          <p:cNvPr id="3" name="Image 0" descr="/tmp/claude-0/-home-user-EXACOUNT/b3a0efd5-5ef2-5930-a9ef-1d7b86874e77/scratchpad/rep/dax_rev.png">    </p:cNvPr>
          <p:cNvPicPr>
            <a:picLocks noChangeAspect="1"/>
          </p:cNvPicPr>
          <p:nvPr/>
        </p:nvPicPr>
        <p:blipFill>
          <a:blip r:embed="rId1"/>
          <a:stretch>
            <a:fillRect/>
          </a:stretch>
        </p:blipFill>
        <p:spPr>
          <a:xfrm>
            <a:off x="548640" y="1280160"/>
            <a:ext cx="5486400" cy="914400"/>
          </a:xfrm>
          <a:prstGeom prst="rect">
            <a:avLst/>
          </a:prstGeom>
        </p:spPr>
      </p:pic>
      <p:pic>
        <p:nvPicPr>
          <p:cNvPr id="4" name="Image 1" descr="/tmp/claude-0/-home-user-EXACOUNT/b3a0efd5-5ef2-5930-a9ef-1d7b86874e77/scratchpad/rep/dax_share.png">    </p:cNvPr>
          <p:cNvPicPr>
            <a:picLocks noChangeAspect="1"/>
          </p:cNvPicPr>
          <p:nvPr/>
        </p:nvPicPr>
        <p:blipFill>
          <a:blip r:embed="rId2"/>
          <a:stretch>
            <a:fillRect/>
          </a:stretch>
        </p:blipFill>
        <p:spPr>
          <a:xfrm>
            <a:off x="6126480" y="1280160"/>
            <a:ext cx="5486400" cy="914400"/>
          </a:xfrm>
          <a:prstGeom prst="rect">
            <a:avLst/>
          </a:prstGeom>
        </p:spPr>
      </p:pic>
      <p:sp>
        <p:nvSpPr>
          <p:cNvPr id="5" name="Text 1"/>
          <p:cNvSpPr txBox="1"/>
          <p:nvPr/>
        </p:nvSpPr>
        <p:spPr>
          <a:xfrm>
            <a:off x="548640" y="2240280"/>
            <a:ext cx="5486400" cy="320040"/>
          </a:xfrm>
          <a:prstGeom prst="rect">
            <a:avLst/>
          </a:prstGeom>
          <a:noFill/>
          <a:ln/>
        </p:spPr>
        <p:txBody>
          <a:bodyPr wrap="square" lIns="0" tIns="0" rIns="0" bIns="0" rtlCol="0" anchor="ctr"/>
          <a:lstStyle/>
          <a:p>
            <a:pPr indent="0" marL="0">
              <a:buNone/>
            </a:pPr>
            <a:r>
              <a:rPr lang="en-US" sz="1400" b="1" dirty="0">
                <a:solidFill>
                  <a:srgbClr val="1B7F8C"/>
                </a:solidFill>
                <a:latin typeface="Calibri" pitchFamily="34" charset="0"/>
                <a:ea typeface="Calibri" pitchFamily="34" charset="-122"/>
                <a:cs typeface="Calibri" pitchFamily="34" charset="-120"/>
              </a:rPr>
              <a:t>Total Revenue (measure dasar)</a:t>
            </a:r>
            <a:endParaRPr lang="en-US" sz="1400" dirty="0"/>
          </a:p>
        </p:txBody>
      </p:sp>
      <p:sp>
        <p:nvSpPr>
          <p:cNvPr id="6" name="Text 2"/>
          <p:cNvSpPr txBox="1"/>
          <p:nvPr/>
        </p:nvSpPr>
        <p:spPr>
          <a:xfrm>
            <a:off x="6126480" y="2240280"/>
            <a:ext cx="5486400" cy="320040"/>
          </a:xfrm>
          <a:prstGeom prst="rect">
            <a:avLst/>
          </a:prstGeom>
          <a:noFill/>
          <a:ln/>
        </p:spPr>
        <p:txBody>
          <a:bodyPr wrap="square" lIns="0" tIns="0" rIns="0" bIns="0" rtlCol="0" anchor="ctr"/>
          <a:lstStyle/>
          <a:p>
            <a:pPr indent="0" marL="0">
              <a:buNone/>
            </a:pPr>
            <a:r>
              <a:rPr lang="en-US" sz="1400" b="1" dirty="0">
                <a:solidFill>
                  <a:srgbClr val="1B7F8C"/>
                </a:solidFill>
                <a:latin typeface="Calibri" pitchFamily="34" charset="0"/>
                <a:ea typeface="Calibri" pitchFamily="34" charset="-122"/>
                <a:cs typeface="Calibri" pitchFamily="34" charset="-120"/>
              </a:rPr>
              <a:t>Revenue Share % (measure dengan ALL)</a:t>
            </a:r>
            <a:endParaRPr lang="en-US" sz="1400" dirty="0"/>
          </a:p>
        </p:txBody>
      </p:sp>
      <p:sp>
        <p:nvSpPr>
          <p:cNvPr id="7" name="Shape 3"/>
          <p:cNvSpPr/>
          <p:nvPr/>
        </p:nvSpPr>
        <p:spPr>
          <a:xfrm>
            <a:off x="548640" y="2743200"/>
            <a:ext cx="3566160" cy="3291840"/>
          </a:xfrm>
          <a:prstGeom prst="roundRect">
            <a:avLst>
              <a:gd name="adj" fmla="val 3333"/>
            </a:avLst>
          </a:prstGeom>
          <a:solidFill>
            <a:srgbClr val="F3F6F8"/>
          </a:solidFill>
          <a:ln w="12700">
            <a:solidFill>
              <a:srgbClr val="F3F6F8"/>
            </a:solidFill>
            <a:prstDash val="solid"/>
          </a:ln>
        </p:spPr>
      </p:sp>
      <p:sp>
        <p:nvSpPr>
          <p:cNvPr id="8" name="Text 4"/>
          <p:cNvSpPr txBox="1"/>
          <p:nvPr/>
        </p:nvSpPr>
        <p:spPr>
          <a:xfrm>
            <a:off x="777240" y="292608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Measure vs kolom</a:t>
            </a:r>
            <a:endParaRPr lang="en-US" sz="2000" dirty="0"/>
          </a:p>
        </p:txBody>
      </p:sp>
      <p:sp>
        <p:nvSpPr>
          <p:cNvPr id="9" name="Text 5"/>
          <p:cNvSpPr txBox="1"/>
          <p:nvPr/>
        </p:nvSpPr>
        <p:spPr>
          <a:xfrm>
            <a:off x="777240" y="3429000"/>
            <a:ext cx="3108960" cy="24231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Measure dihitung dinamis mengikuti filter yang aktif. Kolom hitungan dievaluasi per baris, sehingga tidak cocok untuk total atau rasio.</a:t>
            </a:r>
            <a:endParaRPr lang="en-US" sz="1600" dirty="0"/>
          </a:p>
        </p:txBody>
      </p:sp>
      <p:sp>
        <p:nvSpPr>
          <p:cNvPr id="10" name="Shape 6"/>
          <p:cNvSpPr/>
          <p:nvPr/>
        </p:nvSpPr>
        <p:spPr>
          <a:xfrm>
            <a:off x="4297680" y="2743200"/>
            <a:ext cx="3566160" cy="3291840"/>
          </a:xfrm>
          <a:prstGeom prst="roundRect">
            <a:avLst>
              <a:gd name="adj" fmla="val 3333"/>
            </a:avLst>
          </a:prstGeom>
          <a:solidFill>
            <a:srgbClr val="F3F6F8"/>
          </a:solidFill>
          <a:ln w="12700">
            <a:solidFill>
              <a:srgbClr val="F3F6F8"/>
            </a:solidFill>
            <a:prstDash val="solid"/>
          </a:ln>
        </p:spPr>
      </p:sp>
      <p:sp>
        <p:nvSpPr>
          <p:cNvPr id="11" name="Text 7"/>
          <p:cNvSpPr txBox="1"/>
          <p:nvPr/>
        </p:nvSpPr>
        <p:spPr>
          <a:xfrm>
            <a:off x="4526280" y="292608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DIVIDE</a:t>
            </a:r>
            <a:endParaRPr lang="en-US" sz="2000" dirty="0"/>
          </a:p>
        </p:txBody>
      </p:sp>
      <p:sp>
        <p:nvSpPr>
          <p:cNvPr id="12" name="Text 8"/>
          <p:cNvSpPr txBox="1"/>
          <p:nvPr/>
        </p:nvSpPr>
        <p:spPr>
          <a:xfrm>
            <a:off x="4526280" y="3429000"/>
            <a:ext cx="3108960" cy="24231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Dipakai pada Avg Order Value, Revenue per Customer, dan Revenue Share %. DIVIDE aman terhadap pembagi nol dan menghasilkan kosong, bukan galat.</a:t>
            </a:r>
            <a:endParaRPr lang="en-US" sz="1600" dirty="0"/>
          </a:p>
        </p:txBody>
      </p:sp>
      <p:sp>
        <p:nvSpPr>
          <p:cNvPr id="13" name="Shape 9"/>
          <p:cNvSpPr/>
          <p:nvPr/>
        </p:nvSpPr>
        <p:spPr>
          <a:xfrm>
            <a:off x="8046720" y="2743200"/>
            <a:ext cx="3566160" cy="3291840"/>
          </a:xfrm>
          <a:prstGeom prst="roundRect">
            <a:avLst>
              <a:gd name="adj" fmla="val 3333"/>
            </a:avLst>
          </a:prstGeom>
          <a:solidFill>
            <a:srgbClr val="F3F6F8"/>
          </a:solidFill>
          <a:ln w="12700">
            <a:solidFill>
              <a:srgbClr val="F3F6F8"/>
            </a:solidFill>
            <a:prstDash val="solid"/>
          </a:ln>
        </p:spPr>
      </p:sp>
      <p:sp>
        <p:nvSpPr>
          <p:cNvPr id="14" name="Text 10"/>
          <p:cNvSpPr txBox="1"/>
          <p:nvPr/>
        </p:nvSpPr>
        <p:spPr>
          <a:xfrm>
            <a:off x="8275320" y="292608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ALL dan konteks filter</a:t>
            </a:r>
            <a:endParaRPr lang="en-US" sz="2000" dirty="0"/>
          </a:p>
        </p:txBody>
      </p:sp>
      <p:sp>
        <p:nvSpPr>
          <p:cNvPr id="15" name="Text 11"/>
          <p:cNvSpPr txBox="1"/>
          <p:nvPr/>
        </p:nvSpPr>
        <p:spPr>
          <a:xfrm>
            <a:off x="8275320" y="3429000"/>
            <a:ext cx="3108960" cy="24231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ALL(Customers[Region]) menghapus filter wilayah pada penyebut, sehingga setiap wilayah dibandingkan dengan total seluruh wilayah (100%).</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Dashboard interaktif Power BI</a:t>
            </a:r>
            <a:endParaRPr lang="en-US" sz="3400" dirty="0"/>
          </a:p>
        </p:txBody>
      </p:sp>
      <p:sp>
        <p:nvSpPr>
          <p:cNvPr id="3" name="Shape 1"/>
          <p:cNvSpPr/>
          <p:nvPr/>
        </p:nvSpPr>
        <p:spPr>
          <a:xfrm>
            <a:off x="548640" y="1463040"/>
            <a:ext cx="3566160" cy="4206240"/>
          </a:xfrm>
          <a:prstGeom prst="roundRect">
            <a:avLst>
              <a:gd name="adj" fmla="val 3077"/>
            </a:avLst>
          </a:prstGeom>
          <a:solidFill>
            <a:srgbClr val="F3F6F8"/>
          </a:solidFill>
          <a:ln w="12700">
            <a:solidFill>
              <a:srgbClr val="F3F6F8"/>
            </a:solidFill>
            <a:prstDash val="solid"/>
          </a:ln>
        </p:spPr>
      </p:sp>
      <p:sp>
        <p:nvSpPr>
          <p:cNvPr id="4" name="Text 2"/>
          <p:cNvSpPr txBox="1"/>
          <p:nvPr/>
        </p:nvSpPr>
        <p:spPr>
          <a:xfrm>
            <a:off x="77724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1. Revenue Report</a:t>
            </a:r>
            <a:endParaRPr lang="en-US" sz="2000" dirty="0"/>
          </a:p>
        </p:txBody>
      </p:sp>
      <p:sp>
        <p:nvSpPr>
          <p:cNvPr id="5" name="Text 3"/>
          <p:cNvSpPr txBox="1"/>
          <p:nvPr/>
        </p:nvSpPr>
        <p:spPr>
          <a:xfrm>
            <a:off x="77724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Menjawab pertanyaan: kapan, produk apa, dan kategori apa yang paling menghasilkan. Isinya grafik garis revenue per bulan, bar chart per produk, dan donut per kategori. Slicer Year dan Region menyaring seluruh visual.</a:t>
            </a:r>
            <a:endParaRPr lang="en-US" sz="1600" dirty="0"/>
          </a:p>
        </p:txBody>
      </p:sp>
      <p:sp>
        <p:nvSpPr>
          <p:cNvPr id="6" name="Shape 4"/>
          <p:cNvSpPr/>
          <p:nvPr/>
        </p:nvSpPr>
        <p:spPr>
          <a:xfrm>
            <a:off x="4297680" y="1463040"/>
            <a:ext cx="3566160" cy="4206240"/>
          </a:xfrm>
          <a:prstGeom prst="roundRect">
            <a:avLst>
              <a:gd name="adj" fmla="val 3077"/>
            </a:avLst>
          </a:prstGeom>
          <a:solidFill>
            <a:srgbClr val="F3F6F8"/>
          </a:solidFill>
          <a:ln w="12700">
            <a:solidFill>
              <a:srgbClr val="F3F6F8"/>
            </a:solidFill>
            <a:prstDash val="solid"/>
          </a:ln>
        </p:spPr>
      </p:sp>
      <p:sp>
        <p:nvSpPr>
          <p:cNvPr id="7" name="Text 5"/>
          <p:cNvSpPr txBox="1"/>
          <p:nvPr/>
        </p:nvSpPr>
        <p:spPr>
          <a:xfrm>
            <a:off x="452628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2. Customer Behavior</a:t>
            </a:r>
            <a:endParaRPr lang="en-US" sz="2000" dirty="0"/>
          </a:p>
        </p:txBody>
      </p:sp>
      <p:sp>
        <p:nvSpPr>
          <p:cNvPr id="8" name="Text 6"/>
          <p:cNvSpPr txBox="1"/>
          <p:nvPr/>
        </p:nvSpPr>
        <p:spPr>
          <a:xfrm>
            <a:off x="452628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Menjawab pertanyaan: pelanggan mana yang paling bernilai. Isinya Revenue per Customer menurut wilayah dan jumlah pelanggan unik per wilayah, dengan slicer Region dan Year.</a:t>
            </a:r>
            <a:endParaRPr lang="en-US" sz="1600" dirty="0"/>
          </a:p>
        </p:txBody>
      </p:sp>
      <p:sp>
        <p:nvSpPr>
          <p:cNvPr id="9" name="Shape 7"/>
          <p:cNvSpPr/>
          <p:nvPr/>
        </p:nvSpPr>
        <p:spPr>
          <a:xfrm>
            <a:off x="8046720" y="1463040"/>
            <a:ext cx="3566160" cy="4206240"/>
          </a:xfrm>
          <a:prstGeom prst="roundRect">
            <a:avLst>
              <a:gd name="adj" fmla="val 3077"/>
            </a:avLst>
          </a:prstGeom>
          <a:solidFill>
            <a:srgbClr val="F3F6F8"/>
          </a:solidFill>
          <a:ln w="12700">
            <a:solidFill>
              <a:srgbClr val="F3F6F8"/>
            </a:solidFill>
            <a:prstDash val="solid"/>
          </a:ln>
        </p:spPr>
      </p:sp>
      <p:sp>
        <p:nvSpPr>
          <p:cNvPr id="10" name="Text 8"/>
          <p:cNvSpPr txBox="1"/>
          <p:nvPr/>
        </p:nvSpPr>
        <p:spPr>
          <a:xfrm>
            <a:off x="827532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3. KPI Summary</a:t>
            </a:r>
            <a:endParaRPr lang="en-US" sz="2000" dirty="0"/>
          </a:p>
        </p:txBody>
      </p:sp>
      <p:sp>
        <p:nvSpPr>
          <p:cNvPr id="11" name="Text 9"/>
          <p:cNvSpPr txBox="1"/>
          <p:nvPr/>
        </p:nvSpPr>
        <p:spPr>
          <a:xfrm>
            <a:off x="827532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Ringkasan eksekutif dalam satu halaman: empat kartu KPI dari measure DAX, tabel wilayah dengan Revenue per Customer dan Revenue Share %, serta grafik tren bulanan dan per kategori.</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Revenue Report: tren bulanan</a:t>
            </a:r>
            <a:endParaRPr lang="en-US" sz="3400" dirty="0"/>
          </a:p>
        </p:txBody>
      </p:sp>
      <p:pic>
        <p:nvPicPr>
          <p:cNvPr id="3" name="Image 0" descr="/tmp/claude-0/-home-user-EXACOUNT/b3a0efd5-5ef2-5930-a9ef-1d7b86874e77/scratchpad/rep/rev_line.png">    </p:cNvPr>
          <p:cNvPicPr>
            <a:picLocks noChangeAspect="1"/>
          </p:cNvPicPr>
          <p:nvPr/>
        </p:nvPicPr>
        <p:blipFill>
          <a:blip r:embed="rId1"/>
          <a:stretch>
            <a:fillRect/>
          </a:stretch>
        </p:blipFill>
        <p:spPr>
          <a:xfrm>
            <a:off x="548640" y="1371600"/>
            <a:ext cx="6949440" cy="2971800"/>
          </a:xfrm>
          <a:prstGeom prst="rect">
            <a:avLst/>
          </a:prstGeom>
        </p:spPr>
      </p:pic>
      <p:sp>
        <p:nvSpPr>
          <p:cNvPr id="4" name="Shape 1"/>
          <p:cNvSpPr/>
          <p:nvPr/>
        </p:nvSpPr>
        <p:spPr>
          <a:xfrm>
            <a:off x="7772400" y="1371600"/>
            <a:ext cx="3840480" cy="4480560"/>
          </a:xfrm>
          <a:prstGeom prst="roundRect">
            <a:avLst>
              <a:gd name="adj" fmla="val 2857"/>
            </a:avLst>
          </a:prstGeom>
          <a:solidFill>
            <a:srgbClr val="F3F6F8"/>
          </a:solidFill>
          <a:ln w="12700">
            <a:solidFill>
              <a:srgbClr val="F3F6F8"/>
            </a:solidFill>
            <a:prstDash val="solid"/>
          </a:ln>
        </p:spPr>
      </p:sp>
      <p:sp>
        <p:nvSpPr>
          <p:cNvPr id="5" name="Text 2"/>
          <p:cNvSpPr txBox="1"/>
          <p:nvPr/>
        </p:nvSpPr>
        <p:spPr>
          <a:xfrm>
            <a:off x="8001000" y="1554480"/>
            <a:ext cx="338328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Pembacaan</a:t>
            </a:r>
            <a:endParaRPr lang="en-US" sz="2000" dirty="0"/>
          </a:p>
        </p:txBody>
      </p:sp>
      <p:sp>
        <p:nvSpPr>
          <p:cNvPr id="6" name="Text 3"/>
          <p:cNvSpPr txBox="1"/>
          <p:nvPr/>
        </p:nvSpPr>
        <p:spPr>
          <a:xfrm>
            <a:off x="8001000" y="2057400"/>
            <a:ext cx="3383280" cy="361188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Grafik garis Total Revenue by Month. Puncak pada Juli (71.366) dan September (70.604), dasar pada November (38.224), lalu pulih di Desember. Pola menunjukkan musiman, dengan kuartal ketiga paling kuat.</a:t>
            </a:r>
            <a:endParaRPr lang="en-US" sz="1600" dirty="0"/>
          </a:p>
        </p:txBody>
      </p:sp>
      <p:sp>
        <p:nvSpPr>
          <p:cNvPr id="7" name="Text 4"/>
          <p:cNvSpPr txBox="1"/>
          <p:nvPr/>
        </p:nvSpPr>
        <p:spPr>
          <a:xfrm>
            <a:off x="548640" y="4572000"/>
            <a:ext cx="6949440" cy="73152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Slicer Year dan Region pada halaman ini menyaring grafik secara langsung.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Revenue Report: produk dan kategori</a:t>
            </a:r>
            <a:endParaRPr lang="en-US" sz="3400" dirty="0"/>
          </a:p>
        </p:txBody>
      </p:sp>
      <p:pic>
        <p:nvPicPr>
          <p:cNvPr id="3" name="Image 0" descr="/tmp/claude-0/-home-user-EXACOUNT/b3a0efd5-5ef2-5930-a9ef-1d7b86874e77/scratchpad/rep/rev_prod.png">    </p:cNvPr>
          <p:cNvPicPr>
            <a:picLocks noChangeAspect="1"/>
          </p:cNvPicPr>
          <p:nvPr/>
        </p:nvPicPr>
        <p:blipFill>
          <a:blip r:embed="rId1"/>
          <a:stretch>
            <a:fillRect/>
          </a:stretch>
        </p:blipFill>
        <p:spPr>
          <a:xfrm>
            <a:off x="548640" y="1371600"/>
            <a:ext cx="3749040" cy="2743200"/>
          </a:xfrm>
          <a:prstGeom prst="rect">
            <a:avLst/>
          </a:prstGeom>
        </p:spPr>
      </p:pic>
      <p:pic>
        <p:nvPicPr>
          <p:cNvPr id="4" name="Image 1" descr="/tmp/claude-0/-home-user-EXACOUNT/b3a0efd5-5ef2-5930-a9ef-1d7b86874e77/scratchpad/rep/rev_cat.png">    </p:cNvPr>
          <p:cNvPicPr>
            <a:picLocks noChangeAspect="1"/>
          </p:cNvPicPr>
          <p:nvPr/>
        </p:nvPicPr>
        <p:blipFill>
          <a:blip r:embed="rId2"/>
          <a:stretch>
            <a:fillRect/>
          </a:stretch>
        </p:blipFill>
        <p:spPr>
          <a:xfrm>
            <a:off x="4480560" y="1371600"/>
            <a:ext cx="3749040" cy="2743200"/>
          </a:xfrm>
          <a:prstGeom prst="rect">
            <a:avLst/>
          </a:prstGeom>
        </p:spPr>
      </p:pic>
      <p:sp>
        <p:nvSpPr>
          <p:cNvPr id="5" name="Text 1"/>
          <p:cNvSpPr txBox="1"/>
          <p:nvPr/>
        </p:nvSpPr>
        <p:spPr>
          <a:xfrm>
            <a:off x="548640" y="4160520"/>
            <a:ext cx="3749040" cy="365760"/>
          </a:xfrm>
          <a:prstGeom prst="rect">
            <a:avLst/>
          </a:prstGeom>
          <a:noFill/>
          <a:ln/>
        </p:spPr>
        <p:txBody>
          <a:bodyPr wrap="square" lIns="0" tIns="0" rIns="0" bIns="0" rtlCol="0" anchor="ctr"/>
          <a:lstStyle/>
          <a:p>
            <a:pPr algn="ctr" indent="0" marL="0">
              <a:buNone/>
            </a:pPr>
            <a:r>
              <a:rPr lang="en-US" sz="1400" dirty="0">
                <a:solidFill>
                  <a:srgbClr val="5B6B79"/>
                </a:solidFill>
                <a:latin typeface="Calibri" pitchFamily="34" charset="0"/>
                <a:ea typeface="Calibri" pitchFamily="34" charset="-122"/>
                <a:cs typeface="Calibri" pitchFamily="34" charset="-120"/>
              </a:rPr>
              <a:t>Total Sales by Product</a:t>
            </a:r>
            <a:endParaRPr lang="en-US" sz="1400" dirty="0"/>
          </a:p>
        </p:txBody>
      </p:sp>
      <p:sp>
        <p:nvSpPr>
          <p:cNvPr id="6" name="Text 2"/>
          <p:cNvSpPr txBox="1"/>
          <p:nvPr/>
        </p:nvSpPr>
        <p:spPr>
          <a:xfrm>
            <a:off x="4480560" y="4160520"/>
            <a:ext cx="3749040" cy="365760"/>
          </a:xfrm>
          <a:prstGeom prst="rect">
            <a:avLst/>
          </a:prstGeom>
          <a:noFill/>
          <a:ln/>
        </p:spPr>
        <p:txBody>
          <a:bodyPr wrap="square" lIns="0" tIns="0" rIns="0" bIns="0" rtlCol="0" anchor="ctr"/>
          <a:lstStyle/>
          <a:p>
            <a:pPr algn="ctr" indent="0" marL="0">
              <a:buNone/>
            </a:pPr>
            <a:r>
              <a:rPr lang="en-US" sz="1400" dirty="0">
                <a:solidFill>
                  <a:srgbClr val="5B6B79"/>
                </a:solidFill>
                <a:latin typeface="Calibri" pitchFamily="34" charset="0"/>
                <a:ea typeface="Calibri" pitchFamily="34" charset="-122"/>
                <a:cs typeface="Calibri" pitchFamily="34" charset="-120"/>
              </a:rPr>
              <a:t>Total Sales by Category</a:t>
            </a:r>
            <a:endParaRPr lang="en-US" sz="1400" dirty="0"/>
          </a:p>
        </p:txBody>
      </p:sp>
      <p:sp>
        <p:nvSpPr>
          <p:cNvPr id="7" name="Shape 3"/>
          <p:cNvSpPr/>
          <p:nvPr/>
        </p:nvSpPr>
        <p:spPr>
          <a:xfrm>
            <a:off x="8503920" y="1371600"/>
            <a:ext cx="3108960" cy="4480560"/>
          </a:xfrm>
          <a:prstGeom prst="roundRect">
            <a:avLst>
              <a:gd name="adj" fmla="val 3529"/>
            </a:avLst>
          </a:prstGeom>
          <a:solidFill>
            <a:srgbClr val="F3F6F8"/>
          </a:solidFill>
          <a:ln w="12700">
            <a:solidFill>
              <a:srgbClr val="F3F6F8"/>
            </a:solidFill>
            <a:prstDash val="solid"/>
          </a:ln>
        </p:spPr>
      </p:sp>
      <p:sp>
        <p:nvSpPr>
          <p:cNvPr id="8" name="Text 4"/>
          <p:cNvSpPr txBox="1"/>
          <p:nvPr/>
        </p:nvSpPr>
        <p:spPr>
          <a:xfrm>
            <a:off x="8732520" y="1554480"/>
            <a:ext cx="26517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Pembacaan</a:t>
            </a:r>
            <a:endParaRPr lang="en-US" sz="2000" dirty="0"/>
          </a:p>
        </p:txBody>
      </p:sp>
      <p:sp>
        <p:nvSpPr>
          <p:cNvPr id="9" name="Text 5"/>
          <p:cNvSpPr txBox="1"/>
          <p:nvPr/>
        </p:nvSpPr>
        <p:spPr>
          <a:xfrm>
            <a:off x="8732520" y="2057400"/>
            <a:ext cx="2651760" cy="361188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Bar chart dikelompokkan per ProductName, sehingga satu nama dapat mewakili beberapa ProductID. Donut menunjukkan Books 27,8%, Electronics 26,2%, Clothing 24,1%, dan Home Decor 21,9%.</a:t>
            </a:r>
            <a:endParaRPr lang="en-US" sz="1600" dirty="0"/>
          </a:p>
        </p:txBody>
      </p:sp>
      <p:sp>
        <p:nvSpPr>
          <p:cNvPr id="10" name="Text 6"/>
          <p:cNvSpPr txBox="1"/>
          <p:nvPr/>
        </p:nvSpPr>
        <p:spPr>
          <a:xfrm>
            <a:off x="548640" y="4663440"/>
            <a:ext cx="7680960" cy="731520"/>
          </a:xfrm>
          <a:prstGeom prst="rect">
            <a:avLst/>
          </a:prstGeom>
          <a:noFill/>
          <a:ln/>
        </p:spPr>
        <p:txBody>
          <a:bodyPr wrap="square" lIns="0" tIns="0" rIns="0" bIns="0" rtlCol="0" anchor="ctr"/>
          <a:lstStyle/>
          <a:p>
            <a:pPr indent="0" marL="0">
              <a:buNone/>
            </a:pPr>
            <a:r>
              <a:rPr lang="en-US" sz="1600" dirty="0">
                <a:solidFill>
                  <a:srgbClr val="1E2A35"/>
                </a:solidFill>
                <a:latin typeface="Calibri" pitchFamily="34" charset="0"/>
                <a:ea typeface="Calibri" pitchFamily="34" charset="-122"/>
                <a:cs typeface="Calibri" pitchFamily="34" charset="-120"/>
              </a:rPr>
              <a:t>Dua kategori teratas menyumbang sekitar 54% revenue.</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Customer Behavior Report</a:t>
            </a:r>
            <a:endParaRPr lang="en-US" sz="3400" dirty="0"/>
          </a:p>
        </p:txBody>
      </p:sp>
      <p:pic>
        <p:nvPicPr>
          <p:cNvPr id="3" name="Image 0" descr="/tmp/claude-0/-home-user-EXACOUNT/b3a0efd5-5ef2-5930-a9ef-1d7b86874e77/scratchpad/rep/beh_page.png">    </p:cNvPr>
          <p:cNvPicPr>
            <a:picLocks noChangeAspect="1"/>
          </p:cNvPicPr>
          <p:nvPr/>
        </p:nvPicPr>
        <p:blipFill>
          <a:blip r:embed="rId1"/>
          <a:stretch>
            <a:fillRect/>
          </a:stretch>
        </p:blipFill>
        <p:spPr>
          <a:xfrm>
            <a:off x="548640" y="1280160"/>
            <a:ext cx="6766560" cy="3749040"/>
          </a:xfrm>
          <a:prstGeom prst="rect">
            <a:avLst/>
          </a:prstGeom>
        </p:spPr>
      </p:pic>
      <p:sp>
        <p:nvSpPr>
          <p:cNvPr id="4" name="Shape 1"/>
          <p:cNvSpPr/>
          <p:nvPr/>
        </p:nvSpPr>
        <p:spPr>
          <a:xfrm>
            <a:off x="7589520" y="1280160"/>
            <a:ext cx="4023360" cy="4572000"/>
          </a:xfrm>
          <a:prstGeom prst="roundRect">
            <a:avLst>
              <a:gd name="adj" fmla="val 2727"/>
            </a:avLst>
          </a:prstGeom>
          <a:solidFill>
            <a:srgbClr val="F3F6F8"/>
          </a:solidFill>
          <a:ln w="12700">
            <a:solidFill>
              <a:srgbClr val="F3F6F8"/>
            </a:solidFill>
            <a:prstDash val="solid"/>
          </a:ln>
        </p:spPr>
      </p:sp>
      <p:sp>
        <p:nvSpPr>
          <p:cNvPr id="5" name="Text 2"/>
          <p:cNvSpPr txBox="1"/>
          <p:nvPr/>
        </p:nvSpPr>
        <p:spPr>
          <a:xfrm>
            <a:off x="7818120" y="1463040"/>
            <a:ext cx="35661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Isi halaman</a:t>
            </a:r>
            <a:endParaRPr lang="en-US" sz="2000" dirty="0"/>
          </a:p>
        </p:txBody>
      </p:sp>
      <p:sp>
        <p:nvSpPr>
          <p:cNvPr id="6" name="Text 3"/>
          <p:cNvSpPr txBox="1"/>
          <p:nvPr/>
        </p:nvSpPr>
        <p:spPr>
          <a:xfrm>
            <a:off x="7818120" y="1965960"/>
            <a:ext cx="3566160" cy="37033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Revenue per Customer menurut wilayah, dengan slicer Region dan Year. South America tertinggi (3.718), disusul Asia (3.456), Europe (3.325), North America (3.311). Wilayah dengan pelanggan lebih sedikit dapat memiliki nilai per pelanggan lebih tinggi.</a:t>
            </a:r>
            <a:endParaRPr lang="en-US" sz="1600" dirty="0"/>
          </a:p>
        </p:txBody>
      </p:sp>
      <p:sp>
        <p:nvSpPr>
          <p:cNvPr id="7" name="Text 4"/>
          <p:cNvSpPr txBox="1"/>
          <p:nvPr/>
        </p:nvSpPr>
        <p:spPr>
          <a:xfrm>
            <a:off x="548640" y="5212080"/>
            <a:ext cx="6766560" cy="548640"/>
          </a:xfrm>
          <a:prstGeom prst="rect">
            <a:avLst/>
          </a:prstGeom>
          <a:noFill/>
          <a:ln/>
        </p:spPr>
        <p:txBody>
          <a:bodyPr wrap="square" lIns="0" tIns="0" rIns="0" bIns="0" rtlCol="0" anchor="ctr"/>
          <a:lstStyle/>
          <a:p>
            <a:pPr indent="0" marL="0">
              <a:buNone/>
            </a:pPr>
            <a:r>
              <a:rPr lang="en-US" sz="1300" dirty="0">
                <a:solidFill>
                  <a:srgbClr val="5B6B79"/>
                </a:solidFill>
                <a:latin typeface="Courier New" pitchFamily="34" charset="0"/>
                <a:ea typeface="Courier New" pitchFamily="34" charset="-122"/>
                <a:cs typeface="Courier New" pitchFamily="34" charset="-120"/>
              </a:rPr>
              <a:t>Revenue per Customer = DIVIDE([Total Revenue], [Total Unique Customers])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KPI Summary</a:t>
            </a:r>
            <a:endParaRPr lang="en-US" sz="3400" dirty="0"/>
          </a:p>
        </p:txBody>
      </p:sp>
      <p:pic>
        <p:nvPicPr>
          <p:cNvPr id="3" name="Image 0" descr="/tmp/claude-0/-home-user-EXACOUNT/b3a0efd5-5ef2-5930-a9ef-1d7b86874e77/images/77.png">    </p:cNvPr>
          <p:cNvPicPr>
            <a:picLocks noChangeAspect="1"/>
          </p:cNvPicPr>
          <p:nvPr/>
        </p:nvPicPr>
        <p:blipFill>
          <a:blip r:embed="rId1"/>
          <a:stretch>
            <a:fillRect/>
          </a:stretch>
        </p:blipFill>
        <p:spPr>
          <a:xfrm>
            <a:off x="548640" y="1280160"/>
            <a:ext cx="11064240" cy="1536192"/>
          </a:xfrm>
          <a:prstGeom prst="rect">
            <a:avLst/>
          </a:prstGeom>
        </p:spPr>
      </p:pic>
      <p:pic>
        <p:nvPicPr>
          <p:cNvPr id="4" name="Image 1" descr="/tmp/claude-0/-home-user-EXACOUNT/b3a0efd5-5ef2-5930-a9ef-1d7b86874e77/images/80.png">    </p:cNvPr>
          <p:cNvPicPr>
            <a:picLocks noChangeAspect="1"/>
          </p:cNvPicPr>
          <p:nvPr/>
        </p:nvPicPr>
        <p:blipFill>
          <a:blip r:embed="rId2"/>
          <a:stretch>
            <a:fillRect/>
          </a:stretch>
        </p:blipFill>
        <p:spPr>
          <a:xfrm>
            <a:off x="548640" y="3017520"/>
            <a:ext cx="3931920" cy="1728216"/>
          </a:xfrm>
          <a:prstGeom prst="rect">
            <a:avLst/>
          </a:prstGeom>
        </p:spPr>
      </p:pic>
      <p:pic>
        <p:nvPicPr>
          <p:cNvPr id="5" name="Image 2" descr="/tmp/claude-0/-home-user-EXACOUNT/b3a0efd5-5ef2-5930-a9ef-1d7b86874e77/images/81.png">    </p:cNvPr>
          <p:cNvPicPr>
            <a:picLocks noChangeAspect="1"/>
          </p:cNvPicPr>
          <p:nvPr/>
        </p:nvPicPr>
        <p:blipFill>
          <a:blip r:embed="rId3"/>
          <a:stretch>
            <a:fillRect/>
          </a:stretch>
        </p:blipFill>
        <p:spPr>
          <a:xfrm>
            <a:off x="4754880" y="3017520"/>
            <a:ext cx="6858000" cy="1920240"/>
          </a:xfrm>
          <a:prstGeom prst="rect">
            <a:avLst/>
          </a:prstGeom>
        </p:spPr>
      </p:pic>
      <p:sp>
        <p:nvSpPr>
          <p:cNvPr id="6" name="Text 1"/>
          <p:cNvSpPr txBox="1"/>
          <p:nvPr/>
        </p:nvSpPr>
        <p:spPr>
          <a:xfrm>
            <a:off x="548640" y="5120640"/>
            <a:ext cx="11064240" cy="100584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Empat kartu: Total Revenue, Total Transactions, Total Unique Customers (199), dan Avg Order Value (690,00). Tabel membandingkan wilayah dengan Revenue per Customer, Total Revenue, dan Revenue Share %. Grafik garis menampilkan tren bulanan.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Ringkasan kinerja 2024</a:t>
            </a:r>
            <a:endParaRPr lang="en-US" sz="3400" dirty="0"/>
          </a:p>
        </p:txBody>
      </p:sp>
      <p:sp>
        <p:nvSpPr>
          <p:cNvPr id="3" name="Text 1"/>
          <p:cNvSpPr txBox="1"/>
          <p:nvPr/>
        </p:nvSpPr>
        <p:spPr>
          <a:xfrm>
            <a:off x="548640" y="1554480"/>
            <a:ext cx="2103120" cy="822960"/>
          </a:xfrm>
          <a:prstGeom prst="rect">
            <a:avLst/>
          </a:prstGeom>
          <a:noFill/>
          <a:ln/>
        </p:spPr>
        <p:txBody>
          <a:bodyPr wrap="square" lIns="0" tIns="0" rIns="0" bIns="0" rtlCol="0" anchor="ctr"/>
          <a:lstStyle/>
          <a:p>
            <a:pPr indent="0" marL="0">
              <a:buNone/>
            </a:pPr>
            <a:r>
              <a:rPr lang="en-US" sz="3800" b="1" dirty="0">
                <a:solidFill>
                  <a:srgbClr val="1B7F8C"/>
                </a:solidFill>
                <a:latin typeface="Cambria" pitchFamily="34" charset="0"/>
                <a:ea typeface="Cambria" pitchFamily="34" charset="-122"/>
                <a:cs typeface="Cambria" pitchFamily="34" charset="-120"/>
              </a:rPr>
              <a:t>689.996</a:t>
            </a:r>
            <a:endParaRPr lang="en-US" sz="3800" dirty="0"/>
          </a:p>
        </p:txBody>
      </p:sp>
      <p:sp>
        <p:nvSpPr>
          <p:cNvPr id="4" name="Text 2"/>
          <p:cNvSpPr txBox="1"/>
          <p:nvPr/>
        </p:nvSpPr>
        <p:spPr>
          <a:xfrm>
            <a:off x="548640" y="237744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total revenue</a:t>
            </a:r>
            <a:endParaRPr lang="en-US" sz="1400" dirty="0"/>
          </a:p>
        </p:txBody>
      </p:sp>
      <p:sp>
        <p:nvSpPr>
          <p:cNvPr id="5" name="Text 3"/>
          <p:cNvSpPr txBox="1"/>
          <p:nvPr/>
        </p:nvSpPr>
        <p:spPr>
          <a:xfrm>
            <a:off x="2834640" y="1554480"/>
            <a:ext cx="2103120" cy="822960"/>
          </a:xfrm>
          <a:prstGeom prst="rect">
            <a:avLst/>
          </a:prstGeom>
          <a:noFill/>
          <a:ln/>
        </p:spPr>
        <p:txBody>
          <a:bodyPr wrap="square" lIns="0" tIns="0" rIns="0" bIns="0" rtlCol="0" anchor="ctr"/>
          <a:lstStyle/>
          <a:p>
            <a:pPr indent="0" marL="0">
              <a:buNone/>
            </a:pPr>
            <a:r>
              <a:rPr lang="en-US" sz="3800" b="1" dirty="0">
                <a:solidFill>
                  <a:srgbClr val="F28C28"/>
                </a:solidFill>
                <a:latin typeface="Cambria" pitchFamily="34" charset="0"/>
                <a:ea typeface="Cambria" pitchFamily="34" charset="-122"/>
                <a:cs typeface="Cambria" pitchFamily="34" charset="-120"/>
              </a:rPr>
              <a:t>1.000</a:t>
            </a:r>
            <a:endParaRPr lang="en-US" sz="3800" dirty="0"/>
          </a:p>
        </p:txBody>
      </p:sp>
      <p:sp>
        <p:nvSpPr>
          <p:cNvPr id="6" name="Text 4"/>
          <p:cNvSpPr txBox="1"/>
          <p:nvPr/>
        </p:nvSpPr>
        <p:spPr>
          <a:xfrm>
            <a:off x="2834640" y="237744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transaksi</a:t>
            </a:r>
            <a:endParaRPr lang="en-US" sz="1400" dirty="0"/>
          </a:p>
        </p:txBody>
      </p:sp>
      <p:sp>
        <p:nvSpPr>
          <p:cNvPr id="7" name="Text 5"/>
          <p:cNvSpPr txBox="1"/>
          <p:nvPr/>
        </p:nvSpPr>
        <p:spPr>
          <a:xfrm>
            <a:off x="5120640" y="1554480"/>
            <a:ext cx="2103120" cy="822960"/>
          </a:xfrm>
          <a:prstGeom prst="rect">
            <a:avLst/>
          </a:prstGeom>
          <a:noFill/>
          <a:ln/>
        </p:spPr>
        <p:txBody>
          <a:bodyPr wrap="square" lIns="0" tIns="0" rIns="0" bIns="0" rtlCol="0" anchor="ctr"/>
          <a:lstStyle/>
          <a:p>
            <a:pPr indent="0" marL="0">
              <a:buNone/>
            </a:pPr>
            <a:r>
              <a:rPr lang="en-US" sz="3800" b="1" dirty="0">
                <a:solidFill>
                  <a:srgbClr val="12304A"/>
                </a:solidFill>
                <a:latin typeface="Cambria" pitchFamily="34" charset="0"/>
                <a:ea typeface="Cambria" pitchFamily="34" charset="-122"/>
                <a:cs typeface="Cambria" pitchFamily="34" charset="-120"/>
              </a:rPr>
              <a:t>199</a:t>
            </a:r>
            <a:endParaRPr lang="en-US" sz="3800" dirty="0"/>
          </a:p>
        </p:txBody>
      </p:sp>
      <p:sp>
        <p:nvSpPr>
          <p:cNvPr id="8" name="Text 6"/>
          <p:cNvSpPr txBox="1"/>
          <p:nvPr/>
        </p:nvSpPr>
        <p:spPr>
          <a:xfrm>
            <a:off x="5120640" y="237744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pelanggan aktif</a:t>
            </a:r>
            <a:endParaRPr lang="en-US" sz="1400" dirty="0"/>
          </a:p>
        </p:txBody>
      </p:sp>
      <p:sp>
        <p:nvSpPr>
          <p:cNvPr id="9" name="Text 7"/>
          <p:cNvSpPr txBox="1"/>
          <p:nvPr/>
        </p:nvSpPr>
        <p:spPr>
          <a:xfrm>
            <a:off x="7406640" y="1554480"/>
            <a:ext cx="2103120" cy="822960"/>
          </a:xfrm>
          <a:prstGeom prst="rect">
            <a:avLst/>
          </a:prstGeom>
          <a:noFill/>
          <a:ln/>
        </p:spPr>
        <p:txBody>
          <a:bodyPr wrap="square" lIns="0" tIns="0" rIns="0" bIns="0" rtlCol="0" anchor="ctr"/>
          <a:lstStyle/>
          <a:p>
            <a:pPr indent="0" marL="0">
              <a:buNone/>
            </a:pPr>
            <a:r>
              <a:rPr lang="en-US" sz="3800" b="1" dirty="0">
                <a:solidFill>
                  <a:srgbClr val="1B7F8C"/>
                </a:solidFill>
                <a:latin typeface="Cambria" pitchFamily="34" charset="0"/>
                <a:ea typeface="Cambria" pitchFamily="34" charset="-122"/>
                <a:cs typeface="Cambria" pitchFamily="34" charset="-120"/>
              </a:rPr>
              <a:t>2.537</a:t>
            </a:r>
            <a:endParaRPr lang="en-US" sz="3800" dirty="0"/>
          </a:p>
        </p:txBody>
      </p:sp>
      <p:sp>
        <p:nvSpPr>
          <p:cNvPr id="10" name="Text 8"/>
          <p:cNvSpPr txBox="1"/>
          <p:nvPr/>
        </p:nvSpPr>
        <p:spPr>
          <a:xfrm>
            <a:off x="7406640" y="237744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unit terjual</a:t>
            </a:r>
            <a:endParaRPr lang="en-US" sz="1400" dirty="0"/>
          </a:p>
        </p:txBody>
      </p:sp>
      <p:sp>
        <p:nvSpPr>
          <p:cNvPr id="11" name="Text 9"/>
          <p:cNvSpPr txBox="1"/>
          <p:nvPr/>
        </p:nvSpPr>
        <p:spPr>
          <a:xfrm>
            <a:off x="9692640" y="1554480"/>
            <a:ext cx="2103120" cy="822960"/>
          </a:xfrm>
          <a:prstGeom prst="rect">
            <a:avLst/>
          </a:prstGeom>
          <a:noFill/>
          <a:ln/>
        </p:spPr>
        <p:txBody>
          <a:bodyPr wrap="square" lIns="0" tIns="0" rIns="0" bIns="0" rtlCol="0" anchor="ctr"/>
          <a:lstStyle/>
          <a:p>
            <a:pPr indent="0" marL="0">
              <a:buNone/>
            </a:pPr>
            <a:r>
              <a:rPr lang="en-US" sz="3800" b="1" dirty="0">
                <a:solidFill>
                  <a:srgbClr val="F28C28"/>
                </a:solidFill>
                <a:latin typeface="Cambria" pitchFamily="34" charset="0"/>
                <a:ea typeface="Cambria" pitchFamily="34" charset="-122"/>
                <a:cs typeface="Cambria" pitchFamily="34" charset="-120"/>
              </a:rPr>
              <a:t>690,00</a:t>
            </a:r>
            <a:endParaRPr lang="en-US" sz="3800" dirty="0"/>
          </a:p>
        </p:txBody>
      </p:sp>
      <p:sp>
        <p:nvSpPr>
          <p:cNvPr id="12" name="Text 10"/>
          <p:cNvSpPr txBox="1"/>
          <p:nvPr/>
        </p:nvSpPr>
        <p:spPr>
          <a:xfrm>
            <a:off x="9692640" y="237744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rata-rata nilai per transaksi</a:t>
            </a:r>
            <a:endParaRPr lang="en-US" sz="1400" dirty="0"/>
          </a:p>
        </p:txBody>
      </p:sp>
      <p:sp>
        <p:nvSpPr>
          <p:cNvPr id="13" name="Shape 11"/>
          <p:cNvSpPr/>
          <p:nvPr/>
        </p:nvSpPr>
        <p:spPr>
          <a:xfrm>
            <a:off x="548640" y="3383280"/>
            <a:ext cx="11064240" cy="2286000"/>
          </a:xfrm>
          <a:prstGeom prst="roundRect">
            <a:avLst>
              <a:gd name="adj" fmla="val 4800"/>
            </a:avLst>
          </a:prstGeom>
          <a:solidFill>
            <a:srgbClr val="F3F6F8"/>
          </a:solidFill>
          <a:ln w="12700">
            <a:solidFill>
              <a:srgbClr val="F3F6F8"/>
            </a:solidFill>
            <a:prstDash val="solid"/>
          </a:ln>
        </p:spPr>
      </p:sp>
      <p:sp>
        <p:nvSpPr>
          <p:cNvPr id="14" name="Text 12"/>
          <p:cNvSpPr txBox="1"/>
          <p:nvPr/>
        </p:nvSpPr>
        <p:spPr>
          <a:xfrm>
            <a:off x="777240" y="356616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Makna angka</a:t>
            </a:r>
            <a:endParaRPr lang="en-US" sz="2000" dirty="0"/>
          </a:p>
        </p:txBody>
      </p:sp>
      <p:sp>
        <p:nvSpPr>
          <p:cNvPr id="15" name="Text 13"/>
          <p:cNvSpPr txBox="1"/>
          <p:nvPr/>
        </p:nvSpPr>
        <p:spPr>
          <a:xfrm>
            <a:off x="777240" y="4069080"/>
            <a:ext cx="10607040" cy="14173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Rata-rata pelanggan aktif bertransaksi sekitar 5 kali dan menghasilkan sekitar 3.467 revenue. Nilai transaksi rata-rata 690 dengan 2,5 unit per transaksi. Dua puluh pelanggan teratas (10%) menyumbang 20% revenue, sehingga pendapatan tidak terlalu bergantung pada segelintir pelanggan.</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Tren revenue bulanan 2024</a:t>
            </a:r>
            <a:endParaRPr lang="en-US" sz="3400" dirty="0"/>
          </a:p>
        </p:txBody>
      </p:sp>
      <p:graphicFrame>
        <p:nvGraphicFramePr>
          <p:cNvPr id="3" name="Chart 0" descr=""/>
          <p:cNvGraphicFramePr/>
          <p:nvPr/>
        </p:nvGraphicFramePr>
        <p:xfrm>
          <a:off x="548640" y="128016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412480" y="1463040"/>
            <a:ext cx="320040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71.366</a:t>
            </a:r>
            <a:endParaRPr lang="en-US" sz="4800" dirty="0"/>
          </a:p>
        </p:txBody>
      </p:sp>
      <p:sp>
        <p:nvSpPr>
          <p:cNvPr id="5" name="Text 2"/>
          <p:cNvSpPr txBox="1"/>
          <p:nvPr/>
        </p:nvSpPr>
        <p:spPr>
          <a:xfrm>
            <a:off x="8412480" y="2286000"/>
            <a:ext cx="320040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puncak: Juli</a:t>
            </a:r>
            <a:endParaRPr lang="en-US" sz="1400" dirty="0"/>
          </a:p>
        </p:txBody>
      </p:sp>
      <p:sp>
        <p:nvSpPr>
          <p:cNvPr id="6" name="Text 3"/>
          <p:cNvSpPr txBox="1"/>
          <p:nvPr/>
        </p:nvSpPr>
        <p:spPr>
          <a:xfrm>
            <a:off x="8412480" y="2743200"/>
            <a:ext cx="3200400" cy="82296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38.224</a:t>
            </a:r>
            <a:endParaRPr lang="en-US" sz="4800" dirty="0"/>
          </a:p>
        </p:txBody>
      </p:sp>
      <p:sp>
        <p:nvSpPr>
          <p:cNvPr id="7" name="Text 4"/>
          <p:cNvSpPr txBox="1"/>
          <p:nvPr/>
        </p:nvSpPr>
        <p:spPr>
          <a:xfrm>
            <a:off x="8412480" y="3566160"/>
            <a:ext cx="320040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terendah: November</a:t>
            </a:r>
            <a:endParaRPr lang="en-US" sz="1400" dirty="0"/>
          </a:p>
        </p:txBody>
      </p:sp>
      <p:sp>
        <p:nvSpPr>
          <p:cNvPr id="8" name="Text 5"/>
          <p:cNvSpPr txBox="1"/>
          <p:nvPr/>
        </p:nvSpPr>
        <p:spPr>
          <a:xfrm>
            <a:off x="8412480" y="4023360"/>
            <a:ext cx="3200400" cy="822960"/>
          </a:xfrm>
          <a:prstGeom prst="rect">
            <a:avLst/>
          </a:prstGeom>
          <a:noFill/>
          <a:ln/>
        </p:spPr>
        <p:txBody>
          <a:bodyPr wrap="square" lIns="0" tIns="0" rIns="0" bIns="0" rtlCol="0" anchor="ctr"/>
          <a:lstStyle/>
          <a:p>
            <a:pPr indent="0" marL="0">
              <a:buNone/>
            </a:pPr>
            <a:r>
              <a:rPr lang="en-US" sz="4800" b="1" dirty="0">
                <a:solidFill>
                  <a:srgbClr val="12304A"/>
                </a:solidFill>
                <a:latin typeface="Cambria" pitchFamily="34" charset="0"/>
                <a:ea typeface="Cambria" pitchFamily="34" charset="-122"/>
                <a:cs typeface="Cambria" pitchFamily="34" charset="-120"/>
              </a:rPr>
              <a:t>205.407</a:t>
            </a:r>
            <a:endParaRPr lang="en-US" sz="4800" dirty="0"/>
          </a:p>
        </p:txBody>
      </p:sp>
      <p:sp>
        <p:nvSpPr>
          <p:cNvPr id="9" name="Text 6"/>
          <p:cNvSpPr txBox="1"/>
          <p:nvPr/>
        </p:nvSpPr>
        <p:spPr>
          <a:xfrm>
            <a:off x="8412480" y="4846320"/>
            <a:ext cx="320040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kuartal terkuat: Q3</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Revenue per kategori produk</a:t>
            </a:r>
            <a:endParaRPr lang="en-US" sz="3400" dirty="0"/>
          </a:p>
        </p:txBody>
      </p:sp>
      <p:graphicFrame>
        <p:nvGraphicFramePr>
          <p:cNvPr id="3" name="Chart 0" descr=""/>
          <p:cNvGraphicFramePr/>
          <p:nvPr/>
        </p:nvGraphicFramePr>
        <p:xfrm>
          <a:off x="548640" y="128016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589520" y="1463040"/>
            <a:ext cx="4023360" cy="4023360"/>
          </a:xfrm>
          <a:prstGeom prst="roundRect">
            <a:avLst>
              <a:gd name="adj" fmla="val 2727"/>
            </a:avLst>
          </a:prstGeom>
          <a:solidFill>
            <a:srgbClr val="F3F6F8"/>
          </a:solidFill>
          <a:ln w="12700">
            <a:solidFill>
              <a:srgbClr val="F3F6F8"/>
            </a:solidFill>
            <a:prstDash val="solid"/>
          </a:ln>
        </p:spPr>
      </p:sp>
      <p:sp>
        <p:nvSpPr>
          <p:cNvPr id="5" name="Text 2"/>
          <p:cNvSpPr txBox="1"/>
          <p:nvPr/>
        </p:nvSpPr>
        <p:spPr>
          <a:xfrm>
            <a:off x="7818120" y="1645920"/>
            <a:ext cx="35661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Pembacaan</a:t>
            </a:r>
            <a:endParaRPr lang="en-US" sz="2000" dirty="0"/>
          </a:p>
        </p:txBody>
      </p:sp>
      <p:sp>
        <p:nvSpPr>
          <p:cNvPr id="6" name="Text 3"/>
          <p:cNvSpPr txBox="1"/>
          <p:nvPr/>
        </p:nvSpPr>
        <p:spPr>
          <a:xfrm>
            <a:off x="7818120" y="2148840"/>
            <a:ext cx="3566160" cy="315468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Books memimpin dengan 27,8% revenue (192.147), disusul Electronics 26,2%. Clothing 24,1% dan Home Decor 21,9%. Selisih tertinggi dan terendah sekitar 41 ribu.</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Revenue per wilayah</a:t>
            </a:r>
            <a:endParaRPr lang="en-US" sz="3400" dirty="0"/>
          </a:p>
        </p:txBody>
      </p:sp>
      <p:graphicFrame>
        <p:nvGraphicFramePr>
          <p:cNvPr id="3" name="Chart 0" descr=""/>
          <p:cNvGraphicFramePr/>
          <p:nvPr/>
        </p:nvGraphicFramePr>
        <p:xfrm>
          <a:off x="548640" y="1280160"/>
          <a:ext cx="585216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766560" y="1645920"/>
          <a:ext cx="4846320" cy="914400"/>
        </p:xfrm>
        <a:graphic>
          <a:graphicData uri="http://schemas.openxmlformats.org/drawingml/2006/table">
            <a:tbl>
              <a:tblPr/>
              <a:tblGrid>
                <a:gridCol w="1920240"/>
                <a:gridCol w="1188720"/>
                <a:gridCol w="173736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Wilayah</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Pelanggan</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Revenue/pelanggan</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South America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59</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3.718</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Europe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3.325</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North America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3.311</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Asia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3.456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5" name="Text 1"/>
          <p:cNvSpPr txBox="1"/>
          <p:nvPr/>
        </p:nvSpPr>
        <p:spPr>
          <a:xfrm>
            <a:off x="6766560" y="4389120"/>
            <a:ext cx="4846320" cy="11887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South America menyumbang 31,8% revenue dan paling produktif per pelanggan. Tiga wilayah lain berkisar 22 - 24%.</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10 nama produk dengan revenue tertinggi</a:t>
            </a:r>
            <a:endParaRPr lang="en-US" sz="3400" dirty="0"/>
          </a:p>
        </p:txBody>
      </p:sp>
      <p:graphicFrame>
        <p:nvGraphicFramePr>
          <p:cNvPr id="3" name="Chart 0" descr=""/>
          <p:cNvGraphicFramePr/>
          <p:nvPr/>
        </p:nvGraphicFramePr>
        <p:xfrm>
          <a:off x="548640" y="1188720"/>
          <a:ext cx="786384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686800" y="1463040"/>
            <a:ext cx="2926080" cy="4023360"/>
          </a:xfrm>
          <a:prstGeom prst="roundRect">
            <a:avLst>
              <a:gd name="adj" fmla="val 3750"/>
            </a:avLst>
          </a:prstGeom>
          <a:solidFill>
            <a:srgbClr val="F3F6F8"/>
          </a:solidFill>
          <a:ln w="12700">
            <a:solidFill>
              <a:srgbClr val="F3F6F8"/>
            </a:solidFill>
            <a:prstDash val="solid"/>
          </a:ln>
        </p:spPr>
      </p:sp>
      <p:sp>
        <p:nvSpPr>
          <p:cNvPr id="5" name="Text 2"/>
          <p:cNvSpPr txBox="1"/>
          <p:nvPr/>
        </p:nvSpPr>
        <p:spPr>
          <a:xfrm>
            <a:off x="8915400" y="1645920"/>
            <a:ext cx="246888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Pembacaan</a:t>
            </a:r>
            <a:endParaRPr lang="en-US" sz="2000" dirty="0"/>
          </a:p>
        </p:txBody>
      </p:sp>
      <p:sp>
        <p:nvSpPr>
          <p:cNvPr id="6" name="Text 3"/>
          <p:cNvSpPr txBox="1"/>
          <p:nvPr/>
        </p:nvSpPr>
        <p:spPr>
          <a:xfrm>
            <a:off x="8915400" y="2148840"/>
            <a:ext cx="2468880" cy="315468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ActiveWear Smartwatch teratas dengan 39.097, karena nama itu dipakai 4 ProductID yang dijumlahkan. Electronics muncul 3 kali di 10 besar. Nama yang sama bisa mewakili beberapa produk.</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Perilaku belanja pelanggan</a:t>
            </a:r>
            <a:endParaRPr lang="en-US" sz="3400" dirty="0"/>
          </a:p>
        </p:txBody>
      </p:sp>
      <p:sp>
        <p:nvSpPr>
          <p:cNvPr id="3" name="Text 1"/>
          <p:cNvSpPr txBox="1"/>
          <p:nvPr/>
        </p:nvSpPr>
        <p:spPr>
          <a:xfrm>
            <a:off x="548640" y="1371600"/>
            <a:ext cx="2651760" cy="822960"/>
          </a:xfrm>
          <a:prstGeom prst="rect">
            <a:avLst/>
          </a:prstGeom>
          <a:noFill/>
          <a:ln/>
        </p:spPr>
        <p:txBody>
          <a:bodyPr wrap="square" lIns="0" tIns="0" rIns="0" bIns="0" rtlCol="0" anchor="ctr"/>
          <a:lstStyle/>
          <a:p>
            <a:pPr indent="0" marL="0">
              <a:buNone/>
            </a:pPr>
            <a:r>
              <a:rPr lang="en-US" sz="4000" b="1" dirty="0">
                <a:solidFill>
                  <a:srgbClr val="1B7F8C"/>
                </a:solidFill>
                <a:latin typeface="Cambria" pitchFamily="34" charset="0"/>
                <a:ea typeface="Cambria" pitchFamily="34" charset="-122"/>
                <a:cs typeface="Cambria" pitchFamily="34" charset="-120"/>
              </a:rPr>
              <a:t>3.467</a:t>
            </a:r>
            <a:endParaRPr lang="en-US" sz="4000" dirty="0"/>
          </a:p>
        </p:txBody>
      </p:sp>
      <p:sp>
        <p:nvSpPr>
          <p:cNvPr id="4" name="Text 2"/>
          <p:cNvSpPr txBox="1"/>
          <p:nvPr/>
        </p:nvSpPr>
        <p:spPr>
          <a:xfrm>
            <a:off x="548640" y="219456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rata-rata revenue per pelanggan aktif</a:t>
            </a:r>
            <a:endParaRPr lang="en-US" sz="1400" dirty="0"/>
          </a:p>
        </p:txBody>
      </p:sp>
      <p:sp>
        <p:nvSpPr>
          <p:cNvPr id="5" name="Text 3"/>
          <p:cNvSpPr txBox="1"/>
          <p:nvPr/>
        </p:nvSpPr>
        <p:spPr>
          <a:xfrm>
            <a:off x="3383280" y="1371600"/>
            <a:ext cx="2651760" cy="822960"/>
          </a:xfrm>
          <a:prstGeom prst="rect">
            <a:avLst/>
          </a:prstGeom>
          <a:noFill/>
          <a:ln/>
        </p:spPr>
        <p:txBody>
          <a:bodyPr wrap="square" lIns="0" tIns="0" rIns="0" bIns="0" rtlCol="0" anchor="ctr"/>
          <a:lstStyle/>
          <a:p>
            <a:pPr indent="0" marL="0">
              <a:buNone/>
            </a:pPr>
            <a:r>
              <a:rPr lang="en-US" sz="4000" b="1" dirty="0">
                <a:solidFill>
                  <a:srgbClr val="F28C28"/>
                </a:solidFill>
                <a:latin typeface="Cambria" pitchFamily="34" charset="0"/>
                <a:ea typeface="Cambria" pitchFamily="34" charset="-122"/>
                <a:cs typeface="Cambria" pitchFamily="34" charset="-120"/>
              </a:rPr>
              <a:t>3.138</a:t>
            </a:r>
            <a:endParaRPr lang="en-US" sz="4000" dirty="0"/>
          </a:p>
        </p:txBody>
      </p:sp>
      <p:sp>
        <p:nvSpPr>
          <p:cNvPr id="6" name="Text 4"/>
          <p:cNvSpPr txBox="1"/>
          <p:nvPr/>
        </p:nvSpPr>
        <p:spPr>
          <a:xfrm>
            <a:off x="3383280" y="219456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median revenue per pelanggan</a:t>
            </a:r>
            <a:endParaRPr lang="en-US" sz="1400" dirty="0"/>
          </a:p>
        </p:txBody>
      </p:sp>
      <p:sp>
        <p:nvSpPr>
          <p:cNvPr id="7" name="Text 5"/>
          <p:cNvSpPr txBox="1"/>
          <p:nvPr/>
        </p:nvSpPr>
        <p:spPr>
          <a:xfrm>
            <a:off x="6217920" y="1371600"/>
            <a:ext cx="2651760" cy="822960"/>
          </a:xfrm>
          <a:prstGeom prst="rect">
            <a:avLst/>
          </a:prstGeom>
          <a:noFill/>
          <a:ln/>
        </p:spPr>
        <p:txBody>
          <a:bodyPr wrap="square" lIns="0" tIns="0" rIns="0" bIns="0" rtlCol="0" anchor="ctr"/>
          <a:lstStyle/>
          <a:p>
            <a:pPr indent="0" marL="0">
              <a:buNone/>
            </a:pPr>
            <a:r>
              <a:rPr lang="en-US" sz="4000" b="1" dirty="0">
                <a:solidFill>
                  <a:srgbClr val="12304A"/>
                </a:solidFill>
                <a:latin typeface="Cambria" pitchFamily="34" charset="0"/>
                <a:ea typeface="Cambria" pitchFamily="34" charset="-122"/>
                <a:cs typeface="Cambria" pitchFamily="34" charset="-120"/>
              </a:rPr>
              <a:t>5,03</a:t>
            </a:r>
            <a:endParaRPr lang="en-US" sz="4000" dirty="0"/>
          </a:p>
        </p:txBody>
      </p:sp>
      <p:sp>
        <p:nvSpPr>
          <p:cNvPr id="8" name="Text 6"/>
          <p:cNvSpPr txBox="1"/>
          <p:nvPr/>
        </p:nvSpPr>
        <p:spPr>
          <a:xfrm>
            <a:off x="6217920" y="219456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rata-rata transaksi per pelanggan</a:t>
            </a:r>
            <a:endParaRPr lang="en-US" sz="1400" dirty="0"/>
          </a:p>
        </p:txBody>
      </p:sp>
      <p:sp>
        <p:nvSpPr>
          <p:cNvPr id="9" name="Text 7"/>
          <p:cNvSpPr txBox="1"/>
          <p:nvPr/>
        </p:nvSpPr>
        <p:spPr>
          <a:xfrm>
            <a:off x="9052560" y="1371600"/>
            <a:ext cx="2651760" cy="822960"/>
          </a:xfrm>
          <a:prstGeom prst="rect">
            <a:avLst/>
          </a:prstGeom>
          <a:noFill/>
          <a:ln/>
        </p:spPr>
        <p:txBody>
          <a:bodyPr wrap="square" lIns="0" tIns="0" rIns="0" bIns="0" rtlCol="0" anchor="ctr"/>
          <a:lstStyle/>
          <a:p>
            <a:pPr indent="0" marL="0">
              <a:buNone/>
            </a:pPr>
            <a:r>
              <a:rPr lang="en-US" sz="4000" b="1" dirty="0">
                <a:solidFill>
                  <a:srgbClr val="1B7F8C"/>
                </a:solidFill>
                <a:latin typeface="Cambria" pitchFamily="34" charset="0"/>
                <a:ea typeface="Cambria" pitchFamily="34" charset="-122"/>
                <a:cs typeface="Cambria" pitchFamily="34" charset="-120"/>
              </a:rPr>
              <a:t>10.674</a:t>
            </a:r>
            <a:endParaRPr lang="en-US" sz="4000" dirty="0"/>
          </a:p>
        </p:txBody>
      </p:sp>
      <p:sp>
        <p:nvSpPr>
          <p:cNvPr id="10" name="Text 8"/>
          <p:cNvSpPr txBox="1"/>
          <p:nvPr/>
        </p:nvSpPr>
        <p:spPr>
          <a:xfrm>
            <a:off x="9052560" y="219456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revenue pelanggan tertinggi (C0141)</a:t>
            </a:r>
            <a:endParaRPr lang="en-US" sz="1400" dirty="0"/>
          </a:p>
        </p:txBody>
      </p:sp>
      <p:sp>
        <p:nvSpPr>
          <p:cNvPr id="11" name="Shape 9"/>
          <p:cNvSpPr/>
          <p:nvPr/>
        </p:nvSpPr>
        <p:spPr>
          <a:xfrm>
            <a:off x="548640" y="3291840"/>
            <a:ext cx="11064240" cy="2651760"/>
          </a:xfrm>
          <a:prstGeom prst="roundRect">
            <a:avLst>
              <a:gd name="adj" fmla="val 4138"/>
            </a:avLst>
          </a:prstGeom>
          <a:solidFill>
            <a:srgbClr val="F3F6F8"/>
          </a:solidFill>
          <a:ln w="12700">
            <a:solidFill>
              <a:srgbClr val="F3F6F8"/>
            </a:solidFill>
            <a:prstDash val="solid"/>
          </a:ln>
        </p:spPr>
      </p:sp>
      <p:sp>
        <p:nvSpPr>
          <p:cNvPr id="12" name="Text 10"/>
          <p:cNvSpPr txBox="1"/>
          <p:nvPr/>
        </p:nvSpPr>
        <p:spPr>
          <a:xfrm>
            <a:off x="777240" y="347472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Pembacaan</a:t>
            </a:r>
            <a:endParaRPr lang="en-US" sz="2000" dirty="0"/>
          </a:p>
        </p:txBody>
      </p:sp>
      <p:sp>
        <p:nvSpPr>
          <p:cNvPr id="13" name="Text 11"/>
          <p:cNvSpPr txBox="1"/>
          <p:nvPr/>
        </p:nvSpPr>
        <p:spPr>
          <a:xfrm>
            <a:off x="777240" y="3977640"/>
            <a:ext cx="10607040" cy="178308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Pelanggan aktif bertransaksi antara 1 sampai 11 kali. Rata-rata revenue (3.467) sedikit di atas median (3.138), artinya ada beberapa pelanggan bernilai besar yang menarik rata-rata ke atas. Namun 20 pelanggan teratas (10 persen) hanya menyumbang 20 persen revenue, sehingga pendapatan EverMart menyebar dan tidak bergantung pada segelintir pelanggan.</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Contoh filter interaktif: South America</a:t>
            </a:r>
            <a:endParaRPr lang="en-US" sz="3400" dirty="0"/>
          </a:p>
        </p:txBody>
      </p:sp>
      <p:sp>
        <p:nvSpPr>
          <p:cNvPr id="3" name="Text 1"/>
          <p:cNvSpPr txBox="1"/>
          <p:nvPr/>
        </p:nvSpPr>
        <p:spPr>
          <a:xfrm>
            <a:off x="548640" y="1554480"/>
            <a:ext cx="265176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219.353</a:t>
            </a:r>
            <a:endParaRPr lang="en-US" sz="4800" dirty="0"/>
          </a:p>
        </p:txBody>
      </p:sp>
      <p:sp>
        <p:nvSpPr>
          <p:cNvPr id="4" name="Text 2"/>
          <p:cNvSpPr txBox="1"/>
          <p:nvPr/>
        </p:nvSpPr>
        <p:spPr>
          <a:xfrm>
            <a:off x="548640" y="237744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Total Revenue</a:t>
            </a:r>
            <a:endParaRPr lang="en-US" sz="1400" dirty="0"/>
          </a:p>
        </p:txBody>
      </p:sp>
      <p:sp>
        <p:nvSpPr>
          <p:cNvPr id="5" name="Text 3"/>
          <p:cNvSpPr txBox="1"/>
          <p:nvPr/>
        </p:nvSpPr>
        <p:spPr>
          <a:xfrm>
            <a:off x="3383280" y="1554480"/>
            <a:ext cx="2651760" cy="82296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304</a:t>
            </a:r>
            <a:endParaRPr lang="en-US" sz="4800" dirty="0"/>
          </a:p>
        </p:txBody>
      </p:sp>
      <p:sp>
        <p:nvSpPr>
          <p:cNvPr id="6" name="Text 4"/>
          <p:cNvSpPr txBox="1"/>
          <p:nvPr/>
        </p:nvSpPr>
        <p:spPr>
          <a:xfrm>
            <a:off x="3383280" y="237744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Total Transactions</a:t>
            </a:r>
            <a:endParaRPr lang="en-US" sz="1400" dirty="0"/>
          </a:p>
        </p:txBody>
      </p:sp>
      <p:sp>
        <p:nvSpPr>
          <p:cNvPr id="7" name="Text 5"/>
          <p:cNvSpPr txBox="1"/>
          <p:nvPr/>
        </p:nvSpPr>
        <p:spPr>
          <a:xfrm>
            <a:off x="6217920" y="1554480"/>
            <a:ext cx="2651760" cy="822960"/>
          </a:xfrm>
          <a:prstGeom prst="rect">
            <a:avLst/>
          </a:prstGeom>
          <a:noFill/>
          <a:ln/>
        </p:spPr>
        <p:txBody>
          <a:bodyPr wrap="square" lIns="0" tIns="0" rIns="0" bIns="0" rtlCol="0" anchor="ctr"/>
          <a:lstStyle/>
          <a:p>
            <a:pPr indent="0" marL="0">
              <a:buNone/>
            </a:pPr>
            <a:r>
              <a:rPr lang="en-US" sz="4800" b="1" dirty="0">
                <a:solidFill>
                  <a:srgbClr val="12304A"/>
                </a:solidFill>
                <a:latin typeface="Cambria" pitchFamily="34" charset="0"/>
                <a:ea typeface="Cambria" pitchFamily="34" charset="-122"/>
                <a:cs typeface="Cambria" pitchFamily="34" charset="-120"/>
              </a:rPr>
              <a:t>59</a:t>
            </a:r>
            <a:endParaRPr lang="en-US" sz="4800" dirty="0"/>
          </a:p>
        </p:txBody>
      </p:sp>
      <p:sp>
        <p:nvSpPr>
          <p:cNvPr id="8" name="Text 6"/>
          <p:cNvSpPr txBox="1"/>
          <p:nvPr/>
        </p:nvSpPr>
        <p:spPr>
          <a:xfrm>
            <a:off x="6217920" y="237744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Total Unique Customers</a:t>
            </a:r>
            <a:endParaRPr lang="en-US" sz="1400" dirty="0"/>
          </a:p>
        </p:txBody>
      </p:sp>
      <p:sp>
        <p:nvSpPr>
          <p:cNvPr id="9" name="Text 7"/>
          <p:cNvSpPr txBox="1"/>
          <p:nvPr/>
        </p:nvSpPr>
        <p:spPr>
          <a:xfrm>
            <a:off x="9052560" y="1554480"/>
            <a:ext cx="265176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721,55</a:t>
            </a:r>
            <a:endParaRPr lang="en-US" sz="4800" dirty="0"/>
          </a:p>
        </p:txBody>
      </p:sp>
      <p:sp>
        <p:nvSpPr>
          <p:cNvPr id="10" name="Text 8"/>
          <p:cNvSpPr txBox="1"/>
          <p:nvPr/>
        </p:nvSpPr>
        <p:spPr>
          <a:xfrm>
            <a:off x="9052560" y="237744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Avg Order Value</a:t>
            </a:r>
            <a:endParaRPr lang="en-US" sz="1400" dirty="0"/>
          </a:p>
        </p:txBody>
      </p:sp>
      <p:sp>
        <p:nvSpPr>
          <p:cNvPr id="11" name="Shape 9"/>
          <p:cNvSpPr/>
          <p:nvPr/>
        </p:nvSpPr>
        <p:spPr>
          <a:xfrm>
            <a:off x="548640" y="3383280"/>
            <a:ext cx="11064240" cy="2377440"/>
          </a:xfrm>
          <a:prstGeom prst="roundRect">
            <a:avLst>
              <a:gd name="adj" fmla="val 4615"/>
            </a:avLst>
          </a:prstGeom>
          <a:solidFill>
            <a:srgbClr val="F3F6F8"/>
          </a:solidFill>
          <a:ln w="12700">
            <a:solidFill>
              <a:srgbClr val="F3F6F8"/>
            </a:solidFill>
            <a:prstDash val="solid"/>
          </a:ln>
        </p:spPr>
      </p:sp>
      <p:sp>
        <p:nvSpPr>
          <p:cNvPr id="12" name="Text 10"/>
          <p:cNvSpPr txBox="1"/>
          <p:nvPr/>
        </p:nvSpPr>
        <p:spPr>
          <a:xfrm>
            <a:off x="777240" y="356616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Makna</a:t>
            </a:r>
            <a:endParaRPr lang="en-US" sz="2000" dirty="0"/>
          </a:p>
        </p:txBody>
      </p:sp>
      <p:sp>
        <p:nvSpPr>
          <p:cNvPr id="13" name="Text 11"/>
          <p:cNvSpPr txBox="1"/>
          <p:nvPr/>
        </p:nvSpPr>
        <p:spPr>
          <a:xfrm>
            <a:off x="777240" y="4069080"/>
            <a:ext cx="10607040" cy="15087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Saat slicer Region dipilih South America, seluruh measure DAX dihitung ulang hanya untuk wilayah itu. Wilayah ini menyumbang 31,8% revenue dengan 59 pelanggan aktif dan nilai rata-rata per transaksi 721,55, lebih tinggi dari rata-rata keseluruhan 690,00.</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Contoh filter interaktif: bulan Oktober</a:t>
            </a:r>
            <a:endParaRPr lang="en-US" sz="3400" dirty="0"/>
          </a:p>
        </p:txBody>
      </p:sp>
      <p:pic>
        <p:nvPicPr>
          <p:cNvPr id="3" name="Image 0" descr="/tmp/claude-0/-home-user-EXACOUNT/b3a0efd5-5ef2-5930-a9ef-1d7b86874e77/scratchpad/rep/filter_oct.png">    </p:cNvPr>
          <p:cNvPicPr>
            <a:picLocks noChangeAspect="1"/>
          </p:cNvPicPr>
          <p:nvPr/>
        </p:nvPicPr>
        <p:blipFill>
          <a:blip r:embed="rId1"/>
          <a:stretch>
            <a:fillRect/>
          </a:stretch>
        </p:blipFill>
        <p:spPr>
          <a:xfrm>
            <a:off x="548640" y="1280160"/>
            <a:ext cx="6766560" cy="3895344"/>
          </a:xfrm>
          <a:prstGeom prst="rect">
            <a:avLst/>
          </a:prstGeom>
        </p:spPr>
      </p:pic>
      <p:sp>
        <p:nvSpPr>
          <p:cNvPr id="4" name="Shape 1"/>
          <p:cNvSpPr/>
          <p:nvPr/>
        </p:nvSpPr>
        <p:spPr>
          <a:xfrm>
            <a:off x="7589520" y="1280160"/>
            <a:ext cx="4023360" cy="4572000"/>
          </a:xfrm>
          <a:prstGeom prst="roundRect">
            <a:avLst>
              <a:gd name="adj" fmla="val 2727"/>
            </a:avLst>
          </a:prstGeom>
          <a:solidFill>
            <a:srgbClr val="F3F6F8"/>
          </a:solidFill>
          <a:ln w="12700">
            <a:solidFill>
              <a:srgbClr val="F3F6F8"/>
            </a:solidFill>
            <a:prstDash val="solid"/>
          </a:ln>
        </p:spPr>
      </p:sp>
      <p:sp>
        <p:nvSpPr>
          <p:cNvPr id="5" name="Text 2"/>
          <p:cNvSpPr txBox="1"/>
          <p:nvPr/>
        </p:nvSpPr>
        <p:spPr>
          <a:xfrm>
            <a:off x="7818120" y="1463040"/>
            <a:ext cx="35661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Hasil</a:t>
            </a:r>
            <a:endParaRPr lang="en-US" sz="2000" dirty="0"/>
          </a:p>
        </p:txBody>
      </p:sp>
      <p:sp>
        <p:nvSpPr>
          <p:cNvPr id="6" name="Text 3"/>
          <p:cNvSpPr txBox="1"/>
          <p:nvPr/>
        </p:nvSpPr>
        <p:spPr>
          <a:xfrm>
            <a:off x="7818120" y="1965960"/>
            <a:ext cx="3566160" cy="37033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Klik titik Oktober pada grafik tren menyaring seluruh halaman: revenue 47.063, 70 transaksi, 60 pelanggan, dan Avg Order Value 672,33. Nilai per transaksi lebih rendah dari rata-rata (690,00), sejalan dengan bulan yang lemah.</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Interpretasi hasil</a:t>
            </a:r>
            <a:endParaRPr lang="en-US" sz="3400" dirty="0"/>
          </a:p>
        </p:txBody>
      </p:sp>
      <p:sp>
        <p:nvSpPr>
          <p:cNvPr id="3" name="Shape 1"/>
          <p:cNvSpPr/>
          <p:nvPr/>
        </p:nvSpPr>
        <p:spPr>
          <a:xfrm>
            <a:off x="548640" y="1463040"/>
            <a:ext cx="3566160" cy="4206240"/>
          </a:xfrm>
          <a:prstGeom prst="roundRect">
            <a:avLst>
              <a:gd name="adj" fmla="val 3077"/>
            </a:avLst>
          </a:prstGeom>
          <a:solidFill>
            <a:srgbClr val="F3F6F8"/>
          </a:solidFill>
          <a:ln w="12700">
            <a:solidFill>
              <a:srgbClr val="F3F6F8"/>
            </a:solidFill>
            <a:prstDash val="solid"/>
          </a:ln>
        </p:spPr>
      </p:sp>
      <p:sp>
        <p:nvSpPr>
          <p:cNvPr id="4" name="Text 2"/>
          <p:cNvSpPr txBox="1"/>
          <p:nvPr/>
        </p:nvSpPr>
        <p:spPr>
          <a:xfrm>
            <a:off x="77724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Penjualan 2024</a:t>
            </a:r>
            <a:endParaRPr lang="en-US" sz="2000" dirty="0"/>
          </a:p>
        </p:txBody>
      </p:sp>
      <p:sp>
        <p:nvSpPr>
          <p:cNvPr id="5" name="Text 3"/>
          <p:cNvSpPr txBox="1"/>
          <p:nvPr/>
        </p:nvSpPr>
        <p:spPr>
          <a:xfrm>
            <a:off x="77724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Total revenue 689.996 dari 1.000 transaksi, dengan rata-rata 690 per transaksi. Puncak terjadi di Juli (71.366) dan September (70.604), dasar di November (38.224), lalu pulih di Desember (59.049). Kuartal ketiga paling kuat (205.407) dan kuartal keempat paling lemah (144.337), sehingga penjualan bersifat musiman.</a:t>
            </a:r>
            <a:endParaRPr lang="en-US" sz="1600" dirty="0"/>
          </a:p>
        </p:txBody>
      </p:sp>
      <p:sp>
        <p:nvSpPr>
          <p:cNvPr id="6" name="Shape 4"/>
          <p:cNvSpPr/>
          <p:nvPr/>
        </p:nvSpPr>
        <p:spPr>
          <a:xfrm>
            <a:off x="4297680" y="1463040"/>
            <a:ext cx="3566160" cy="4206240"/>
          </a:xfrm>
          <a:prstGeom prst="roundRect">
            <a:avLst>
              <a:gd name="adj" fmla="val 3077"/>
            </a:avLst>
          </a:prstGeom>
          <a:solidFill>
            <a:srgbClr val="F3F6F8"/>
          </a:solidFill>
          <a:ln w="12700">
            <a:solidFill>
              <a:srgbClr val="F3F6F8"/>
            </a:solidFill>
            <a:prstDash val="solid"/>
          </a:ln>
        </p:spPr>
      </p:sp>
      <p:sp>
        <p:nvSpPr>
          <p:cNvPr id="7" name="Text 5"/>
          <p:cNvSpPr txBox="1"/>
          <p:nvPr/>
        </p:nvSpPr>
        <p:spPr>
          <a:xfrm>
            <a:off x="452628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Kategori dan produk</a:t>
            </a:r>
            <a:endParaRPr lang="en-US" sz="2000" dirty="0"/>
          </a:p>
        </p:txBody>
      </p:sp>
      <p:sp>
        <p:nvSpPr>
          <p:cNvPr id="8" name="Text 6"/>
          <p:cNvSpPr txBox="1"/>
          <p:nvPr/>
        </p:nvSpPr>
        <p:spPr>
          <a:xfrm>
            <a:off x="452628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Books (27,8%) dan Electronics (26,2%) menyumbang 54% revenue, sedangkan Home Decor paling rendah (21,9%). Selisih kategori tertinggi dan terendah sekitar 41 ribu sehingga kontribusi cukup merata. Produk teratas menurut nama didominasi Electronics, misalnya ActiveWear Smartwatch (39.097).</a:t>
            </a:r>
            <a:endParaRPr lang="en-US" sz="1600" dirty="0"/>
          </a:p>
        </p:txBody>
      </p:sp>
      <p:sp>
        <p:nvSpPr>
          <p:cNvPr id="9" name="Shape 7"/>
          <p:cNvSpPr/>
          <p:nvPr/>
        </p:nvSpPr>
        <p:spPr>
          <a:xfrm>
            <a:off x="8046720" y="1463040"/>
            <a:ext cx="3566160" cy="4206240"/>
          </a:xfrm>
          <a:prstGeom prst="roundRect">
            <a:avLst>
              <a:gd name="adj" fmla="val 3077"/>
            </a:avLst>
          </a:prstGeom>
          <a:solidFill>
            <a:srgbClr val="F3F6F8"/>
          </a:solidFill>
          <a:ln w="12700">
            <a:solidFill>
              <a:srgbClr val="F3F6F8"/>
            </a:solidFill>
            <a:prstDash val="solid"/>
          </a:ln>
        </p:spPr>
      </p:sp>
      <p:sp>
        <p:nvSpPr>
          <p:cNvPr id="10" name="Text 8"/>
          <p:cNvSpPr txBox="1"/>
          <p:nvPr/>
        </p:nvSpPr>
        <p:spPr>
          <a:xfrm>
            <a:off x="827532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Wilayah dan pelanggan</a:t>
            </a:r>
            <a:endParaRPr lang="en-US" sz="2000" dirty="0"/>
          </a:p>
        </p:txBody>
      </p:sp>
      <p:sp>
        <p:nvSpPr>
          <p:cNvPr id="11" name="Text 9"/>
          <p:cNvSpPr txBox="1"/>
          <p:nvPr/>
        </p:nvSpPr>
        <p:spPr>
          <a:xfrm>
            <a:off x="827532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South America unggul: 31,8% revenue, 59 pelanggan aktif, dan 3.718 revenue per pelanggan. Tiga wilayah lain berkisar 22-24%. Pendapatan menyebar: 20 pelanggan teratas hanya menyumbang 20%, dan 199 dari 200 pelanggan terdaftar sudah bertransaksi.</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304A"/>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Rekomendasi keputusan</a:t>
            </a:r>
            <a:endParaRPr lang="en-US" sz="3400" dirty="0"/>
          </a:p>
        </p:txBody>
      </p:sp>
      <p:sp>
        <p:nvSpPr>
          <p:cNvPr id="3" name="Shape 1"/>
          <p:cNvSpPr/>
          <p:nvPr/>
        </p:nvSpPr>
        <p:spPr>
          <a:xfrm>
            <a:off x="548640" y="1463040"/>
            <a:ext cx="5394960" cy="1828800"/>
          </a:xfrm>
          <a:prstGeom prst="roundRect">
            <a:avLst>
              <a:gd name="adj" fmla="val 6000"/>
            </a:avLst>
          </a:prstGeom>
          <a:solidFill>
            <a:srgbClr val="1D4468"/>
          </a:solidFill>
          <a:ln w="12700">
            <a:solidFill>
              <a:srgbClr val="1D4468"/>
            </a:solidFill>
            <a:prstDash val="solid"/>
          </a:ln>
        </p:spPr>
      </p:sp>
      <p:sp>
        <p:nvSpPr>
          <p:cNvPr id="4" name="Text 2"/>
          <p:cNvSpPr txBox="1"/>
          <p:nvPr/>
        </p:nvSpPr>
        <p:spPr>
          <a:xfrm>
            <a:off x="822960" y="1645920"/>
            <a:ext cx="4846320" cy="45720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1. Prioritaskan South America</a:t>
            </a:r>
            <a:endParaRPr lang="en-US" sz="2000" dirty="0"/>
          </a:p>
        </p:txBody>
      </p:sp>
      <p:sp>
        <p:nvSpPr>
          <p:cNvPr id="5" name="Text 3"/>
          <p:cNvSpPr txBox="1"/>
          <p:nvPr/>
        </p:nvSpPr>
        <p:spPr>
          <a:xfrm>
            <a:off x="822960" y="2148840"/>
            <a:ext cx="4846320" cy="10058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Wilayah ini menyumbang 31,8% revenue dan paling produktif per pelanggan (3.718). Alokasikan anggaran promosi dan stok lebih besar, dan jadikan strateginya acuan bagi wilayah lain.</a:t>
            </a:r>
            <a:endParaRPr lang="en-US" sz="1400" dirty="0"/>
          </a:p>
        </p:txBody>
      </p:sp>
      <p:sp>
        <p:nvSpPr>
          <p:cNvPr id="6" name="Shape 4"/>
          <p:cNvSpPr/>
          <p:nvPr/>
        </p:nvSpPr>
        <p:spPr>
          <a:xfrm>
            <a:off x="6217920" y="1463040"/>
            <a:ext cx="5394960" cy="1828800"/>
          </a:xfrm>
          <a:prstGeom prst="roundRect">
            <a:avLst>
              <a:gd name="adj" fmla="val 6000"/>
            </a:avLst>
          </a:prstGeom>
          <a:solidFill>
            <a:srgbClr val="1D4468"/>
          </a:solidFill>
          <a:ln w="12700">
            <a:solidFill>
              <a:srgbClr val="1D4468"/>
            </a:solidFill>
            <a:prstDash val="solid"/>
          </a:ln>
        </p:spPr>
      </p:sp>
      <p:sp>
        <p:nvSpPr>
          <p:cNvPr id="7" name="Text 5"/>
          <p:cNvSpPr txBox="1"/>
          <p:nvPr/>
        </p:nvSpPr>
        <p:spPr>
          <a:xfrm>
            <a:off x="6492240" y="1645920"/>
            <a:ext cx="4846320" cy="45720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2. Dorong Books dan Electronics</a:t>
            </a:r>
            <a:endParaRPr lang="en-US" sz="2000" dirty="0"/>
          </a:p>
        </p:txBody>
      </p:sp>
      <p:sp>
        <p:nvSpPr>
          <p:cNvPr id="8" name="Text 6"/>
          <p:cNvSpPr txBox="1"/>
          <p:nvPr/>
        </p:nvSpPr>
        <p:spPr>
          <a:xfrm>
            <a:off x="6492240" y="2148840"/>
            <a:ext cx="4846320" cy="10058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Dua kategori ini 54% revenue. Jaga stok produk terlaris seperti P029, P048, dan P039, serta beri bundling atau diskon untuk Home Decor (21,9%) yang tertinggal.</a:t>
            </a:r>
            <a:endParaRPr lang="en-US" sz="1400" dirty="0"/>
          </a:p>
        </p:txBody>
      </p:sp>
      <p:sp>
        <p:nvSpPr>
          <p:cNvPr id="9" name="Shape 7"/>
          <p:cNvSpPr/>
          <p:nvPr/>
        </p:nvSpPr>
        <p:spPr>
          <a:xfrm>
            <a:off x="548640" y="3566160"/>
            <a:ext cx="5394960" cy="1828800"/>
          </a:xfrm>
          <a:prstGeom prst="roundRect">
            <a:avLst>
              <a:gd name="adj" fmla="val 6000"/>
            </a:avLst>
          </a:prstGeom>
          <a:solidFill>
            <a:srgbClr val="1D4468"/>
          </a:solidFill>
          <a:ln w="12700">
            <a:solidFill>
              <a:srgbClr val="1D4468"/>
            </a:solidFill>
            <a:prstDash val="solid"/>
          </a:ln>
        </p:spPr>
      </p:sp>
      <p:sp>
        <p:nvSpPr>
          <p:cNvPr id="10" name="Text 8"/>
          <p:cNvSpPr txBox="1"/>
          <p:nvPr/>
        </p:nvSpPr>
        <p:spPr>
          <a:xfrm>
            <a:off x="822960" y="3749040"/>
            <a:ext cx="4846320" cy="45720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3. Antisipasi musim sepi</a:t>
            </a:r>
            <a:endParaRPr lang="en-US" sz="2000" dirty="0"/>
          </a:p>
        </p:txBody>
      </p:sp>
      <p:sp>
        <p:nvSpPr>
          <p:cNvPr id="11" name="Text 9"/>
          <p:cNvSpPr txBox="1"/>
          <p:nvPr/>
        </p:nvSpPr>
        <p:spPr>
          <a:xfrm>
            <a:off x="822960" y="4251960"/>
            <a:ext cx="4846320" cy="10058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Revenue turun di Oktober (47.063) dan November (38.224). Siapkan promo dan kampanye pada periode itu, serta perkuat persediaan menjelang puncak Juli dan September.</a:t>
            </a:r>
            <a:endParaRPr lang="en-US" sz="1400" dirty="0"/>
          </a:p>
        </p:txBody>
      </p:sp>
      <p:sp>
        <p:nvSpPr>
          <p:cNvPr id="12" name="Shape 10"/>
          <p:cNvSpPr/>
          <p:nvPr/>
        </p:nvSpPr>
        <p:spPr>
          <a:xfrm>
            <a:off x="6217920" y="3566160"/>
            <a:ext cx="5394960" cy="1828800"/>
          </a:xfrm>
          <a:prstGeom prst="roundRect">
            <a:avLst>
              <a:gd name="adj" fmla="val 6000"/>
            </a:avLst>
          </a:prstGeom>
          <a:solidFill>
            <a:srgbClr val="1D4468"/>
          </a:solidFill>
          <a:ln w="12700">
            <a:solidFill>
              <a:srgbClr val="1D4468"/>
            </a:solidFill>
            <a:prstDash val="solid"/>
          </a:ln>
        </p:spPr>
      </p:sp>
      <p:sp>
        <p:nvSpPr>
          <p:cNvPr id="13" name="Text 11"/>
          <p:cNvSpPr txBox="1"/>
          <p:nvPr/>
        </p:nvSpPr>
        <p:spPr>
          <a:xfrm>
            <a:off x="6492240" y="3749040"/>
            <a:ext cx="4846320" cy="45720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4. Bangun loyalitas pelanggan</a:t>
            </a:r>
            <a:endParaRPr lang="en-US" sz="2000" dirty="0"/>
          </a:p>
        </p:txBody>
      </p:sp>
      <p:sp>
        <p:nvSpPr>
          <p:cNvPr id="14" name="Text 12"/>
          <p:cNvSpPr txBox="1"/>
          <p:nvPr/>
        </p:nvSpPr>
        <p:spPr>
          <a:xfrm>
            <a:off x="6492240" y="4251960"/>
            <a:ext cx="4846320" cy="10058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Beri program loyalitas bagi pelanggan teratas (misalnya C0141 dengan 10.674), aktifkan pelanggan C0180 yang belum pernah membeli, dan rapikan nama produk agar sesuai kategori.</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Kesimpulan dan keterbatasan</a:t>
            </a:r>
            <a:endParaRPr lang="en-US" sz="3400" dirty="0"/>
          </a:p>
        </p:txBody>
      </p:sp>
      <p:sp>
        <p:nvSpPr>
          <p:cNvPr id="3" name="Shape 1"/>
          <p:cNvSpPr/>
          <p:nvPr/>
        </p:nvSpPr>
        <p:spPr>
          <a:xfrm>
            <a:off x="548640" y="1371600"/>
            <a:ext cx="5486400" cy="4572000"/>
          </a:xfrm>
          <a:prstGeom prst="roundRect">
            <a:avLst>
              <a:gd name="adj" fmla="val 2400"/>
            </a:avLst>
          </a:prstGeom>
          <a:solidFill>
            <a:srgbClr val="F3F6F8"/>
          </a:solidFill>
          <a:ln w="12700">
            <a:solidFill>
              <a:srgbClr val="F3F6F8"/>
            </a:solidFill>
            <a:prstDash val="solid"/>
          </a:ln>
        </p:spPr>
      </p:sp>
      <p:sp>
        <p:nvSpPr>
          <p:cNvPr id="4" name="Text 2"/>
          <p:cNvSpPr txBox="1"/>
          <p:nvPr/>
        </p:nvSpPr>
        <p:spPr>
          <a:xfrm>
            <a:off x="777240" y="1554480"/>
            <a:ext cx="502920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Kesimpulan</a:t>
            </a:r>
            <a:endParaRPr lang="en-US" sz="2000" dirty="0"/>
          </a:p>
        </p:txBody>
      </p:sp>
      <p:sp>
        <p:nvSpPr>
          <p:cNvPr id="5" name="Text 3"/>
          <p:cNvSpPr txBox="1"/>
          <p:nvPr/>
        </p:nvSpPr>
        <p:spPr>
          <a:xfrm>
            <a:off x="777240" y="2057400"/>
            <a:ext cx="5029200" cy="37033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1. Dataset EverMart terdiri dari 3 tabel, 15 kolom, dan 1.000 transaksi dengan kualitas data baik (tanpa nilai kosong atau ID ganda).</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2. Total revenue 689.996 dengan rata-rata 690 per transaksi.</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3. South America, Books, dan Electronics menjadi penggerak utama.</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4. Penjualan musiman: puncak Juli dan September, dasar November.</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5. Dari 200 pelanggan terdaftar, 199 bertransaksi; satu pelanggan (C0180) belum.</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6. Dashboard Power BI interaktif dengan 6 measure DAX mendukung eksplorasi per wilayah dan bulan.</a:t>
            </a:r>
            <a:endParaRPr lang="en-US" sz="1600" dirty="0"/>
          </a:p>
        </p:txBody>
      </p:sp>
      <p:sp>
        <p:nvSpPr>
          <p:cNvPr id="6" name="Shape 4"/>
          <p:cNvSpPr/>
          <p:nvPr/>
        </p:nvSpPr>
        <p:spPr>
          <a:xfrm>
            <a:off x="6217920" y="1371600"/>
            <a:ext cx="5394960" cy="4572000"/>
          </a:xfrm>
          <a:prstGeom prst="roundRect">
            <a:avLst>
              <a:gd name="adj" fmla="val 2400"/>
            </a:avLst>
          </a:prstGeom>
          <a:solidFill>
            <a:srgbClr val="F3F6F8"/>
          </a:solidFill>
          <a:ln w="12700">
            <a:solidFill>
              <a:srgbClr val="F3F6F8"/>
            </a:solidFill>
            <a:prstDash val="solid"/>
          </a:ln>
        </p:spPr>
      </p:sp>
      <p:sp>
        <p:nvSpPr>
          <p:cNvPr id="7" name="Text 5"/>
          <p:cNvSpPr txBox="1"/>
          <p:nvPr/>
        </p:nvSpPr>
        <p:spPr>
          <a:xfrm>
            <a:off x="6446520" y="1554480"/>
            <a:ext cx="49377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Keterbatasan</a:t>
            </a:r>
            <a:endParaRPr lang="en-US" sz="2000" dirty="0"/>
          </a:p>
        </p:txBody>
      </p:sp>
      <p:sp>
        <p:nvSpPr>
          <p:cNvPr id="8" name="Text 6"/>
          <p:cNvSpPr txBox="1"/>
          <p:nvPr/>
        </p:nvSpPr>
        <p:spPr>
          <a:xfrm>
            <a:off x="6446520" y="2057400"/>
            <a:ext cx="4937760" cy="37033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1. Periode hanya satu tahun sehingga tren jangka panjang dan efek tahunan belum terlihat.</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2. Nama produk tidak konsisten dengan kategorinya dan 34 nama produk berulang, sehingga data kemungkinan sintetis dan analisis produk memakai ProductID.</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3. Analisis memakai revenue saja, tanpa biaya, margin, atau data pelanggan demografis.</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4. Empat transaksi pada 30 Desember 2023 ikut dihitung, sehingga angka tahunan mencakup periode sedikit lebih dari 2024.</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304A"/>
        </a:solidFill>
      </p:bgPr>
    </p:bg>
    <p:spTree>
      <p:nvGrpSpPr>
        <p:cNvPr id="1" name=""/>
        <p:cNvGrpSpPr/>
        <p:nvPr/>
      </p:nvGrpSpPr>
      <p:grpSpPr>
        <a:xfrm>
          <a:off x="0" y="0"/>
          <a:ext cx="0" cy="0"/>
          <a:chOff x="0" y="0"/>
          <a:chExt cx="0" cy="0"/>
        </a:xfrm>
      </p:grpSpPr>
      <p:sp>
        <p:nvSpPr>
          <p:cNvPr id="2" name="Text 0"/>
          <p:cNvSpPr txBox="1"/>
          <p:nvPr/>
        </p:nvSpPr>
        <p:spPr>
          <a:xfrm>
            <a:off x="640080" y="2103120"/>
            <a:ext cx="1088136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Terima kasih</a:t>
            </a:r>
            <a:endParaRPr lang="en-US" sz="4800" dirty="0"/>
          </a:p>
        </p:txBody>
      </p:sp>
      <p:sp>
        <p:nvSpPr>
          <p:cNvPr id="3" name="Text 1"/>
          <p:cNvSpPr txBox="1"/>
          <p:nvPr/>
        </p:nvSpPr>
        <p:spPr>
          <a:xfrm>
            <a:off x="640080" y="3291840"/>
            <a:ext cx="10881360" cy="731520"/>
          </a:xfrm>
          <a:prstGeom prst="rect">
            <a:avLst/>
          </a:prstGeom>
          <a:noFill/>
          <a:ln/>
        </p:spPr>
        <p:txBody>
          <a:bodyPr wrap="square" lIns="0" tIns="0" rIns="0" bIns="0" rtlCol="0" anchor="ctr"/>
          <a:lstStyle/>
          <a:p>
            <a:pPr indent="0" marL="0">
              <a:buNone/>
            </a:pPr>
            <a:r>
              <a:rPr lang="en-US" sz="2600" dirty="0">
                <a:solidFill>
                  <a:srgbClr val="CADCFC"/>
                </a:solidFill>
                <a:latin typeface="Calibri" pitchFamily="34" charset="0"/>
                <a:ea typeface="Calibri" pitchFamily="34" charset="-122"/>
                <a:cs typeface="Calibri" pitchFamily="34" charset="-120"/>
              </a:rPr>
              <a:t>Tanya jawab</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EverMart Online Transactions</dc:title>
  <dc:subject>PptxGenJS Presentation</dc:subject>
  <dc:creator>PptxGenJS</dc:creator>
  <cp:lastModifiedBy>PptxGenJS</cp:lastModifiedBy>
  <cp:revision>1</cp:revision>
  <dcterms:created xsi:type="dcterms:W3CDTF">2026-10-18T11:51:00Z</dcterms:created>
  <dcterms:modified xsi:type="dcterms:W3CDTF">2026-10-18T11:51:00Z</dcterms:modified>
</cp:coreProperties>
</file>