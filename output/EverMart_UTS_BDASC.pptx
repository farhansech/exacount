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4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7F8C"/>
            </a:solidFill>
            <a:ln w="38100" cap="flat">
              <a:solidFill>
                <a:srgbClr val="1B7F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A35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B7F8C"/>
              </a:solidFill>
              <a:ln w="9525" cap="flat">
                <a:solidFill>
                  <a:srgbClr val="1B7F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Agu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Des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66376.39</c:v>
                </c:pt>
                <c:pt idx="1">
                  <c:v>51459.27</c:v>
                </c:pt>
                <c:pt idx="2">
                  <c:v>47828.73</c:v>
                </c:pt>
                <c:pt idx="3">
                  <c:v>57519.06</c:v>
                </c:pt>
                <c:pt idx="4">
                  <c:v>64527.74</c:v>
                </c:pt>
                <c:pt idx="5">
                  <c:v>48771.18</c:v>
                </c:pt>
                <c:pt idx="6">
                  <c:v>71366.39</c:v>
                </c:pt>
                <c:pt idx="7">
                  <c:v>63436.74</c:v>
                </c:pt>
                <c:pt idx="8">
                  <c:v>70603.75</c:v>
                </c:pt>
                <c:pt idx="9">
                  <c:v>47063.22</c:v>
                </c:pt>
                <c:pt idx="10">
                  <c:v>38224.37</c:v>
                </c:pt>
                <c:pt idx="11">
                  <c:v>59049.2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A35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B7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C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A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Books</c:v>
                  </c:pt>
                  <c:pt idx="1">
                    <c:v>Electronics</c:v>
                  </c:pt>
                  <c:pt idx="2">
                    <c:v>Clothing</c:v>
                  </c:pt>
                  <c:pt idx="3">
                    <c:v>Home Decor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192147.47</c:v>
                </c:pt>
                <c:pt idx="1">
                  <c:v>180783.5</c:v>
                </c:pt>
                <c:pt idx="2">
                  <c:v>166170.66</c:v>
                </c:pt>
                <c:pt idx="3">
                  <c:v>150893.93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A3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B7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F28C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A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South America</c:v>
                  </c:pt>
                  <c:pt idx="1">
                    <c:v>Europe</c:v>
                  </c:pt>
                  <c:pt idx="2">
                    <c:v>North America</c:v>
                  </c:pt>
                  <c:pt idx="3">
                    <c:v>Asia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219352.56</c:v>
                </c:pt>
                <c:pt idx="1">
                  <c:v>166254.63</c:v>
                </c:pt>
                <c:pt idx="2">
                  <c:v>152313.4</c:v>
                </c:pt>
                <c:pt idx="3">
                  <c:v>152074.97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A3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B7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B7F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A35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ActiveWear Cookware Set</c:v>
                  </c:pt>
                  <c:pt idx="1">
                    <c:v>TechPro Textbook</c:v>
                  </c:pt>
                  <c:pt idx="2">
                    <c:v>BookWorld Sweater</c:v>
                  </c:pt>
                  <c:pt idx="3">
                    <c:v>BookWorld Cookbook</c:v>
                  </c:pt>
                  <c:pt idx="4">
                    <c:v>TechPro Headphones</c:v>
                  </c:pt>
                  <c:pt idx="5">
                    <c:v>ActiveWear Rug</c:v>
                  </c:pt>
                  <c:pt idx="6">
                    <c:v>ActiveWear Jacket</c:v>
                  </c:pt>
                  <c:pt idx="7">
                    <c:v>SoundWave Novel</c:v>
                  </c:pt>
                  <c:pt idx="8">
                    <c:v>SoundWave Headphones</c:v>
                  </c:pt>
                  <c:pt idx="9">
                    <c:v>ActiveWear Smartwatch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18083.73</c:v>
                </c:pt>
                <c:pt idx="1">
                  <c:v>18267.96</c:v>
                </c:pt>
                <c:pt idx="2">
                  <c:v>18743.79</c:v>
                </c:pt>
                <c:pt idx="3">
                  <c:v>19221.99</c:v>
                </c:pt>
                <c:pt idx="4">
                  <c:v>19513.8</c:v>
                </c:pt>
                <c:pt idx="5">
                  <c:v>22314.43</c:v>
                </c:pt>
                <c:pt idx="6">
                  <c:v>22712.56</c:v>
                </c:pt>
                <c:pt idx="7">
                  <c:v>24507.9</c:v>
                </c:pt>
                <c:pt idx="8">
                  <c:v>25211.64</c:v>
                </c:pt>
                <c:pt idx="9">
                  <c:v>39096.97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A35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Pembukaan: sebutkan nama, mata kuliah, dan dataset yang dipilih.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Ini data awal sebelum masuk Power BI. Jelaskan arti tiap kolom. 200 pelanggan terdaftar, 199 yang bertransaksi (C0180 belum).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Power Query Editor: Applied Steps untuk tiap tabel.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Applied Steps: Source, Navigation, Promoted Headers, Changed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Q1 165.664, Q2 170.818, Q3 205.407, Q4 144.337.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Grafik ini mengikuti bar chart di dashboard, yang mengelompokkan per ProductName. Produk tunggal terlaris berdasarkan ProductID adalah P029 TechPro Headphones (19.514).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langsung: pilih satu Region di slicer lalu tunjukkan semua kartu dan tabel ikut berubah.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dashboard Power BI. Tunjukkan interaksi langsung di Power BI saat presentasi.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dashboard Power BI. Tunjukkan interaksi langsung di Power BI saat presentasi.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dashboard Power BI. Tunjukkan interaksi langsung di Power BI saat presentasi.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langsung di Power BI: klik South America di slicer, lalu klik lagi untuk membatalkan.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1097280"/>
            <a:ext cx="3291840" cy="3291840"/>
          </a:xfrm>
          <a:prstGeom prst="ellipse">
            <a:avLst/>
          </a:prstGeom>
          <a:solidFill>
            <a:srgbClr val="1B7F8C">
              <a:alpha val="70000"/>
            </a:srgbClr>
          </a:solidFill>
          <a:ln w="12700">
            <a:solidFill>
              <a:srgbClr val="1B7F8C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1645920" cy="1645920"/>
          </a:xfrm>
          <a:prstGeom prst="ellipse">
            <a:avLst/>
          </a:prstGeom>
          <a:solidFill>
            <a:srgbClr val="F28C28">
              <a:alpha val="80000"/>
            </a:srgbClr>
          </a:solidFill>
          <a:ln w="12700">
            <a:solidFill>
              <a:srgbClr val="F28C28">
                <a:alpha val="8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459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dan Visualisasi Data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EverMart Online Transactions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 Analisis dan Visualisasi Big Data (BDASC)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Surabaya  |  19 Oktober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Tujuan analisis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Memahami data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108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Mengenali struktur, variabel, dan kualitas data pelanggan, produk, dan transaksi EverMart.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Menemukan pola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3108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Melihat tren penjualan 2024, kategori dan produk terlaris, serta kontribusi tiap wilayah.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Mendukung keputusan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1089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Menyusun dashboard Power BI interaktif dan rekomendasi bagi manajemen EverMart.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EverMart adalah toko online dengan pelanggan di 4 wilayah dan 4 kategori produk.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awal (berkas Excel)</a:t>
            </a:r>
            <a:endParaRPr lang="en-US" sz="3400" dirty="0"/>
          </a:p>
        </p:txBody>
      </p:sp>
      <p:pic>
        <p:nvPicPr>
          <p:cNvPr id="3" name="Image 0" descr="/tmp/claude-0/-home-user-EXACOUNT/b3a0efd5-5ef2-5930-a9ef-1d7b86874e77/images/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383280" cy="3154680"/>
          </a:xfrm>
          <a:prstGeom prst="rect">
            <a:avLst/>
          </a:prstGeom>
        </p:spPr>
      </p:pic>
      <p:pic>
        <p:nvPicPr>
          <p:cNvPr id="4" name="Image 1" descr="/tmp/claude-0/-home-user-EXACOUNT/b3a0efd5-5ef2-5930-a9ef-1d7b86874e77/images/8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737360"/>
            <a:ext cx="3383280" cy="3154680"/>
          </a:xfrm>
          <a:prstGeom prst="rect">
            <a:avLst/>
          </a:prstGeom>
        </p:spPr>
      </p:pic>
      <p:pic>
        <p:nvPicPr>
          <p:cNvPr id="5" name="Image 2" descr="/tmp/claude-0/-home-user-EXACOUNT/b3a0efd5-5ef2-5930-a9ef-1d7b86874e77/images/8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737360"/>
            <a:ext cx="3931920" cy="288950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4864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Customers: 200 baris, 4 kolom</a:t>
            </a:r>
            <a:endParaRPr lang="en-US" sz="1600" dirty="0"/>
          </a:p>
        </p:txBody>
      </p:sp>
      <p:sp>
        <p:nvSpPr>
          <p:cNvPr id="7" name="Text 2"/>
          <p:cNvSpPr txBox="1"/>
          <p:nvPr/>
        </p:nvSpPr>
        <p:spPr>
          <a:xfrm>
            <a:off x="411480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Products: 100 baris, 4 kolom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768096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Transactions: 1.000 baris, 7 kolom</a:t>
            </a: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mentah pada satu berkas Excel dengan tiga sheet: 3 tabel, 15 kolom (12 variabel unik), dan 1.000 transaksi. Tabel Transactions dihubungkan ke Customers dan Products melalui CustomerID dan ProductID.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Karakteristik dataset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(tabel Transactions, 7 kolom)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38912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38912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(tabel Customers, 4 kolom)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1463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286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(tabel Products, 4 kolom)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474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data dan periode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77640"/>
            <a:ext cx="10607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3 tabel dan 15 kolom, berbentuk model bintang: Transactions terhubung ke Customers (CustomerID) dan Products (ProductID) dengan relasi banyak-ke-satu. Transaksi mencakup 30 Desember 2023 sampai 28 Desember 2024, hampir seluruhnya di tahun 2024. Sumber: EverMart_Online_Transactions.xlsx.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Variabel: Customers dan Products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 (ID)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C0001 - C0200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 pelanggan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 (kategori)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wilayah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SignupDate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2022 - 2024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2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73736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 (ID)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P001 - P100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 produk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 (kategori)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kategori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16,08 - 497,76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5720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Wilayah: South America, Europe, North America, Asia. Kategori: Books, Electronics, Clothing, Home Decor.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Variabel: Transactions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6492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 (ID)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unik transaksi, 1.000 nilai berbeda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 (ID)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Kunci ke Customers, 199 pelanggan bertransaksi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Teks (ID)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Kunci ke Products, 100 produk terjual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Tanggal-waktu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Des 2023 sampai 28 Des 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Bilangan bulat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unit per transaksi, 1 sampai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Harga satuan, 16,08 sampai 497,76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transaksi = Quantity x Price, 16,08 sampai 1.991,04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awal dan transformasi data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Memuat data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file Excel dengan tiga sheet (Customers, Products, Transactions) dimuat ke Power BI lewat Power Query.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Transformasi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Headers agar baris pertama menjadi nama kolom. Changed Type: ID menjadi teks, tanggal menjadi date atau datetime, Quantity bilangan bulat, harga dan nilai menjadi desimal.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Model data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Relasi banyak-ke-satu: Transactions ke Customers lewat CustomerID, dan Transactions ke Products lewat ProductID. Tabel tanggal otomatis dibuat untuk Year, Quarter, Month.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Transformasi data di Power Query</a:t>
            </a:r>
            <a:endParaRPr lang="en-US" sz="3400" dirty="0"/>
          </a:p>
        </p:txBody>
      </p:sp>
      <p:pic>
        <p:nvPicPr>
          <p:cNvPr id="3" name="Image 0" descr="/tmp/claude-0/-home-user-EXACOUNT/b3a0efd5-5ef2-5930-a9ef-1d7b86874e77/scratchpad/rep/pq_ste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498080" cy="1618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365760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3840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Steps pada tiap tabel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4343400"/>
            <a:ext cx="10607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membuka berkas Excel. Navigation: memilih sheet. Promoted Headers: baris pertama menjadi nama kolom. Changed Type: ID menjadi teks, tanggal menjadi date atau datetime, Quantity bilangan bulat, harga dan nilai desimal. Profil kualitas: Valid 100%, Error 0%, Empty 0%.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0" y="137160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58200" y="15544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205740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langkah, tanpa error dan tanpa nilai kosong.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Pemeriksaan kualitas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 kosong di ketiga tabel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ganda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transaksi tanpa pasangan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286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 TotalValue dan Quantity x Price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11064240" cy="2468880"/>
          </a:xfrm>
          <a:prstGeom prst="roundRect">
            <a:avLst>
              <a:gd name="adj" fmla="val 4444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474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Catatan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77640"/>
            <a:ext cx="10607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produk tidak selalu sesuai kategorinya (contoh: TechPro T-Shirt masuk Clothing, BookWorld Rug masuk Home Decor) dan 34 nama produk muncul berulang dengan harga berbeda, sehingga analisis memakai ProductID. Hanya 4 transaksi jatuh di 2023 (30 Des), jadi analisis tren fokus ke 2024. Satu dari 200 pelanggan belum pernah bertransaksi.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Ringkasan kinerja 2024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689.996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8346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pelanggan aktif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2.537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terjual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6926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690,00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0" y="23774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nilai per transaksi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11064240" cy="2286000"/>
          </a:xfrm>
          <a:prstGeom prst="roundRect">
            <a:avLst>
              <a:gd name="adj" fmla="val 480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566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Makna angka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06908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pelanggan aktif bertransaksi sekitar 5 kali dan menghasilkan sekitar 3.467 revenue. Nilai transaksi rata-rata 690 dengan 2,5 unit per transaksi. Dua puluh pelanggan teratas (10%) menyumbang 20% revenue, sehingga pendapatan tidak terlalu bergantung pada segelintir pelanggan.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 revenue bulanan 2024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412480" y="14630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71.366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2286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puncak: Juli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412480" y="2743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38.224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3566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terendah: November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40233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205.407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4846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kuartal terkuat: Q3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per kategori produk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589520" y="1463040"/>
            <a:ext cx="4023360" cy="4023360"/>
          </a:xfrm>
          <a:prstGeom prst="roundRect">
            <a:avLst>
              <a:gd name="adj" fmla="val 2727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18120" y="16459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Pembacaan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2148840"/>
            <a:ext cx="356616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memimpin dengan 27,8% revenue (192.147), disusul Electronics 26,2%. Clothing 24,1% dan Home Decor 21,9%. Selisih tertinggi dan terendah sekitar 41 ribu.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per wilayah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8521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645920"/>
          <a:ext cx="484632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737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Wilayah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Pelanggan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Revenue/pelanggan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America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766560" y="43891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America menyumbang 31,8% revenue dan paling produktif per pelanggan. Tiga wilayah lain berkisar 22 - 24%.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nama produk dengan revenue tertinggi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78638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686800" y="1463040"/>
            <a:ext cx="2926080" cy="4023360"/>
          </a:xfrm>
          <a:prstGeom prst="roundRect">
            <a:avLst>
              <a:gd name="adj" fmla="val 3750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15400" y="1645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Pembacaan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915400" y="2148840"/>
            <a:ext cx="24688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ActiveWear Smartwatch teratas dengan 39.097, karena nama itu dipakai 4 ProductID yang dijumlahkan. Electronics muncul 3 kali di 10 besar. Nama yang sama bisa mewakili beberapa produk.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Penggunaan DAX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Rumus DAX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SUM(Transactions[TotalValue])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Transactions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DISTINCTCOUNT(Transactions[TransactionID])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Unique Customers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DISTINCTCOUNT(Transactions[CustomerID])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Order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DIVIDE([Total Revenue], [Total Transactions])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per Customer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DIVIDE([Total Revenue], [Total Unique Customers])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A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Share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DIVIDE([Total Revenue], CALCULATE([Total Revenue], ALL(Customers[Region])))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dipakai pada kartu KPI, tabel ringkasan, dan grafik di dashboard.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interaktif Power BI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Revenue Report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ringkasan, line chart revenue per bulan, bar chart per produk, dan donut per kategori.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Customer Behavior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pelanggan per wilayah, tabel Share of Total, serta grafik revenue per kategori. Slicer: Region, Price, tanggal, Quantity.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KPI Summary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 kartu KPI dari measure DAX, slicer Region, dan tabel per wilayah dengan Revenue per Customer dan Revenue Share %.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Halaman 1: Revenue Report</a:t>
            </a:r>
            <a:endParaRPr lang="en-US" sz="3400" dirty="0"/>
          </a:p>
        </p:txBody>
      </p:sp>
      <p:pic>
        <p:nvPicPr>
          <p:cNvPr id="3" name="Image 0" descr="/tmp/claude-0/-home-user-EXACOUNT/b3a0efd5-5ef2-5930-a9ef-1d7b86874e77/scratchpad/shot_re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850392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235440" y="1463040"/>
            <a:ext cx="2468880" cy="4023360"/>
          </a:xfrm>
          <a:prstGeom prst="roundRect">
            <a:avLst>
              <a:gd name="adj" fmla="val 4444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46404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Isi halaman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2148840"/>
            <a:ext cx="20116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ringkasan, tren revenue per bulan, penjualan per produk, dan per kategori.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Halaman 2: Customer Behavior</a:t>
            </a:r>
            <a:endParaRPr lang="en-US" sz="3400" dirty="0"/>
          </a:p>
        </p:txBody>
      </p:sp>
      <p:pic>
        <p:nvPicPr>
          <p:cNvPr id="3" name="Image 0" descr="/tmp/claude-0/-home-user-EXACOUNT/b3a0efd5-5ef2-5930-a9ef-1d7b86874e77/scratchpad/shot_be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850392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235440" y="1463040"/>
            <a:ext cx="2468880" cy="4023360"/>
          </a:xfrm>
          <a:prstGeom prst="roundRect">
            <a:avLst>
              <a:gd name="adj" fmla="val 4444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46404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Isi halaman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2148840"/>
            <a:ext cx="20116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Region dan tanggal (tahun, kuartal, bulan), serta revenue per kategori.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Halaman 3: KPI Summary</a:t>
            </a:r>
            <a:endParaRPr lang="en-US" sz="3400" dirty="0"/>
          </a:p>
        </p:txBody>
      </p:sp>
      <p:pic>
        <p:nvPicPr>
          <p:cNvPr id="3" name="Image 0" descr="/tmp/claude-0/-home-user-EXACOUNT/b3a0efd5-5ef2-5930-a9ef-1d7b86874e77/scratchpad/shot_kp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850392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235440" y="1463040"/>
            <a:ext cx="2468880" cy="4023360"/>
          </a:xfrm>
          <a:prstGeom prst="roundRect">
            <a:avLst>
              <a:gd name="adj" fmla="val 4444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46404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Isi halaman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464040" y="2148840"/>
            <a:ext cx="20116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kartu KPI, slicer, tabel per wilayah, dan dua grafik. Semua memakai measure DAX.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filter interaktif: South America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219.353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304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Transactions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Unique Customers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B7F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721,55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905256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83280"/>
            <a:ext cx="11064240" cy="2377440"/>
          </a:xfrm>
          <a:prstGeom prst="roundRect">
            <a:avLst>
              <a:gd name="adj" fmla="val 4615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3566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Makna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069080"/>
            <a:ext cx="10607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slicer Region dipilih South America, seluruh measure DAX dihitung ulang hanya untuk wilayah itu. Wilayah ini menyumbang 31,8% revenue dengan 59 pelanggan aktif dan nilai rata-rata per transaksi 721,55, lebih tinggi dari rata-rata keseluruhan 690,00.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Interpretasi hasil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Penjualan 2024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689.996 dari 1.000 transaksi. Puncak di Juli dan September, dasar di November, lalu pulih di Desember.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Kategori dan produk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dan Electronics menyumbang 54% revenue. Home Decor paling rendah. Produk teratas didominasi Electronics.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3F6F8"/>
          </a:solidFill>
          <a:ln w="12700">
            <a:solidFill>
              <a:srgbClr val="F3F6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459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3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Wilayah dan pelanggan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10896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America unggul dalam revenue dan jumlah pelanggan. Pendapatan menyebar: 20 pelanggan teratas hanya 20%.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Rekomendasi keputusan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D4468"/>
          </a:solidFill>
          <a:ln w="12700">
            <a:solidFill>
              <a:srgbClr val="1D446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Prioritaskan South America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Alokasikan anggaran promosi dan stok lebih besar ke wilayah dengan 31,8% revenue dan revenue per pelanggan tertinggi.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D4468"/>
          </a:solidFill>
          <a:ln w="12700">
            <a:solidFill>
              <a:srgbClr val="1D44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Dorong Books dan Electronics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488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 stok produk terlaris seperti P029, P048, P039. Beri bundling atau diskon untuk Home Decor yang tertinggal.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D4468"/>
          </a:solidFill>
          <a:ln w="12700">
            <a:solidFill>
              <a:srgbClr val="1D446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Antisipasi musim sepi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promo untuk Oktober dan November saat revenue turun, dan perkuat kampanye menjelang Juli dan September.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35661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1D4468"/>
          </a:solidFill>
          <a:ln w="12700">
            <a:solidFill>
              <a:srgbClr val="1D44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3749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Bangun loyalitas pelanggan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251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program loyalitas bagi pelanggan teratas dan aktifkan satu pelanggan yang belum pernah membeli. Rapikan nama produk agar sesuai kategori.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EverMart Online Transactions</dc:title>
  <dc:subject>PptxGenJS Presentation</dc:subject>
  <dc:creator>PptxGenJS</dc:creator>
  <cp:lastModifiedBy>PptxGenJS</cp:lastModifiedBy>
  <cp:revision>1</cp:revision>
  <dcterms:created xsi:type="dcterms:W3CDTF">2026-10-17T18:23:46Z</dcterms:created>
  <dcterms:modified xsi:type="dcterms:W3CDTF">2026-10-17T18:23:46Z</dcterms:modified>
</cp:coreProperties>
</file>