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ln w="38100" cap="flat">
              <a:solidFill>
                <a:srgbClr val="1B7F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B7F8C"/>
              </a:solidFill>
              <a:ln w="9525" cap="flat">
                <a:solidFill>
                  <a:srgbClr val="1B7F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66376.39</c:v>
                </c:pt>
                <c:pt idx="1">
                  <c:v>51459.27</c:v>
                </c:pt>
                <c:pt idx="2">
                  <c:v>47828.73</c:v>
                </c:pt>
                <c:pt idx="3">
                  <c:v>57519.06</c:v>
                </c:pt>
                <c:pt idx="4">
                  <c:v>64527.74</c:v>
                </c:pt>
                <c:pt idx="5">
                  <c:v>48771.18</c:v>
                </c:pt>
                <c:pt idx="6">
                  <c:v>71366.39</c:v>
                </c:pt>
                <c:pt idx="7">
                  <c:v>63436.74</c:v>
                </c:pt>
                <c:pt idx="8">
                  <c:v>70603.75</c:v>
                </c:pt>
                <c:pt idx="9">
                  <c:v>47063.22</c:v>
                </c:pt>
                <c:pt idx="10">
                  <c:v>38224.37</c:v>
                </c:pt>
                <c:pt idx="11">
                  <c:v>59049.2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C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Books</c:v>
                  </c:pt>
                  <c:pt idx="1">
                    <c:v>Electronics</c:v>
                  </c:pt>
                  <c:pt idx="2">
                    <c:v>Clothing</c:v>
                  </c:pt>
                  <c:pt idx="3">
                    <c:v>Home Decor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192147.47</c:v>
                </c:pt>
                <c:pt idx="1">
                  <c:v>180783.5</c:v>
                </c:pt>
                <c:pt idx="2">
                  <c:v>166170.66</c:v>
                </c:pt>
                <c:pt idx="3">
                  <c:v>150893.93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F28C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South America</c:v>
                  </c:pt>
                  <c:pt idx="1">
                    <c:v>Europe</c:v>
                  </c:pt>
                  <c:pt idx="2">
                    <c:v>North America</c:v>
                  </c:pt>
                  <c:pt idx="3">
                    <c:v>Asia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219352.56</c:v>
                </c:pt>
                <c:pt idx="1">
                  <c:v>166254.63</c:v>
                </c:pt>
                <c:pt idx="2">
                  <c:v>152313.4</c:v>
                </c:pt>
                <c:pt idx="3">
                  <c:v>152074.97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P041 ComfortLiving Smartphone</c:v>
                  </c:pt>
                  <c:pt idx="1">
                    <c:v>P019 ComfortLiving Sweater</c:v>
                  </c:pt>
                  <c:pt idx="2">
                    <c:v>P083 ActiveWear Smartwatch</c:v>
                  </c:pt>
                  <c:pt idx="3">
                    <c:v>P039 TechPro Smartwatch</c:v>
                  </c:pt>
                  <c:pt idx="4">
                    <c:v>P059 SoundWave Jeans</c:v>
                  </c:pt>
                  <c:pt idx="5">
                    <c:v>P062 HomeSense Novel</c:v>
                  </c:pt>
                  <c:pt idx="6">
                    <c:v>P020 ActiveWear Jacket</c:v>
                  </c:pt>
                  <c:pt idx="7">
                    <c:v>P048 TechPro Cookbook</c:v>
                  </c:pt>
                  <c:pt idx="8">
                    <c:v>P079 ActiveWear Rug</c:v>
                  </c:pt>
                  <c:pt idx="9">
                    <c:v>P029 TechPro Headphones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13232.12</c:v>
                </c:pt>
                <c:pt idx="1">
                  <c:v>13487.95</c:v>
                </c:pt>
                <c:pt idx="2">
                  <c:v>13671.6</c:v>
                </c:pt>
                <c:pt idx="3">
                  <c:v>13778.88</c:v>
                </c:pt>
                <c:pt idx="4">
                  <c:v>13947.2</c:v>
                </c:pt>
                <c:pt idx="5">
                  <c:v>14592.24</c:v>
                </c:pt>
                <c:pt idx="6">
                  <c:v>15060.92</c:v>
                </c:pt>
                <c:pt idx="7">
                  <c:v>17905.2</c:v>
                </c:pt>
                <c:pt idx="8">
                  <c:v>17946.91</c:v>
                </c:pt>
                <c:pt idx="9">
                  <c:v>19513.8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Pembukaan: sebutkan nama, mata kuliah, dan dataset yang dipilih.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Power Query Editor: Applied Steps untuk tiap tabel.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Q1 165.664, Q2 170.818, Q3 205.407, Q4 144.337.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pilih satu Region di slicer lalu tunjukkan semua grafik ikut berubah.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097280"/>
            <a:ext cx="3291840" cy="3291840"/>
          </a:xfrm>
          <a:prstGeom prst="ellipse">
            <a:avLst/>
          </a:prstGeom>
          <a:solidFill>
            <a:srgbClr val="1B7F8C">
              <a:alpha val="70000"/>
            </a:srgbClr>
          </a:solidFill>
          <a:ln w="12700">
            <a:solidFill>
              <a:srgbClr val="1B7F8C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1645920" cy="1645920"/>
          </a:xfrm>
          <a:prstGeom prst="ellipse">
            <a:avLst/>
          </a:prstGeom>
          <a:solidFill>
            <a:srgbClr val="F28C28">
              <a:alpha val="80000"/>
            </a:srgbClr>
          </a:solidFill>
          <a:ln w="12700">
            <a:solidFill>
              <a:srgbClr val="F28C28">
                <a:alpha val="8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4592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Analisis dan Visualisasi Data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EverMart Online Transactions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UTS Analisis dan Visualisasi Big Data (BDASC)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Universitas Surabaya  |  19 Oktober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analisis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Memahami data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Mengenali struktur, variabel, dan kualitas data pelanggan, produk, dan transaksi EverMart.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Menemukan pola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Melihat tren penjualan 2024, kategori dan produk terlaris, serta kontribusi tiap wilayah.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Mendukung keputusan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Menyusun dashboard Power BI interaktif dan rekomendasi bagi manajemen EverMart.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EverMart adalah toko online dengan pelanggan di 4 wilayah dan 4 kategori produk.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Karakteristik dataset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(tabel Transactions, 7 kolom)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(tabel Customers, 4 kolom)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(tabel Products, 4 kolom)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data dan periode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3 tabel dan 15 kolom, berbentuk model bintang: Transactions terhubung ke Customers (CustomerID) dan Products (ProductID) dengan relasi banyak-ke-satu. Transaksi mencakup 30 Desember 2023 sampai 28 Desember 2024, hampir seluruhnya di tahun 2024. Sumber: EverMart_Online_Transactions.xlsx.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Variabel: Customers dan Products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C0001 - C0200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 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(kategori)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wilayah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SignupDate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Tanggal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2022 - 2024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P001 - P100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 produk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(kategori)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kategori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16,08 - 497,76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Wilayah: South America, Europe, North America, Asia. Kategori: Books, Electronics, Clothing, Home Decor.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Variabel: Transactions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6492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Keterangan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unik transaksi, 1.000 nilai berbeda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Kunci ke Customers, 199 pelanggan bertransaksi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Kunci ke Products, 100 produk terjual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Tanggal-waktu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Des 2023 sampai 28 Des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Bilangan bulat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Jumlah unit per transaksi, 1 sampai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 satuan, 16,08 sampai 497,76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 transaksi = Quantity x Price, 16,08 sampai 1.991,04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awal dan transformasi data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Memuat data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file Excel dengan tiga sheet (Customers, Products, Transactions) dimuat ke Power BI lewat Power Query.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Transformasi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Headers agar baris pertama menjadi nama kolom. Changed Type: ID menjadi teks, tanggal menjadi date atau datetime, Quantity bilangan bulat, harga dan nilai menjadi desimal.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Model data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Relasi banyak-ke-satu: Transactions ke Customers lewat CustomerID, dan Transactions ke Products lewat ProductID. Tabel tanggal otomatis dibuat untuk Year, Quarter,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Pemeriksaan kualitas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kosong di ketiga tabel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ganda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transaksi tanpa pasangan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TotalValue dan Quantity x Price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11064240" cy="2468880"/>
          </a:xfrm>
          <a:prstGeom prst="roundRect">
            <a:avLst>
              <a:gd name="adj" fmla="val 4444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Catatan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7764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produk tidak selalu sesuai kategorinya (contoh: TechPro T-Shirt masuk Clothing, BookWorld Rug masuk Home Decor) dan 34 nama produk muncul berulang dengan harga berbeda, sehingga analisis memakai ProductID. Hanya 4 transaksi jatuh di 2023 (30 Des), jadi analisis tren fokus ke 2024. Satu dari 200 pelanggan belum pernah bertransaksi.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Ringkasan kinerja 2024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689.996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834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aktif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2.537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terjual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690,00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nilai per transaksi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5661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Makna angka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06908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pelanggan aktif bertransaksi sekitar 5 kali dan menghasilkan sekitar 3.467 revenue. Nilai transaksi rata-rata 690 dengan 2,5 unit per transaksi. Dua puluh pelanggan teratas (10%) menyumbang 20% revenue, sehingga pendapatan tidak terlalu bergantung pada segelintir pelanggan.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 revenue bulanan 2024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12480" y="1463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71.366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puncak: Juli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38.224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terendah: November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4023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205.407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846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kuartal terkuat: Q3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per kategori produk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89520" y="146304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Pembacaan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48840"/>
            <a:ext cx="3566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memimpin dengan 27,8% revenue (192.147), disusul Electronics 26,2%. Clothing 24,1% dan Home Decor 21,9%. Selisih tertinggi dan terendah sekitar 41 ribu.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per wilayah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8521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645920"/>
          <a:ext cx="48463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737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Wilayah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Revenue/pelanggan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America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 America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America menyumbang 31,8% revenue dan paling produktif per pelanggan. Tiga wilayah lain berkisar 22 - 24%.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produk dengan revenue tertinggi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78638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686800" y="1463040"/>
            <a:ext cx="2926080" cy="4023360"/>
          </a:xfrm>
          <a:prstGeom prst="roundRect">
            <a:avLst>
              <a:gd name="adj" fmla="val 3750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Pembacaan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148840"/>
            <a:ext cx="24688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P029 TechPro Headphones teratas (19.514). Electronics muncul 4 kali di 10 besar, Clothing 3 kali, Books 2 kali, Home Decor 1 kali.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Penggunaan DAX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Rumus DAX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SUM(Transactions[TotalValue])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Transactions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DISTINCTCOUNT(Transactions[TransactionID])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Unique Customers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DISTINCTCOUNT(Transactions[CustomerID])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Order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[Total Transactions])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per Customer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[Total Unique Customers])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Share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CALCULATE([Total Revenue], ALL(Customers[Region])))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dipakai pada kartu KPI, tabel ringkasan, dan grafik di dashboard.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interaktif Power BI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Halaman 1: Revenue Report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49377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Total Revenue per tanggal. Bar chart penjualan per produk. Donut chart penjualan per kategori. Tabel ringkasan: produk, pelanggan, transaksi, revenue.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Halaman 2: Customer Behavior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9377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pelanggan per wilayah, tabel Share of Total, kolom dan line chart revenue per kategori. Slicer: Region, Price, TransactionDate (Year, Quarter, Month), dan Quantity.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Interpretasi hasil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Penjualan 2024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689.996 dari 1.000 transaksi. Puncak di Juli dan September, dasar di November, lalu pulih di Desember.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Kategori dan produk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dan Electronics menyumbang 54% revenue. Home Decor paling rendah. Produk teratas didominasi Electronics.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Wilayah dan pelanggan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America unggul dalam revenue dan jumlah pelanggan. Pendapatan menyebar: 20 pelanggan teratas hanya 20%.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Rekomendasi keputusan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Prioritaskan South America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Alokasikan anggaran promosi dan stok lebih besar ke wilayah dengan 31,8% revenue dan revenue per pelanggan tertinggi.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Dorong Books dan Electronics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Jaga stok produk terlaris seperti P029, P048, P039. Beri bundling atau diskon untuk Home Decor yang tertinggal.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Antisipasi musim sepi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promo untuk Oktober dan November saat revenue turun, dan perkuat kampanye menjelang Juli dan September.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Bangun loyalitas pelanggan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program loyalitas bagi pelanggan teratas dan aktifkan satu pelanggan yang belum pernah membeli. Rapikan nama produk agar sesuai kategori.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EverMart Online Transactions</dc:title>
  <dc:subject>PptxGenJS Presentation</dc:subject>
  <dc:creator>PptxGenJS</dc:creator>
  <cp:lastModifiedBy>PptxGenJS</cp:lastModifiedBy>
  <cp:revision>1</cp:revision>
  <dcterms:created xsi:type="dcterms:W3CDTF">2026-10-17T12:42:43Z</dcterms:created>
  <dcterms:modified xsi:type="dcterms:W3CDTF">2026-10-17T12:42:43Z</dcterms:modified>
</cp:coreProperties>
</file>